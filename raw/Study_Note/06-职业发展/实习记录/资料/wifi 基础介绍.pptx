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notesMasterIdLst>
    <p:notesMasterId r:id="rId31"/>
  </p:notesMasterIdLst>
  <p:sldIdLst>
    <p:sldId id="256" r:id="rId3"/>
    <p:sldId id="324" r:id="rId4"/>
    <p:sldId id="413" r:id="rId5"/>
    <p:sldId id="414" r:id="rId6"/>
    <p:sldId id="417" r:id="rId7"/>
    <p:sldId id="511" r:id="rId8"/>
    <p:sldId id="436" r:id="rId9"/>
    <p:sldId id="437" r:id="rId10"/>
    <p:sldId id="438" r:id="rId11"/>
    <p:sldId id="439" r:id="rId12"/>
    <p:sldId id="640" r:id="rId13"/>
    <p:sldId id="440" r:id="rId14"/>
    <p:sldId id="766" r:id="rId15"/>
    <p:sldId id="792" r:id="rId16"/>
    <p:sldId id="767" r:id="rId17"/>
    <p:sldId id="793" r:id="rId18"/>
    <p:sldId id="435" r:id="rId19"/>
    <p:sldId id="805" r:id="rId20"/>
    <p:sldId id="411" r:id="rId21"/>
    <p:sldId id="806" r:id="rId22"/>
    <p:sldId id="434" r:id="rId23"/>
    <p:sldId id="498" r:id="rId24"/>
    <p:sldId id="803" r:id="rId25"/>
    <p:sldId id="804" r:id="rId26"/>
    <p:sldId id="442" r:id="rId27"/>
    <p:sldId id="794" r:id="rId28"/>
    <p:sldId id="795" r:id="rId29"/>
    <p:sldId id="323" r:id="rId30"/>
  </p:sldIdLst>
  <p:sldSz cx="9144000" cy="6858000" type="screen4x3"/>
  <p:notesSz cx="6858000" cy="9144000"/>
  <p:custDataLst>
    <p:tags r:id="rId32"/>
  </p:custDataLst>
  <p:defaultTextStyle>
    <a:defPPr>
      <a:defRPr lang="en-US"/>
    </a:defPPr>
    <a:lvl1pPr algn="l" rtl="0" fontAlgn="base">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Gill Sans MT" panose="020B0502020104020203"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Gill Sans MT" panose="020B0502020104020203"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97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5" autoAdjust="0"/>
    <p:restoredTop sz="84568" autoAdjust="0"/>
  </p:normalViewPr>
  <p:slideViewPr>
    <p:cSldViewPr>
      <p:cViewPr varScale="1">
        <p:scale>
          <a:sx n="81" d="100"/>
          <a:sy n="81" d="100"/>
        </p:scale>
        <p:origin x="1404" y="90"/>
      </p:cViewPr>
      <p:guideLst>
        <p:guide orient="horz" pos="2160"/>
        <p:guide pos="2975"/>
      </p:guideLst>
    </p:cSldViewPr>
  </p:slideViewPr>
  <p:outlineViewPr>
    <p:cViewPr>
      <p:scale>
        <a:sx n="33" d="100"/>
        <a:sy n="33" d="100"/>
      </p:scale>
      <p:origin x="0" y="2807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lstStyle>
            <a:lvl1pPr>
              <a:defRPr sz="1200">
                <a:latin typeface="Calibri" panose="020F0502020204030204" pitchFamily="34" charset="0"/>
                <a:ea typeface="宋体" panose="02010600030101010101" pitchFamily="2" charset="-122"/>
              </a:defRPr>
            </a:lvl1pPr>
          </a:lstStyle>
          <a:p>
            <a:pPr>
              <a:defRPr/>
            </a:pPr>
            <a:endParaRPr lang="en-US"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lstStyle>
            <a:lvl1pPr algn="r">
              <a:defRPr sz="1200">
                <a:latin typeface="Calibri" panose="020F0502020204030204" pitchFamily="34" charset="0"/>
                <a:ea typeface="宋体" panose="02010600030101010101" pitchFamily="2" charset="-122"/>
              </a:defRPr>
            </a:lvl1pPr>
          </a:lstStyle>
          <a:p>
            <a:pPr>
              <a:defRPr/>
            </a:pPr>
            <a:fld id="{4DB9BD27-2BCC-4E73-BB04-1F1E7D20937A}" type="datetimeFigureOut">
              <a:rPr lang="en-US" altLang="zh-CN"/>
              <a:t>9/1/2025</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lstStyle>
            <a:lvl1pPr>
              <a:defRPr sz="1200">
                <a:latin typeface="Calibri" panose="020F0502020204030204" pitchFamily="34" charset="0"/>
                <a:ea typeface="宋体" panose="02010600030101010101" pitchFamily="2" charset="-122"/>
              </a:defRPr>
            </a:lvl1pPr>
          </a:lstStyle>
          <a:p>
            <a:pPr>
              <a:defRPr/>
            </a:pPr>
            <a:endParaRPr lang="en-US"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atin typeface="Calibri" panose="020F0502020204030204" pitchFamily="34" charset="0"/>
                <a:ea typeface="宋体" panose="02010600030101010101" pitchFamily="2" charset="-122"/>
              </a:defRPr>
            </a:lvl1pPr>
          </a:lstStyle>
          <a:p>
            <a:pPr>
              <a:defRPr/>
            </a:pPr>
            <a:fld id="{CE0A5469-625D-43E0-83B3-0E504E463EE5}"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Any questions, please give me email: zhilei.wang@bekencorp.com.</a:t>
            </a:r>
            <a:r>
              <a:rPr lang="en-US" altLang="zh-CN" baseline="0" dirty="0" smtClean="0"/>
              <a:t> Thank you</a:t>
            </a:r>
            <a:endParaRPr lang="zh-CN" altLang="en-US" dirty="0"/>
          </a:p>
        </p:txBody>
      </p:sp>
      <p:sp>
        <p:nvSpPr>
          <p:cNvPr id="4" name="灯片编号占位符 3"/>
          <p:cNvSpPr>
            <a:spLocks noGrp="1"/>
          </p:cNvSpPr>
          <p:nvPr>
            <p:ph type="sldNum" sz="quarter" idx="10"/>
          </p:nvPr>
        </p:nvSpPr>
        <p:spPr/>
        <p:txBody>
          <a:bodyPr/>
          <a:lstStyle/>
          <a:p>
            <a:pPr>
              <a:defRPr/>
            </a:pPr>
            <a:fld id="{CE0A5469-625D-43E0-83B3-0E504E463EE5}"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AHB Lite Vs AHB</a:t>
            </a:r>
          </a:p>
          <a:p>
            <a:r>
              <a:rPr lang="zh-CN" altLang="en-US"/>
              <a:t>AHB Lite is a reduced version of AHB protocol. AHB Lite essentially means that there is only 1 master.</a:t>
            </a:r>
          </a:p>
          <a:p>
            <a:r>
              <a:rPr lang="zh-CN" altLang="en-US"/>
              <a:t>This in turn means</a:t>
            </a:r>
          </a:p>
          <a:p>
            <a:r>
              <a:rPr lang="zh-CN" altLang="en-US"/>
              <a:t>1. No Arbitration</a:t>
            </a:r>
          </a:p>
          <a:p>
            <a:r>
              <a:rPr lang="zh-CN" altLang="en-US"/>
              <a:t>2. No HBUSREQ signal, no HGRANT signal</a:t>
            </a:r>
          </a:p>
          <a:p>
            <a:r>
              <a:rPr lang="zh-CN" altLang="en-US"/>
              <a:t>3. No HSEL Signal</a:t>
            </a:r>
          </a:p>
          <a:p>
            <a:r>
              <a:rPr lang="zh-CN" altLang="en-US"/>
              <a:t>4. No Split or Retry response type -&gt; HRESP can only be 1 bit</a:t>
            </a:r>
          </a:p>
          <a:p>
            <a:r>
              <a:rPr lang="zh-CN" altLang="en-US"/>
              <a:t>5. No Early Bus Termination.</a:t>
            </a:r>
          </a:p>
          <a:p>
            <a:r>
              <a:rPr lang="zh-CN" altLang="en-US"/>
              <a:t>How to connect a full AHB Master to AHB Lite Slave</a:t>
            </a:r>
          </a:p>
          <a:p>
            <a:r>
              <a:rPr lang="zh-CN" altLang="en-US"/>
              <a:t>1. Leave the HBUSREQ open</a:t>
            </a:r>
          </a:p>
          <a:p>
            <a:r>
              <a:rPr lang="zh-CN" altLang="en-US"/>
              <a:t>2. Tie the HGRANT to '1'</a:t>
            </a:r>
          </a:p>
          <a:p>
            <a:r>
              <a:rPr lang="zh-CN" altLang="en-US"/>
              <a:t>How to connect a AHBLite Master to full AHB Slave</a:t>
            </a:r>
          </a:p>
          <a:p>
            <a:r>
              <a:rPr lang="zh-CN" altLang="en-US"/>
              <a:t>1. Feedback the HREADY_out from the Slave back into the HREADY_In at slave (A slave will have hready as input and as output)</a:t>
            </a:r>
          </a:p>
          <a:p>
            <a:r>
              <a:rPr lang="zh-CN" altLang="en-US"/>
              <a:t>     But also connect the HREADY_out from Slave to the Master.</a:t>
            </a:r>
          </a:p>
          <a:p>
            <a:r>
              <a:rPr lang="zh-CN" altLang="en-US"/>
              <a:t>2. Tie the HSEL '1' at the Slave.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1. 我们的wifi 数据接收/发送会经历哪几个硬件/软件模块?数据流是什么？</a:t>
            </a:r>
          </a:p>
          <a:p>
            <a:r>
              <a:rPr lang="zh-CN" altLang="en-US"/>
              <a:t>3. 我们的系统起来后， wpas_thread / kmsgbk / core_thread 会自动启动，这3个线程是做什么的？</a:t>
            </a:r>
          </a:p>
          <a:p>
            <a:r>
              <a:rPr lang="zh-CN" altLang="en-US"/>
              <a:t>5. 我们作为ap, 需要哪些模块支持，sta连我们时的流程是什么？</a:t>
            </a:r>
          </a:p>
          <a:p>
            <a:r>
              <a:rPr lang="zh-CN" altLang="en-US"/>
              <a:t>9. 对于31N上，我们的vector向量表是在0x10000吧， booltloader怎么知道这个地址，而跳转到这个地址？</a:t>
            </a:r>
          </a:p>
          <a:p>
            <a:r>
              <a:rPr lang="zh-CN" altLang="en-US"/>
              <a:t>8. wpa_supplicant_2_9里面的hostpad和hostapd_intf有什么区别，应该用哪个？</a:t>
            </a:r>
          </a:p>
          <a:p>
            <a:r>
              <a:rPr lang="zh-CN" altLang="en-US"/>
              <a:t>4. 我们作为sta , scan和获取IP的大体流程是什么，用到哪些模块？</a:t>
            </a:r>
          </a:p>
          <a:p>
            <a:endParaRPr lang="zh-CN" altLang="en-US"/>
          </a:p>
          <a:p>
            <a:endParaRPr lang="zh-CN" altLang="en-US"/>
          </a:p>
          <a:p>
            <a:r>
              <a:rPr lang="zh-CN" altLang="en-US"/>
              <a:t>**** 2. 我们的BLE数据接收/发送会经历哪几个硬件/软件模块?数据流是什么？</a:t>
            </a:r>
          </a:p>
          <a:p>
            <a:r>
              <a:rPr lang="zh-CN" altLang="en-US"/>
              <a:t>6. ble和wifi同时开启，如何实现冲突处理。</a:t>
            </a:r>
          </a:p>
          <a:p>
            <a:r>
              <a:rPr lang="zh-CN" altLang="en-US"/>
              <a:t>**** 7. rf校准如何操作，校准哪些参数。</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0"/>
          <p:cNvSpPr/>
          <p:nvPr/>
        </p:nvSpPr>
        <p:spPr>
          <a:xfrm>
            <a:off x="762000" y="3648075"/>
            <a:ext cx="7458075"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sp>
        <p:nvSpPr>
          <p:cNvPr id="5" name="Rectangle 32"/>
          <p:cNvSpPr/>
          <p:nvPr/>
        </p:nvSpPr>
        <p:spPr>
          <a:xfrm>
            <a:off x="771525" y="5048250"/>
            <a:ext cx="7458075"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sp>
        <p:nvSpPr>
          <p:cNvPr id="6" name="Rectangle 21"/>
          <p:cNvSpPr/>
          <p:nvPr/>
        </p:nvSpPr>
        <p:spPr>
          <a:xfrm>
            <a:off x="752475" y="3648075"/>
            <a:ext cx="228600" cy="1279525"/>
          </a:xfrm>
          <a:prstGeom prst="rect">
            <a:avLst/>
          </a:prstGeom>
          <a:solidFill>
            <a:srgbClr val="0070C0"/>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sp>
        <p:nvSpPr>
          <p:cNvPr id="7" name="Rectangle 31"/>
          <p:cNvSpPr/>
          <p:nvPr/>
        </p:nvSpPr>
        <p:spPr>
          <a:xfrm>
            <a:off x="7620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pic>
        <p:nvPicPr>
          <p:cNvPr id="10" name="图片 5" descr="beken4"/>
          <p:cNvPicPr>
            <a:picLocks noChangeAspect="1" noChangeArrowheads="1"/>
          </p:cNvPicPr>
          <p:nvPr userDrawn="1"/>
        </p:nvPicPr>
        <p:blipFill>
          <a:blip r:embed="rId2" cstate="print"/>
          <a:srcRect/>
          <a:stretch>
            <a:fillRect/>
          </a:stretch>
        </p:blipFill>
        <p:spPr bwMode="auto">
          <a:xfrm>
            <a:off x="727075" y="1905000"/>
            <a:ext cx="2778125" cy="1527175"/>
          </a:xfrm>
          <a:prstGeom prst="rect">
            <a:avLst/>
          </a:prstGeom>
          <a:noFill/>
          <a:ln w="9525">
            <a:noFill/>
            <a:miter lim="800000"/>
            <a:headEnd/>
            <a:tailEnd/>
          </a:ln>
        </p:spPr>
      </p:pic>
      <p:sp>
        <p:nvSpPr>
          <p:cNvPr id="8" name="Title 7"/>
          <p:cNvSpPr>
            <a:spLocks noGrp="1"/>
          </p:cNvSpPr>
          <p:nvPr>
            <p:ph type="ctrTitle"/>
          </p:nvPr>
        </p:nvSpPr>
        <p:spPr>
          <a:xfrm>
            <a:off x="1143000" y="3886200"/>
            <a:ext cx="6934200" cy="990600"/>
          </a:xfrm>
        </p:spPr>
        <p:txBody>
          <a:bodyPr anchor="t"/>
          <a:lstStyle>
            <a:lvl1pPr algn="r">
              <a:defRPr sz="3200">
                <a:solidFill>
                  <a:schemeClr val="tx1"/>
                </a:solidFill>
              </a:defRPr>
            </a:lvl1pPr>
          </a:lstStyle>
          <a:p>
            <a:r>
              <a:rPr lang="en-US" dirty="0" smtClean="0"/>
              <a:t>Click to edit Master title style</a:t>
            </a:r>
            <a:endParaRPr lang="en-US" dirty="0"/>
          </a:p>
        </p:txBody>
      </p:sp>
      <p:sp>
        <p:nvSpPr>
          <p:cNvPr id="9" name="Subtitle 8"/>
          <p:cNvSpPr>
            <a:spLocks noGrp="1"/>
          </p:cNvSpPr>
          <p:nvPr>
            <p:ph type="subTitle" idx="1"/>
          </p:nvPr>
        </p:nvSpPr>
        <p:spPr>
          <a:xfrm>
            <a:off x="1143000" y="5124450"/>
            <a:ext cx="6934200" cy="533400"/>
          </a:xfrm>
        </p:spPr>
        <p:txBody>
          <a:bodyPr/>
          <a:lstStyle>
            <a:lvl1pPr marL="0" indent="0" algn="r">
              <a:buNone/>
              <a:defRPr sz="2000">
                <a:solidFill>
                  <a:schemeClr val="tx2"/>
                </a:solidFill>
                <a:latin typeface="Arial Black" panose="020B0A04020102020204" pitchFamily="34" charset="0"/>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smtClean="0"/>
              <a:t>Click to edit Master subtitle style</a:t>
            </a:r>
            <a:endParaRPr lang="en-US" dirty="0"/>
          </a:p>
        </p:txBody>
      </p:sp>
      <p:sp>
        <p:nvSpPr>
          <p:cNvPr id="11" name="Date Placeholder 27"/>
          <p:cNvSpPr>
            <a:spLocks noGrp="1"/>
          </p:cNvSpPr>
          <p:nvPr>
            <p:ph type="dt" sz="half" idx="10"/>
          </p:nvPr>
        </p:nvSpPr>
        <p:spPr>
          <a:xfrm>
            <a:off x="6400800" y="6354763"/>
            <a:ext cx="2286000" cy="366712"/>
          </a:xfrm>
        </p:spPr>
        <p:txBody>
          <a:bodyPr/>
          <a:lstStyle>
            <a:lvl1pPr>
              <a:defRPr>
                <a:latin typeface="Arial" panose="020B0604020202020204" pitchFamily="34" charset="0"/>
                <a:cs typeface="Arial" panose="020B0604020202020204" pitchFamily="34" charset="0"/>
              </a:defRPr>
            </a:lvl1pPr>
          </a:lstStyle>
          <a:p>
            <a:pPr>
              <a:defRPr/>
            </a:pPr>
            <a:fld id="{41C311A3-6836-4174-8A8F-79A22A4C55F0}" type="datetime1">
              <a:rPr lang="en-US" altLang="zh-CN"/>
              <a:t>9/1/2025</a:t>
            </a:fld>
            <a:endParaRPr lang="en-US" altLang="zh-CN"/>
          </a:p>
        </p:txBody>
      </p:sp>
      <p:sp>
        <p:nvSpPr>
          <p:cNvPr id="12" name="Footer Placeholder 16"/>
          <p:cNvSpPr>
            <a:spLocks noGrp="1"/>
          </p:cNvSpPr>
          <p:nvPr>
            <p:ph type="ftr" sz="quarter" idx="11"/>
          </p:nvPr>
        </p:nvSpPr>
        <p:spPr>
          <a:xfrm>
            <a:off x="2898775" y="6354763"/>
            <a:ext cx="3475038" cy="366712"/>
          </a:xfrm>
        </p:spPr>
        <p:txBody>
          <a:bodyPr/>
          <a:lstStyle>
            <a:lvl1pPr>
              <a:defRPr/>
            </a:lvl1pPr>
          </a:lstStyle>
          <a:p>
            <a:pPr>
              <a:defRPr/>
            </a:pPr>
            <a:r>
              <a:rPr lang="en-US"/>
              <a:t>Beken Confidential</a:t>
            </a:r>
          </a:p>
        </p:txBody>
      </p:sp>
      <p:sp>
        <p:nvSpPr>
          <p:cNvPr id="13" name="Slide Number Placeholder 28"/>
          <p:cNvSpPr>
            <a:spLocks noGrp="1"/>
          </p:cNvSpPr>
          <p:nvPr>
            <p:ph type="sldNum" sz="quarter" idx="12"/>
          </p:nvPr>
        </p:nvSpPr>
        <p:spPr>
          <a:xfrm>
            <a:off x="1216025" y="6354763"/>
            <a:ext cx="1219200" cy="366712"/>
          </a:xfrm>
        </p:spPr>
        <p:txBody>
          <a:bodyPr/>
          <a:lstStyle>
            <a:lvl1pPr>
              <a:defRPr>
                <a:latin typeface="Arial" panose="020B0604020202020204" pitchFamily="34" charset="0"/>
                <a:cs typeface="Arial" panose="020B0604020202020204" pitchFamily="34" charset="0"/>
              </a:defRPr>
            </a:lvl1pPr>
          </a:lstStyle>
          <a:p>
            <a:pPr>
              <a:defRPr/>
            </a:pPr>
            <a:fld id="{B7DEF5D9-E782-457B-A303-BE41B19A9DE8}" type="slidenum">
              <a:rPr lang="en-US" altLang="zh-CN"/>
              <a:t>‹#›</a:t>
            </a:fld>
            <a:endParaRPr lang="en-US" altLang="zh-CN"/>
          </a:p>
        </p:txBody>
      </p:sp>
    </p:spTree>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33400"/>
          </a:xfrm>
        </p:spPr>
        <p:txBody>
          <a:bodyPr/>
          <a:lstStyle/>
          <a:p>
            <a:r>
              <a:rPr lang="en-US" smtClean="0"/>
              <a:t>Click to edit Master title style</a:t>
            </a:r>
            <a:endParaRPr lang="en-US"/>
          </a:p>
        </p:txBody>
      </p:sp>
      <p:sp>
        <p:nvSpPr>
          <p:cNvPr id="8" name="Content Placeholder 7"/>
          <p:cNvSpPr>
            <a:spLocks noGrp="1"/>
          </p:cNvSpPr>
          <p:nvPr>
            <p:ph sz="quarter" idx="1"/>
          </p:nvPr>
        </p:nvSpPr>
        <p:spPr>
          <a:xfrm>
            <a:off x="457200" y="838200"/>
            <a:ext cx="8229600" cy="5318760"/>
          </a:xfrm>
        </p:spPr>
        <p:txBody>
          <a:bodyPr/>
          <a:lstStyle>
            <a:lvl2pPr>
              <a:defRPr>
                <a:solidFill>
                  <a:schemeClr val="tx1"/>
                </a:solidFill>
              </a:defRPr>
            </a:lvl2pPr>
            <a:lvl3pPr>
              <a:defRPr>
                <a:solidFill>
                  <a:schemeClr val="tx1"/>
                </a:solidFill>
              </a:defRPr>
            </a:lvl3pPr>
            <a:lvl4pPr>
              <a:defRPr>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a:defRPr/>
            </a:pPr>
            <a:fld id="{7593139E-A788-4482-A4D1-295E4D522B5F}" type="datetime1">
              <a:rPr lang="en-US" altLang="zh-CN"/>
              <a:t>9/1/2025</a:t>
            </a:fld>
            <a:endParaRPr lang="en-US" altLang="zh-CN"/>
          </a:p>
        </p:txBody>
      </p:sp>
      <p:sp>
        <p:nvSpPr>
          <p:cNvPr id="5" name="Footer Placeholder 4"/>
          <p:cNvSpPr>
            <a:spLocks noGrp="1"/>
          </p:cNvSpPr>
          <p:nvPr>
            <p:ph type="ftr" sz="quarter" idx="11"/>
          </p:nvPr>
        </p:nvSpPr>
        <p:spPr/>
        <p:txBody>
          <a:bodyPr/>
          <a:lstStyle>
            <a:lvl1pPr>
              <a:defRPr/>
            </a:lvl1pPr>
          </a:lstStyle>
          <a:p>
            <a:pPr>
              <a:defRPr/>
            </a:pPr>
            <a:r>
              <a:rPr lang="en-US"/>
              <a:t>Beken Confidential</a:t>
            </a:r>
          </a:p>
        </p:txBody>
      </p:sp>
      <p:sp>
        <p:nvSpPr>
          <p:cNvPr id="6" name="Slide Number Placeholder 5"/>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pPr>
              <a:defRPr/>
            </a:pPr>
            <a:fld id="{FB3EFFAA-233D-4AF0-AB8E-B3BB94390415}"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9" name="Content Placeholder 8"/>
          <p:cNvSpPr>
            <a:spLocks noGrp="1"/>
          </p:cNvSpPr>
          <p:nvPr>
            <p:ph sz="quarter" idx="1"/>
          </p:nvPr>
        </p:nvSpPr>
        <p:spPr>
          <a:xfrm>
            <a:off x="457200" y="838200"/>
            <a:ext cx="4041648" cy="531876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1" name="Content Placeholder 10"/>
          <p:cNvSpPr>
            <a:spLocks noGrp="1"/>
          </p:cNvSpPr>
          <p:nvPr>
            <p:ph sz="quarter" idx="2"/>
          </p:nvPr>
        </p:nvSpPr>
        <p:spPr>
          <a:xfrm>
            <a:off x="4632198" y="838200"/>
            <a:ext cx="4041648" cy="5315712"/>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a:xfrm>
            <a:off x="381000" y="152400"/>
            <a:ext cx="8229600" cy="533400"/>
          </a:xfrm>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a:defRPr/>
            </a:pPr>
            <a:fld id="{1F337F65-4699-4722-BB46-F64E2E281C8B}" type="datetime1">
              <a:rPr lang="en-US" altLang="zh-CN"/>
              <a:t>9/1/2025</a:t>
            </a:fld>
            <a:endParaRPr lang="en-US" altLang="zh-CN"/>
          </a:p>
        </p:txBody>
      </p:sp>
      <p:sp>
        <p:nvSpPr>
          <p:cNvPr id="6" name="Footer Placeholder 5"/>
          <p:cNvSpPr>
            <a:spLocks noGrp="1"/>
          </p:cNvSpPr>
          <p:nvPr>
            <p:ph type="ftr" sz="quarter" idx="11"/>
          </p:nvPr>
        </p:nvSpPr>
        <p:spPr/>
        <p:txBody>
          <a:bodyPr/>
          <a:lstStyle>
            <a:lvl1pPr>
              <a:defRPr/>
            </a:lvl1pPr>
          </a:lstStyle>
          <a:p>
            <a:pPr>
              <a:defRPr/>
            </a:pPr>
            <a:r>
              <a:rPr lang="en-US"/>
              <a:t>Beken Confidential</a:t>
            </a:r>
          </a:p>
        </p:txBody>
      </p:sp>
      <p:sp>
        <p:nvSpPr>
          <p:cNvPr id="7" name="Slide Number Placeholder 6"/>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pPr>
              <a:defRPr/>
            </a:pPr>
            <a:fld id="{0196C8F4-8EB7-466B-A653-6F1335C21074}"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33400"/>
          </a:xfrm>
        </p:spPr>
        <p:txBody>
          <a:bodyPr anchor="ct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828675"/>
            <a:ext cx="4040188" cy="390525"/>
          </a:xfrm>
          <a:noFill/>
          <a:ln>
            <a:noFill/>
          </a:ln>
        </p:spPr>
        <p:txBody>
          <a:bodyPr anchor="b">
            <a:noAutofit/>
          </a:bodyPr>
          <a:lstStyle>
            <a:lvl1pPr marL="0" indent="0">
              <a:buNone/>
              <a:defRPr sz="2400" b="1">
                <a:solidFill>
                  <a:schemeClr val="tx1"/>
                </a:solidFill>
              </a:defRPr>
            </a:lvl1pPr>
            <a:lvl2pPr>
              <a:buNone/>
              <a:defRPr sz="2000" b="1"/>
            </a:lvl2pPr>
            <a:lvl3pPr>
              <a:buNone/>
              <a:defRPr sz="1800" b="1"/>
            </a:lvl3pPr>
            <a:lvl4pPr>
              <a:buNone/>
              <a:defRPr sz="1600" b="1"/>
            </a:lvl4pPr>
            <a:lvl5pPr>
              <a:buNone/>
              <a:defRPr sz="1600" b="1"/>
            </a:lvl5pPr>
          </a:lstStyle>
          <a:p>
            <a:pPr lvl="0"/>
            <a:r>
              <a:rPr lang="en-US" dirty="0" smtClean="0"/>
              <a:t>Click to edit Master text styles</a:t>
            </a:r>
          </a:p>
        </p:txBody>
      </p:sp>
      <p:sp>
        <p:nvSpPr>
          <p:cNvPr id="4" name="Text Placeholder 3"/>
          <p:cNvSpPr>
            <a:spLocks noGrp="1"/>
          </p:cNvSpPr>
          <p:nvPr>
            <p:ph type="body" sz="half" idx="3"/>
          </p:nvPr>
        </p:nvSpPr>
        <p:spPr>
          <a:xfrm>
            <a:off x="4648200" y="838200"/>
            <a:ext cx="4041775" cy="381000"/>
          </a:xfrm>
          <a:noFill/>
          <a:ln>
            <a:noFill/>
          </a:ln>
        </p:spPr>
        <p:txBody>
          <a:bodyPr anchor="b">
            <a:noAutofit/>
          </a:bodyPr>
          <a:lstStyle>
            <a:lvl1pPr marL="0" indent="0">
              <a:buNone/>
              <a:defRPr sz="2400" b="1">
                <a:solidFill>
                  <a:schemeClr val="tx1"/>
                </a:solidFill>
              </a:defRPr>
            </a:lvl1pPr>
            <a:lvl2pPr>
              <a:buNone/>
              <a:defRPr sz="2000" b="1"/>
            </a:lvl2pPr>
            <a:lvl3pPr>
              <a:buNone/>
              <a:defRPr sz="1800" b="1"/>
            </a:lvl3pPr>
            <a:lvl4pPr>
              <a:buNone/>
              <a:defRPr sz="1600" b="1"/>
            </a:lvl4pPr>
            <a:lvl5pPr>
              <a:buNone/>
              <a:defRPr sz="1600" b="1"/>
            </a:lvl5pPr>
          </a:lstStyle>
          <a:p>
            <a:pPr lvl="0"/>
            <a:r>
              <a:rPr lang="en-US" dirty="0" smtClean="0"/>
              <a:t>Click to edit Master text styles</a:t>
            </a:r>
          </a:p>
        </p:txBody>
      </p:sp>
      <p:sp>
        <p:nvSpPr>
          <p:cNvPr id="11" name="Content Placeholder 10"/>
          <p:cNvSpPr>
            <a:spLocks noGrp="1"/>
          </p:cNvSpPr>
          <p:nvPr>
            <p:ph sz="quarter" idx="2"/>
          </p:nvPr>
        </p:nvSpPr>
        <p:spPr>
          <a:xfrm>
            <a:off x="457200" y="1371600"/>
            <a:ext cx="4038600" cy="4800600"/>
          </a:xfrm>
        </p:spPr>
        <p:txBody>
          <a:bodyPr/>
          <a:lstStyle>
            <a:lvl1pPr>
              <a:defRPr sz="2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Content Placeholder 12"/>
          <p:cNvSpPr>
            <a:spLocks noGrp="1"/>
          </p:cNvSpPr>
          <p:nvPr>
            <p:ph sz="quarter" idx="4"/>
          </p:nvPr>
        </p:nvSpPr>
        <p:spPr>
          <a:xfrm>
            <a:off x="4648200" y="1371600"/>
            <a:ext cx="4038600" cy="4800600"/>
          </a:xfrm>
        </p:spPr>
        <p:txBody>
          <a:bodyPr/>
          <a:lstStyle>
            <a:lvl1pPr>
              <a:defRPr sz="2000"/>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a:defRPr/>
            </a:pPr>
            <a:fld id="{9F291732-6932-4F35-91E1-3D7719F737DA}" type="datetime1">
              <a:rPr lang="en-US" altLang="zh-CN"/>
              <a:t>9/1/2025</a:t>
            </a:fld>
            <a:endParaRPr lang="en-US" altLang="zh-CN"/>
          </a:p>
        </p:txBody>
      </p:sp>
      <p:sp>
        <p:nvSpPr>
          <p:cNvPr id="8" name="Footer Placeholder 7"/>
          <p:cNvSpPr>
            <a:spLocks noGrp="1"/>
          </p:cNvSpPr>
          <p:nvPr>
            <p:ph type="ftr" sz="quarter" idx="11"/>
          </p:nvPr>
        </p:nvSpPr>
        <p:spPr/>
        <p:txBody>
          <a:bodyPr/>
          <a:lstStyle>
            <a:lvl1pPr>
              <a:defRPr/>
            </a:lvl1pPr>
          </a:lstStyle>
          <a:p>
            <a:pPr>
              <a:defRPr/>
            </a:pPr>
            <a:r>
              <a:rPr lang="en-US"/>
              <a:t>Beken Confidential</a:t>
            </a:r>
          </a:p>
        </p:txBody>
      </p:sp>
      <p:sp>
        <p:nvSpPr>
          <p:cNvPr id="9" name="Slide Number Placeholder 8"/>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pPr>
              <a:defRPr/>
            </a:pPr>
            <a:fld id="{EC6755CB-4B37-47AC-92DC-E5C7128374EF}"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533400"/>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lvl1pPr>
              <a:defRPr>
                <a:latin typeface="Arial" panose="020B0604020202020204" pitchFamily="34" charset="0"/>
                <a:cs typeface="Arial" panose="020B0604020202020204" pitchFamily="34" charset="0"/>
              </a:defRPr>
            </a:lvl1pPr>
          </a:lstStyle>
          <a:p>
            <a:pPr>
              <a:defRPr/>
            </a:pPr>
            <a:fld id="{041E2C13-F893-4DD7-8B4C-6B3CD543482B}" type="datetime1">
              <a:rPr lang="en-US" altLang="zh-CN"/>
              <a:t>9/1/2025</a:t>
            </a:fld>
            <a:endParaRPr lang="en-US" altLang="zh-CN"/>
          </a:p>
        </p:txBody>
      </p:sp>
      <p:sp>
        <p:nvSpPr>
          <p:cNvPr id="4" name="Footer Placeholder 3"/>
          <p:cNvSpPr>
            <a:spLocks noGrp="1"/>
          </p:cNvSpPr>
          <p:nvPr>
            <p:ph type="ftr" sz="quarter" idx="11"/>
          </p:nvPr>
        </p:nvSpPr>
        <p:spPr/>
        <p:txBody>
          <a:bodyPr/>
          <a:lstStyle>
            <a:lvl1pPr>
              <a:defRPr/>
            </a:lvl1pPr>
          </a:lstStyle>
          <a:p>
            <a:pPr>
              <a:defRPr/>
            </a:pPr>
            <a:r>
              <a:rPr lang="en-US"/>
              <a:t>Beken Confidential</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pPr>
              <a:defRPr/>
            </a:pPr>
            <a:fld id="{4E4794B1-0B08-43E1-9622-C1F184B6B56A}"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6"/>
          <p:cNvSpPr/>
          <p:nvPr userDrawn="1"/>
        </p:nvSpPr>
        <p:spPr>
          <a:xfrm>
            <a:off x="762000" y="3648075"/>
            <a:ext cx="7458075"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sp>
        <p:nvSpPr>
          <p:cNvPr id="4" name="Rectangle 7"/>
          <p:cNvSpPr/>
          <p:nvPr userDrawn="1"/>
        </p:nvSpPr>
        <p:spPr>
          <a:xfrm>
            <a:off x="752475" y="3648075"/>
            <a:ext cx="228600" cy="1279525"/>
          </a:xfrm>
          <a:prstGeom prst="rect">
            <a:avLst/>
          </a:prstGeom>
          <a:solidFill>
            <a:srgbClr val="0070C0"/>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pic>
        <p:nvPicPr>
          <p:cNvPr id="5" name="图片 5" descr="beken4"/>
          <p:cNvPicPr>
            <a:picLocks noChangeAspect="1" noChangeArrowheads="1"/>
          </p:cNvPicPr>
          <p:nvPr userDrawn="1"/>
        </p:nvPicPr>
        <p:blipFill>
          <a:blip r:embed="rId2" cstate="print"/>
          <a:srcRect/>
          <a:stretch>
            <a:fillRect/>
          </a:stretch>
        </p:blipFill>
        <p:spPr bwMode="auto">
          <a:xfrm>
            <a:off x="727075" y="1905000"/>
            <a:ext cx="2778125" cy="1527175"/>
          </a:xfrm>
          <a:prstGeom prst="rect">
            <a:avLst/>
          </a:prstGeom>
          <a:noFill/>
          <a:ln w="9525">
            <a:noFill/>
            <a:miter lim="800000"/>
            <a:headEnd/>
            <a:tailEnd/>
          </a:ln>
        </p:spPr>
      </p:pic>
      <p:sp>
        <p:nvSpPr>
          <p:cNvPr id="7" name="Title Placeholder 21"/>
          <p:cNvSpPr txBox="1"/>
          <p:nvPr userDrawn="1"/>
        </p:nvSpPr>
        <p:spPr bwMode="auto">
          <a:xfrm>
            <a:off x="381000" y="152400"/>
            <a:ext cx="8229600" cy="533400"/>
          </a:xfrm>
          <a:prstGeom prst="rect">
            <a:avLst/>
          </a:prstGeom>
          <a:noFill/>
          <a:ln>
            <a:noFill/>
          </a:ln>
        </p:spPr>
        <p:txBody>
          <a:bodyPr anchor="b"/>
          <a:lstStyle>
            <a:lvl1pPr>
              <a:defRPr>
                <a:solidFill>
                  <a:schemeClr val="tx1"/>
                </a:solidFill>
                <a:latin typeface="Gill Sans MT" panose="020B0502020104020203"/>
              </a:defRPr>
            </a:lvl1pPr>
            <a:lvl2pPr marL="742950" indent="-285750">
              <a:defRPr>
                <a:solidFill>
                  <a:schemeClr val="tx1"/>
                </a:solidFill>
                <a:latin typeface="Gill Sans MT" panose="020B0502020104020203"/>
              </a:defRPr>
            </a:lvl2pPr>
            <a:lvl3pPr marL="1143000" indent="-228600">
              <a:defRPr>
                <a:solidFill>
                  <a:schemeClr val="tx1"/>
                </a:solidFill>
                <a:latin typeface="Gill Sans MT" panose="020B0502020104020203"/>
              </a:defRPr>
            </a:lvl3pPr>
            <a:lvl4pPr marL="1600200" indent="-228600">
              <a:defRPr>
                <a:solidFill>
                  <a:schemeClr val="tx1"/>
                </a:solidFill>
                <a:latin typeface="Gill Sans MT" panose="020B0502020104020203"/>
              </a:defRPr>
            </a:lvl4pPr>
            <a:lvl5pPr marL="2057400" indent="-228600">
              <a:defRPr>
                <a:solidFill>
                  <a:schemeClr val="tx1"/>
                </a:solidFill>
                <a:latin typeface="Gill Sans MT" panose="020B0502020104020203"/>
              </a:defRPr>
            </a:lvl5pPr>
            <a:lvl6pPr marL="2514600" indent="-228600" fontAlgn="base">
              <a:spcBef>
                <a:spcPct val="0"/>
              </a:spcBef>
              <a:spcAft>
                <a:spcPct val="0"/>
              </a:spcAft>
              <a:defRPr>
                <a:solidFill>
                  <a:schemeClr val="tx1"/>
                </a:solidFill>
                <a:latin typeface="Gill Sans MT" panose="020B0502020104020203"/>
              </a:defRPr>
            </a:lvl6pPr>
            <a:lvl7pPr marL="2971800" indent="-228600" fontAlgn="base">
              <a:spcBef>
                <a:spcPct val="0"/>
              </a:spcBef>
              <a:spcAft>
                <a:spcPct val="0"/>
              </a:spcAft>
              <a:defRPr>
                <a:solidFill>
                  <a:schemeClr val="tx1"/>
                </a:solidFill>
                <a:latin typeface="Gill Sans MT" panose="020B0502020104020203"/>
              </a:defRPr>
            </a:lvl7pPr>
            <a:lvl8pPr marL="3429000" indent="-228600" fontAlgn="base">
              <a:spcBef>
                <a:spcPct val="0"/>
              </a:spcBef>
              <a:spcAft>
                <a:spcPct val="0"/>
              </a:spcAft>
              <a:defRPr>
                <a:solidFill>
                  <a:schemeClr val="tx1"/>
                </a:solidFill>
                <a:latin typeface="Gill Sans MT" panose="020B0502020104020203"/>
              </a:defRPr>
            </a:lvl8pPr>
            <a:lvl9pPr marL="3886200" indent="-228600" fontAlgn="base">
              <a:spcBef>
                <a:spcPct val="0"/>
              </a:spcBef>
              <a:spcAft>
                <a:spcPct val="0"/>
              </a:spcAft>
              <a:defRPr>
                <a:solidFill>
                  <a:schemeClr val="tx1"/>
                </a:solidFill>
                <a:latin typeface="Gill Sans MT" panose="020B0502020104020203"/>
              </a:defRPr>
            </a:lvl9pPr>
          </a:lstStyle>
          <a:p>
            <a:pPr>
              <a:defRPr/>
            </a:pPr>
            <a:r>
              <a:rPr lang="en-US" altLang="zh-CN" sz="2800" smtClean="0">
                <a:solidFill>
                  <a:schemeClr val="bg1"/>
                </a:solidFill>
                <a:latin typeface="Arial Black" panose="020B0A04020102020204" pitchFamily="34" charset="0"/>
              </a:rPr>
              <a:t>Thank You</a:t>
            </a:r>
          </a:p>
        </p:txBody>
      </p:sp>
      <p:sp>
        <p:nvSpPr>
          <p:cNvPr id="6" name="Title 7"/>
          <p:cNvSpPr>
            <a:spLocks noGrp="1"/>
          </p:cNvSpPr>
          <p:nvPr>
            <p:ph type="ctrTitle"/>
          </p:nvPr>
        </p:nvSpPr>
        <p:spPr>
          <a:xfrm>
            <a:off x="1143000" y="3886200"/>
            <a:ext cx="6934200" cy="990600"/>
          </a:xfrm>
        </p:spPr>
        <p:txBody>
          <a:bodyPr anchor="t"/>
          <a:lstStyle>
            <a:lvl1pPr algn="r">
              <a:defRPr sz="3200">
                <a:solidFill>
                  <a:schemeClr val="tx1"/>
                </a:solidFill>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8" name="Date Placeholder 2"/>
          <p:cNvSpPr>
            <a:spLocks noGrp="1"/>
          </p:cNvSpPr>
          <p:nvPr>
            <p:ph type="dt" sz="half" idx="10"/>
          </p:nvPr>
        </p:nvSpPr>
        <p:spPr/>
        <p:txBody>
          <a:bodyPr/>
          <a:lstStyle>
            <a:lvl1pPr>
              <a:defRPr/>
            </a:lvl1pPr>
          </a:lstStyle>
          <a:p>
            <a:pPr>
              <a:defRPr/>
            </a:pPr>
            <a:fld id="{B90502E0-8AF7-4D91-8FE9-AD79A1EB64E6}" type="datetime1">
              <a:rPr lang="en-US" altLang="zh-CN"/>
              <a:t>9/1/2025</a:t>
            </a:fld>
            <a:endParaRPr lang="en-US" altLang="zh-CN"/>
          </a:p>
        </p:txBody>
      </p:sp>
      <p:sp>
        <p:nvSpPr>
          <p:cNvPr id="9" name="Footer Placeholder 3"/>
          <p:cNvSpPr>
            <a:spLocks noGrp="1"/>
          </p:cNvSpPr>
          <p:nvPr>
            <p:ph type="ftr" sz="quarter" idx="11"/>
          </p:nvPr>
        </p:nvSpPr>
        <p:spPr/>
        <p:txBody>
          <a:bodyPr/>
          <a:lstStyle>
            <a:lvl1pPr>
              <a:defRPr/>
            </a:lvl1pPr>
          </a:lstStyle>
          <a:p>
            <a:pPr>
              <a:defRPr/>
            </a:pPr>
            <a:r>
              <a:rPr lang="en-US"/>
              <a:t>Beken Confidential</a:t>
            </a:r>
          </a:p>
        </p:txBody>
      </p:sp>
      <p:sp>
        <p:nvSpPr>
          <p:cNvPr id="10" name="Slide Number Placeholder 4"/>
          <p:cNvSpPr>
            <a:spLocks noGrp="1"/>
          </p:cNvSpPr>
          <p:nvPr>
            <p:ph type="sldNum" sz="quarter" idx="12"/>
          </p:nvPr>
        </p:nvSpPr>
        <p:spPr/>
        <p:txBody>
          <a:bodyPr/>
          <a:lstStyle>
            <a:lvl1pPr>
              <a:defRPr/>
            </a:lvl1pPr>
          </a:lstStyle>
          <a:p>
            <a:pPr>
              <a:defRPr/>
            </a:pPr>
            <a:fld id="{7CD926B2-B692-484A-AFC3-A4FEC4DE482F}"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0" y="152400"/>
            <a:ext cx="9144000" cy="533400"/>
          </a:xfrm>
          <a:prstGeom prst="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tLang="zh-CN">
              <a:solidFill>
                <a:srgbClr val="FFFFFF"/>
              </a:solidFill>
              <a:ea typeface="宋体" panose="02010600030101010101" pitchFamily="2" charset="-122"/>
            </a:endParaRPr>
          </a:p>
        </p:txBody>
      </p:sp>
      <p:sp>
        <p:nvSpPr>
          <p:cNvPr id="1027" name="Title Placeholder 21"/>
          <p:cNvSpPr>
            <a:spLocks noGrp="1"/>
          </p:cNvSpPr>
          <p:nvPr>
            <p:ph type="title"/>
          </p:nvPr>
        </p:nvSpPr>
        <p:spPr bwMode="auto">
          <a:xfrm>
            <a:off x="381000" y="152400"/>
            <a:ext cx="8229600" cy="533400"/>
          </a:xfrm>
          <a:prstGeom prst="rect">
            <a:avLst/>
          </a:prstGeom>
          <a:noFill/>
          <a:ln w="9525">
            <a:noFill/>
            <a:miter lim="800000"/>
          </a:ln>
        </p:spPr>
        <p:txBody>
          <a:bodyPr vert="horz" wrap="square" lIns="91440" tIns="45720" rIns="91440" bIns="45720" numCol="1" anchor="b" anchorCtr="0" compatLnSpc="1"/>
          <a:lstStyle/>
          <a:p>
            <a:pPr lvl="0"/>
            <a:r>
              <a:rPr lang="en-US" altLang="zh-CN" smtClean="0"/>
              <a:t>Click to edit Master title style</a:t>
            </a:r>
          </a:p>
        </p:txBody>
      </p:sp>
      <p:sp>
        <p:nvSpPr>
          <p:cNvPr id="1028" name="Text Placeholder 12"/>
          <p:cNvSpPr>
            <a:spLocks noGrp="1"/>
          </p:cNvSpPr>
          <p:nvPr>
            <p:ph type="body" idx="1"/>
          </p:nvPr>
        </p:nvSpPr>
        <p:spPr bwMode="auto">
          <a:xfrm>
            <a:off x="457200" y="762000"/>
            <a:ext cx="8229600" cy="5367338"/>
          </a:xfrm>
          <a:prstGeom prst="rect">
            <a:avLst/>
          </a:prstGeom>
          <a:noFill/>
          <a:ln w="9525">
            <a:noFill/>
            <a:miter lim="800000"/>
          </a:ln>
        </p:spPr>
        <p:txBody>
          <a:bodyPr vert="horz" wrap="square" lIns="91440" tIns="45720" rIns="91440" bIns="45720" numCol="1" anchor="t" anchorCtr="0" compatLnSpc="1"/>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p>
        </p:txBody>
      </p:sp>
      <p:sp>
        <p:nvSpPr>
          <p:cNvPr id="14" name="Date Placeholder 13"/>
          <p:cNvSpPr>
            <a:spLocks noGrp="1"/>
          </p:cNvSpPr>
          <p:nvPr>
            <p:ph type="dt" sz="half" idx="2"/>
          </p:nvPr>
        </p:nvSpPr>
        <p:spPr>
          <a:xfrm>
            <a:off x="6400800" y="6356350"/>
            <a:ext cx="2289175" cy="365125"/>
          </a:xfrm>
          <a:prstGeom prst="rect">
            <a:avLst/>
          </a:prstGeom>
        </p:spPr>
        <p:txBody>
          <a:bodyPr vert="horz" wrap="square" lIns="91440" tIns="45720" rIns="91440" bIns="45720" numCol="1" anchor="t" anchorCtr="0" compatLnSpc="1"/>
          <a:lstStyle>
            <a:lvl1pPr>
              <a:defRPr sz="1400">
                <a:solidFill>
                  <a:schemeClr val="tx2"/>
                </a:solidFill>
                <a:latin typeface="Gill Sans MT" panose="020B0502020104020203"/>
                <a:ea typeface="宋体" panose="02010600030101010101" pitchFamily="2" charset="-122"/>
              </a:defRPr>
            </a:lvl1pPr>
          </a:lstStyle>
          <a:p>
            <a:pPr>
              <a:defRPr/>
            </a:pPr>
            <a:fld id="{ABA65C58-16E6-4BE7-A6D9-4A7B1E0B43D9}" type="datetime1">
              <a:rPr lang="en-US" altLang="zh-CN"/>
              <a:t>9/1/2025</a:t>
            </a:fld>
            <a:endParaRPr lang="en-US" altLang="zh-CN"/>
          </a:p>
        </p:txBody>
      </p:sp>
      <p:sp>
        <p:nvSpPr>
          <p:cNvPr id="3" name="Footer Placeholder 2"/>
          <p:cNvSpPr>
            <a:spLocks noGrp="1"/>
          </p:cNvSpPr>
          <p:nvPr>
            <p:ph type="ftr" sz="quarter" idx="3"/>
          </p:nvPr>
        </p:nvSpPr>
        <p:spPr>
          <a:xfrm>
            <a:off x="2438400" y="6356350"/>
            <a:ext cx="3965575" cy="365125"/>
          </a:xfrm>
          <a:prstGeom prst="rect">
            <a:avLst/>
          </a:prstGeom>
        </p:spPr>
        <p:txBody>
          <a:bodyPr vert="horz"/>
          <a:lstStyle>
            <a:lvl1pPr algn="ctr" eaLnBrk="1" fontAlgn="auto" latinLnBrk="0" hangingPunct="1">
              <a:spcBef>
                <a:spcPts val="0"/>
              </a:spcBef>
              <a:spcAft>
                <a:spcPts val="0"/>
              </a:spcAft>
              <a:defRPr kumimoji="0" sz="1400" i="1">
                <a:solidFill>
                  <a:schemeClr val="tx2"/>
                </a:solidFill>
                <a:latin typeface="Arial" panose="020B0604020202020204" pitchFamily="34" charset="0"/>
                <a:ea typeface="+mn-ea"/>
                <a:cs typeface="Arial" panose="020B0604020202020204" pitchFamily="34" charset="0"/>
              </a:defRPr>
            </a:lvl1pPr>
          </a:lstStyle>
          <a:p>
            <a:pPr>
              <a:defRPr/>
            </a:pPr>
            <a:r>
              <a:rPr lang="en-US"/>
              <a:t>Beken Confidential</a:t>
            </a:r>
          </a:p>
        </p:txBody>
      </p:sp>
      <p:sp>
        <p:nvSpPr>
          <p:cNvPr id="23" name="Slide Number Placeholder 22"/>
          <p:cNvSpPr>
            <a:spLocks noGrp="1"/>
          </p:cNvSpPr>
          <p:nvPr>
            <p:ph type="sldNum" sz="quarter" idx="4"/>
          </p:nvPr>
        </p:nvSpPr>
        <p:spPr>
          <a:xfrm>
            <a:off x="457200" y="6356350"/>
            <a:ext cx="1981200" cy="365125"/>
          </a:xfrm>
          <a:prstGeom prst="rect">
            <a:avLst/>
          </a:prstGeom>
        </p:spPr>
        <p:txBody>
          <a:bodyPr vert="horz" wrap="square" lIns="91440" tIns="45720" rIns="91440" bIns="45720" numCol="1" anchor="t" anchorCtr="0" compatLnSpc="1"/>
          <a:lstStyle>
            <a:lvl1pPr>
              <a:defRPr sz="1400">
                <a:solidFill>
                  <a:schemeClr val="tx2"/>
                </a:solidFill>
                <a:latin typeface="Gill Sans MT" panose="020B0502020104020203"/>
                <a:ea typeface="宋体" panose="02010600030101010101" pitchFamily="2" charset="-122"/>
              </a:defRPr>
            </a:lvl1pPr>
          </a:lstStyle>
          <a:p>
            <a:pPr>
              <a:defRPr/>
            </a:pPr>
            <a:fld id="{C5FB9516-72BB-4E57-B061-D0383148A636}" type="slidenum">
              <a:rPr lang="en-US" altLang="zh-CN"/>
              <a:t>‹#›</a:t>
            </a:fld>
            <a:endParaRPr lang="en-US" altLang="zh-CN"/>
          </a:p>
        </p:txBody>
      </p:sp>
      <p:pic>
        <p:nvPicPr>
          <p:cNvPr id="1032" name="图片 5" descr="beken4"/>
          <p:cNvPicPr>
            <a:picLocks noChangeAspect="1" noChangeArrowheads="1"/>
          </p:cNvPicPr>
          <p:nvPr userDrawn="1"/>
        </p:nvPicPr>
        <p:blipFill>
          <a:blip r:embed="rId8" cstate="print"/>
          <a:srcRect/>
          <a:stretch>
            <a:fillRect/>
          </a:stretch>
        </p:blipFill>
        <p:spPr bwMode="auto">
          <a:xfrm>
            <a:off x="8228013" y="6324600"/>
            <a:ext cx="687387" cy="3778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rtl="0" eaLnBrk="0" fontAlgn="base" hangingPunct="0">
        <a:spcBef>
          <a:spcPct val="0"/>
        </a:spcBef>
        <a:spcAft>
          <a:spcPct val="0"/>
        </a:spcAft>
        <a:defRPr sz="2800" kern="1200">
          <a:solidFill>
            <a:schemeClr val="bg1"/>
          </a:solidFill>
          <a:latin typeface="Arial Black" panose="020B0A04020102020204" pitchFamily="34" charset="0"/>
          <a:ea typeface="+mj-ea"/>
          <a:cs typeface="+mj-cs"/>
        </a:defRPr>
      </a:lvl1pPr>
      <a:lvl2pPr algn="l" rtl="0" eaLnBrk="0" fontAlgn="base" hangingPunct="0">
        <a:spcBef>
          <a:spcPct val="0"/>
        </a:spcBef>
        <a:spcAft>
          <a:spcPct val="0"/>
        </a:spcAft>
        <a:defRPr sz="2800">
          <a:solidFill>
            <a:schemeClr val="bg1"/>
          </a:solidFill>
          <a:latin typeface="Arial Black" panose="020B0A04020102020204" pitchFamily="34" charset="0"/>
        </a:defRPr>
      </a:lvl2pPr>
      <a:lvl3pPr algn="l" rtl="0" eaLnBrk="0" fontAlgn="base" hangingPunct="0">
        <a:spcBef>
          <a:spcPct val="0"/>
        </a:spcBef>
        <a:spcAft>
          <a:spcPct val="0"/>
        </a:spcAft>
        <a:defRPr sz="2800">
          <a:solidFill>
            <a:schemeClr val="bg1"/>
          </a:solidFill>
          <a:latin typeface="Arial Black" panose="020B0A04020102020204" pitchFamily="34" charset="0"/>
        </a:defRPr>
      </a:lvl3pPr>
      <a:lvl4pPr algn="l" rtl="0" eaLnBrk="0" fontAlgn="base" hangingPunct="0">
        <a:spcBef>
          <a:spcPct val="0"/>
        </a:spcBef>
        <a:spcAft>
          <a:spcPct val="0"/>
        </a:spcAft>
        <a:defRPr sz="2800">
          <a:solidFill>
            <a:schemeClr val="bg1"/>
          </a:solidFill>
          <a:latin typeface="Arial Black" panose="020B0A04020102020204" pitchFamily="34" charset="0"/>
        </a:defRPr>
      </a:lvl4pPr>
      <a:lvl5pPr algn="l" rtl="0" eaLnBrk="0" fontAlgn="base" hangingPunct="0">
        <a:spcBef>
          <a:spcPct val="0"/>
        </a:spcBef>
        <a:spcAft>
          <a:spcPct val="0"/>
        </a:spcAft>
        <a:defRPr sz="2800">
          <a:solidFill>
            <a:schemeClr val="bg1"/>
          </a:solidFill>
          <a:latin typeface="Arial Black" panose="020B0A04020102020204" pitchFamily="34" charset="0"/>
        </a:defRPr>
      </a:lvl5pPr>
      <a:lvl6pPr marL="457200" algn="l" rtl="0" fontAlgn="base">
        <a:spcBef>
          <a:spcPct val="0"/>
        </a:spcBef>
        <a:spcAft>
          <a:spcPct val="0"/>
        </a:spcAft>
        <a:defRPr sz="2800">
          <a:solidFill>
            <a:schemeClr val="bg1"/>
          </a:solidFill>
          <a:latin typeface="Arial Black" panose="020B0A04020102020204" pitchFamily="34" charset="0"/>
        </a:defRPr>
      </a:lvl6pPr>
      <a:lvl7pPr marL="914400" algn="l" rtl="0" fontAlgn="base">
        <a:spcBef>
          <a:spcPct val="0"/>
        </a:spcBef>
        <a:spcAft>
          <a:spcPct val="0"/>
        </a:spcAft>
        <a:defRPr sz="2800">
          <a:solidFill>
            <a:schemeClr val="bg1"/>
          </a:solidFill>
          <a:latin typeface="Arial Black" panose="020B0A04020102020204" pitchFamily="34" charset="0"/>
        </a:defRPr>
      </a:lvl7pPr>
      <a:lvl8pPr marL="1371600" algn="l" rtl="0" fontAlgn="base">
        <a:spcBef>
          <a:spcPct val="0"/>
        </a:spcBef>
        <a:spcAft>
          <a:spcPct val="0"/>
        </a:spcAft>
        <a:defRPr sz="2800">
          <a:solidFill>
            <a:schemeClr val="bg1"/>
          </a:solidFill>
          <a:latin typeface="Arial Black" panose="020B0A04020102020204" pitchFamily="34" charset="0"/>
        </a:defRPr>
      </a:lvl8pPr>
      <a:lvl9pPr marL="1828800" algn="l" rtl="0" fontAlgn="base">
        <a:spcBef>
          <a:spcPct val="0"/>
        </a:spcBef>
        <a:spcAft>
          <a:spcPct val="0"/>
        </a:spcAft>
        <a:defRPr sz="2800">
          <a:solidFill>
            <a:schemeClr val="bg1"/>
          </a:solidFill>
          <a:latin typeface="Arial Black" panose="020B0A04020102020204" pitchFamily="34"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400" b="1" kern="1200">
          <a:solidFill>
            <a:schemeClr val="tx1"/>
          </a:solidFill>
          <a:latin typeface="Arial" panose="020B0604020202020204" pitchFamily="34" charset="0"/>
          <a:ea typeface="+mn-ea"/>
          <a:cs typeface="Arial" panose="020B0604020202020204" pitchFamily="34" charset="0"/>
        </a:defRPr>
      </a:lvl1pPr>
      <a:lvl2pPr marL="548005" indent="-273050" algn="l" rtl="0" eaLnBrk="0" fontAlgn="base" hangingPunct="0">
        <a:spcBef>
          <a:spcPts val="500"/>
        </a:spcBef>
        <a:spcAft>
          <a:spcPct val="0"/>
        </a:spcAft>
        <a:buClr>
          <a:schemeClr val="accent2"/>
        </a:buClr>
        <a:buSzPct val="76000"/>
        <a:buFont typeface="Wingdings 3" panose="05040102010807070707" pitchFamily="18" charset="2"/>
        <a:buChar char=""/>
        <a:defRPr sz="2000" kern="1200">
          <a:solidFill>
            <a:schemeClr val="tx1"/>
          </a:solidFill>
          <a:latin typeface="Arial" panose="020B0604020202020204" pitchFamily="34" charset="0"/>
          <a:ea typeface="+mn-ea"/>
          <a:cs typeface="Arial" panose="020B0604020202020204" pitchFamily="34" charset="0"/>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400" kern="1200">
          <a:solidFill>
            <a:schemeClr val="tx1"/>
          </a:solidFill>
          <a:latin typeface="Arial" panose="020B0604020202020204" pitchFamily="34" charset="0"/>
          <a:ea typeface="+mn-ea"/>
          <a:cs typeface="Arial" panose="020B0604020202020204" pitchFamily="34" charset="0"/>
        </a:defRPr>
      </a:lvl3pPr>
      <a:lvl4pPr marL="1097280" indent="-228600" algn="l" rtl="0" eaLnBrk="0" fontAlgn="base" hangingPunct="0">
        <a:spcBef>
          <a:spcPts val="400"/>
        </a:spcBef>
        <a:spcAft>
          <a:spcPct val="0"/>
        </a:spcAft>
        <a:buClr>
          <a:srgbClr val="8BA2B4"/>
        </a:buClr>
        <a:buSzPct val="70000"/>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645920" indent="-182880" algn="l" rtl="0" eaLnBrk="1" latinLnBrk="0" hangingPunct="1">
        <a:spcBef>
          <a:spcPts val="300"/>
        </a:spcBef>
        <a:buClr>
          <a:srgbClr val="9FB8CD">
            <a:shade val="75000"/>
          </a:srgbClr>
        </a:buClr>
        <a:buSzPct val="75000"/>
        <a:buFont typeface="Wingdings 3" panose="05040102010807070707"/>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panose="05040102010807070707"/>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panose="05040102010807070707"/>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panose="05040102010807070707"/>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ctrTitle"/>
          </p:nvPr>
        </p:nvSpPr>
        <p:spPr/>
        <p:txBody>
          <a:bodyPr/>
          <a:lstStyle/>
          <a:p>
            <a:pPr eaLnBrk="1" hangingPunct="1"/>
            <a:r>
              <a:rPr lang="en-US" altLang="zh-CN"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WiFi 802.11</a:t>
            </a:r>
            <a:r>
              <a:rPr lang="zh-CN" altLang="en-US"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基础知识介绍</a:t>
            </a:r>
            <a:r>
              <a:rPr lang="en-US" altLang="zh-CN"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t/>
            </a:r>
            <a:br>
              <a:rPr lang="en-US" altLang="zh-CN"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rPr>
            </a:br>
            <a:endParaRPr lang="en-US" altLang="zh-CN" b="1" dirty="0" smtClean="0">
              <a:solidFill>
                <a:schemeClr val="tx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3" name="Subtitle 2"/>
          <p:cNvSpPr>
            <a:spLocks noGrp="1"/>
          </p:cNvSpPr>
          <p:nvPr>
            <p:ph type="subTitle" idx="1"/>
          </p:nvPr>
        </p:nvSpPr>
        <p:spPr>
          <a:xfrm>
            <a:off x="1143000" y="5257800"/>
            <a:ext cx="6934200" cy="533400"/>
          </a:xfrm>
        </p:spPr>
        <p:txBody>
          <a:bodyPr>
            <a:normAutofit fontScale="70000" lnSpcReduction="20000"/>
          </a:bodyPr>
          <a:lstStyle/>
          <a:p>
            <a:pPr eaLnBrk="1" fontAlgn="auto" hangingPunct="1">
              <a:spcAft>
                <a:spcPts val="0"/>
              </a:spcAft>
              <a:buFont typeface="Wingdings 3" panose="05040102010807070707"/>
              <a:buNone/>
              <a:defRPr/>
            </a:pPr>
            <a:r>
              <a:rPr lang="en-US" altLang="zh-CN" dirty="0" smtClean="0">
                <a:latin typeface="Vladimir Script" panose="03050402040407070305" pitchFamily="66" charset="0"/>
              </a:rPr>
              <a:t>Better Life with Wireless</a:t>
            </a:r>
          </a:p>
          <a:p>
            <a:pPr eaLnBrk="1" fontAlgn="auto" hangingPunct="1">
              <a:spcAft>
                <a:spcPts val="0"/>
              </a:spcAft>
              <a:buFont typeface="Wingdings 3" panose="05040102010807070707"/>
              <a:buNone/>
              <a:defRPr/>
            </a:pPr>
            <a:r>
              <a:rPr lang="zh-CN" altLang="en-US" dirty="0" smtClean="0">
                <a:latin typeface="华文行楷" panose="02010800040101010101" pitchFamily="2" charset="-122"/>
                <a:ea typeface="华文行楷" panose="02010800040101010101" pitchFamily="2" charset="-122"/>
              </a:rPr>
              <a:t>美好生活尽在无线</a:t>
            </a:r>
            <a:endParaRPr lang="en-US" altLang="zh-CN" dirty="0" smtClean="0">
              <a:latin typeface="华文行楷" panose="02010800040101010101" pitchFamily="2" charset="-122"/>
              <a:ea typeface="华文行楷" panose="02010800040101010101" pitchFamily="2" charset="-122"/>
            </a:endParaRPr>
          </a:p>
        </p:txBody>
      </p:sp>
      <p:sp>
        <p:nvSpPr>
          <p:cNvPr id="8196" name="Footer Placeholder 5"/>
          <p:cNvSpPr>
            <a:spLocks noGrp="1"/>
          </p:cNvSpPr>
          <p:nvPr>
            <p:ph type="ftr" sz="quarter" idx="11"/>
          </p:nvPr>
        </p:nvSpPr>
        <p:spPr bwMode="auto">
          <a:noFill/>
          <a:ln>
            <a:miter lim="800000"/>
          </a:ln>
        </p:spPr>
        <p:txBody>
          <a:bodyPr wrap="square" lIns="91440" tIns="45720" rIns="91440" bIns="45720" numCol="1" anchor="t" anchorCtr="0" compatLnSpc="1"/>
          <a:lstStyle/>
          <a:p>
            <a:pPr fontAlgn="base">
              <a:spcBef>
                <a:spcPct val="0"/>
              </a:spcBef>
              <a:spcAft>
                <a:spcPct val="0"/>
              </a:spcAft>
            </a:pPr>
            <a:r>
              <a:rPr lang="en-US" altLang="zh-CN" smtClean="0">
                <a:latin typeface="Arial" panose="020B0604020202020204" pitchFamily="34" charset="0"/>
                <a:ea typeface="宋体" panose="02010600030101010101" pitchFamily="2" charset="-122"/>
                <a:cs typeface="Arial" panose="020B0604020202020204" pitchFamily="34" charset="0"/>
              </a:rPr>
              <a:t>Beken Confidential</a:t>
            </a:r>
          </a:p>
        </p:txBody>
      </p:sp>
      <p:sp>
        <p:nvSpPr>
          <p:cNvPr id="8197" name="Date Placeholder 4"/>
          <p:cNvSpPr>
            <a:spLocks noGrp="1"/>
          </p:cNvSpPr>
          <p:nvPr>
            <p:ph type="dt" sz="quarter" idx="10"/>
          </p:nvPr>
        </p:nvSpPr>
        <p:spPr bwMode="auto">
          <a:noFill/>
          <a:ln>
            <a:miter lim="800000"/>
          </a:ln>
        </p:spPr>
        <p:txBody>
          <a:bodyPr/>
          <a:lstStyle/>
          <a:p>
            <a:r>
              <a:rPr lang="en-US" altLang="zh-CN" dirty="0" smtClean="0">
                <a:latin typeface="Arial" panose="020B0604020202020204" pitchFamily="34" charset="0"/>
                <a:cs typeface="Arial" panose="020B0604020202020204" pitchFamily="34" charset="0"/>
              </a:rPr>
              <a:t>2022</a:t>
            </a:r>
            <a:r>
              <a:rPr lang="zh-CN" altLang="en-US" dirty="0" smtClean="0">
                <a:latin typeface="Arial" panose="020B0604020202020204" pitchFamily="34" charset="0"/>
                <a:cs typeface="Arial" panose="020B0604020202020204" pitchFamily="34" charset="0"/>
              </a:rPr>
              <a:t>年</a:t>
            </a:r>
            <a:r>
              <a:rPr lang="en-US" altLang="zh-CN" dirty="0" smtClean="0">
                <a:latin typeface="Arial" panose="020B0604020202020204" pitchFamily="34" charset="0"/>
                <a:cs typeface="Arial" panose="020B0604020202020204" pitchFamily="34" charset="0"/>
              </a:rPr>
              <a:t>08</a:t>
            </a:r>
            <a:r>
              <a:rPr lang="zh-CN" altLang="en-US" dirty="0" smtClean="0">
                <a:latin typeface="Arial" panose="020B0604020202020204" pitchFamily="34" charset="0"/>
                <a:cs typeface="Arial" panose="020B0604020202020204" pitchFamily="34" charset="0"/>
              </a:rPr>
              <a:t>月</a:t>
            </a:r>
            <a:r>
              <a:rPr lang="en-US" altLang="zh-CN" dirty="0" smtClean="0">
                <a:latin typeface="Arial" panose="020B0604020202020204" pitchFamily="34" charset="0"/>
                <a:cs typeface="Arial" panose="020B0604020202020204" pitchFamily="34" charset="0"/>
              </a:rPr>
              <a:t>19</a:t>
            </a:r>
            <a:r>
              <a:rPr lang="zh-CN" altLang="en-US" dirty="0" smtClean="0">
                <a:latin typeface="Arial" panose="020B0604020202020204" pitchFamily="34" charset="0"/>
                <a:cs typeface="Arial" panose="020B0604020202020204" pitchFamily="34" charset="0"/>
              </a:rPr>
              <a:t>日</a:t>
            </a:r>
            <a:endParaRPr lang="en-US" altLang="zh-CN" dirty="0" smtClean="0">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大纲</a:t>
            </a:r>
            <a:r>
              <a:rPr lang="en-US" altLang="zh-CN" dirty="0" smtClean="0"/>
              <a:t>		</a:t>
            </a:r>
            <a:endParaRPr lang="zh-CN" altLang="en-US" dirty="0"/>
          </a:p>
        </p:txBody>
      </p:sp>
      <p:sp>
        <p:nvSpPr>
          <p:cNvPr id="3" name="内容占位符 2"/>
          <p:cNvSpPr>
            <a:spLocks noGrp="1"/>
          </p:cNvSpPr>
          <p:nvPr>
            <p:ph sz="quarter" idx="1"/>
          </p:nvPr>
        </p:nvSpPr>
        <p:spPr/>
        <p:txBody>
          <a:bodyPr/>
          <a:lstStyle/>
          <a:p>
            <a:pPr marL="0" indent="0">
              <a:buNone/>
            </a:pPr>
            <a:r>
              <a:rPr lang="en-US" sz="3600" dirty="0" smtClean="0"/>
              <a:t>1</a:t>
            </a:r>
            <a:r>
              <a:rPr lang="zh-CN" altLang="en-US" sz="3600" dirty="0" smtClean="0">
                <a:ea typeface="宋体" panose="02010600030101010101" pitchFamily="2" charset="-122"/>
              </a:rPr>
              <a:t>、</a:t>
            </a:r>
            <a:r>
              <a:rPr lang="en-US" sz="3600" dirty="0" smtClean="0"/>
              <a:t>WiFi 802.11</a:t>
            </a:r>
            <a:r>
              <a:rPr lang="zh-CN" altLang="en-US" sz="3600" dirty="0" smtClean="0">
                <a:ea typeface="宋体" panose="02010600030101010101" pitchFamily="2" charset="-122"/>
              </a:rPr>
              <a:t>协议概述</a:t>
            </a:r>
            <a:endParaRPr lang="en-US" sz="3600" dirty="0" smtClean="0"/>
          </a:p>
          <a:p>
            <a:pPr marL="0" indent="0">
              <a:buNone/>
            </a:pPr>
            <a:r>
              <a:rPr lang="en-US" altLang="zh-CN" sz="3600" dirty="0" err="1" smtClean="0"/>
              <a:t>2</a:t>
            </a:r>
            <a:r>
              <a:rPr lang="zh-CN" altLang="en-US" sz="3600" dirty="0" err="1" smtClean="0">
                <a:ea typeface="宋体" panose="02010600030101010101" pitchFamily="2" charset="-122"/>
              </a:rPr>
              <a:t>、</a:t>
            </a:r>
            <a:r>
              <a:rPr lang="en-US" sz="3600" dirty="0" smtClean="0">
                <a:sym typeface="+mn-ea"/>
              </a:rPr>
              <a:t>WiFi </a:t>
            </a:r>
            <a:r>
              <a:rPr lang="zh-CN" altLang="en-US" sz="3600" dirty="0" smtClean="0">
                <a:ea typeface="宋体" panose="02010600030101010101" pitchFamily="2" charset="-122"/>
                <a:sym typeface="+mn-ea"/>
              </a:rPr>
              <a:t>连接过程</a:t>
            </a:r>
          </a:p>
          <a:p>
            <a:pPr marL="0" indent="0">
              <a:buNone/>
            </a:pPr>
            <a:r>
              <a:rPr lang="en-US" altLang="zh-CN" sz="3600" dirty="0" err="1" smtClean="0">
                <a:ea typeface="宋体" panose="02010600030101010101" pitchFamily="2" charset="-122"/>
                <a:sym typeface="+mn-ea"/>
              </a:rPr>
              <a:t>3</a:t>
            </a:r>
            <a:r>
              <a:rPr lang="zh-CN" altLang="en-US" sz="3600" dirty="0" err="1" smtClean="0">
                <a:ea typeface="宋体" panose="02010600030101010101" pitchFamily="2" charset="-122"/>
                <a:sym typeface="+mn-ea"/>
              </a:rPr>
              <a:t>、</a:t>
            </a:r>
            <a:r>
              <a:rPr lang="en-US" sz="3600" dirty="0" smtClean="0">
                <a:sym typeface="+mn-ea"/>
              </a:rPr>
              <a:t>WiFi </a:t>
            </a:r>
            <a:r>
              <a:rPr lang="zh-CN" altLang="en-US" sz="3600" dirty="0" smtClean="0">
                <a:ea typeface="宋体" panose="02010600030101010101" pitchFamily="2" charset="-122"/>
                <a:sym typeface="+mn-ea"/>
              </a:rPr>
              <a:t>抓包及分析</a:t>
            </a:r>
            <a:endParaRPr lang="en-US" altLang="zh-CN" sz="3600" b="1" dirty="0" smtClean="0"/>
          </a:p>
          <a:p>
            <a:pPr marL="0" indent="0">
              <a:buNone/>
            </a:pPr>
            <a:endParaRPr lang="en-US" altLang="zh-CN" sz="3600" b="1" dirty="0" smtClean="0"/>
          </a:p>
        </p:txBody>
      </p:sp>
      <p:sp>
        <p:nvSpPr>
          <p:cNvPr id="4" name="页脚占位符 3"/>
          <p:cNvSpPr>
            <a:spLocks noGrp="1"/>
          </p:cNvSpPr>
          <p:nvPr>
            <p:ph type="ftr" sz="quarter" idx="11"/>
          </p:nvPr>
        </p:nvSpPr>
        <p:spPr/>
        <p:txBody>
          <a:bodyPr/>
          <a:lstStyle/>
          <a:p>
            <a:pPr>
              <a:defRPr/>
            </a:pPr>
            <a:r>
              <a:rPr lang="en-US" smtClean="0"/>
              <a:t>Beken Confidential</a:t>
            </a:r>
            <a:endParaRPr lang="en-US"/>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smtClean="0"/>
              <a:t>2</a:t>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WiFi </a:t>
            </a:r>
            <a:r>
              <a:rPr lang="zh-CN" altLang="en-US"/>
              <a:t>概述</a:t>
            </a:r>
          </a:p>
        </p:txBody>
      </p:sp>
      <p:sp>
        <p:nvSpPr>
          <p:cNvPr id="3" name="内容占位符 2"/>
          <p:cNvSpPr>
            <a:spLocks noGrp="1"/>
          </p:cNvSpPr>
          <p:nvPr>
            <p:ph sz="quarter" idx="1"/>
          </p:nvPr>
        </p:nvSpPr>
        <p:spPr/>
        <p:txBody>
          <a:bodyPr/>
          <a:lstStyle/>
          <a:p>
            <a:pPr marL="0" indent="0">
              <a:buNone/>
            </a:pPr>
            <a:r>
              <a:rPr lang="en-US" altLang="zh-CN" sz="2000" b="0"/>
              <a:t>1.1 计算机网络模型（五层模型）</a:t>
            </a:r>
          </a:p>
          <a:p>
            <a:pPr marL="0" indent="0">
              <a:buNone/>
            </a:pPr>
            <a:endParaRPr lang="en-US" altLang="zh-CN" sz="2000" b="0"/>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3</a:t>
            </a:fld>
            <a:endParaRPr lang="en-US" altLang="zh-CN"/>
          </a:p>
        </p:txBody>
      </p:sp>
      <p:pic>
        <p:nvPicPr>
          <p:cNvPr id="6" name="C9F754DE-2CAD-44b6-B708-469DEB6407EB-1" descr="C:/Users/Administrator/AppData/Local/Temp/wpp.zbWQGzwpp"/>
          <p:cNvPicPr>
            <a:picLocks noChangeAspect="1"/>
          </p:cNvPicPr>
          <p:nvPr/>
        </p:nvPicPr>
        <p:blipFill>
          <a:blip r:embed="rId2"/>
          <a:stretch>
            <a:fillRect/>
          </a:stretch>
        </p:blipFill>
        <p:spPr>
          <a:xfrm>
            <a:off x="533400" y="1447800"/>
            <a:ext cx="7579995" cy="47358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WiFi </a:t>
            </a:r>
            <a:r>
              <a:rPr lang="zh-CN" altLang="en-US">
                <a:sym typeface="+mn-ea"/>
              </a:rPr>
              <a:t>概述</a:t>
            </a:r>
            <a:endParaRPr lang="zh-CN" altLang="en-US"/>
          </a:p>
        </p:txBody>
      </p:sp>
      <p:sp>
        <p:nvSpPr>
          <p:cNvPr id="3" name="内容占位符 2"/>
          <p:cNvSpPr>
            <a:spLocks noGrp="1"/>
          </p:cNvSpPr>
          <p:nvPr>
            <p:ph sz="quarter" idx="1"/>
          </p:nvPr>
        </p:nvSpPr>
        <p:spPr/>
        <p:txBody>
          <a:bodyPr/>
          <a:lstStyle/>
          <a:p>
            <a:pPr marL="0" indent="0">
              <a:buNone/>
            </a:pPr>
            <a:r>
              <a:rPr lang="en-US" altLang="zh-CN" b="0">
                <a:sym typeface="+mn-ea"/>
              </a:rPr>
              <a:t>1.2</a:t>
            </a:r>
            <a:r>
              <a:rPr lang="zh-CN" altLang="en-US" b="0">
                <a:ea typeface="宋体" panose="02010600030101010101" pitchFamily="2" charset="-122"/>
                <a:sym typeface="+mn-ea"/>
              </a:rPr>
              <a:t>、</a:t>
            </a:r>
            <a:r>
              <a:rPr lang="en-US" altLang="zh-CN" b="0">
                <a:ea typeface="宋体" panose="02010600030101010101" pitchFamily="2" charset="-122"/>
                <a:sym typeface="+mn-ea"/>
              </a:rPr>
              <a:t>802.11 </a:t>
            </a:r>
            <a:r>
              <a:rPr lang="zh-CN" altLang="en-US" b="0">
                <a:ea typeface="宋体" panose="02010600030101010101" pitchFamily="2" charset="-122"/>
                <a:sym typeface="+mn-ea"/>
              </a:rPr>
              <a:t>协议知识介绍</a:t>
            </a:r>
          </a:p>
          <a:p>
            <a:pPr marL="0" indent="0">
              <a:buNone/>
            </a:pPr>
            <a:endParaRPr lang="zh-CN" altLang="en-US" b="0">
              <a:ea typeface="宋体" panose="02010600030101010101" pitchFamily="2" charset="-122"/>
              <a:sym typeface="+mn-ea"/>
            </a:endParaRPr>
          </a:p>
          <a:p>
            <a:pPr marL="0" indent="0">
              <a:buNone/>
            </a:pPr>
            <a:r>
              <a:rPr lang="en-US" altLang="zh-CN" b="0">
                <a:ea typeface="宋体" panose="02010600030101010101" pitchFamily="2" charset="-122"/>
                <a:sym typeface="+mn-ea"/>
              </a:rPr>
              <a:t>802.11</a:t>
            </a:r>
            <a:r>
              <a:rPr lang="zh-CN" altLang="en-US" b="0">
                <a:ea typeface="宋体" panose="02010600030101010101" pitchFamily="2" charset="-122"/>
                <a:sym typeface="+mn-ea"/>
              </a:rPr>
              <a:t>帧头分析</a:t>
            </a:r>
          </a:p>
          <a:p>
            <a:pPr marL="0" indent="0">
              <a:buNone/>
            </a:pPr>
            <a:endParaRPr lang="zh-CN" altLang="en-US" b="0">
              <a:ea typeface="宋体" panose="02010600030101010101" pitchFamily="2" charset="-122"/>
              <a:sym typeface="+mn-ea"/>
            </a:endParaRP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4</a:t>
            </a:fld>
            <a:endParaRPr lang="en-US" altLang="zh-CN"/>
          </a:p>
        </p:txBody>
      </p:sp>
      <p:pic>
        <p:nvPicPr>
          <p:cNvPr id="7" name="内容占位符 5"/>
          <p:cNvPicPr>
            <a:picLocks noChangeAspect="1"/>
          </p:cNvPicPr>
          <p:nvPr>
            <p:custDataLst>
              <p:tags r:id="rId1"/>
            </p:custDataLst>
          </p:nvPr>
        </p:nvPicPr>
        <p:blipFill>
          <a:blip r:embed="rId4"/>
          <a:stretch>
            <a:fillRect/>
          </a:stretch>
        </p:blipFill>
        <p:spPr>
          <a:xfrm>
            <a:off x="457200" y="2514600"/>
            <a:ext cx="8302625" cy="227520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管理帧</a:t>
            </a:r>
          </a:p>
        </p:txBody>
      </p:sp>
      <p:sp>
        <p:nvSpPr>
          <p:cNvPr id="3" name="内容占位符 2"/>
          <p:cNvSpPr>
            <a:spLocks noGrp="1"/>
          </p:cNvSpPr>
          <p:nvPr>
            <p:ph sz="quarter" idx="1"/>
          </p:nvPr>
        </p:nvSpPr>
        <p:spPr/>
        <p:txBody>
          <a:bodyPr/>
          <a:lstStyle/>
          <a:p>
            <a:pPr marL="0" indent="0">
              <a:buNone/>
            </a:pPr>
            <a:r>
              <a:rPr lang="zh-CN" altLang="en-US" sz="1800"/>
              <a:t>Type=00</a:t>
            </a:r>
            <a:r>
              <a:rPr lang="en-US" altLang="zh-CN" sz="1800"/>
              <a:t>  </a:t>
            </a:r>
            <a:r>
              <a:rPr lang="zh-CN" altLang="en-US" sz="1800">
                <a:sym typeface="+mn-ea"/>
              </a:rPr>
              <a:t>Managementframes(管理帧</a:t>
            </a:r>
            <a:r>
              <a:rPr lang="en-US" altLang="zh-CN" sz="1800">
                <a:sym typeface="+mn-ea"/>
              </a:rPr>
              <a:t>)</a:t>
            </a:r>
            <a:endParaRPr lang="zh-CN" altLang="en-US" sz="1800"/>
          </a:p>
          <a:p>
            <a:pPr marL="0" indent="0">
              <a:buNone/>
            </a:pPr>
            <a:r>
              <a:rPr lang="zh-CN" altLang="en-US" sz="1800">
                <a:sym typeface="+mn-ea"/>
              </a:rPr>
              <a:t>Subtype</a:t>
            </a:r>
            <a:endParaRPr lang="zh-CN" altLang="en-US" sz="1800"/>
          </a:p>
          <a:p>
            <a:pPr marL="0" indent="0">
              <a:buNone/>
            </a:pPr>
            <a:r>
              <a:rPr lang="zh-CN" altLang="en-US" sz="1800"/>
              <a:t>0000 Association request（连接要求） </a:t>
            </a:r>
          </a:p>
          <a:p>
            <a:pPr marL="0" indent="0">
              <a:buNone/>
            </a:pPr>
            <a:r>
              <a:rPr lang="zh-CN" altLang="en-US" sz="1800"/>
              <a:t>0001 Association response（连接应答） </a:t>
            </a:r>
          </a:p>
          <a:p>
            <a:pPr marL="0" indent="0">
              <a:buNone/>
            </a:pPr>
            <a:r>
              <a:rPr lang="zh-CN" altLang="en-US" sz="1800"/>
              <a:t>0010 Reassociation request（重新连接要求） </a:t>
            </a:r>
          </a:p>
          <a:p>
            <a:pPr marL="0" indent="0">
              <a:buNone/>
            </a:pPr>
            <a:r>
              <a:rPr lang="zh-CN" altLang="en-US" sz="1800"/>
              <a:t>0011 Reassociation response（重新连接应答）</a:t>
            </a:r>
          </a:p>
          <a:p>
            <a:pPr marL="0" indent="0">
              <a:buNone/>
            </a:pPr>
            <a:r>
              <a:rPr lang="zh-CN" altLang="en-US" sz="1800"/>
              <a:t>0100 Probe request（探查要求） </a:t>
            </a:r>
          </a:p>
          <a:p>
            <a:pPr marL="0" indent="0">
              <a:buNone/>
            </a:pPr>
            <a:r>
              <a:rPr lang="zh-CN" altLang="en-US" sz="1800"/>
              <a:t>0101 Probe response（探查应答） </a:t>
            </a:r>
          </a:p>
          <a:p>
            <a:pPr marL="0" indent="0">
              <a:buNone/>
            </a:pPr>
            <a:r>
              <a:rPr lang="zh-CN" altLang="en-US" sz="1800"/>
              <a:t>1000 Beacon（导引信号）</a:t>
            </a:r>
          </a:p>
          <a:p>
            <a:pPr marL="0" indent="0">
              <a:buNone/>
            </a:pPr>
            <a:r>
              <a:rPr lang="en-US" altLang="zh-CN" sz="1800"/>
              <a:t>1001 ATIM（数据代传指示通知信号） </a:t>
            </a:r>
          </a:p>
          <a:p>
            <a:pPr marL="0" indent="0">
              <a:buNone/>
            </a:pPr>
            <a:r>
              <a:rPr lang="zh-CN" altLang="en-US" sz="1800"/>
              <a:t>1010 Disassociation（解除连接） </a:t>
            </a:r>
          </a:p>
          <a:p>
            <a:pPr marL="0" indent="0">
              <a:buNone/>
            </a:pPr>
            <a:r>
              <a:rPr lang="zh-CN" altLang="en-US" sz="1800"/>
              <a:t>1011 Authentication（身份验证） </a:t>
            </a:r>
          </a:p>
          <a:p>
            <a:pPr marL="0" indent="0">
              <a:buNone/>
            </a:pPr>
            <a:r>
              <a:rPr lang="zh-CN" altLang="en-US" sz="1800"/>
              <a:t>1100 Deauthentication（解除认证）</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sym typeface="+mn-ea"/>
              </a:rPr>
              <a:t>控制帧</a:t>
            </a:r>
            <a:endParaRPr lang="en-US" altLang="zh-CN"/>
          </a:p>
        </p:txBody>
      </p:sp>
      <p:sp>
        <p:nvSpPr>
          <p:cNvPr id="3" name="内容占位符 2"/>
          <p:cNvSpPr>
            <a:spLocks noGrp="1"/>
          </p:cNvSpPr>
          <p:nvPr>
            <p:ph sz="quarter" idx="1"/>
          </p:nvPr>
        </p:nvSpPr>
        <p:spPr/>
        <p:txBody>
          <a:bodyPr/>
          <a:lstStyle/>
          <a:p>
            <a:pPr marL="0" algn="l">
              <a:buNone/>
            </a:pPr>
            <a:r>
              <a:rPr lang="zh-CN" altLang="en-US" sz="1800"/>
              <a:t>Type=01 </a:t>
            </a:r>
            <a:r>
              <a:rPr lang="zh-CN" altLang="en-US" sz="1800">
                <a:sym typeface="+mn-ea"/>
              </a:rPr>
              <a:t>Control frames(控制帧)</a:t>
            </a:r>
          </a:p>
          <a:p>
            <a:pPr marL="0" algn="l">
              <a:buNone/>
            </a:pPr>
            <a:endParaRPr lang="zh-CN" altLang="en-US" sz="1800">
              <a:sym typeface="+mn-ea"/>
            </a:endParaRPr>
          </a:p>
          <a:p>
            <a:pPr marL="0" algn="l">
              <a:buNone/>
            </a:pPr>
            <a:r>
              <a:rPr lang="zh-CN" altLang="en-US" sz="1800">
                <a:sym typeface="+mn-ea"/>
              </a:rPr>
              <a:t>Subtype</a:t>
            </a:r>
            <a:endParaRPr lang="zh-CN" altLang="en-US" sz="1800"/>
          </a:p>
          <a:p>
            <a:pPr marL="0" algn="l">
              <a:buNone/>
            </a:pPr>
            <a:r>
              <a:rPr lang="zh-CN" altLang="en-US" sz="1800"/>
              <a:t>1010 Power Save-Poll（省电模式－轮询）</a:t>
            </a:r>
          </a:p>
          <a:p>
            <a:pPr marL="0" algn="l">
              <a:buNone/>
            </a:pPr>
            <a:r>
              <a:rPr lang="zh-CN" altLang="en-US" sz="1800"/>
              <a:t>1011 RTS（请求发送） </a:t>
            </a:r>
          </a:p>
          <a:p>
            <a:pPr marL="0" algn="l">
              <a:buNone/>
            </a:pPr>
            <a:r>
              <a:rPr lang="zh-CN" altLang="en-US" sz="1800"/>
              <a:t>1100 CTS（允许发送） </a:t>
            </a:r>
          </a:p>
          <a:p>
            <a:pPr marL="0" algn="l">
              <a:buNone/>
            </a:pPr>
            <a:r>
              <a:rPr lang="zh-CN" altLang="en-US" sz="1800"/>
              <a:t>1101 ACK（应答） </a:t>
            </a:r>
          </a:p>
          <a:p>
            <a:pPr marL="0" algn="l">
              <a:buNone/>
            </a:pPr>
            <a:r>
              <a:rPr lang="zh-CN" altLang="en-US" sz="1800"/>
              <a:t>1110 CF-End（免竞争期间结束） </a:t>
            </a:r>
          </a:p>
          <a:p>
            <a:pPr marL="0" algn="l">
              <a:buNone/>
            </a:pPr>
            <a:r>
              <a:rPr lang="zh-CN" altLang="en-US" sz="1800"/>
              <a:t>1111 CF-End（免竞争期间结束）+CF-Ack（免竞争期间回应）</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数据帧</a:t>
            </a:r>
          </a:p>
        </p:txBody>
      </p:sp>
      <p:sp>
        <p:nvSpPr>
          <p:cNvPr id="3" name="内容占位符 2"/>
          <p:cNvSpPr>
            <a:spLocks noGrp="1"/>
          </p:cNvSpPr>
          <p:nvPr>
            <p:ph sz="quarter" idx="1"/>
          </p:nvPr>
        </p:nvSpPr>
        <p:spPr/>
        <p:txBody>
          <a:bodyPr/>
          <a:lstStyle/>
          <a:p>
            <a:pPr marL="0" algn="l">
              <a:buNone/>
            </a:pPr>
            <a:r>
              <a:rPr lang="zh-CN" altLang="en-US" sz="1800">
                <a:sym typeface="+mn-ea"/>
              </a:rPr>
              <a:t>type=10 </a:t>
            </a:r>
            <a:r>
              <a:rPr lang="zh-CN" altLang="en-US" sz="1800"/>
              <a:t>Data frames (数据帧)</a:t>
            </a:r>
          </a:p>
          <a:p>
            <a:pPr marL="0" algn="l">
              <a:buNone/>
            </a:pPr>
            <a:endParaRPr lang="zh-CN" altLang="en-US" sz="1800">
              <a:sym typeface="+mn-ea"/>
            </a:endParaRPr>
          </a:p>
          <a:p>
            <a:pPr marL="0" algn="l">
              <a:buNone/>
            </a:pPr>
            <a:r>
              <a:rPr lang="zh-CN" altLang="en-US" sz="1800">
                <a:sym typeface="+mn-ea"/>
              </a:rPr>
              <a:t>Subtype</a:t>
            </a:r>
            <a:endParaRPr lang="zh-CN" altLang="en-US" sz="1800"/>
          </a:p>
          <a:p>
            <a:pPr marL="0" algn="l">
              <a:buNone/>
            </a:pPr>
            <a:r>
              <a:rPr lang="zh-CN" altLang="en-US" sz="1800"/>
              <a:t>0000 Data（数据） </a:t>
            </a:r>
          </a:p>
          <a:p>
            <a:pPr marL="0" algn="l">
              <a:buNone/>
            </a:pPr>
            <a:r>
              <a:rPr lang="zh-CN" altLang="en-US" sz="1800"/>
              <a:t>0001 Data+CF-Ack </a:t>
            </a:r>
          </a:p>
          <a:p>
            <a:pPr marL="0" algn="l">
              <a:buNone/>
            </a:pPr>
            <a:r>
              <a:rPr lang="zh-CN" altLang="en-US" sz="1800"/>
              <a:t>0010 Data+CF-Poll </a:t>
            </a:r>
          </a:p>
          <a:p>
            <a:pPr marL="0" algn="l">
              <a:buNone/>
            </a:pPr>
            <a:r>
              <a:rPr lang="zh-CN" altLang="en-US" sz="1800"/>
              <a:t>0011 Data+CF-Ack+CF-Poll </a:t>
            </a:r>
          </a:p>
          <a:p>
            <a:pPr marL="0" algn="l">
              <a:buNone/>
            </a:pPr>
            <a:r>
              <a:rPr lang="zh-CN" altLang="en-US" sz="1800"/>
              <a:t>0100 Null data (无数据：未发送数据) </a:t>
            </a:r>
          </a:p>
          <a:p>
            <a:pPr marL="0" algn="l">
              <a:buNone/>
            </a:pPr>
            <a:r>
              <a:rPr lang="zh-CN" altLang="en-US" sz="1800"/>
              <a:t>0101 CF-Ack (未发送数据) </a:t>
            </a:r>
          </a:p>
          <a:p>
            <a:pPr marL="0" algn="l">
              <a:buNone/>
            </a:pPr>
            <a:r>
              <a:rPr lang="zh-CN" altLang="en-US" sz="1800"/>
              <a:t>0110 CF-Poll (未发送数据) </a:t>
            </a:r>
          </a:p>
          <a:p>
            <a:pPr marL="0" algn="l">
              <a:buNone/>
            </a:pPr>
            <a:r>
              <a:rPr lang="zh-CN" altLang="en-US" sz="1800"/>
              <a:t>0111 Data＋CF-Ack+CF-Poll</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Frame - Addresses</a:t>
            </a:r>
            <a:endParaRPr lang="zh-CN" altLang="en-US"/>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8</a:t>
            </a:fld>
            <a:endParaRPr lang="en-US" altLang="zh-CN"/>
          </a:p>
        </p:txBody>
      </p:sp>
      <p:pic>
        <p:nvPicPr>
          <p:cNvPr id="6" name="内容占位符 5"/>
          <p:cNvPicPr>
            <a:picLocks noGrp="1" noChangeAspect="1"/>
          </p:cNvPicPr>
          <p:nvPr>
            <p:ph sz="quarter" idx="1"/>
          </p:nvPr>
        </p:nvPicPr>
        <p:blipFill>
          <a:blip r:embed="rId2"/>
          <a:srcRect r="-771" b="2942"/>
          <a:stretch>
            <a:fillRect/>
          </a:stretch>
        </p:blipFill>
        <p:spPr>
          <a:xfrm>
            <a:off x="457200" y="990600"/>
            <a:ext cx="8382000" cy="3729355"/>
          </a:xfrm>
          <a:prstGeom prst="rect">
            <a:avLst/>
          </a:prstGeom>
        </p:spPr>
      </p:pic>
      <p:sp>
        <p:nvSpPr>
          <p:cNvPr id="8" name="文本框 7"/>
          <p:cNvSpPr txBox="1"/>
          <p:nvPr/>
        </p:nvSpPr>
        <p:spPr>
          <a:xfrm>
            <a:off x="609600" y="5157470"/>
            <a:ext cx="6697980" cy="1198880"/>
          </a:xfrm>
          <a:prstGeom prst="rect">
            <a:avLst/>
          </a:prstGeom>
          <a:noFill/>
        </p:spPr>
        <p:txBody>
          <a:bodyPr wrap="none" rtlCol="0">
            <a:spAutoFit/>
          </a:bodyPr>
          <a:lstStyle/>
          <a:p>
            <a:pPr algn="l"/>
            <a:r>
              <a:rPr lang="en-US" altLang="zh-CN"/>
              <a:t>IBSS</a:t>
            </a:r>
            <a:r>
              <a:rPr lang="zh-CN" altLang="en-US"/>
              <a:t>：独立式基本服务集，没有</a:t>
            </a:r>
            <a:r>
              <a:rPr lang="en-US" altLang="zh-CN"/>
              <a:t>AP,station </a:t>
            </a:r>
            <a:r>
              <a:rPr lang="zh-CN" altLang="en-US"/>
              <a:t>彼此可以直接通信</a:t>
            </a:r>
            <a:r>
              <a:rPr lang="en-US" altLang="zh-CN"/>
              <a:t>, </a:t>
            </a:r>
          </a:p>
          <a:p>
            <a:pPr algn="l"/>
            <a:r>
              <a:rPr lang="zh-CN" altLang="en-US"/>
              <a:t>如</a:t>
            </a:r>
            <a:r>
              <a:rPr lang="en-US" altLang="zh-CN"/>
              <a:t>WiFi Direct</a:t>
            </a:r>
            <a:r>
              <a:rPr lang="zh-CN" altLang="en-US"/>
              <a:t>（</a:t>
            </a:r>
            <a:r>
              <a:rPr lang="en-US" altLang="zh-CN"/>
              <a:t>P2P</a:t>
            </a:r>
            <a:r>
              <a:rPr lang="zh-CN" altLang="en-US"/>
              <a:t>）就是一种</a:t>
            </a:r>
            <a:r>
              <a:rPr lang="en-US" altLang="zh-CN"/>
              <a:t>IBSS</a:t>
            </a:r>
            <a:r>
              <a:rPr lang="zh-CN" altLang="en-US"/>
              <a:t>结构</a:t>
            </a:r>
            <a:r>
              <a:rPr lang="en-US" altLang="zh-CN"/>
              <a:t>.</a:t>
            </a:r>
          </a:p>
          <a:p>
            <a:pPr algn="l"/>
            <a:endParaRPr lang="en-US" altLang="zh-CN"/>
          </a:p>
          <a:p>
            <a:pPr algn="l"/>
            <a:r>
              <a:rPr lang="en-US" altLang="zh-CN"/>
              <a:t>WDS:无线网络的中继器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2</a:t>
            </a:r>
            <a:r>
              <a:rPr lang="zh-CN" altLang="en-US"/>
              <a:t>、</a:t>
            </a:r>
            <a:r>
              <a:rPr lang="en-US" altLang="zh-CN"/>
              <a:t>WiFi</a:t>
            </a:r>
            <a:r>
              <a:rPr lang="zh-CN" altLang="en-US"/>
              <a:t>连接过程</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9</a:t>
            </a:fld>
            <a:endParaRPr lang="en-US" altLang="zh-CN"/>
          </a:p>
        </p:txBody>
      </p:sp>
      <p:sp>
        <p:nvSpPr>
          <p:cNvPr id="7" name="矩形 6"/>
          <p:cNvSpPr/>
          <p:nvPr/>
        </p:nvSpPr>
        <p:spPr>
          <a:xfrm>
            <a:off x="1295400" y="762000"/>
            <a:ext cx="1752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8" name="矩形 7"/>
          <p:cNvSpPr/>
          <p:nvPr/>
        </p:nvSpPr>
        <p:spPr>
          <a:xfrm>
            <a:off x="5715000" y="762000"/>
            <a:ext cx="1752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AP</a:t>
            </a:r>
          </a:p>
        </p:txBody>
      </p:sp>
      <p:cxnSp>
        <p:nvCxnSpPr>
          <p:cNvPr id="9" name="直接连接符 8"/>
          <p:cNvCxnSpPr/>
          <p:nvPr/>
        </p:nvCxnSpPr>
        <p:spPr>
          <a:xfrm>
            <a:off x="2133600" y="1280160"/>
            <a:ext cx="76200" cy="5501640"/>
          </a:xfrm>
          <a:prstGeom prst="line">
            <a:avLst/>
          </a:prstGeom>
        </p:spPr>
        <p:style>
          <a:lnRef idx="2">
            <a:schemeClr val="dk1"/>
          </a:lnRef>
          <a:fillRef idx="0">
            <a:schemeClr val="dk1"/>
          </a:fillRef>
          <a:effectRef idx="1">
            <a:schemeClr val="dk1"/>
          </a:effectRef>
          <a:fontRef idx="minor">
            <a:schemeClr val="tx1"/>
          </a:fontRef>
        </p:style>
      </p:cxnSp>
      <p:cxnSp>
        <p:nvCxnSpPr>
          <p:cNvPr id="10" name="直接连接符 9"/>
          <p:cNvCxnSpPr/>
          <p:nvPr/>
        </p:nvCxnSpPr>
        <p:spPr>
          <a:xfrm>
            <a:off x="6476365" y="1280160"/>
            <a:ext cx="76835" cy="5501640"/>
          </a:xfrm>
          <a:prstGeom prst="line">
            <a:avLst/>
          </a:prstGeom>
        </p:spPr>
        <p:style>
          <a:lnRef idx="2">
            <a:schemeClr val="dk1"/>
          </a:lnRef>
          <a:fillRef idx="0">
            <a:schemeClr val="dk1"/>
          </a:fillRef>
          <a:effectRef idx="1">
            <a:schemeClr val="dk1"/>
          </a:effectRef>
          <a:fontRef idx="minor">
            <a:schemeClr val="tx1"/>
          </a:fontRef>
        </p:style>
      </p:cxnSp>
      <p:cxnSp>
        <p:nvCxnSpPr>
          <p:cNvPr id="12" name="直接箭头连接符 11"/>
          <p:cNvCxnSpPr/>
          <p:nvPr/>
        </p:nvCxnSpPr>
        <p:spPr>
          <a:xfrm flipH="1">
            <a:off x="2143760" y="154622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822700" y="1210310"/>
            <a:ext cx="868680" cy="368300"/>
          </a:xfrm>
          <a:prstGeom prst="rect">
            <a:avLst/>
          </a:prstGeom>
          <a:noFill/>
        </p:spPr>
        <p:txBody>
          <a:bodyPr wrap="none" rtlCol="0">
            <a:spAutoFit/>
          </a:bodyPr>
          <a:lstStyle/>
          <a:p>
            <a:r>
              <a:rPr lang="en-US" altLang="zh-CN"/>
              <a:t>beacon</a:t>
            </a:r>
          </a:p>
        </p:txBody>
      </p:sp>
      <p:cxnSp>
        <p:nvCxnSpPr>
          <p:cNvPr id="14" name="直接箭头连接符 13"/>
          <p:cNvCxnSpPr/>
          <p:nvPr/>
        </p:nvCxnSpPr>
        <p:spPr>
          <a:xfrm>
            <a:off x="2209800" y="190500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3491230" y="1584960"/>
            <a:ext cx="1668780" cy="368300"/>
          </a:xfrm>
          <a:prstGeom prst="rect">
            <a:avLst/>
          </a:prstGeom>
          <a:noFill/>
        </p:spPr>
        <p:txBody>
          <a:bodyPr wrap="none" rtlCol="0">
            <a:spAutoFit/>
          </a:bodyPr>
          <a:lstStyle/>
          <a:p>
            <a:r>
              <a:rPr lang="en-US" altLang="zh-CN"/>
              <a:t>probe request</a:t>
            </a:r>
          </a:p>
        </p:txBody>
      </p:sp>
      <p:cxnSp>
        <p:nvCxnSpPr>
          <p:cNvPr id="16" name="直接箭头连接符 15"/>
          <p:cNvCxnSpPr/>
          <p:nvPr/>
        </p:nvCxnSpPr>
        <p:spPr>
          <a:xfrm flipH="1">
            <a:off x="2230120" y="230822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3376930" y="1981200"/>
            <a:ext cx="1783080" cy="368300"/>
          </a:xfrm>
          <a:prstGeom prst="rect">
            <a:avLst/>
          </a:prstGeom>
          <a:noFill/>
        </p:spPr>
        <p:txBody>
          <a:bodyPr wrap="none" rtlCol="0">
            <a:spAutoFit/>
          </a:bodyPr>
          <a:lstStyle/>
          <a:p>
            <a:r>
              <a:rPr lang="en-US" altLang="zh-CN"/>
              <a:t>probe response</a:t>
            </a:r>
          </a:p>
        </p:txBody>
      </p:sp>
      <p:cxnSp>
        <p:nvCxnSpPr>
          <p:cNvPr id="18" name="直接箭头连接符 17"/>
          <p:cNvCxnSpPr/>
          <p:nvPr/>
        </p:nvCxnSpPr>
        <p:spPr>
          <a:xfrm>
            <a:off x="2230120" y="278193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2895600" y="2456180"/>
            <a:ext cx="2697480" cy="368300"/>
          </a:xfrm>
          <a:prstGeom prst="rect">
            <a:avLst/>
          </a:prstGeom>
          <a:noFill/>
        </p:spPr>
        <p:txBody>
          <a:bodyPr wrap="none" rtlCol="0">
            <a:spAutoFit/>
          </a:bodyPr>
          <a:lstStyle/>
          <a:p>
            <a:r>
              <a:rPr lang="en-US" altLang="zh-CN"/>
              <a:t>authentication request</a:t>
            </a:r>
          </a:p>
        </p:txBody>
      </p:sp>
      <p:cxnSp>
        <p:nvCxnSpPr>
          <p:cNvPr id="21" name="直接箭头连接符 20"/>
          <p:cNvCxnSpPr/>
          <p:nvPr/>
        </p:nvCxnSpPr>
        <p:spPr>
          <a:xfrm flipH="1">
            <a:off x="2214245" y="314833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2819400" y="2813685"/>
            <a:ext cx="2811780" cy="368300"/>
          </a:xfrm>
          <a:prstGeom prst="rect">
            <a:avLst/>
          </a:prstGeom>
          <a:noFill/>
        </p:spPr>
        <p:txBody>
          <a:bodyPr wrap="none" rtlCol="0">
            <a:spAutoFit/>
          </a:bodyPr>
          <a:lstStyle/>
          <a:p>
            <a:r>
              <a:rPr lang="en-US" altLang="zh-CN"/>
              <a:t>authentication response</a:t>
            </a:r>
          </a:p>
        </p:txBody>
      </p:sp>
      <p:cxnSp>
        <p:nvCxnSpPr>
          <p:cNvPr id="25" name="直接箭头连接符 24"/>
          <p:cNvCxnSpPr/>
          <p:nvPr/>
        </p:nvCxnSpPr>
        <p:spPr>
          <a:xfrm>
            <a:off x="2251075" y="356235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a:xfrm flipH="1">
            <a:off x="2203450" y="388620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895600" y="3213735"/>
            <a:ext cx="2354580" cy="368300"/>
          </a:xfrm>
          <a:prstGeom prst="rect">
            <a:avLst/>
          </a:prstGeom>
          <a:noFill/>
        </p:spPr>
        <p:txBody>
          <a:bodyPr wrap="none" rtlCol="0">
            <a:spAutoFit/>
          </a:bodyPr>
          <a:lstStyle/>
          <a:p>
            <a:r>
              <a:rPr lang="en-US" altLang="zh-CN"/>
              <a:t>association request</a:t>
            </a:r>
          </a:p>
        </p:txBody>
      </p:sp>
      <p:sp>
        <p:nvSpPr>
          <p:cNvPr id="29" name="文本框 28"/>
          <p:cNvSpPr txBox="1"/>
          <p:nvPr/>
        </p:nvSpPr>
        <p:spPr>
          <a:xfrm>
            <a:off x="2838450" y="3576955"/>
            <a:ext cx="2468880" cy="368300"/>
          </a:xfrm>
          <a:prstGeom prst="rect">
            <a:avLst/>
          </a:prstGeom>
          <a:noFill/>
        </p:spPr>
        <p:txBody>
          <a:bodyPr wrap="none" rtlCol="0">
            <a:spAutoFit/>
          </a:bodyPr>
          <a:lstStyle/>
          <a:p>
            <a:pPr algn="l"/>
            <a:r>
              <a:rPr lang="en-US" altLang="zh-CN">
                <a:sym typeface="+mn-ea"/>
              </a:rPr>
              <a:t>association </a:t>
            </a:r>
            <a:r>
              <a:rPr lang="en-US" altLang="zh-CN"/>
              <a:t>response</a:t>
            </a:r>
          </a:p>
        </p:txBody>
      </p:sp>
      <p:cxnSp>
        <p:nvCxnSpPr>
          <p:cNvPr id="30" name="直接箭头连接符 29"/>
          <p:cNvCxnSpPr/>
          <p:nvPr/>
        </p:nvCxnSpPr>
        <p:spPr>
          <a:xfrm flipH="1">
            <a:off x="2214880" y="430022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251075" y="457898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flipH="1">
            <a:off x="2249805" y="487680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2251075" y="518160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29000" y="4621530"/>
            <a:ext cx="1249680" cy="306705"/>
          </a:xfrm>
          <a:prstGeom prst="rect">
            <a:avLst/>
          </a:prstGeom>
          <a:noFill/>
        </p:spPr>
        <p:txBody>
          <a:bodyPr wrap="none" rtlCol="0">
            <a:spAutoFit/>
          </a:bodyPr>
          <a:lstStyle/>
          <a:p>
            <a:r>
              <a:rPr lang="en-US" altLang="zh-CN" sz="1400"/>
              <a:t>EAPOL-KEY3/4</a:t>
            </a:r>
          </a:p>
        </p:txBody>
      </p:sp>
      <p:sp>
        <p:nvSpPr>
          <p:cNvPr id="35" name="文本框 34"/>
          <p:cNvSpPr txBox="1"/>
          <p:nvPr/>
        </p:nvSpPr>
        <p:spPr>
          <a:xfrm>
            <a:off x="3429000" y="4312920"/>
            <a:ext cx="1249680" cy="306705"/>
          </a:xfrm>
          <a:prstGeom prst="rect">
            <a:avLst/>
          </a:prstGeom>
          <a:noFill/>
        </p:spPr>
        <p:txBody>
          <a:bodyPr wrap="none" rtlCol="0">
            <a:spAutoFit/>
          </a:bodyPr>
          <a:lstStyle/>
          <a:p>
            <a:r>
              <a:rPr lang="en-US" altLang="zh-CN" sz="1400"/>
              <a:t>EAPOL-KEY2/4</a:t>
            </a:r>
          </a:p>
        </p:txBody>
      </p:sp>
      <p:sp>
        <p:nvSpPr>
          <p:cNvPr id="36" name="文本框 35"/>
          <p:cNvSpPr txBox="1"/>
          <p:nvPr/>
        </p:nvSpPr>
        <p:spPr>
          <a:xfrm>
            <a:off x="3429000" y="4038600"/>
            <a:ext cx="1249680" cy="306705"/>
          </a:xfrm>
          <a:prstGeom prst="rect">
            <a:avLst/>
          </a:prstGeom>
          <a:noFill/>
        </p:spPr>
        <p:txBody>
          <a:bodyPr wrap="none" rtlCol="0">
            <a:spAutoFit/>
          </a:bodyPr>
          <a:lstStyle/>
          <a:p>
            <a:r>
              <a:rPr lang="en-US" altLang="zh-CN" sz="1400"/>
              <a:t>EAPOL-KEY1/4</a:t>
            </a:r>
          </a:p>
        </p:txBody>
      </p:sp>
      <p:sp>
        <p:nvSpPr>
          <p:cNvPr id="37" name="文本框 36"/>
          <p:cNvSpPr txBox="1"/>
          <p:nvPr/>
        </p:nvSpPr>
        <p:spPr>
          <a:xfrm>
            <a:off x="3448050" y="4947920"/>
            <a:ext cx="1249680" cy="306705"/>
          </a:xfrm>
          <a:prstGeom prst="rect">
            <a:avLst/>
          </a:prstGeom>
          <a:noFill/>
        </p:spPr>
        <p:txBody>
          <a:bodyPr wrap="none" rtlCol="0">
            <a:spAutoFit/>
          </a:bodyPr>
          <a:lstStyle/>
          <a:p>
            <a:r>
              <a:rPr lang="en-US" altLang="zh-CN" sz="1400"/>
              <a:t>EAPOL-KEY4/4</a:t>
            </a:r>
          </a:p>
        </p:txBody>
      </p:sp>
      <p:cxnSp>
        <p:nvCxnSpPr>
          <p:cNvPr id="38" name="直接箭头连接符 37"/>
          <p:cNvCxnSpPr/>
          <p:nvPr/>
        </p:nvCxnSpPr>
        <p:spPr>
          <a:xfrm>
            <a:off x="2251075" y="555942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3219450" y="5257800"/>
            <a:ext cx="1503680" cy="337185"/>
          </a:xfrm>
          <a:prstGeom prst="rect">
            <a:avLst/>
          </a:prstGeom>
          <a:noFill/>
        </p:spPr>
        <p:txBody>
          <a:bodyPr wrap="none" rtlCol="0">
            <a:spAutoFit/>
          </a:bodyPr>
          <a:lstStyle/>
          <a:p>
            <a:r>
              <a:rPr lang="en-US" altLang="zh-CN" sz="1600"/>
              <a:t>dhcp discover</a:t>
            </a:r>
          </a:p>
        </p:txBody>
      </p:sp>
      <p:cxnSp>
        <p:nvCxnSpPr>
          <p:cNvPr id="40" name="直接箭头连接符 39"/>
          <p:cNvCxnSpPr/>
          <p:nvPr/>
        </p:nvCxnSpPr>
        <p:spPr>
          <a:xfrm flipH="1">
            <a:off x="2251075" y="585724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3219450" y="5546090"/>
            <a:ext cx="1198880" cy="337185"/>
          </a:xfrm>
          <a:prstGeom prst="rect">
            <a:avLst/>
          </a:prstGeom>
          <a:noFill/>
        </p:spPr>
        <p:txBody>
          <a:bodyPr wrap="none" rtlCol="0">
            <a:spAutoFit/>
          </a:bodyPr>
          <a:lstStyle/>
          <a:p>
            <a:r>
              <a:rPr lang="en-US" altLang="zh-CN" sz="1600"/>
              <a:t>dhcp offer</a:t>
            </a:r>
          </a:p>
        </p:txBody>
      </p:sp>
      <p:cxnSp>
        <p:nvCxnSpPr>
          <p:cNvPr id="42" name="直接箭头连接符 41"/>
          <p:cNvCxnSpPr/>
          <p:nvPr/>
        </p:nvCxnSpPr>
        <p:spPr>
          <a:xfrm>
            <a:off x="2251075" y="6149975"/>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3219450" y="5867400"/>
            <a:ext cx="1402080" cy="337185"/>
          </a:xfrm>
          <a:prstGeom prst="rect">
            <a:avLst/>
          </a:prstGeom>
          <a:noFill/>
        </p:spPr>
        <p:txBody>
          <a:bodyPr wrap="none" rtlCol="0">
            <a:spAutoFit/>
          </a:bodyPr>
          <a:lstStyle/>
          <a:p>
            <a:r>
              <a:rPr lang="en-US" altLang="zh-CN" sz="1600"/>
              <a:t>dhcp request</a:t>
            </a:r>
          </a:p>
        </p:txBody>
      </p:sp>
      <p:cxnSp>
        <p:nvCxnSpPr>
          <p:cNvPr id="45" name="直接箭头连接符 44"/>
          <p:cNvCxnSpPr/>
          <p:nvPr/>
        </p:nvCxnSpPr>
        <p:spPr>
          <a:xfrm flipH="1">
            <a:off x="2230120" y="6477000"/>
            <a:ext cx="422592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3270250" y="6172200"/>
            <a:ext cx="995680" cy="337185"/>
          </a:xfrm>
          <a:prstGeom prst="rect">
            <a:avLst/>
          </a:prstGeom>
          <a:noFill/>
        </p:spPr>
        <p:txBody>
          <a:bodyPr wrap="none" rtlCol="0">
            <a:spAutoFit/>
          </a:bodyPr>
          <a:lstStyle/>
          <a:p>
            <a:r>
              <a:rPr lang="en-US" altLang="zh-CN" sz="1600"/>
              <a:t>dhcp 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Scan</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10</a:t>
            </a:fld>
            <a:endParaRPr lang="en-US" altLang="zh-CN"/>
          </a:p>
        </p:txBody>
      </p:sp>
      <p:sp>
        <p:nvSpPr>
          <p:cNvPr id="8" name="矩形 7"/>
          <p:cNvSpPr/>
          <p:nvPr/>
        </p:nvSpPr>
        <p:spPr>
          <a:xfrm>
            <a:off x="6483985" y="1752600"/>
            <a:ext cx="1268730" cy="565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被动扫描</a:t>
            </a:r>
          </a:p>
        </p:txBody>
      </p:sp>
      <p:sp>
        <p:nvSpPr>
          <p:cNvPr id="9" name="矩形 8"/>
          <p:cNvSpPr/>
          <p:nvPr/>
        </p:nvSpPr>
        <p:spPr>
          <a:xfrm>
            <a:off x="381000" y="27432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1" name="矩形 10"/>
          <p:cNvSpPr/>
          <p:nvPr/>
        </p:nvSpPr>
        <p:spPr>
          <a:xfrm>
            <a:off x="5181600" y="25908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2" name="矩形 11"/>
          <p:cNvSpPr/>
          <p:nvPr/>
        </p:nvSpPr>
        <p:spPr>
          <a:xfrm>
            <a:off x="2819400" y="26670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sp>
        <p:nvSpPr>
          <p:cNvPr id="13" name="矩形 12"/>
          <p:cNvSpPr/>
          <p:nvPr/>
        </p:nvSpPr>
        <p:spPr>
          <a:xfrm>
            <a:off x="7696200" y="25146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cxnSp>
        <p:nvCxnSpPr>
          <p:cNvPr id="14" name="直接连接符 13"/>
          <p:cNvCxnSpPr>
            <a:stCxn id="9" idx="2"/>
          </p:cNvCxnSpPr>
          <p:nvPr/>
        </p:nvCxnSpPr>
        <p:spPr>
          <a:xfrm>
            <a:off x="882650" y="33686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3276600" y="32924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a:off x="5638800" y="3200400"/>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7" name="直接连接符 16"/>
          <p:cNvCxnSpPr/>
          <p:nvPr/>
        </p:nvCxnSpPr>
        <p:spPr>
          <a:xfrm>
            <a:off x="8197850" y="3124200"/>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a:off x="941070" y="4419600"/>
            <a:ext cx="227711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914400" y="5273675"/>
            <a:ext cx="229489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5715000" y="4803775"/>
            <a:ext cx="229489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1228090" y="4054475"/>
            <a:ext cx="1668780" cy="368300"/>
          </a:xfrm>
          <a:prstGeom prst="rect">
            <a:avLst/>
          </a:prstGeom>
          <a:noFill/>
        </p:spPr>
        <p:txBody>
          <a:bodyPr wrap="none" rtlCol="0">
            <a:spAutoFit/>
          </a:bodyPr>
          <a:lstStyle/>
          <a:p>
            <a:r>
              <a:rPr lang="en-US" altLang="zh-CN"/>
              <a:t>probe request</a:t>
            </a:r>
          </a:p>
        </p:txBody>
      </p:sp>
      <p:sp>
        <p:nvSpPr>
          <p:cNvPr id="22" name="文本框 21"/>
          <p:cNvSpPr txBox="1"/>
          <p:nvPr/>
        </p:nvSpPr>
        <p:spPr>
          <a:xfrm>
            <a:off x="1282700" y="4905375"/>
            <a:ext cx="1783080" cy="368300"/>
          </a:xfrm>
          <a:prstGeom prst="rect">
            <a:avLst/>
          </a:prstGeom>
          <a:noFill/>
        </p:spPr>
        <p:txBody>
          <a:bodyPr wrap="none" rtlCol="0">
            <a:spAutoFit/>
          </a:bodyPr>
          <a:lstStyle/>
          <a:p>
            <a:r>
              <a:rPr lang="en-US" altLang="zh-CN"/>
              <a:t>probe response</a:t>
            </a:r>
          </a:p>
        </p:txBody>
      </p:sp>
      <p:sp>
        <p:nvSpPr>
          <p:cNvPr id="23" name="文本框 22"/>
          <p:cNvSpPr txBox="1"/>
          <p:nvPr/>
        </p:nvSpPr>
        <p:spPr>
          <a:xfrm>
            <a:off x="6483985" y="4451350"/>
            <a:ext cx="868680" cy="368300"/>
          </a:xfrm>
          <a:prstGeom prst="rect">
            <a:avLst/>
          </a:prstGeom>
          <a:noFill/>
        </p:spPr>
        <p:txBody>
          <a:bodyPr wrap="none" rtlCol="0">
            <a:spAutoFit/>
          </a:bodyPr>
          <a:lstStyle/>
          <a:p>
            <a:r>
              <a:rPr lang="en-US" altLang="zh-CN"/>
              <a:t>beacon</a:t>
            </a:r>
          </a:p>
        </p:txBody>
      </p:sp>
      <p:sp>
        <p:nvSpPr>
          <p:cNvPr id="24" name="矩形标注 23"/>
          <p:cNvSpPr/>
          <p:nvPr/>
        </p:nvSpPr>
        <p:spPr>
          <a:xfrm>
            <a:off x="457200" y="924560"/>
            <a:ext cx="4061460" cy="666115"/>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依次在每个信道上发送Probe request报文，从Probe response或者</a:t>
            </a:r>
            <a:r>
              <a:rPr lang="en-US" altLang="zh-CN" sz="1400"/>
              <a:t>beacon</a:t>
            </a:r>
            <a:r>
              <a:rPr lang="zh-CN" altLang="en-US" sz="1400"/>
              <a:t>中发现</a:t>
            </a:r>
            <a:r>
              <a:rPr lang="en-US" altLang="zh-CN" sz="1400"/>
              <a:t>AP,</a:t>
            </a:r>
          </a:p>
          <a:p>
            <a:pPr algn="ctr"/>
            <a:r>
              <a:rPr lang="zh-CN" altLang="en-US" sz="1400">
                <a:ea typeface="宋体" panose="02010600030101010101" pitchFamily="2" charset="-122"/>
              </a:rPr>
              <a:t>特定：快速扫描到</a:t>
            </a:r>
            <a:r>
              <a:rPr lang="en-US" altLang="zh-CN" sz="1400">
                <a:ea typeface="宋体" panose="02010600030101010101" pitchFamily="2" charset="-122"/>
              </a:rPr>
              <a:t>AP</a:t>
            </a:r>
          </a:p>
        </p:txBody>
      </p:sp>
      <p:sp>
        <p:nvSpPr>
          <p:cNvPr id="25" name="矩形 24"/>
          <p:cNvSpPr/>
          <p:nvPr/>
        </p:nvSpPr>
        <p:spPr>
          <a:xfrm>
            <a:off x="1219200" y="1829435"/>
            <a:ext cx="1268730" cy="5657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主动扫描</a:t>
            </a:r>
          </a:p>
        </p:txBody>
      </p:sp>
      <p:sp>
        <p:nvSpPr>
          <p:cNvPr id="27" name="矩形标注 26"/>
          <p:cNvSpPr/>
          <p:nvPr/>
        </p:nvSpPr>
        <p:spPr>
          <a:xfrm>
            <a:off x="5029200" y="924560"/>
            <a:ext cx="4061460" cy="666115"/>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ea typeface="宋体" panose="02010600030101010101" pitchFamily="2" charset="-122"/>
              </a:rPr>
              <a:t>通过侦听AP定期发送的Beacon帧来发现网络</a:t>
            </a:r>
          </a:p>
          <a:p>
            <a:pPr algn="ctr"/>
            <a:r>
              <a:rPr lang="zh-CN" altLang="en-US" sz="1400">
                <a:ea typeface="宋体" panose="02010600030101010101" pitchFamily="2" charset="-122"/>
              </a:rPr>
              <a:t>特定：发现</a:t>
            </a:r>
            <a:r>
              <a:rPr lang="en-US" altLang="zh-CN" sz="1400">
                <a:ea typeface="宋体" panose="02010600030101010101" pitchFamily="2" charset="-122"/>
              </a:rPr>
              <a:t>AP </a:t>
            </a:r>
            <a:r>
              <a:rPr lang="zh-CN" altLang="en-US" sz="1400">
                <a:ea typeface="宋体" panose="02010600030101010101" pitchFamily="2" charset="-122"/>
              </a:rPr>
              <a:t>效率低，但</a:t>
            </a:r>
            <a:r>
              <a:rPr lang="en-US" altLang="zh-CN" sz="1400">
                <a:ea typeface="宋体" panose="02010600030101010101" pitchFamily="2" charset="-122"/>
              </a:rPr>
              <a:t>STA </a:t>
            </a:r>
            <a:r>
              <a:rPr lang="zh-CN" altLang="en-US" sz="1400">
                <a:ea typeface="宋体" panose="02010600030101010101" pitchFamily="2" charset="-122"/>
              </a:rPr>
              <a:t>省电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authentication   </a:t>
            </a:r>
            <a:endParaRPr lang="en-US" altLang="zh-CN"/>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11</a:t>
            </a:fld>
            <a:endParaRPr lang="en-US" altLang="zh-CN"/>
          </a:p>
        </p:txBody>
      </p:sp>
      <p:sp>
        <p:nvSpPr>
          <p:cNvPr id="9" name="矩形 8"/>
          <p:cNvSpPr/>
          <p:nvPr/>
        </p:nvSpPr>
        <p:spPr>
          <a:xfrm>
            <a:off x="2133600" y="19812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2" name="矩形 11"/>
          <p:cNvSpPr/>
          <p:nvPr/>
        </p:nvSpPr>
        <p:spPr>
          <a:xfrm>
            <a:off x="5334000" y="19050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cxnSp>
        <p:nvCxnSpPr>
          <p:cNvPr id="14" name="直接连接符 13"/>
          <p:cNvCxnSpPr>
            <a:stCxn id="9" idx="2"/>
          </p:cNvCxnSpPr>
          <p:nvPr/>
        </p:nvCxnSpPr>
        <p:spPr>
          <a:xfrm>
            <a:off x="2635250" y="26066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5791200" y="25304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a:off x="2693670" y="3657600"/>
            <a:ext cx="30975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2667000" y="4511675"/>
            <a:ext cx="310007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21635" y="3276600"/>
            <a:ext cx="2697480" cy="368300"/>
          </a:xfrm>
          <a:prstGeom prst="rect">
            <a:avLst/>
          </a:prstGeom>
          <a:noFill/>
        </p:spPr>
        <p:txBody>
          <a:bodyPr wrap="none" rtlCol="0">
            <a:spAutoFit/>
          </a:bodyPr>
          <a:lstStyle/>
          <a:p>
            <a:pPr algn="l"/>
            <a:r>
              <a:rPr lang="en-US" altLang="zh-CN">
                <a:sym typeface="+mn-ea"/>
              </a:rPr>
              <a:t>authentication request</a:t>
            </a:r>
            <a:endParaRPr lang="en-US" altLang="zh-CN"/>
          </a:p>
        </p:txBody>
      </p:sp>
      <p:sp>
        <p:nvSpPr>
          <p:cNvPr id="22" name="文本框 21"/>
          <p:cNvSpPr txBox="1"/>
          <p:nvPr/>
        </p:nvSpPr>
        <p:spPr>
          <a:xfrm>
            <a:off x="2807335" y="4143375"/>
            <a:ext cx="2811780" cy="368300"/>
          </a:xfrm>
          <a:prstGeom prst="rect">
            <a:avLst/>
          </a:prstGeom>
          <a:noFill/>
        </p:spPr>
        <p:txBody>
          <a:bodyPr wrap="none" rtlCol="0">
            <a:spAutoFit/>
          </a:bodyPr>
          <a:lstStyle/>
          <a:p>
            <a:pPr algn="l"/>
            <a:r>
              <a:rPr lang="en-US" altLang="zh-CN">
                <a:sym typeface="+mn-ea"/>
              </a:rPr>
              <a:t>authentication </a:t>
            </a:r>
            <a:r>
              <a:rPr lang="en-US" altLang="zh-CN"/>
              <a:t>response</a:t>
            </a:r>
          </a:p>
        </p:txBody>
      </p:sp>
      <p:sp>
        <p:nvSpPr>
          <p:cNvPr id="7" name="文本框 6"/>
          <p:cNvSpPr txBox="1"/>
          <p:nvPr/>
        </p:nvSpPr>
        <p:spPr>
          <a:xfrm>
            <a:off x="3048000" y="1072515"/>
            <a:ext cx="2752090" cy="521970"/>
          </a:xfrm>
          <a:prstGeom prst="rect">
            <a:avLst/>
          </a:prstGeom>
          <a:noFill/>
        </p:spPr>
        <p:txBody>
          <a:bodyPr wrap="none" rtlCol="0">
            <a:spAutoFit/>
          </a:bodyPr>
          <a:lstStyle/>
          <a:p>
            <a:pPr algn="l"/>
            <a:r>
              <a:rPr lang="en-US" altLang="zh-CN" sz="2800">
                <a:solidFill>
                  <a:schemeClr val="tx1"/>
                </a:solidFill>
                <a:latin typeface="Arial Black" panose="020B0A04020102020204" pitchFamily="34" charset="0"/>
                <a:ea typeface="+mj-ea"/>
                <a:cs typeface="+mj-cs"/>
                <a:sym typeface="+mn-ea"/>
              </a:rPr>
              <a:t>Open System</a:t>
            </a:r>
          </a:p>
        </p:txBody>
      </p:sp>
      <p:sp>
        <p:nvSpPr>
          <p:cNvPr id="8" name="文本框 7"/>
          <p:cNvSpPr txBox="1"/>
          <p:nvPr/>
        </p:nvSpPr>
        <p:spPr>
          <a:xfrm>
            <a:off x="6553200" y="3136900"/>
            <a:ext cx="798195" cy="583565"/>
          </a:xfrm>
          <a:prstGeom prst="rect">
            <a:avLst/>
          </a:prstGeom>
          <a:noFill/>
        </p:spPr>
        <p:txBody>
          <a:bodyPr wrap="none" rtlCol="0">
            <a:spAutoFit/>
          </a:bodyPr>
          <a:lstStyle/>
          <a:p>
            <a:r>
              <a:rPr lang="en-US" altLang="zh-CN" sz="3200" b="1"/>
              <a:t>wep</a:t>
            </a:r>
            <a:endParaRPr lang="en-US" altLang="zh-CN" sz="2400" b="1"/>
          </a:p>
        </p:txBody>
      </p:sp>
      <p:sp>
        <p:nvSpPr>
          <p:cNvPr id="10" name="文本框 9"/>
          <p:cNvSpPr txBox="1"/>
          <p:nvPr/>
        </p:nvSpPr>
        <p:spPr>
          <a:xfrm>
            <a:off x="6553200" y="3973195"/>
            <a:ext cx="2058035" cy="1568450"/>
          </a:xfrm>
          <a:prstGeom prst="rect">
            <a:avLst/>
          </a:prstGeom>
          <a:noFill/>
        </p:spPr>
        <p:txBody>
          <a:bodyPr wrap="square" rtlCol="0">
            <a:spAutoFit/>
          </a:bodyPr>
          <a:lstStyle/>
          <a:p>
            <a:pPr algn="l"/>
            <a:r>
              <a:rPr lang="en-US" altLang="zh-CN" sz="3200" b="1">
                <a:sym typeface="+mn-ea"/>
              </a:rPr>
              <a:t>wpa</a:t>
            </a:r>
            <a:r>
              <a:rPr lang="zh-CN" altLang="en-US" sz="3200" b="1">
                <a:sym typeface="+mn-ea"/>
              </a:rPr>
              <a:t>、</a:t>
            </a:r>
            <a:r>
              <a:rPr lang="en-US" altLang="zh-CN" sz="3200" b="1">
                <a:sym typeface="+mn-ea"/>
              </a:rPr>
              <a:t>wpa2</a:t>
            </a:r>
            <a:endParaRPr lang="en-US" altLang="zh-CN" sz="3200" b="1"/>
          </a:p>
          <a:p>
            <a:endParaRPr lang="en-US" altLang="zh-CN" sz="3200" b="1"/>
          </a:p>
          <a:p>
            <a:r>
              <a:rPr lang="en-US" altLang="zh-CN" sz="3200" b="1"/>
              <a:t>wpa3</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authentication </a:t>
            </a:r>
            <a:endParaRPr lang="zh-CN" altLang="en-US"/>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12</a:t>
            </a:fld>
            <a:endParaRPr lang="en-US" altLang="zh-CN"/>
          </a:p>
        </p:txBody>
      </p:sp>
      <p:sp>
        <p:nvSpPr>
          <p:cNvPr id="9" name="矩形 8"/>
          <p:cNvSpPr/>
          <p:nvPr/>
        </p:nvSpPr>
        <p:spPr>
          <a:xfrm>
            <a:off x="2133600" y="19812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2" name="矩形 11"/>
          <p:cNvSpPr/>
          <p:nvPr/>
        </p:nvSpPr>
        <p:spPr>
          <a:xfrm>
            <a:off x="6477000" y="19050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cxnSp>
        <p:nvCxnSpPr>
          <p:cNvPr id="14" name="直接连接符 13"/>
          <p:cNvCxnSpPr>
            <a:stCxn id="9" idx="2"/>
          </p:cNvCxnSpPr>
          <p:nvPr/>
        </p:nvCxnSpPr>
        <p:spPr>
          <a:xfrm>
            <a:off x="2635250" y="26066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6934200" y="25304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a:off x="2693670" y="3657600"/>
            <a:ext cx="41643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2635250" y="4114800"/>
            <a:ext cx="4298950" cy="12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71800" y="3289300"/>
            <a:ext cx="2697480" cy="368300"/>
          </a:xfrm>
          <a:prstGeom prst="rect">
            <a:avLst/>
          </a:prstGeom>
          <a:noFill/>
        </p:spPr>
        <p:txBody>
          <a:bodyPr wrap="none" rtlCol="0">
            <a:spAutoFit/>
          </a:bodyPr>
          <a:lstStyle/>
          <a:p>
            <a:pPr algn="l"/>
            <a:r>
              <a:rPr lang="en-US" altLang="zh-CN">
                <a:sym typeface="+mn-ea"/>
              </a:rPr>
              <a:t>authentication request</a:t>
            </a:r>
            <a:endParaRPr lang="en-US" altLang="zh-CN"/>
          </a:p>
        </p:txBody>
      </p:sp>
      <p:sp>
        <p:nvSpPr>
          <p:cNvPr id="22" name="文本框 21"/>
          <p:cNvSpPr txBox="1"/>
          <p:nvPr/>
        </p:nvSpPr>
        <p:spPr>
          <a:xfrm>
            <a:off x="2864485" y="3749675"/>
            <a:ext cx="3637280" cy="337185"/>
          </a:xfrm>
          <a:prstGeom prst="rect">
            <a:avLst/>
          </a:prstGeom>
          <a:noFill/>
        </p:spPr>
        <p:txBody>
          <a:bodyPr wrap="none" rtlCol="0">
            <a:spAutoFit/>
          </a:bodyPr>
          <a:lstStyle/>
          <a:p>
            <a:pPr algn="l"/>
            <a:r>
              <a:rPr lang="en-US" altLang="zh-CN" sz="1600">
                <a:sym typeface="+mn-ea"/>
              </a:rPr>
              <a:t>authentication </a:t>
            </a:r>
            <a:r>
              <a:rPr lang="en-US" altLang="zh-CN" sz="1600"/>
              <a:t>response(challenge)</a:t>
            </a:r>
          </a:p>
        </p:txBody>
      </p:sp>
      <p:sp>
        <p:nvSpPr>
          <p:cNvPr id="7" name="文本框 6"/>
          <p:cNvSpPr txBox="1"/>
          <p:nvPr/>
        </p:nvSpPr>
        <p:spPr>
          <a:xfrm>
            <a:off x="3048000" y="1072515"/>
            <a:ext cx="2409825" cy="521970"/>
          </a:xfrm>
          <a:prstGeom prst="rect">
            <a:avLst/>
          </a:prstGeom>
          <a:noFill/>
        </p:spPr>
        <p:txBody>
          <a:bodyPr wrap="none" rtlCol="0">
            <a:spAutoFit/>
          </a:bodyPr>
          <a:lstStyle/>
          <a:p>
            <a:pPr algn="l"/>
            <a:r>
              <a:rPr lang="en-US" altLang="zh-CN" sz="2800">
                <a:solidFill>
                  <a:schemeClr val="tx1"/>
                </a:solidFill>
                <a:latin typeface="Arial Black" panose="020B0A04020102020204" pitchFamily="34" charset="0"/>
                <a:ea typeface="+mj-ea"/>
                <a:cs typeface="+mj-cs"/>
                <a:sym typeface="+mn-ea"/>
              </a:rPr>
              <a:t>Shared Key</a:t>
            </a:r>
          </a:p>
        </p:txBody>
      </p:sp>
      <p:sp>
        <p:nvSpPr>
          <p:cNvPr id="6" name="文本框 5"/>
          <p:cNvSpPr txBox="1"/>
          <p:nvPr/>
        </p:nvSpPr>
        <p:spPr>
          <a:xfrm>
            <a:off x="7449820" y="3860800"/>
            <a:ext cx="721995" cy="521970"/>
          </a:xfrm>
          <a:prstGeom prst="rect">
            <a:avLst/>
          </a:prstGeom>
          <a:noFill/>
        </p:spPr>
        <p:txBody>
          <a:bodyPr wrap="none" rtlCol="0">
            <a:spAutoFit/>
          </a:bodyPr>
          <a:lstStyle/>
          <a:p>
            <a:r>
              <a:rPr lang="en-US" altLang="zh-CN" sz="2800" b="1"/>
              <a:t>WEP</a:t>
            </a:r>
          </a:p>
        </p:txBody>
      </p:sp>
      <p:sp>
        <p:nvSpPr>
          <p:cNvPr id="8" name="文本框 7"/>
          <p:cNvSpPr txBox="1"/>
          <p:nvPr/>
        </p:nvSpPr>
        <p:spPr>
          <a:xfrm>
            <a:off x="2864485" y="4267200"/>
            <a:ext cx="3942080" cy="368300"/>
          </a:xfrm>
          <a:prstGeom prst="rect">
            <a:avLst/>
          </a:prstGeom>
          <a:noFill/>
        </p:spPr>
        <p:txBody>
          <a:bodyPr wrap="none" rtlCol="0">
            <a:spAutoFit/>
          </a:bodyPr>
          <a:lstStyle/>
          <a:p>
            <a:pPr algn="l"/>
            <a:r>
              <a:rPr lang="en-US" altLang="zh-CN" sz="1400">
                <a:sym typeface="+mn-ea"/>
              </a:rPr>
              <a:t>authentication request(encryted challenge</a:t>
            </a:r>
            <a:r>
              <a:rPr lang="en-US" altLang="zh-CN">
                <a:sym typeface="+mn-ea"/>
              </a:rPr>
              <a:t>)</a:t>
            </a:r>
            <a:endParaRPr lang="en-US" altLang="zh-CN"/>
          </a:p>
        </p:txBody>
      </p:sp>
      <p:cxnSp>
        <p:nvCxnSpPr>
          <p:cNvPr id="10" name="直接箭头连接符 9"/>
          <p:cNvCxnSpPr/>
          <p:nvPr/>
        </p:nvCxnSpPr>
        <p:spPr>
          <a:xfrm>
            <a:off x="2590800" y="4648200"/>
            <a:ext cx="4267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2684780" y="5105400"/>
            <a:ext cx="417322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2914650" y="4784725"/>
            <a:ext cx="3840480" cy="645160"/>
          </a:xfrm>
          <a:prstGeom prst="rect">
            <a:avLst/>
          </a:prstGeom>
          <a:noFill/>
        </p:spPr>
        <p:txBody>
          <a:bodyPr wrap="none" rtlCol="0">
            <a:spAutoFit/>
          </a:bodyPr>
          <a:lstStyle/>
          <a:p>
            <a:pPr algn="l"/>
            <a:r>
              <a:rPr lang="en-US" altLang="zh-CN">
                <a:sym typeface="+mn-ea"/>
              </a:rPr>
              <a:t>authentication </a:t>
            </a:r>
            <a:r>
              <a:rPr lang="en-US" altLang="zh-CN"/>
              <a:t>response</a:t>
            </a:r>
            <a:r>
              <a:rPr lang="en-US" altLang="zh-CN">
                <a:sym typeface="+mn-ea"/>
              </a:rPr>
              <a:t>(success)</a:t>
            </a:r>
            <a:endParaRPr lang="en-US" altLang="zh-CN"/>
          </a:p>
          <a:p>
            <a:pPr algn="l"/>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authentication SAE</a:t>
            </a:r>
            <a:endParaRPr lang="zh-CN" altLang="en-US"/>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13</a:t>
            </a:fld>
            <a:endParaRPr lang="en-US" altLang="zh-CN"/>
          </a:p>
        </p:txBody>
      </p:sp>
      <p:sp>
        <p:nvSpPr>
          <p:cNvPr id="9" name="矩形 8"/>
          <p:cNvSpPr/>
          <p:nvPr/>
        </p:nvSpPr>
        <p:spPr>
          <a:xfrm>
            <a:off x="2133600" y="13716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2" name="矩形 11"/>
          <p:cNvSpPr/>
          <p:nvPr/>
        </p:nvSpPr>
        <p:spPr>
          <a:xfrm>
            <a:off x="5334000" y="12954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cxnSp>
        <p:nvCxnSpPr>
          <p:cNvPr id="14" name="直接连接符 13"/>
          <p:cNvCxnSpPr>
            <a:stCxn id="9" idx="2"/>
          </p:cNvCxnSpPr>
          <p:nvPr/>
        </p:nvCxnSpPr>
        <p:spPr>
          <a:xfrm>
            <a:off x="2635250" y="19970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5791200" y="19208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a:off x="2693670" y="3048000"/>
            <a:ext cx="30975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2693670" y="3568700"/>
            <a:ext cx="310007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41320" y="2679700"/>
            <a:ext cx="2354580" cy="368300"/>
          </a:xfrm>
          <a:prstGeom prst="rect">
            <a:avLst/>
          </a:prstGeom>
          <a:noFill/>
        </p:spPr>
        <p:txBody>
          <a:bodyPr wrap="none" rtlCol="0">
            <a:spAutoFit/>
          </a:bodyPr>
          <a:lstStyle/>
          <a:p>
            <a:pPr algn="l"/>
            <a:r>
              <a:rPr lang="en-US" altLang="zh-CN">
                <a:sym typeface="+mn-ea"/>
              </a:rPr>
              <a:t>auth request commit</a:t>
            </a:r>
            <a:endParaRPr lang="en-US" altLang="zh-CN"/>
          </a:p>
        </p:txBody>
      </p:sp>
      <p:sp>
        <p:nvSpPr>
          <p:cNvPr id="22" name="文本框 21"/>
          <p:cNvSpPr txBox="1"/>
          <p:nvPr/>
        </p:nvSpPr>
        <p:spPr>
          <a:xfrm>
            <a:off x="2941320" y="3200400"/>
            <a:ext cx="2468880" cy="368300"/>
          </a:xfrm>
          <a:prstGeom prst="rect">
            <a:avLst/>
          </a:prstGeom>
          <a:noFill/>
        </p:spPr>
        <p:txBody>
          <a:bodyPr wrap="none" rtlCol="0">
            <a:spAutoFit/>
          </a:bodyPr>
          <a:lstStyle/>
          <a:p>
            <a:pPr algn="l"/>
            <a:r>
              <a:rPr lang="en-US" altLang="zh-CN">
                <a:sym typeface="+mn-ea"/>
              </a:rPr>
              <a:t>auth response commit</a:t>
            </a:r>
            <a:endParaRPr lang="en-US" altLang="zh-CN"/>
          </a:p>
        </p:txBody>
      </p:sp>
      <p:sp>
        <p:nvSpPr>
          <p:cNvPr id="7" name="文本框 6"/>
          <p:cNvSpPr txBox="1"/>
          <p:nvPr/>
        </p:nvSpPr>
        <p:spPr>
          <a:xfrm>
            <a:off x="3815080" y="914400"/>
            <a:ext cx="972820" cy="521970"/>
          </a:xfrm>
          <a:prstGeom prst="rect">
            <a:avLst/>
          </a:prstGeom>
          <a:noFill/>
        </p:spPr>
        <p:txBody>
          <a:bodyPr wrap="none" rtlCol="0">
            <a:spAutoFit/>
          </a:bodyPr>
          <a:lstStyle/>
          <a:p>
            <a:pPr algn="l"/>
            <a:r>
              <a:rPr lang="en-US" altLang="zh-CN" sz="2800">
                <a:solidFill>
                  <a:schemeClr val="tx1"/>
                </a:solidFill>
                <a:latin typeface="Arial Black" panose="020B0A04020102020204" pitchFamily="34" charset="0"/>
                <a:ea typeface="+mj-ea"/>
                <a:cs typeface="+mj-cs"/>
                <a:sym typeface="+mn-ea"/>
              </a:rPr>
              <a:t>SAE</a:t>
            </a:r>
          </a:p>
        </p:txBody>
      </p:sp>
      <p:sp>
        <p:nvSpPr>
          <p:cNvPr id="3" name="文本框 2"/>
          <p:cNvSpPr txBox="1"/>
          <p:nvPr/>
        </p:nvSpPr>
        <p:spPr>
          <a:xfrm>
            <a:off x="7086600" y="2593340"/>
            <a:ext cx="1104900" cy="645160"/>
          </a:xfrm>
          <a:prstGeom prst="rect">
            <a:avLst/>
          </a:prstGeom>
          <a:noFill/>
        </p:spPr>
        <p:txBody>
          <a:bodyPr wrap="none" rtlCol="0">
            <a:spAutoFit/>
          </a:bodyPr>
          <a:lstStyle/>
          <a:p>
            <a:r>
              <a:rPr lang="en-US" altLang="zh-CN" sz="3600" b="1"/>
              <a:t>wpa3</a:t>
            </a:r>
          </a:p>
        </p:txBody>
      </p:sp>
      <p:cxnSp>
        <p:nvCxnSpPr>
          <p:cNvPr id="6" name="直接箭头连接符 5"/>
          <p:cNvCxnSpPr/>
          <p:nvPr/>
        </p:nvCxnSpPr>
        <p:spPr>
          <a:xfrm>
            <a:off x="2635250" y="4038600"/>
            <a:ext cx="30975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H="1">
            <a:off x="2663190" y="4508500"/>
            <a:ext cx="310007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884170" y="3721100"/>
            <a:ext cx="2468880" cy="368300"/>
          </a:xfrm>
          <a:prstGeom prst="rect">
            <a:avLst/>
          </a:prstGeom>
          <a:noFill/>
        </p:spPr>
        <p:txBody>
          <a:bodyPr wrap="none" rtlCol="0">
            <a:spAutoFit/>
          </a:bodyPr>
          <a:lstStyle/>
          <a:p>
            <a:pPr algn="l"/>
            <a:r>
              <a:rPr lang="en-US" altLang="zh-CN">
                <a:sym typeface="+mn-ea"/>
              </a:rPr>
              <a:t>auth request comfirm</a:t>
            </a:r>
            <a:endParaRPr lang="en-US" altLang="zh-CN"/>
          </a:p>
        </p:txBody>
      </p:sp>
      <p:sp>
        <p:nvSpPr>
          <p:cNvPr id="11" name="文本框 10"/>
          <p:cNvSpPr txBox="1"/>
          <p:nvPr/>
        </p:nvSpPr>
        <p:spPr>
          <a:xfrm>
            <a:off x="2921635" y="4213225"/>
            <a:ext cx="2583180" cy="368300"/>
          </a:xfrm>
          <a:prstGeom prst="rect">
            <a:avLst/>
          </a:prstGeom>
          <a:noFill/>
        </p:spPr>
        <p:txBody>
          <a:bodyPr wrap="none" rtlCol="0">
            <a:spAutoFit/>
          </a:bodyPr>
          <a:lstStyle/>
          <a:p>
            <a:pPr algn="l"/>
            <a:r>
              <a:rPr lang="en-US" altLang="zh-CN">
                <a:sym typeface="+mn-ea"/>
              </a:rPr>
              <a:t>auth response comfirm</a:t>
            </a:r>
            <a:endParaRPr lang="en-US" altLang="zh-CN"/>
          </a:p>
        </p:txBody>
      </p:sp>
      <p:sp>
        <p:nvSpPr>
          <p:cNvPr id="16" name="文本框 15"/>
          <p:cNvSpPr txBox="1"/>
          <p:nvPr/>
        </p:nvSpPr>
        <p:spPr>
          <a:xfrm>
            <a:off x="3352800" y="4627245"/>
            <a:ext cx="1897380" cy="368300"/>
          </a:xfrm>
          <a:prstGeom prst="rect">
            <a:avLst/>
          </a:prstGeom>
          <a:noFill/>
        </p:spPr>
        <p:txBody>
          <a:bodyPr wrap="none" rtlCol="0">
            <a:spAutoFit/>
          </a:bodyPr>
          <a:lstStyle/>
          <a:p>
            <a:r>
              <a:rPr lang="zh-CN" altLang="en-US"/>
              <a:t>得到</a:t>
            </a:r>
            <a:r>
              <a:rPr lang="en-US" altLang="zh-CN"/>
              <a:t>PMK </a:t>
            </a:r>
            <a:r>
              <a:rPr lang="zh-CN" altLang="en-US"/>
              <a:t>和</a:t>
            </a:r>
            <a:r>
              <a:rPr lang="en-US" altLang="zh-CN"/>
              <a:t>PMKID</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authentication  </a:t>
            </a:r>
            <a:r>
              <a:rPr lang="en-US" altLang="zh-CN"/>
              <a:t>SAE</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14</a:t>
            </a:fld>
            <a:endParaRPr lang="en-US" altLang="zh-CN"/>
          </a:p>
        </p:txBody>
      </p:sp>
      <p:sp>
        <p:nvSpPr>
          <p:cNvPr id="20" name="文本框 19"/>
          <p:cNvSpPr txBox="1"/>
          <p:nvPr/>
        </p:nvSpPr>
        <p:spPr>
          <a:xfrm>
            <a:off x="311150" y="1219200"/>
            <a:ext cx="8220075" cy="5262245"/>
          </a:xfrm>
          <a:prstGeom prst="rect">
            <a:avLst/>
          </a:prstGeom>
          <a:noFill/>
        </p:spPr>
        <p:txBody>
          <a:bodyPr wrap="square" rtlCol="0">
            <a:spAutoFit/>
          </a:bodyPr>
          <a:lstStyle/>
          <a:p>
            <a:pPr algn="l"/>
            <a:r>
              <a:rPr lang="en-US" altLang="zh-CN" sz="1600"/>
              <a:t>1.</a:t>
            </a:r>
            <a:r>
              <a:rPr lang="zh-CN" altLang="en-US" sz="1600"/>
              <a:t>构建</a:t>
            </a:r>
            <a:r>
              <a:rPr lang="en-US" altLang="zh-CN" sz="1600"/>
              <a:t>sae commit: password,bssid,own_mac </a:t>
            </a:r>
            <a:r>
              <a:rPr lang="zh-CN" altLang="en-US" sz="1600"/>
              <a:t>算出</a:t>
            </a:r>
            <a:r>
              <a:rPr lang="en-US" altLang="zh-CN" sz="1600"/>
              <a:t>PWE(password element),</a:t>
            </a:r>
          </a:p>
          <a:p>
            <a:pPr algn="l"/>
            <a:r>
              <a:rPr lang="zh-CN" altLang="en-US" sz="1600"/>
              <a:t>最终就是生成一个scalar和element。</a:t>
            </a:r>
          </a:p>
          <a:p>
            <a:pPr algn="l"/>
            <a:endParaRPr lang="zh-CN" altLang="en-US" sz="1600"/>
          </a:p>
          <a:p>
            <a:pPr algn="l"/>
            <a:r>
              <a:rPr lang="en-US" altLang="zh-CN" sz="1600"/>
              <a:t>2.处理对端的sae commit:收到对端的SAE Commit消息后，首先需要验证scalar和element。</a:t>
            </a:r>
          </a:p>
          <a:p>
            <a:pPr algn="l"/>
            <a:r>
              <a:rPr lang="zh-CN" altLang="en-US" sz="1600"/>
              <a:t>最终算出</a:t>
            </a:r>
            <a:r>
              <a:rPr lang="en-US" altLang="zh-CN" sz="1600">
                <a:sym typeface="+mn-ea"/>
              </a:rPr>
              <a:t>PMKID</a:t>
            </a:r>
            <a:r>
              <a:rPr lang="zh-CN" altLang="en-US" sz="1600">
                <a:sym typeface="+mn-ea"/>
              </a:rPr>
              <a:t>、</a:t>
            </a:r>
            <a:r>
              <a:rPr lang="en-US" altLang="zh-CN" sz="1600">
                <a:sym typeface="+mn-ea"/>
              </a:rPr>
              <a:t>PMK</a:t>
            </a:r>
            <a:r>
              <a:rPr lang="zh-CN" altLang="en-US" sz="1600">
                <a:sym typeface="+mn-ea"/>
              </a:rPr>
              <a:t>等。</a:t>
            </a:r>
          </a:p>
          <a:p>
            <a:pPr algn="l"/>
            <a:endParaRPr lang="zh-CN" altLang="en-US" sz="1600">
              <a:sym typeface="+mn-ea"/>
            </a:endParaRPr>
          </a:p>
          <a:p>
            <a:pPr algn="l"/>
            <a:r>
              <a:rPr lang="zh-CN" altLang="en-US" sz="1600">
                <a:sym typeface="+mn-ea"/>
              </a:rPr>
              <a:t>3.构造SAE Confirm message：发送方的SAE Commit消息的scalar和element，接收到的SAE Commit消息中的scalar和element计算生成。</a:t>
            </a:r>
          </a:p>
          <a:p>
            <a:pPr algn="l"/>
            <a:endParaRPr lang="zh-CN" altLang="en-US" sz="1600">
              <a:sym typeface="+mn-ea"/>
            </a:endParaRPr>
          </a:p>
          <a:p>
            <a:pPr algn="l"/>
            <a:r>
              <a:rPr lang="zh-CN" altLang="en-US" sz="1600">
                <a:sym typeface="+mn-ea"/>
              </a:rPr>
              <a:t>4.处理对端的SAE Confirm：接收到对端的SAE Confirm消息后，验证消息中的scalar和element，以及发送的SAE Commit消息中的scalar和element计算而来。</a:t>
            </a:r>
          </a:p>
          <a:p>
            <a:pPr algn="l"/>
            <a:endParaRPr lang="en-US" altLang="zh-CN" sz="1600"/>
          </a:p>
          <a:p>
            <a:pPr algn="l"/>
            <a:r>
              <a:rPr lang="en-US" altLang="zh-CN" sz="1600">
                <a:sym typeface="+mn-ea"/>
              </a:rPr>
              <a:t>PMK: </a:t>
            </a:r>
            <a:r>
              <a:rPr lang="zh-CN" altLang="en-US" sz="1600">
                <a:sym typeface="+mn-ea"/>
              </a:rPr>
              <a:t>SAE协商的结果，用于后面的四次握手</a:t>
            </a:r>
          </a:p>
          <a:p>
            <a:pPr algn="l"/>
            <a:endParaRPr lang="en-US" altLang="zh-CN" sz="1600"/>
          </a:p>
          <a:p>
            <a:pPr algn="l"/>
            <a:r>
              <a:rPr lang="en-US" altLang="zh-CN" sz="1600"/>
              <a:t>PMKID</a:t>
            </a:r>
            <a:r>
              <a:rPr lang="zh-CN" altLang="en-US" sz="1600"/>
              <a:t>：掉线后重新连接的终端使用OPEN认证而不是进行SAE交互，在重关联</a:t>
            </a:r>
            <a:r>
              <a:rPr lang="en-US" altLang="zh-CN" sz="1600">
                <a:sym typeface="+mn-ea"/>
              </a:rPr>
              <a:t>association </a:t>
            </a:r>
            <a:r>
              <a:rPr lang="zh-CN" altLang="en-US" sz="1600"/>
              <a:t>请求报文中携带PMKID，AP对PMKID进行匹配校验，如果校验成功则可以直接使用之前的PMK进行四次握手协商，无需进行SAE协商，从而实现闪断后快速重新连接。</a:t>
            </a:r>
          </a:p>
          <a:p>
            <a:pPr algn="l"/>
            <a:r>
              <a:rPr lang="zh-CN" altLang="en-US" sz="1600"/>
              <a:t>但是个别路由器（</a:t>
            </a:r>
            <a:r>
              <a:rPr lang="en-US" altLang="zh-CN" sz="1600"/>
              <a:t>TP-LINK</a:t>
            </a:r>
            <a:r>
              <a:rPr lang="zh-CN" altLang="en-US" sz="1600"/>
              <a:t>）改密码后</a:t>
            </a:r>
            <a:r>
              <a:rPr lang="en-US" altLang="zh-CN" sz="1600"/>
              <a:t>PMKID </a:t>
            </a:r>
            <a:r>
              <a:rPr lang="zh-CN" altLang="en-US" sz="1600"/>
              <a:t>没有更新，还允许之前连接过的设备用原来密码的</a:t>
            </a:r>
            <a:r>
              <a:rPr lang="en-US" altLang="zh-CN" sz="1600"/>
              <a:t>PMKID </a:t>
            </a:r>
            <a:r>
              <a:rPr lang="zh-CN" altLang="en-US" sz="1600"/>
              <a:t>进行连接。</a:t>
            </a:r>
          </a:p>
          <a:p>
            <a:pPr algn="l"/>
            <a:endParaRPr lang="zh-CN" altLang="en-US" sz="1600"/>
          </a:p>
          <a:p>
            <a:pPr algn="l"/>
            <a:endParaRPr lang="zh-CN" altLang="en-US" sz="1600">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association </a:t>
            </a:r>
            <a:endParaRPr lang="zh-CN" altLang="en-US"/>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15</a:t>
            </a:fld>
            <a:endParaRPr lang="en-US" altLang="zh-CN"/>
          </a:p>
        </p:txBody>
      </p:sp>
      <p:sp>
        <p:nvSpPr>
          <p:cNvPr id="9" name="矩形 8"/>
          <p:cNvSpPr/>
          <p:nvPr/>
        </p:nvSpPr>
        <p:spPr>
          <a:xfrm>
            <a:off x="2133600" y="19812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a:t>
            </a:r>
          </a:p>
        </p:txBody>
      </p:sp>
      <p:sp>
        <p:nvSpPr>
          <p:cNvPr id="12" name="矩形 11"/>
          <p:cNvSpPr/>
          <p:nvPr/>
        </p:nvSpPr>
        <p:spPr>
          <a:xfrm>
            <a:off x="5334000" y="1905000"/>
            <a:ext cx="1003300" cy="6254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softap</a:t>
            </a:r>
          </a:p>
        </p:txBody>
      </p:sp>
      <p:cxnSp>
        <p:nvCxnSpPr>
          <p:cNvPr id="14" name="直接连接符 13"/>
          <p:cNvCxnSpPr>
            <a:stCxn id="9" idx="2"/>
          </p:cNvCxnSpPr>
          <p:nvPr/>
        </p:nvCxnSpPr>
        <p:spPr>
          <a:xfrm>
            <a:off x="2635250" y="26066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a:off x="5791200" y="2530475"/>
            <a:ext cx="0" cy="2869565"/>
          </a:xfrm>
          <a:prstGeom prst="line">
            <a:avLst/>
          </a:prstGeom>
        </p:spPr>
        <p:style>
          <a:lnRef idx="2">
            <a:schemeClr val="dk1"/>
          </a:lnRef>
          <a:fillRef idx="0">
            <a:schemeClr val="dk1"/>
          </a:fillRef>
          <a:effectRef idx="1">
            <a:schemeClr val="dk1"/>
          </a:effectRef>
          <a:fontRef idx="minor">
            <a:schemeClr val="tx1"/>
          </a:fontRef>
        </p:style>
      </p:cxnSp>
      <p:cxnSp>
        <p:nvCxnSpPr>
          <p:cNvPr id="18" name="直接箭头连接符 17"/>
          <p:cNvCxnSpPr/>
          <p:nvPr/>
        </p:nvCxnSpPr>
        <p:spPr>
          <a:xfrm>
            <a:off x="2693670" y="3657600"/>
            <a:ext cx="309753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2667000" y="4511675"/>
            <a:ext cx="310007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2921635" y="3276600"/>
            <a:ext cx="2354580" cy="368300"/>
          </a:xfrm>
          <a:prstGeom prst="rect">
            <a:avLst/>
          </a:prstGeom>
          <a:noFill/>
        </p:spPr>
        <p:txBody>
          <a:bodyPr wrap="none" rtlCol="0">
            <a:spAutoFit/>
          </a:bodyPr>
          <a:lstStyle/>
          <a:p>
            <a:pPr algn="l"/>
            <a:r>
              <a:rPr lang="en-US" altLang="zh-CN">
                <a:sym typeface="+mn-ea"/>
              </a:rPr>
              <a:t>association request</a:t>
            </a:r>
            <a:endParaRPr lang="en-US" altLang="zh-CN"/>
          </a:p>
        </p:txBody>
      </p:sp>
      <p:sp>
        <p:nvSpPr>
          <p:cNvPr id="22" name="文本框 21"/>
          <p:cNvSpPr txBox="1"/>
          <p:nvPr/>
        </p:nvSpPr>
        <p:spPr>
          <a:xfrm>
            <a:off x="2807335" y="4143375"/>
            <a:ext cx="2468880" cy="368300"/>
          </a:xfrm>
          <a:prstGeom prst="rect">
            <a:avLst/>
          </a:prstGeom>
          <a:noFill/>
        </p:spPr>
        <p:txBody>
          <a:bodyPr wrap="none" rtlCol="0">
            <a:spAutoFit/>
          </a:bodyPr>
          <a:lstStyle/>
          <a:p>
            <a:pPr algn="l"/>
            <a:r>
              <a:rPr lang="en-US" altLang="zh-CN">
                <a:sym typeface="+mn-ea"/>
              </a:rPr>
              <a:t>association </a:t>
            </a:r>
            <a:r>
              <a:rPr lang="en-US" altLang="zh-CN"/>
              <a:t>response</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4-way handshake</a:t>
            </a:r>
            <a:endParaRPr lang="en-US" altLang="zh-CN"/>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16</a:t>
            </a:fld>
            <a:endParaRPr lang="en-US" altLang="zh-CN"/>
          </a:p>
        </p:txBody>
      </p:sp>
      <p:pic>
        <p:nvPicPr>
          <p:cNvPr id="6" name="图片 5"/>
          <p:cNvPicPr>
            <a:picLocks noChangeAspect="1"/>
          </p:cNvPicPr>
          <p:nvPr/>
        </p:nvPicPr>
        <p:blipFill>
          <a:blip r:embed="rId2"/>
          <a:stretch>
            <a:fillRect/>
          </a:stretch>
        </p:blipFill>
        <p:spPr>
          <a:xfrm>
            <a:off x="152400" y="914400"/>
            <a:ext cx="5704205" cy="5313680"/>
          </a:xfrm>
          <a:prstGeom prst="rect">
            <a:avLst/>
          </a:prstGeom>
        </p:spPr>
      </p:pic>
      <p:pic>
        <p:nvPicPr>
          <p:cNvPr id="7" name="图片 6"/>
          <p:cNvPicPr>
            <a:picLocks noChangeAspect="1"/>
          </p:cNvPicPr>
          <p:nvPr/>
        </p:nvPicPr>
        <p:blipFill>
          <a:blip r:embed="rId3"/>
          <a:stretch>
            <a:fillRect/>
          </a:stretch>
        </p:blipFill>
        <p:spPr>
          <a:xfrm>
            <a:off x="5638800" y="1600200"/>
            <a:ext cx="3540760" cy="2987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4-way handshake</a:t>
            </a:r>
            <a:endParaRPr lang="en-US" altLang="zh-CN"/>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17</a:t>
            </a:fld>
            <a:endParaRPr lang="en-US" altLang="zh-CN"/>
          </a:p>
        </p:txBody>
      </p:sp>
      <p:sp>
        <p:nvSpPr>
          <p:cNvPr id="3" name="文本框 2"/>
          <p:cNvSpPr txBox="1"/>
          <p:nvPr/>
        </p:nvSpPr>
        <p:spPr>
          <a:xfrm>
            <a:off x="228600" y="990600"/>
            <a:ext cx="8328025" cy="5107940"/>
          </a:xfrm>
          <a:prstGeom prst="rect">
            <a:avLst/>
          </a:prstGeom>
          <a:noFill/>
        </p:spPr>
        <p:txBody>
          <a:bodyPr wrap="square" rtlCol="0">
            <a:spAutoFit/>
          </a:bodyPr>
          <a:lstStyle/>
          <a:p>
            <a:pPr algn="l"/>
            <a:r>
              <a:rPr lang="zh-CN" altLang="en-US" sz="1400"/>
              <a:t>第一次握手：</a:t>
            </a:r>
          </a:p>
          <a:p>
            <a:pPr algn="l"/>
            <a:r>
              <a:rPr lang="en-US" altLang="zh-CN" sz="1400"/>
              <a:t>AP</a:t>
            </a:r>
            <a:r>
              <a:rPr lang="zh-CN" altLang="en-US" sz="1400"/>
              <a:t>把自己的随机产生的ANonce发给station，这时station就具备了生成PTK的5个</a:t>
            </a:r>
          </a:p>
          <a:p>
            <a:pPr algn="l"/>
            <a:r>
              <a:rPr lang="zh-CN" altLang="en-US" sz="1400"/>
              <a:t>数据（PMK，ANonce，SNonce，Mac（AA），MAC（SA）），接着station生成自己的PTK。</a:t>
            </a:r>
          </a:p>
          <a:p>
            <a:pPr algn="l"/>
            <a:endParaRPr lang="zh-CN" altLang="en-US" sz="1400"/>
          </a:p>
          <a:p>
            <a:pPr algn="l"/>
            <a:r>
              <a:rPr lang="zh-CN" altLang="en-US" sz="1400"/>
              <a:t>第二次握手：</a:t>
            </a:r>
          </a:p>
          <a:p>
            <a:pPr algn="l"/>
            <a:r>
              <a:rPr lang="zh-CN" altLang="en-US" sz="1400"/>
              <a:t>station 生成自己的PTK后给ap发送SNonce和MIC。ap收到SNonce也具备了生成PTK的条件，</a:t>
            </a:r>
          </a:p>
          <a:p>
            <a:pPr algn="l"/>
            <a:r>
              <a:rPr lang="zh-CN" altLang="en-US" sz="1400"/>
              <a:t>会生成PTK和GTK，接着计算MIC进行校验，如果和station发来的相同就可以进行第三次握手</a:t>
            </a:r>
          </a:p>
          <a:p>
            <a:pPr algn="l"/>
            <a:r>
              <a:rPr lang="zh-CN" altLang="en-US" sz="1400"/>
              <a:t>操作。从第二次握手的报文开始接下去每个报文都会由MIC，AP 收到 SNonce 之后，生成</a:t>
            </a:r>
          </a:p>
          <a:p>
            <a:pPr algn="l"/>
            <a:r>
              <a:rPr lang="zh-CN" altLang="en-US" sz="1400"/>
              <a:t>的 PTK 就可以用来加密后面两次握手的 key 了。</a:t>
            </a:r>
          </a:p>
          <a:p>
            <a:pPr algn="l"/>
            <a:endParaRPr lang="zh-CN" altLang="en-US" sz="1400"/>
          </a:p>
          <a:p>
            <a:pPr algn="l"/>
            <a:r>
              <a:rPr lang="zh-CN" altLang="en-US" sz="1400"/>
              <a:t>第三次握手：</a:t>
            </a:r>
          </a:p>
          <a:p>
            <a:pPr algn="l"/>
            <a:r>
              <a:rPr lang="en-US" altLang="zh-CN" sz="1400">
                <a:sym typeface="+mn-ea"/>
              </a:rPr>
              <a:t>AP</a:t>
            </a:r>
            <a:r>
              <a:rPr lang="zh-CN" altLang="en-US" sz="1400"/>
              <a:t>把生成MIC和加密的GTK发送给station（告诉station安装PTK和GTK），这里因为station</a:t>
            </a:r>
          </a:p>
          <a:p>
            <a:pPr algn="l"/>
            <a:r>
              <a:rPr lang="zh-CN" altLang="en-US" sz="1400"/>
              <a:t>已经生成了PTK，可以用来加密数据，所以GTK进行了加密。MIC检验成功后就可以进行第四次握手确认了。</a:t>
            </a:r>
          </a:p>
          <a:p>
            <a:pPr algn="l"/>
            <a:endParaRPr lang="zh-CN" altLang="en-US" sz="1400"/>
          </a:p>
          <a:p>
            <a:pPr algn="l"/>
            <a:r>
              <a:rPr lang="zh-CN" altLang="en-US" sz="1400"/>
              <a:t>第四次握手：</a:t>
            </a:r>
          </a:p>
          <a:p>
            <a:pPr algn="l"/>
            <a:r>
              <a:rPr lang="zh-CN" altLang="en-US" sz="1400"/>
              <a:t>发送ACK和</a:t>
            </a:r>
            <a:r>
              <a:rPr lang="en-US" altLang="zh-CN" sz="1400">
                <a:sym typeface="+mn-ea"/>
              </a:rPr>
              <a:t>AP</a:t>
            </a:r>
            <a:r>
              <a:rPr lang="zh-CN" altLang="en-US" sz="1400"/>
              <a:t>确认，告诉</a:t>
            </a:r>
            <a:r>
              <a:rPr lang="en-US" altLang="zh-CN" sz="1400">
                <a:sym typeface="+mn-ea"/>
              </a:rPr>
              <a:t>AP</a:t>
            </a:r>
            <a:r>
              <a:rPr lang="zh-CN" altLang="en-US" sz="1400"/>
              <a:t> PTK和GTK已经安装好了，</a:t>
            </a:r>
            <a:r>
              <a:rPr lang="en-US" altLang="zh-CN" sz="1400">
                <a:sym typeface="+mn-ea"/>
              </a:rPr>
              <a:t>AP</a:t>
            </a:r>
            <a:r>
              <a:rPr lang="zh-CN" altLang="en-US" sz="1400"/>
              <a:t>收到后也开始安装PTK和GTK。</a:t>
            </a:r>
          </a:p>
          <a:p>
            <a:pPr algn="l"/>
            <a:r>
              <a:rPr lang="zh-CN" altLang="en-US" sz="1400"/>
              <a:t>安装的意思是指使用 PTK 和 GT</a:t>
            </a:r>
            <a:r>
              <a:rPr lang="en-US" altLang="zh-CN" sz="1400"/>
              <a:t>K</a:t>
            </a:r>
            <a:r>
              <a:rPr lang="zh-CN" altLang="en-US" sz="1400"/>
              <a:t> 来对数据进行加密。</a:t>
            </a:r>
          </a:p>
          <a:p>
            <a:pPr algn="l"/>
            <a:endParaRPr lang="zh-CN" altLang="en-US" sz="1400"/>
          </a:p>
          <a:p>
            <a:pPr algn="l"/>
            <a:r>
              <a:rPr lang="zh-CN" altLang="en-US" sz="1400"/>
              <a:t>有的路由器还有GTK handshake。</a:t>
            </a:r>
          </a:p>
          <a:p>
            <a:pPr algn="l"/>
            <a:endParaRPr lang="en-US" altLang="zh-CN" sz="1200"/>
          </a:p>
          <a:p>
            <a:pPr algn="l"/>
            <a:r>
              <a:rPr lang="en-US" altLang="zh-CN" sz="1200"/>
              <a:t>PTK </a:t>
            </a:r>
            <a:r>
              <a:rPr lang="zh-CN" altLang="en-US" sz="1200"/>
              <a:t>包含</a:t>
            </a:r>
            <a:r>
              <a:rPr lang="zh-CN" altLang="en-US" sz="1200">
                <a:sym typeface="+mn-ea"/>
              </a:rPr>
              <a:t>KCK、KEK、TK</a:t>
            </a:r>
            <a:endParaRPr lang="zh-CN" altLang="en-US" sz="1200"/>
          </a:p>
          <a:p>
            <a:pPr algn="l"/>
            <a:r>
              <a:rPr lang="zh-CN" altLang="en-US" sz="1200"/>
              <a:t>KCK（keyconfirmation key）:KCK=L(PTK,0,128)即PTK的前128位。密钥确认密钥用来计算密钥生成消息的完整性检验值。</a:t>
            </a:r>
          </a:p>
          <a:p>
            <a:pPr algn="l"/>
            <a:r>
              <a:rPr lang="zh-CN" altLang="en-US" sz="1200"/>
              <a:t>KEK（keyencryption key）:KEK=L(PTK,128,128)即PTK的128位-256位。密钥加密密钥，用来加密密钥生成消息</a:t>
            </a:r>
          </a:p>
          <a:p>
            <a:pPr algn="l"/>
            <a:r>
              <a:rPr lang="zh-CN" altLang="en-US" sz="1200"/>
              <a:t>TK：L(PTK,256，128)或L(PTK,256，256)，用于后续数据传输加密，</a:t>
            </a:r>
            <a:r>
              <a:rPr lang="en-US" altLang="zh-CN" sz="1200"/>
              <a:t>TK </a:t>
            </a:r>
            <a:r>
              <a:rPr lang="zh-CN" altLang="en-US" sz="1200"/>
              <a:t>可以填入</a:t>
            </a:r>
            <a:r>
              <a:rPr lang="en-US" altLang="zh-CN" sz="1200"/>
              <a:t>wirshark </a:t>
            </a:r>
            <a:r>
              <a:rPr lang="zh-CN" altLang="en-US" sz="1200"/>
              <a:t>配置进行解密空包</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dhcp</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18</a:t>
            </a:fld>
            <a:endParaRPr lang="en-US" altLang="zh-CN"/>
          </a:p>
        </p:txBody>
      </p:sp>
      <p:pic>
        <p:nvPicPr>
          <p:cNvPr id="100" name="图片 99"/>
          <p:cNvPicPr/>
          <p:nvPr/>
        </p:nvPicPr>
        <p:blipFill>
          <a:blip r:embed="rId2"/>
          <a:stretch>
            <a:fillRect/>
          </a:stretch>
        </p:blipFill>
        <p:spPr>
          <a:xfrm>
            <a:off x="990600" y="1676400"/>
            <a:ext cx="6973570" cy="3671570"/>
          </a:xfrm>
          <a:prstGeom prst="rect">
            <a:avLst/>
          </a:prstGeom>
          <a:noFill/>
          <a:ln w="9525">
            <a:noFill/>
          </a:ln>
        </p:spPr>
      </p:pic>
      <p:sp>
        <p:nvSpPr>
          <p:cNvPr id="4" name="文本框 3"/>
          <p:cNvSpPr txBox="1"/>
          <p:nvPr/>
        </p:nvSpPr>
        <p:spPr>
          <a:xfrm>
            <a:off x="762000" y="1066800"/>
            <a:ext cx="5326380" cy="368300"/>
          </a:xfrm>
          <a:prstGeom prst="rect">
            <a:avLst/>
          </a:prstGeom>
          <a:noFill/>
        </p:spPr>
        <p:txBody>
          <a:bodyPr wrap="none" rtlCol="0">
            <a:spAutoFit/>
          </a:bodyPr>
          <a:lstStyle/>
          <a:p>
            <a:pPr algn="l"/>
            <a:r>
              <a:rPr lang="zh-CN" altLang="en-US"/>
              <a:t>DHCP是动态主机配置协议，是基于UDP的应用层协议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dhcp</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19</a:t>
            </a:fld>
            <a:endParaRPr lang="en-US" altLang="zh-CN"/>
          </a:p>
        </p:txBody>
      </p:sp>
      <p:sp>
        <p:nvSpPr>
          <p:cNvPr id="13" name="文本框 12"/>
          <p:cNvSpPr txBox="1"/>
          <p:nvPr/>
        </p:nvSpPr>
        <p:spPr>
          <a:xfrm>
            <a:off x="381000" y="1143000"/>
            <a:ext cx="8525510" cy="4799965"/>
          </a:xfrm>
          <a:prstGeom prst="rect">
            <a:avLst/>
          </a:prstGeom>
          <a:noFill/>
        </p:spPr>
        <p:txBody>
          <a:bodyPr wrap="square" rtlCol="0">
            <a:spAutoFit/>
          </a:bodyPr>
          <a:lstStyle/>
          <a:p>
            <a:r>
              <a:rPr lang="zh-CN" altLang="en-US" sz="1800"/>
              <a:t>DHCP DISCOVER ：客户端开始DHCP过程发送的包</a:t>
            </a:r>
          </a:p>
          <a:p>
            <a:endParaRPr lang="zh-CN" altLang="en-US" sz="1800"/>
          </a:p>
          <a:p>
            <a:r>
              <a:rPr lang="zh-CN" altLang="en-US" sz="1800"/>
              <a:t>DHCP OFFER ：服务器接收到DHCP DISCOVER之后做出的响应，它包括了给予客户端</a:t>
            </a:r>
          </a:p>
          <a:p>
            <a:r>
              <a:rPr lang="zh-CN" altLang="en-US" sz="1800"/>
              <a:t>的IP（yiaddr）、客户端的MAC地址、租约过期时间等</a:t>
            </a:r>
          </a:p>
          <a:p>
            <a:endParaRPr lang="zh-CN" altLang="en-US" sz="1800"/>
          </a:p>
          <a:p>
            <a:r>
              <a:rPr lang="zh-CN" altLang="en-US" sz="1800"/>
              <a:t>DHCP REQUEST ：客户端对于服务器发出的DHCP OFFER所做出的响应，在收到</a:t>
            </a:r>
            <a:r>
              <a:rPr lang="en-US" altLang="zh-CN" sz="1800"/>
              <a:t>dhcp offer </a:t>
            </a:r>
            <a:r>
              <a:rPr lang="zh-CN" altLang="en-US" sz="1800"/>
              <a:t>或者在租期的</a:t>
            </a:r>
            <a:r>
              <a:rPr lang="en-US" altLang="zh-CN" sz="1800"/>
              <a:t>50%</a:t>
            </a:r>
            <a:r>
              <a:rPr lang="zh-CN" altLang="en-US" sz="1800"/>
              <a:t>、</a:t>
            </a:r>
            <a:r>
              <a:rPr lang="en-US" altLang="zh-CN" sz="1800"/>
              <a:t>87.5%</a:t>
            </a:r>
            <a:r>
              <a:rPr lang="zh-CN" altLang="en-US" sz="1800"/>
              <a:t>的时候会发送。</a:t>
            </a:r>
          </a:p>
          <a:p>
            <a:endParaRPr lang="zh-CN" altLang="en-US" sz="1800"/>
          </a:p>
          <a:p>
            <a:r>
              <a:rPr lang="zh-CN" altLang="en-US" sz="1800"/>
              <a:t>DHCP ACK ：服务器在接收到客户端发来的DHCP REQUEST之后发出的成功确认的报文。在建立连接的时候，客户端在接收到这个报文之后才会确认分配给它的IP和其他信息可以被允许使用。</a:t>
            </a:r>
          </a:p>
          <a:p>
            <a:endParaRPr lang="zh-CN" altLang="en-US" sz="1800"/>
          </a:p>
          <a:p>
            <a:r>
              <a:rPr lang="zh-CN" altLang="en-US" sz="1800"/>
              <a:t>DHCP NAK ：DHCP ACK的相反的报文，表示服务器拒绝了客户端的请求。</a:t>
            </a:r>
          </a:p>
          <a:p>
            <a:endParaRPr lang="zh-CN" altLang="en-US" sz="1800"/>
          </a:p>
          <a:p>
            <a:r>
              <a:rPr lang="zh-CN" altLang="en-US" sz="1800"/>
              <a:t>DHCP RELEASE：一般出现在客户端关机、下线等状况。这个报文将会使DHCP服务器释放发出此报文的客户端的IP地址</a:t>
            </a:r>
          </a:p>
          <a:p>
            <a:endParaRPr lang="zh-CN"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fast connect</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20</a:t>
            </a:fld>
            <a:endParaRPr lang="en-US" altLang="zh-CN"/>
          </a:p>
        </p:txBody>
      </p:sp>
      <p:sp>
        <p:nvSpPr>
          <p:cNvPr id="10" name="文本框 9"/>
          <p:cNvSpPr txBox="1"/>
          <p:nvPr/>
        </p:nvSpPr>
        <p:spPr>
          <a:xfrm>
            <a:off x="457200" y="1447800"/>
            <a:ext cx="8641080" cy="4523105"/>
          </a:xfrm>
          <a:prstGeom prst="rect">
            <a:avLst/>
          </a:prstGeom>
          <a:noFill/>
        </p:spPr>
        <p:txBody>
          <a:bodyPr wrap="none" rtlCol="0">
            <a:spAutoFit/>
          </a:bodyPr>
          <a:lstStyle/>
          <a:p>
            <a:r>
              <a:rPr lang="zh-CN" altLang="en-US"/>
              <a:t>快速连接也就是在正常连接的过程中保留一些信息从而略过某些步骤</a:t>
            </a:r>
          </a:p>
          <a:p>
            <a:endParaRPr lang="zh-CN" altLang="en-US"/>
          </a:p>
          <a:p>
            <a:r>
              <a:rPr lang="zh-CN" altLang="en-US"/>
              <a:t>如：</a:t>
            </a:r>
          </a:p>
          <a:p>
            <a:r>
              <a:rPr lang="en-US" altLang="zh-CN"/>
              <a:t>1</a:t>
            </a:r>
            <a:r>
              <a:rPr lang="zh-CN" altLang="en-US"/>
              <a:t>、</a:t>
            </a:r>
            <a:r>
              <a:rPr lang="en-US" altLang="zh-CN"/>
              <a:t>wifi</a:t>
            </a:r>
            <a:r>
              <a:rPr lang="zh-CN" altLang="en-US"/>
              <a:t>连接阶段</a:t>
            </a:r>
          </a:p>
          <a:p>
            <a:r>
              <a:rPr lang="zh-CN" altLang="en-US"/>
              <a:t>保存</a:t>
            </a:r>
            <a:r>
              <a:rPr lang="en-US" altLang="zh-CN"/>
              <a:t>PSK,BSSID,channel,</a:t>
            </a:r>
            <a:r>
              <a:rPr lang="zh-CN" altLang="en-US"/>
              <a:t>这样可以省略全信道</a:t>
            </a:r>
            <a:r>
              <a:rPr lang="en-US" altLang="zh-CN"/>
              <a:t>scan </a:t>
            </a:r>
            <a:r>
              <a:rPr lang="zh-CN" altLang="en-US"/>
              <a:t>耗费的时间和省下</a:t>
            </a:r>
          </a:p>
          <a:p>
            <a:r>
              <a:rPr lang="zh-CN" altLang="en-US"/>
              <a:t>计算</a:t>
            </a:r>
            <a:r>
              <a:rPr lang="en-US" altLang="zh-CN"/>
              <a:t>PSK </a:t>
            </a:r>
            <a:r>
              <a:rPr lang="zh-CN" altLang="en-US"/>
              <a:t>耗费的时间。另外在没有信道信息的情况下，目前</a:t>
            </a:r>
            <a:r>
              <a:rPr lang="en-US" altLang="zh-CN"/>
              <a:t>SDK </a:t>
            </a:r>
            <a:r>
              <a:rPr lang="zh-CN" altLang="en-US"/>
              <a:t>的</a:t>
            </a:r>
            <a:r>
              <a:rPr lang="en-US" altLang="zh-CN"/>
              <a:t>scan </a:t>
            </a:r>
            <a:r>
              <a:rPr lang="zh-CN" altLang="en-US"/>
              <a:t>策略是从</a:t>
            </a:r>
          </a:p>
          <a:p>
            <a:r>
              <a:rPr lang="en-US" altLang="zh-CN"/>
              <a:t>1</a:t>
            </a:r>
            <a:r>
              <a:rPr lang="zh-CN" altLang="en-US"/>
              <a:t>信道开始依次扫描，一旦扫描到特定的</a:t>
            </a:r>
            <a:r>
              <a:rPr lang="en-US" altLang="zh-CN"/>
              <a:t>ssid </a:t>
            </a:r>
            <a:r>
              <a:rPr lang="zh-CN" altLang="en-US"/>
              <a:t>后就停止扫描，而不是全信道扫描，这</a:t>
            </a:r>
          </a:p>
          <a:p>
            <a:r>
              <a:rPr lang="zh-CN" altLang="en-US"/>
              <a:t>种策略既有优点（节约时间），也有缺点（如果环境中有多个同名</a:t>
            </a:r>
            <a:r>
              <a:rPr lang="en-US" altLang="zh-CN"/>
              <a:t>ssid </a:t>
            </a:r>
            <a:r>
              <a:rPr lang="zh-CN" altLang="en-US"/>
              <a:t>就会导致每</a:t>
            </a:r>
          </a:p>
          <a:p>
            <a:r>
              <a:rPr lang="zh-CN" altLang="en-US"/>
              <a:t>次只会连接低信道的</a:t>
            </a:r>
            <a:r>
              <a:rPr lang="en-US" altLang="zh-CN"/>
              <a:t>AP,</a:t>
            </a:r>
            <a:r>
              <a:rPr lang="zh-CN" altLang="en-US"/>
              <a:t>而不是选择信号强度较强的</a:t>
            </a:r>
            <a:r>
              <a:rPr lang="en-US" altLang="zh-CN"/>
              <a:t>AP</a:t>
            </a:r>
            <a:r>
              <a:rPr lang="zh-CN" altLang="en-US"/>
              <a:t>连接）</a:t>
            </a:r>
          </a:p>
          <a:p>
            <a:endParaRPr lang="zh-CN" altLang="en-US"/>
          </a:p>
          <a:p>
            <a:r>
              <a:rPr lang="zh-CN" altLang="en-US"/>
              <a:t>另外</a:t>
            </a:r>
            <a:r>
              <a:rPr lang="en-US" altLang="zh-CN"/>
              <a:t>SDK_3.0.x </a:t>
            </a:r>
            <a:r>
              <a:rPr lang="zh-CN" altLang="en-US"/>
              <a:t>之后</a:t>
            </a:r>
            <a:r>
              <a:rPr lang="en-US" altLang="zh-CN"/>
              <a:t> </a:t>
            </a:r>
            <a:r>
              <a:rPr lang="zh-CN" altLang="en-US"/>
              <a:t>加了</a:t>
            </a:r>
            <a:r>
              <a:rPr lang="en-US" altLang="zh-CN"/>
              <a:t>SM_FAST_CONNECT,</a:t>
            </a:r>
            <a:r>
              <a:rPr lang="zh-CN" altLang="en-US"/>
              <a:t>还省了</a:t>
            </a:r>
            <a:r>
              <a:rPr lang="en-US" altLang="zh-CN"/>
              <a:t>AUTH </a:t>
            </a:r>
            <a:r>
              <a:rPr lang="zh-CN" altLang="en-US"/>
              <a:t>之前的</a:t>
            </a:r>
            <a:r>
              <a:rPr lang="en-US" altLang="zh-CN"/>
              <a:t>join_scan</a:t>
            </a:r>
            <a:r>
              <a:rPr lang="zh-CN" altLang="en-US"/>
              <a:t>过程，</a:t>
            </a:r>
          </a:p>
          <a:p>
            <a:r>
              <a:rPr lang="zh-CN" altLang="en-US"/>
              <a:t>利用</a:t>
            </a:r>
            <a:r>
              <a:rPr lang="en-US" altLang="zh-CN"/>
              <a:t>supplicant </a:t>
            </a:r>
            <a:r>
              <a:rPr lang="zh-CN" altLang="en-US"/>
              <a:t>保存的</a:t>
            </a:r>
            <a:r>
              <a:rPr lang="en-US" altLang="zh-CN"/>
              <a:t>bss </a:t>
            </a:r>
            <a:r>
              <a:rPr lang="zh-CN" altLang="en-US"/>
              <a:t>信息进行</a:t>
            </a:r>
            <a:r>
              <a:rPr lang="en-US" altLang="zh-CN"/>
              <a:t> auth </a:t>
            </a:r>
            <a:r>
              <a:rPr lang="zh-CN" altLang="en-US"/>
              <a:t>过程。</a:t>
            </a:r>
          </a:p>
          <a:p>
            <a:endParaRPr lang="zh-CN" altLang="en-US"/>
          </a:p>
          <a:p>
            <a:r>
              <a:rPr lang="en-US" altLang="zh-CN"/>
              <a:t>2</a:t>
            </a:r>
            <a:r>
              <a:rPr lang="zh-CN" altLang="en-US"/>
              <a:t>、</a:t>
            </a:r>
            <a:r>
              <a:rPr lang="en-US" altLang="zh-CN"/>
              <a:t>DHCP </a:t>
            </a:r>
            <a:r>
              <a:rPr lang="zh-CN" altLang="en-US"/>
              <a:t>阶段：</a:t>
            </a:r>
          </a:p>
          <a:p>
            <a:r>
              <a:rPr lang="zh-CN" altLang="en-US"/>
              <a:t>保留</a:t>
            </a:r>
            <a:r>
              <a:rPr lang="en-US" altLang="zh-CN"/>
              <a:t>IP </a:t>
            </a:r>
            <a:r>
              <a:rPr lang="zh-CN" altLang="en-US"/>
              <a:t>地址和</a:t>
            </a:r>
            <a:r>
              <a:rPr lang="en-US" altLang="zh-CN"/>
              <a:t> </a:t>
            </a:r>
            <a:r>
              <a:rPr lang="zh-CN" altLang="en-US"/>
              <a:t>路由器</a:t>
            </a:r>
            <a:r>
              <a:rPr lang="en-US" altLang="zh-CN"/>
              <a:t>ip </a:t>
            </a:r>
            <a:r>
              <a:rPr lang="zh-CN" altLang="en-US"/>
              <a:t>地址，可以省略发</a:t>
            </a:r>
            <a:r>
              <a:rPr lang="en-US" altLang="zh-CN"/>
              <a:t>DHCP Discover </a:t>
            </a:r>
            <a:r>
              <a:rPr lang="zh-CN" altLang="en-US"/>
              <a:t>和等待</a:t>
            </a:r>
            <a:r>
              <a:rPr lang="en-US" altLang="zh-CN"/>
              <a:t> </a:t>
            </a:r>
            <a:r>
              <a:rPr lang="zh-CN" altLang="en-US"/>
              <a:t>路由器</a:t>
            </a:r>
          </a:p>
          <a:p>
            <a:r>
              <a:rPr lang="zh-CN" altLang="en-US"/>
              <a:t>回复</a:t>
            </a:r>
            <a:r>
              <a:rPr lang="en-US" altLang="zh-CN"/>
              <a:t>DHCP offer</a:t>
            </a:r>
            <a:r>
              <a:rPr lang="zh-CN" altLang="en-US"/>
              <a:t>的时间，直接发</a:t>
            </a:r>
            <a:r>
              <a:rPr lang="en-US" altLang="zh-CN"/>
              <a:t>DHCP request</a:t>
            </a:r>
            <a:r>
              <a:rPr lang="zh-CN" altLang="en-US"/>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SDK </a:t>
            </a:r>
            <a:r>
              <a:rPr lang="zh-CN" altLang="en-US"/>
              <a:t>代码</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21</a:t>
            </a:fld>
            <a:endParaRPr lang="en-US" altLang="zh-CN"/>
          </a:p>
        </p:txBody>
      </p:sp>
      <p:pic>
        <p:nvPicPr>
          <p:cNvPr id="7" name="ECB019B1-382A-4266-B25C-5B523AA43C14-2" descr="C:/Users/Administrator/AppData/Local/Temp/wpp.hleYCDwpp"/>
          <p:cNvPicPr>
            <a:picLocks noChangeAspect="1"/>
          </p:cNvPicPr>
          <p:nvPr/>
        </p:nvPicPr>
        <p:blipFill>
          <a:blip r:embed="rId2"/>
          <a:stretch>
            <a:fillRect/>
          </a:stretch>
        </p:blipFill>
        <p:spPr>
          <a:xfrm>
            <a:off x="1676400" y="762000"/>
            <a:ext cx="5482590" cy="5415280"/>
          </a:xfrm>
          <a:prstGeom prst="rect">
            <a:avLst/>
          </a:prstGeom>
        </p:spPr>
      </p:pic>
      <p:sp>
        <p:nvSpPr>
          <p:cNvPr id="8" name="文本框 7"/>
          <p:cNvSpPr txBox="1"/>
          <p:nvPr/>
        </p:nvSpPr>
        <p:spPr>
          <a:xfrm>
            <a:off x="3276600" y="6248400"/>
            <a:ext cx="2024380" cy="368300"/>
          </a:xfrm>
          <a:prstGeom prst="rect">
            <a:avLst/>
          </a:prstGeom>
          <a:noFill/>
        </p:spPr>
        <p:txBody>
          <a:bodyPr wrap="none" rtlCol="0">
            <a:spAutoFit/>
          </a:bodyPr>
          <a:lstStyle/>
          <a:p>
            <a:r>
              <a:rPr lang="en-US" altLang="zh-CN" sz="1800" b="1"/>
              <a:t>SDK </a:t>
            </a:r>
            <a:r>
              <a:rPr lang="zh-CN" altLang="en-US" sz="1800" b="1"/>
              <a:t>代码大致框架</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SDK </a:t>
            </a:r>
            <a:r>
              <a:rPr lang="zh-CN" altLang="en-US">
                <a:sym typeface="+mn-ea"/>
              </a:rPr>
              <a:t>代码</a:t>
            </a:r>
            <a:endParaRPr lang="zh-CN" altLang="en-US"/>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22</a:t>
            </a:fld>
            <a:endParaRPr lang="en-US" altLang="zh-CN"/>
          </a:p>
        </p:txBody>
      </p:sp>
      <p:pic>
        <p:nvPicPr>
          <p:cNvPr id="7" name="C9F754DE-2CAD-44b6-B708-469DEB6407EB-3" descr="C:/Users/Administrator/AppData/Local/Temp/wpp.aCwBzHwpp"/>
          <p:cNvPicPr>
            <a:picLocks noChangeAspect="1"/>
          </p:cNvPicPr>
          <p:nvPr/>
        </p:nvPicPr>
        <p:blipFill>
          <a:blip r:embed="rId2"/>
          <a:stretch>
            <a:fillRect/>
          </a:stretch>
        </p:blipFill>
        <p:spPr>
          <a:xfrm>
            <a:off x="228600" y="982980"/>
            <a:ext cx="8793480" cy="454088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SDK </a:t>
            </a:r>
            <a:r>
              <a:rPr lang="zh-CN" altLang="en-US">
                <a:sym typeface="+mn-ea"/>
              </a:rPr>
              <a:t>代码</a:t>
            </a:r>
            <a:r>
              <a:rPr lang="en-US" altLang="zh-CN">
                <a:sym typeface="+mn-ea"/>
              </a:rPr>
              <a:t> </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23</a:t>
            </a:fld>
            <a:endParaRPr lang="en-US" altLang="zh-CN"/>
          </a:p>
        </p:txBody>
      </p:sp>
      <p:pic>
        <p:nvPicPr>
          <p:cNvPr id="3" name="ECB019B1-382A-4266-B25C-5B523AA43C14-5" descr="C:/Users/Administrator/AppData/Local/Temp/wpp.oVLdaHwpp"/>
          <p:cNvPicPr>
            <a:picLocks noChangeAspect="1"/>
          </p:cNvPicPr>
          <p:nvPr/>
        </p:nvPicPr>
        <p:blipFill>
          <a:blip r:embed="rId2"/>
          <a:stretch>
            <a:fillRect/>
          </a:stretch>
        </p:blipFill>
        <p:spPr>
          <a:xfrm>
            <a:off x="685800" y="846455"/>
            <a:ext cx="7443470" cy="5349240"/>
          </a:xfrm>
          <a:prstGeom prst="rect">
            <a:avLst/>
          </a:prstGeom>
        </p:spPr>
      </p:pic>
      <p:sp>
        <p:nvSpPr>
          <p:cNvPr id="8" name="文本框 7"/>
          <p:cNvSpPr txBox="1"/>
          <p:nvPr/>
        </p:nvSpPr>
        <p:spPr>
          <a:xfrm>
            <a:off x="3432810" y="6248400"/>
            <a:ext cx="2125980" cy="368300"/>
          </a:xfrm>
          <a:prstGeom prst="rect">
            <a:avLst/>
          </a:prstGeom>
          <a:noFill/>
        </p:spPr>
        <p:txBody>
          <a:bodyPr wrap="none" rtlCol="0">
            <a:spAutoFit/>
          </a:bodyPr>
          <a:lstStyle/>
          <a:p>
            <a:r>
              <a:rPr lang="en-US" altLang="zh-CN"/>
              <a:t>WiFi </a:t>
            </a:r>
            <a:r>
              <a:rPr lang="zh-CN" altLang="en-US"/>
              <a:t>连接代码流程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SDK </a:t>
            </a:r>
            <a:r>
              <a:rPr lang="zh-CN" altLang="en-US">
                <a:sym typeface="+mn-ea"/>
              </a:rPr>
              <a:t>代码</a:t>
            </a:r>
            <a:endParaRPr lang="zh-CN" altLang="en-US"/>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24</a:t>
            </a:fld>
            <a:endParaRPr lang="en-US" altLang="zh-CN"/>
          </a:p>
        </p:txBody>
      </p:sp>
      <p:pic>
        <p:nvPicPr>
          <p:cNvPr id="7" name="ECB019B1-382A-4266-B25C-5B523AA43C14-7" descr="C:/Users/Administrator/AppData/Local/Temp/wpp.mTWnQDwpp"/>
          <p:cNvPicPr>
            <a:picLocks noChangeAspect="1"/>
          </p:cNvPicPr>
          <p:nvPr>
            <p:custDataLst>
              <p:tags r:id="rId1"/>
            </p:custDataLst>
          </p:nvPr>
        </p:nvPicPr>
        <p:blipFill>
          <a:blip r:embed="rId4"/>
          <a:stretch>
            <a:fillRect/>
          </a:stretch>
        </p:blipFill>
        <p:spPr>
          <a:xfrm>
            <a:off x="1440815" y="990600"/>
            <a:ext cx="1456690" cy="5217160"/>
          </a:xfrm>
          <a:prstGeom prst="rect">
            <a:avLst/>
          </a:prstGeom>
        </p:spPr>
      </p:pic>
      <p:pic>
        <p:nvPicPr>
          <p:cNvPr id="8" name="ECB019B1-382A-4266-B25C-5B523AA43C14-8" descr="C:/Users/Administrator/AppData/Local/Temp/wpp.XpUZozwpp"/>
          <p:cNvPicPr>
            <a:picLocks noChangeAspect="1"/>
          </p:cNvPicPr>
          <p:nvPr>
            <p:custDataLst>
              <p:tags r:id="rId2"/>
            </p:custDataLst>
          </p:nvPr>
        </p:nvPicPr>
        <p:blipFill>
          <a:blip r:embed="rId5"/>
          <a:stretch>
            <a:fillRect/>
          </a:stretch>
        </p:blipFill>
        <p:spPr>
          <a:xfrm>
            <a:off x="4419600" y="762000"/>
            <a:ext cx="3757930" cy="5702935"/>
          </a:xfrm>
          <a:prstGeom prst="rect">
            <a:avLst/>
          </a:prstGeom>
        </p:spPr>
      </p:pic>
      <p:sp>
        <p:nvSpPr>
          <p:cNvPr id="9" name="文本框 8"/>
          <p:cNvSpPr txBox="1"/>
          <p:nvPr/>
        </p:nvSpPr>
        <p:spPr>
          <a:xfrm>
            <a:off x="1677670" y="6410960"/>
            <a:ext cx="982980" cy="368300"/>
          </a:xfrm>
          <a:prstGeom prst="rect">
            <a:avLst/>
          </a:prstGeom>
          <a:noFill/>
        </p:spPr>
        <p:txBody>
          <a:bodyPr wrap="none" rtlCol="0">
            <a:spAutoFit/>
          </a:bodyPr>
          <a:lstStyle/>
          <a:p>
            <a:r>
              <a:rPr lang="en-US" altLang="zh-CN"/>
              <a:t>TCP OUT</a:t>
            </a:r>
          </a:p>
        </p:txBody>
      </p:sp>
      <p:sp>
        <p:nvSpPr>
          <p:cNvPr id="10" name="文本框 9"/>
          <p:cNvSpPr txBox="1"/>
          <p:nvPr/>
        </p:nvSpPr>
        <p:spPr>
          <a:xfrm>
            <a:off x="5257800" y="6504940"/>
            <a:ext cx="1049020" cy="368300"/>
          </a:xfrm>
          <a:prstGeom prst="rect">
            <a:avLst/>
          </a:prstGeom>
          <a:noFill/>
        </p:spPr>
        <p:txBody>
          <a:bodyPr wrap="square" rtlCol="0">
            <a:spAutoFit/>
          </a:bodyPr>
          <a:lstStyle/>
          <a:p>
            <a:r>
              <a:rPr lang="en-US" altLang="zh-CN"/>
              <a:t>TCP IN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WiFi </a:t>
            </a:r>
            <a:r>
              <a:rPr lang="zh-CN" altLang="en-US"/>
              <a:t>抓包</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25</a:t>
            </a:fld>
            <a:endParaRPr lang="en-US" altLang="zh-CN"/>
          </a:p>
        </p:txBody>
      </p:sp>
      <p:sp>
        <p:nvSpPr>
          <p:cNvPr id="7" name="文本框 6"/>
          <p:cNvSpPr txBox="1"/>
          <p:nvPr/>
        </p:nvSpPr>
        <p:spPr>
          <a:xfrm>
            <a:off x="533400" y="914400"/>
            <a:ext cx="1440180" cy="368300"/>
          </a:xfrm>
          <a:prstGeom prst="rect">
            <a:avLst/>
          </a:prstGeom>
          <a:noFill/>
        </p:spPr>
        <p:txBody>
          <a:bodyPr wrap="none" rtlCol="0">
            <a:spAutoFit/>
          </a:bodyPr>
          <a:lstStyle/>
          <a:p>
            <a:r>
              <a:rPr lang="en-US" altLang="zh-CN"/>
              <a:t>1</a:t>
            </a:r>
            <a:r>
              <a:rPr lang="zh-CN" altLang="en-US"/>
              <a:t>、抓空中包</a:t>
            </a:r>
          </a:p>
        </p:txBody>
      </p:sp>
      <p:sp>
        <p:nvSpPr>
          <p:cNvPr id="9" name="文本框 8"/>
          <p:cNvSpPr txBox="1"/>
          <p:nvPr/>
        </p:nvSpPr>
        <p:spPr>
          <a:xfrm>
            <a:off x="762000" y="1524000"/>
            <a:ext cx="5097780" cy="922020"/>
          </a:xfrm>
          <a:prstGeom prst="rect">
            <a:avLst/>
          </a:prstGeom>
          <a:noFill/>
        </p:spPr>
        <p:txBody>
          <a:bodyPr wrap="none" rtlCol="0">
            <a:spAutoFit/>
          </a:bodyPr>
          <a:lstStyle/>
          <a:p>
            <a:pPr algn="l"/>
            <a:r>
              <a:rPr lang="en-US" altLang="zh-CN"/>
              <a:t>Windows </a:t>
            </a:r>
            <a:r>
              <a:rPr lang="zh-CN" altLang="en-US"/>
              <a:t>安装</a:t>
            </a:r>
            <a:r>
              <a:rPr lang="en-US" altLang="zh-CN"/>
              <a:t>omnipeek,</a:t>
            </a:r>
            <a:r>
              <a:rPr lang="zh-CN" altLang="en-US"/>
              <a:t>使用</a:t>
            </a:r>
            <a:r>
              <a:rPr lang="en-US" altLang="zh-CN"/>
              <a:t>usb </a:t>
            </a:r>
            <a:r>
              <a:rPr lang="zh-CN" altLang="en-US"/>
              <a:t>无线网卡抓空包</a:t>
            </a:r>
          </a:p>
          <a:p>
            <a:pPr algn="l"/>
            <a:endParaRPr lang="zh-CN" altLang="en-US"/>
          </a:p>
          <a:p>
            <a:pPr algn="l"/>
            <a:r>
              <a:rPr lang="en-US" altLang="zh-CN"/>
              <a:t>MAC </a:t>
            </a:r>
            <a:r>
              <a:rPr lang="zh-CN" altLang="en-US"/>
              <a:t>电脑直接用</a:t>
            </a:r>
            <a:r>
              <a:rPr lang="en-US" altLang="zh-CN"/>
              <a:t>wireshark </a:t>
            </a:r>
            <a:r>
              <a:rPr lang="zh-CN" altLang="en-US"/>
              <a:t>抓空中包</a:t>
            </a:r>
          </a:p>
        </p:txBody>
      </p:sp>
      <p:sp>
        <p:nvSpPr>
          <p:cNvPr id="11" name="文本框 10"/>
          <p:cNvSpPr txBox="1"/>
          <p:nvPr/>
        </p:nvSpPr>
        <p:spPr>
          <a:xfrm>
            <a:off x="467995" y="3053080"/>
            <a:ext cx="3040380" cy="368300"/>
          </a:xfrm>
          <a:prstGeom prst="rect">
            <a:avLst/>
          </a:prstGeom>
          <a:noFill/>
        </p:spPr>
        <p:txBody>
          <a:bodyPr wrap="none" rtlCol="0">
            <a:spAutoFit/>
          </a:bodyPr>
          <a:lstStyle/>
          <a:p>
            <a:r>
              <a:rPr lang="en-US" altLang="zh-CN"/>
              <a:t>2</a:t>
            </a:r>
            <a:r>
              <a:rPr lang="zh-CN" altLang="en-US"/>
              <a:t>、抓路由器包（</a:t>
            </a:r>
            <a:r>
              <a:rPr lang="en-US" altLang="zh-CN"/>
              <a:t>wlan</a:t>
            </a:r>
            <a:r>
              <a:rPr lang="zh-CN" altLang="en-US"/>
              <a:t>口包）</a:t>
            </a:r>
          </a:p>
        </p:txBody>
      </p:sp>
      <p:sp>
        <p:nvSpPr>
          <p:cNvPr id="17" name="文本框 16"/>
          <p:cNvSpPr txBox="1"/>
          <p:nvPr/>
        </p:nvSpPr>
        <p:spPr>
          <a:xfrm>
            <a:off x="3429000" y="5943600"/>
            <a:ext cx="1783080" cy="368300"/>
          </a:xfrm>
          <a:prstGeom prst="rect">
            <a:avLst/>
          </a:prstGeom>
          <a:noFill/>
        </p:spPr>
        <p:txBody>
          <a:bodyPr wrap="none" rtlCol="0">
            <a:spAutoFit/>
          </a:bodyPr>
          <a:lstStyle/>
          <a:p>
            <a:r>
              <a:rPr lang="zh-CN" altLang="en-US"/>
              <a:t>借助集线器抓包</a:t>
            </a:r>
          </a:p>
        </p:txBody>
      </p:sp>
      <p:pic>
        <p:nvPicPr>
          <p:cNvPr id="19" name="图片 18"/>
          <p:cNvPicPr>
            <a:picLocks noChangeAspect="1"/>
          </p:cNvPicPr>
          <p:nvPr/>
        </p:nvPicPr>
        <p:blipFill>
          <a:blip r:embed="rId2"/>
          <a:stretch>
            <a:fillRect/>
          </a:stretch>
        </p:blipFill>
        <p:spPr>
          <a:xfrm>
            <a:off x="2286000" y="3505200"/>
            <a:ext cx="3877945" cy="226187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WiFi </a:t>
            </a:r>
            <a:r>
              <a:rPr lang="zh-CN" altLang="en-US"/>
              <a:t>抓包</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26</a:t>
            </a:fld>
            <a:endParaRPr lang="en-US" altLang="zh-CN"/>
          </a:p>
        </p:txBody>
      </p:sp>
      <p:sp>
        <p:nvSpPr>
          <p:cNvPr id="11" name="文本框 10"/>
          <p:cNvSpPr txBox="1"/>
          <p:nvPr/>
        </p:nvSpPr>
        <p:spPr>
          <a:xfrm>
            <a:off x="304800" y="990600"/>
            <a:ext cx="1713230" cy="460375"/>
          </a:xfrm>
          <a:prstGeom prst="rect">
            <a:avLst/>
          </a:prstGeom>
          <a:noFill/>
        </p:spPr>
        <p:txBody>
          <a:bodyPr wrap="none" rtlCol="0">
            <a:spAutoFit/>
          </a:bodyPr>
          <a:lstStyle/>
          <a:p>
            <a:r>
              <a:rPr lang="zh-CN" sz="2400" b="1"/>
              <a:t>交换机抓包</a:t>
            </a:r>
            <a:endParaRPr lang="zh-CN" altLang="en-US" sz="2400" b="1"/>
          </a:p>
        </p:txBody>
      </p:sp>
      <p:sp>
        <p:nvSpPr>
          <p:cNvPr id="17" name="文本框 16"/>
          <p:cNvSpPr txBox="1"/>
          <p:nvPr/>
        </p:nvSpPr>
        <p:spPr>
          <a:xfrm>
            <a:off x="3276600" y="3657600"/>
            <a:ext cx="1794510" cy="368300"/>
          </a:xfrm>
          <a:prstGeom prst="rect">
            <a:avLst/>
          </a:prstGeom>
          <a:noFill/>
        </p:spPr>
        <p:txBody>
          <a:bodyPr wrap="square" rtlCol="0">
            <a:spAutoFit/>
          </a:bodyPr>
          <a:lstStyle/>
          <a:p>
            <a:r>
              <a:rPr lang="zh-CN" altLang="en-US"/>
              <a:t>借助交换机</a:t>
            </a:r>
          </a:p>
        </p:txBody>
      </p:sp>
      <p:pic>
        <p:nvPicPr>
          <p:cNvPr id="10" name="图片 9"/>
          <p:cNvPicPr>
            <a:picLocks noChangeAspect="1"/>
          </p:cNvPicPr>
          <p:nvPr/>
        </p:nvPicPr>
        <p:blipFill>
          <a:blip r:embed="rId2"/>
          <a:stretch>
            <a:fillRect/>
          </a:stretch>
        </p:blipFill>
        <p:spPr>
          <a:xfrm>
            <a:off x="1371600" y="2057400"/>
            <a:ext cx="5692140" cy="1463040"/>
          </a:xfrm>
          <a:prstGeom prst="rect">
            <a:avLst/>
          </a:prstGeom>
        </p:spPr>
      </p:pic>
      <p:sp>
        <p:nvSpPr>
          <p:cNvPr id="12" name="文本框 11"/>
          <p:cNvSpPr txBox="1"/>
          <p:nvPr/>
        </p:nvSpPr>
        <p:spPr>
          <a:xfrm>
            <a:off x="1143000" y="4267200"/>
            <a:ext cx="5783580" cy="1476375"/>
          </a:xfrm>
          <a:prstGeom prst="rect">
            <a:avLst/>
          </a:prstGeom>
          <a:noFill/>
        </p:spPr>
        <p:txBody>
          <a:bodyPr wrap="none" rtlCol="0">
            <a:spAutoFit/>
          </a:bodyPr>
          <a:lstStyle/>
          <a:p>
            <a:pPr algn="l"/>
            <a:r>
              <a:rPr lang="zh-CN" altLang="en-US"/>
              <a:t>三根网线对应三个端口。</a:t>
            </a:r>
          </a:p>
          <a:p>
            <a:pPr algn="l"/>
            <a:r>
              <a:rPr lang="zh-CN" altLang="en-US"/>
              <a:t>端口4：被镜像端口（被监控的端口），连接到路由器。</a:t>
            </a:r>
          </a:p>
          <a:p>
            <a:pPr algn="l"/>
            <a:r>
              <a:rPr lang="zh-CN" altLang="en-US"/>
              <a:t>端口6：接到外网的网线。</a:t>
            </a:r>
          </a:p>
          <a:p>
            <a:pPr algn="l"/>
            <a:r>
              <a:rPr lang="zh-CN" altLang="en-US"/>
              <a:t>端口8：镜像端口（监控端口），连接到PC.</a:t>
            </a:r>
          </a:p>
          <a:p>
            <a:pPr algn="l"/>
            <a:endParaRPr lang="zh-CN"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WiFi </a:t>
            </a:r>
            <a:r>
              <a:rPr lang="zh-CN" altLang="en-US"/>
              <a:t>抓包</a:t>
            </a:r>
          </a:p>
        </p:txBody>
      </p:sp>
      <p:sp>
        <p:nvSpPr>
          <p:cNvPr id="4" name="页脚占位符 3"/>
          <p:cNvSpPr>
            <a:spLocks noGrp="1"/>
          </p:cNvSpPr>
          <p:nvPr>
            <p:ph type="ftr" sz="quarter" idx="11"/>
          </p:nvPr>
        </p:nvSpPr>
        <p:spPr/>
        <p:txBody>
          <a:bodyPr/>
          <a:lstStyle/>
          <a:p>
            <a:pPr>
              <a:defRPr/>
            </a:pPr>
            <a:r>
              <a:rPr lang="en-US"/>
              <a:t>Beken Confidential</a:t>
            </a:r>
          </a:p>
        </p:txBody>
      </p:sp>
      <p:sp>
        <p:nvSpPr>
          <p:cNvPr id="5" name="灯片编号占位符 4"/>
          <p:cNvSpPr>
            <a:spLocks noGrp="1"/>
          </p:cNvSpPr>
          <p:nvPr>
            <p:ph type="sldNum" sz="quarter" idx="12"/>
          </p:nvPr>
        </p:nvSpPr>
        <p:spPr/>
        <p:txBody>
          <a:bodyPr/>
          <a:lstStyle/>
          <a:p>
            <a:pPr>
              <a:defRPr/>
            </a:pPr>
            <a:fld id="{FB3EFFAA-233D-4AF0-AB8E-B3BB94390415}" type="slidenum">
              <a:rPr lang="en-US" altLang="zh-CN"/>
              <a:t>27</a:t>
            </a:fld>
            <a:endParaRPr lang="en-US" altLang="zh-CN"/>
          </a:p>
        </p:txBody>
      </p:sp>
      <p:sp>
        <p:nvSpPr>
          <p:cNvPr id="11" name="文本框 10"/>
          <p:cNvSpPr txBox="1"/>
          <p:nvPr/>
        </p:nvSpPr>
        <p:spPr>
          <a:xfrm>
            <a:off x="304800" y="838200"/>
            <a:ext cx="2926080" cy="460375"/>
          </a:xfrm>
          <a:prstGeom prst="rect">
            <a:avLst/>
          </a:prstGeom>
          <a:noFill/>
        </p:spPr>
        <p:txBody>
          <a:bodyPr wrap="none" rtlCol="0">
            <a:spAutoFit/>
          </a:bodyPr>
          <a:lstStyle/>
          <a:p>
            <a:pPr algn="l"/>
            <a:r>
              <a:rPr lang="zh-CN" altLang="en-US" sz="2400">
                <a:sym typeface="+mn-ea"/>
              </a:rPr>
              <a:t>在交换机后台设置：</a:t>
            </a:r>
            <a:endParaRPr lang="zh-CN" altLang="en-US" sz="2400" b="1"/>
          </a:p>
        </p:txBody>
      </p:sp>
      <p:pic>
        <p:nvPicPr>
          <p:cNvPr id="6" name="图片 5"/>
          <p:cNvPicPr>
            <a:picLocks noChangeAspect="1"/>
          </p:cNvPicPr>
          <p:nvPr/>
        </p:nvPicPr>
        <p:blipFill>
          <a:blip r:embed="rId2"/>
          <a:stretch>
            <a:fillRect/>
          </a:stretch>
        </p:blipFill>
        <p:spPr>
          <a:xfrm>
            <a:off x="762000" y="1371600"/>
            <a:ext cx="7676515" cy="1589405"/>
          </a:xfrm>
          <a:prstGeom prst="rect">
            <a:avLst/>
          </a:prstGeom>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pPr>
              <a:defRPr/>
            </a:pPr>
            <a:r>
              <a:rPr lang="en-US" smtClean="0"/>
              <a:t>Beken Confidential</a:t>
            </a:r>
            <a:endParaRPr lang="en-US"/>
          </a:p>
        </p:txBody>
      </p:sp>
      <p:sp>
        <p:nvSpPr>
          <p:cNvPr id="20484" name="灯片编号占位符 3"/>
          <p:cNvSpPr>
            <a:spLocks noGrp="1"/>
          </p:cNvSpPr>
          <p:nvPr>
            <p:ph type="sldNum" sz="quarter" idx="12"/>
          </p:nvPr>
        </p:nvSpPr>
        <p:spPr bwMode="auto">
          <a:noFill/>
          <a:ln>
            <a:miter lim="800000"/>
          </a:ln>
        </p:spPr>
        <p:txBody>
          <a:bodyPr/>
          <a:lstStyle/>
          <a:p>
            <a:fld id="{5AE751DC-65AC-4D77-A4B3-81C4F57112BC}" type="slidenum">
              <a:rPr lang="en-US" altLang="zh-CN" smtClean="0">
                <a:latin typeface="Gill Sans MT" panose="020B0502020104020203" pitchFamily="34" charset="0"/>
              </a:rPr>
              <a:t>28</a:t>
            </a:fld>
            <a:endParaRPr lang="en-US" altLang="zh-CN" smtClean="0">
              <a:latin typeface="Gill Sans MT" panose="020B0502020104020203" pitchFamily="34" charset="0"/>
            </a:endParaRPr>
          </a:p>
        </p:txBody>
      </p:sp>
      <p:sp>
        <p:nvSpPr>
          <p:cNvPr id="6" name="标题 1"/>
          <p:cNvSpPr txBox="1"/>
          <p:nvPr/>
        </p:nvSpPr>
        <p:spPr bwMode="auto">
          <a:xfrm>
            <a:off x="2743200" y="3733800"/>
            <a:ext cx="3581400" cy="990600"/>
          </a:xfrm>
          <a:prstGeom prst="rect">
            <a:avLst/>
          </a:prstGeom>
          <a:noFill/>
          <a:ln w="9525">
            <a:noFill/>
            <a:miter lim="800000"/>
          </a:ln>
        </p:spPr>
        <p:txBody>
          <a:bodyPr/>
          <a:lstStyle/>
          <a:p>
            <a:pPr algn="r" eaLnBrk="0" hangingPunct="0">
              <a:defRPr/>
            </a:pPr>
            <a:r>
              <a:rPr lang="zh-CN" altLang="en-US" sz="6600" b="1" i="1" dirty="0">
                <a:latin typeface="Arial" panose="020B0604020202020204" pitchFamily="34" charset="0"/>
                <a:ea typeface="+mj-ea"/>
                <a:cs typeface="Arial" panose="020B0604020202020204" pitchFamily="34" charset="0"/>
              </a:rPr>
              <a:t>谢谢！</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WY3YjdiMzI1OWM4ZWU5ZTkyZDg0MThlZjdhZjUwOWQ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3048,&quot;width&quot;:11124}"/>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424,&quot;width&quot;:11722}"/>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424,&quot;width&quot;:1172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MTg1OTEzMjg2OTYyIiwKCSJHcm91cElkIiA6ICI0MDI4MDQwNDYiLAoJIkltYWdlIiA6ICJpVkJPUncwS0dnb0FBQUFOU1VoRVVnQUFCSjRBQUFRaENBWUFBQUJzajBWS0FBQUFDWEJJV1hNQUFBc1RBQUFMRXdFQW1wd1lBQUFnQUVsRVFWUjRuT3pkZVZqVTVmNy84ZGV3eVNvQzRrNml1QUxpcm1ocUxtbTV0dGh1V2FjODJhcG1wOU5xcFdXcG5lcW8yUjVIS3lzcmM2M2N5SDNCM0Jkd1JSRkZBUUZCQklHQitmM2hsL21KYkRQQU9LTFB4M1Y1eVh3KzkvSWVTSU9YOTMxL0RDYVR5U1FBQUFBQUFBQ2dBZ3dHZzZHMGV3NVhzeEFBQUFBQUFBRGNPQWllQUFBQUFBQUFZQk1FVHdBQUFBQUFBTEFKZ2ljQUFBQUFBQURZQk1FVEFBQUFBQUFBYklMZ0NRQUFBQUFBQURaQjhBUUFBQUFBQUFDYklIZ0NBQUFBQUFDQVRSQThBUUFBQUFBQXdDWUluZ0FBQUFBQUFHQVRCRThBQUFBQUFBQ3dDWUluQUFBQUFBQUEyQVRCRXdBQUFBQUFBR3lDNEFrQUFBQUFBQUEyUWZBRUFBQUFBQUFBbXlCNEFnQUFBQUFBZ0UwUVBBRUFBQUFBQU1BbUNKNEFBQUFBQUFCZ0V3UlBBQUFBQUFBQXNBbUNKd0FBQUFBQUFOZ0V3Uk1BQUFBQUFBQnNndUFKQUFBQUFBQUFOa0h3QkFBQUFBQUFBSnNnZUFJQUFBQUFBSUJORUR3QkFBQUFBQURBSmdpZUFBQUFBQUFBWUJNRVR3QUFBQUFBQUxBSmdpY0FBQUFBQUFEWUJNRVRBQUFBQUFBQWJJTGdDUUFBQUFBQUFEWkI4QVFBQUFBQUFBQ2JJSGdDQUFBQUFBQ0FUUkE4QVFBQUFBQUF3Q1lJbmdBQUFBQUFBR0FUQkU4QUFBQUFBQUN3Q1lJbkFBQUFBQUFBMkFUQkV3QUFBQUFBQUd5QzRBa0FBQUFBQUFBMlFmQUVBQUFBQUFBQW15QjRBZ0FBQUFBQWdFMFFQQUVBQUFBQUFNQW1DSjRBQUFBQUFBQmdFd1JQQUFBQUFBQUFzQW1DSndBQUFBQUFBTmdFd1JNQUFBQUFBQUJzZ3VBSkFBQUFBQUFBTmtId0JBQUFBQUFBQUpzZ2VBSUFBQUFBQUlCTkVEd0JBQUFBQUFEQUpnaWVBQUFBQUFBQVlCTUVUd0FBQUFBQUFMQUpnaWNBQUFBQUFBRFlCTUVUQUFBQUFBQUFiSUxnQ1FBQUFBQUFBRFpCOEFRQUFBQUFBQUNiY0xKM0FRQUFWSVRSYUZSY1hKeVNrNU9WbloydC9QeDhlNWVFcThEUjBWRnVibTd5OS9kWDQ4YU41ZVRFdHpJQUFBRFhNb1BKWkRMWnV3Z0FBS3lSbXBxcTZPaG8rZm41cVVHREJ2TDA5SlNqbzZPOXk4SlZrSitmcjh6TVRDVWtKQ2dsSlVYQndjSHk5ZlcxZDFuWGpMMTc5K3JBZ1FPNjk5NTdyZTU3NE1BQkhUNThXQU1IRHJSWm9IZmd3QUdscEtTb2UvZnVNaGdNTnBtam9nb0tDclI2OVdxNXVibXBlL2Z1OWk1SHg0OGZsNWVYbC96OC9PeGRDZ0FBNVRLVThUOTIvcGtRQUZDdHBLYW1hdi8rL1FvTkRaV1BqNCs5eThGVjV1am9LRzl2YjNsN2V5c3RMVTM3OXUxVFNFZ0k0ZFAvaVlxSzByeDU4eW9VUEMxWnNrUlJVVkVhTkdpUStackpaTktGQ3hlVWtaRmgvblh1M0RtbHBhVXBMUzFOS1NrcHV1T09PeFFhR21yUkhMTm56OWJ1M2J2MTU1OS9XbDJmcmVYbDVTa2lJa0lGQlFYcTFLbVRYRnhjTE83NzZhZWZhc0dDQlZiUHVYTGx5aEt2bTB3bXZmLysrN3B3NFlMbXpKa2pSMGRITFYyNnROenhRa05ERlJnWVdHNjduSndjSlNVbFdWU2puNStmM04zZExXb0xBRUJKQ0o0QUFOV0cwV2hVZEhRMG9STWtTVDQrUGdvTkRkWCsvZnNWSGg1K3cyeTc2OSsvZjZYYTFLeFpVL1Buenk5eUxTY25SeHMyYkZDL2Z2MjBiOTgrVFpzMlRSY3VYRkJXVnBaS1d4eHZNQmprNWVXbERoMDZXQnc4WldSa3FHYk5taGExdFlYSXlNZ3k3NGVHaHVxdnYvN1NaNTk5VnVaNzh2RHdVSGg0ZUxIcnI3enlpa1YxckZxMVN0dTJiU3YxL29ZTkd4UWJHNnRYWG5uRnZKcHordlRwNVk3NzNIUFBtWU9uVjE5OXRkUTVQdjc0WTczd3dnc1cxZnJLSzYrb1g3OStGclVGQUtBa044WjNhQUNBNjBKY1hKejgvUHdJbldEbTQrTWpQejgveGNYRktTZ295TjdsWEJVUkVSR2wzdnYxMTEvMXh4OS9sTm1tcEcycHExYXRVbFpXbG02OTlWYlZyVnRYYmRxMGtadWJtenc4UE9UdTdpNTNkM2Y5OWRkZmlvbUowYXhacytUajR5TWZIeCtydzc2elo4K3FUcDA2VnZXcFNsT21UTEdvM2RLbFM4dGNZUlFZR0ZoaThHUnBRSFB3NE1GU1F5R2owYWl2di81YWJkcTBLVEplYWF1ampFYWpYbnZ0TmNYRnhSWFpJbmovL2ZmcjFsdHZWWFoydHFaUG42N0Jnd2VyVFpzMlJmck9tREZEclZ1M2xpVDk5dHR2K3V5eno4enpwS2FtNnY3Nzc3Zm8vUUFBVUJhQ0p3QkF0Wkdjbkd6K0lRa28xS0JCQXgwNGNPQ0dDWjRDQWdKS3ZlZmw1VlZ1bXl1WlRDYk5uejlmZ1lHQkNnNE9sbFR5eXAwREJ3NG9KaVpHTFZxMHNMTGlTN0t5c3BTV2xtYWV3eDZXTFZ0VzVQWG16WnVWbFpWVmFtQ1VtSmlvWGJ0MmFjQ0FBVVhPcExMbCtWUy8vUEtMa3BLU05ISGlSRW5TbmoxN0ZCb2FLZ2VINGcranpzM04xYVJKazNUZ3dBRk5telpOL3Y3KzVudnQycldUSktXbnAydjY5T2tLRGc0MnY4OTkrL2Jackg0QUFLNUU4QVFBcURheXM3UGw2ZWxwN3pKd2pmSDA5RlJXVnBhOXk3aXF5dHR1VjlyOWtyYlpiZDY4V2ZIeDhSbytmSGlWMVZlU1k4ZU9TWktPSERsU3BlT2FUQ2FMZzZETFYzdVpUQ1l0V0xCQTBkSFJhdGl3b1VKQ1FvcTEvK3l6ejdSbHl4YlZyMTlmN2R1M3I3S2FTeE1mSDYvdnZ2dE9EejMwa0FJREE3Vi8vMzc5NjEvLzB0aXhZelY0OE9BaWJjK2VQYXVKRXljcVBqNWVVNlpNVWF0V3JheWVMekV4MGZ4MzZybHo1OHcxU0pjQ0t3QUFxZ0xCRXdDZzJzalB6K2ZwZFNqRzBkRlIrZm41ZHEzaDhPSEQycjE3dHhJU0VwU1hsMWR1KzI3ZHVsWHF5V21sYmFVcmI2dmRsWDkrQ2dvS3pHMXQvWlM1bUpnWVNaZkNqcmk0T0RWdTNMalNZNzcxMWx2YXVYT25KaytlWEd3YldYa01Cb05lZi8xMWpSNDlXcE1uVDlabm4zMG1iMjl2OC8xMTY5WnB5NVl0R2o1OHVNV2hVMjV1cmtYdENnb0tTdXo3N3J2dktqQXdVQTgrK0tCeWMzUDE4Y2NmS3lnb1NBTUhEaXpTZHRXcVZabzFhNVl5TXpOVnExWXRSVWRIcTJuVHBuSjFkYlZvL2tLVEowOHVkdTN4eHgrM2Fnd0FBTXBEOEFRQUFGQkIyZG5aaW95TTFNR0RCK1huNTZkbXpackoyOXU3M0JESG1xMXdsMHRPVHBha1VnT0d3ak9YeWdvZ2twT1Q1ZUxpSW05dmJ5MWZ2bHh4Y1hFVnFzVmFPM2Jza0lPRGc1eWRuYlYrL2ZvcUNaNWlZbUtVbloydDJOaFlxNE1uU2ZMMTlkVzRjZU8wYjkrK0lwK3pjK2ZPYWNhTUdXclhycDMrK2M5L1dqemVsYXVTckhIeTVFbkZ4c2JLd2NGQmd3WU5rc2xra3FPam8yYk9uR25lWnJkdDJ6WjkrKzIzaW9tSlVhOWV2VFI2OUdqOTl0dHYrdWFiYi9UVFR6L3AzbnZ2MVoxMzNxa2FOV3BZTkNkblBBRUFyZ2FDSndBQWdBb29LQ2pRL1BuemxaR1JvYUZEaDFiNDdDTnJQUFRRUTFYU3JsV3JWcG8wYVpLKyt1b3JOVzdjMk9iaDA0VUxGN1J6NTA2RmhJU29WcTFhV3I1OHVVYU1HRkhwVlZaVHAwN1YwYU5IMWJ0M2I0djd6Snc1VTRzWEx5NTIvZGRmZnkxMmJkZXVYYnI5OXR1TFhaOHpaNDRhTkdoZ2ZoMFFFS0QyN2RzWFc1bFVtcGlZR0IwL2Zyekl0YVpObTJyS2xDbnk4dkxTb1VPSE5IMzZkTjEzMzMxcTBLQ0JmdnJwSjYxWXNVTHg4ZkZxMEtDQkprNmNhRjR4OTlSVFQybnc0TUdhTld1V3Z2NzZhODJmUDE4UFAveXdRa05EZGV6WU1XVm5aMHVTb3FPajVlam9LQThQRDdZc0F3Q3VLb0luQUFDQUN0aXlaWXVTazVNMVlzU0lxL2FrdHBJQ2s0cHdjSERRdEduVGxKbVpxVW1USnVtRkYxNHczNXM3ZDI2SmZRclBhQ3JwZnVmT25jc00zbGF2WGkyajBhaWVQWHZLejg5UDY5ZXYxOWF0VzlXMWE5ZEt2WThtVFpxb1NaTW1GZXI3MGtzdlZYamVXclZxRlhrOWRPaFFEUjA2MU9MK2ZmcjBLZkY2eDQ0ZGxaV1ZwVW1USmlrb0tFZ2pSNDZVZE9sUWRDY25KNDBmUDE0REJnd290bVV5SUNCQVU2Wk0wY3FWSy9YNTU1OHJPVGxaYTlldTFROC8vR0J1OC92dnYrdjMzMzlYUUVDQXhvOGZMNGt6bmdBQVZ3ZkJFd0FBZ0pXeXM3TVZGUldsenAwN1g3WFFTWkxjM053a1NSa1pHUlVLQm54OWZlWGg0V0VlWS9qdzRRb05EUzNTWnZiczJXV09VZEo5VDAvUFVvTW5rOG1raFFzWHl0blpXZjM2OVpPN3U3dDhmSHcwZCs3Y1NnZFBsVEZnd0lCS2p4RWJHMXZtWWVtRmMxamFUcEkrL3Zoam5UdDNUcE1uVHpadm5menZmLzliTE93cVNmLysvZFdsU3hkNWVYbkp3Y0ZCLy9qSFA1U2VucTU3N3JsSEw3MzBrbm1ld3FmYWNjWVRBT0JxSUhnQ0FBQ3cwckZqeDFSUVVGRGgxVGFWdFdUSmtuSURvcEtNSHovZXZCM3NILy80UjRsaFVlRVpQMWVhTW1XS0lpTWpTNzFmbWpWcjFpZ3VMazREQmd4UXpabzFKVjFhSWZUdHQ5OXEzYnAxNnRXcmw1WHZvbklLQ2dxcTdDRUZtemR2THZQclVCajBXTnJ1NTU5LzFwbzFhL1R3d3c4ckpTVkZ1M2Z2Vm54OHZCNTQ0QUVOSHo1Y0dSa1o1ZFpreWRmSHc4TkRZV0ZoR2pObWpQbXNyU3ZQZURwLy9yemVmdnR0aXdJdkFBREtRdkFFQUFCZ3BjTFZSdjcrL25hdDQ4cVFJU2twU2NuSnlRb0pDU2x5dmFTRG9vT0RnMjFlWDFaV2xyNzY2aXM1T2pycTRZY2ZObCsvKys2NzlkdHZ2Mm5XckZucTBLSERWVDF6S0NjblJ5NHVMbFU2NXBWZmg3bHo1NVlZTkpYVnptZzA2bi8vKzU4azZmdnZ2NWNrdWJ1N3EySERobkp6YzlQbzBhT0xQRFZ2L2ZyMTJyRmpoOGFPSFd0MXZVMmFOTkdISDM1WVpoc3ZMNjl5MndBQVlBbUNKd0FBQUN1WlRDWkpxdklBbzdKKy8vMTMvZnp6ei9yenp6L3RYWXFrU3dkNUp5Y242OTU3NzFYOSt2WE4xejA4UFBUWVk0L3BrMDgrMFpRcFUvVE9PKzlVK3FCeFM2V25wMStUaDJzN09UbnBzY2NlazZ1cnEyNjY2U2JkZE5OTjh2UHpNOSsvY212Z3FWT250R1BIRGcwWk1zVHF1VTZkT3FVREJ3NFV1WGJvMENGSlVtUmtaTEgyL2ZyMXMzb09BQUFLRVR3QkFBQmNKekl5TXVUbDVXWHZNaVJkZWtyY3FsV3IxS2hSSXozNjZLUEY3ZzhiTmt5clY2OVdWRlNVWnMyYXBlZWVlODdxT2JLeXNwU1NrcUtBZ0FDTCs1dytmZnFxbnN0bGpTdFhwUlhLeWNsUmpSbzFxbVNPckt3czdkeTVVOU9uVHkveC9wUXBVNHBkSTNnQ0FGUUd3Uk1BQU1CMUlqbzZXZzRPRHRxNGNhTTZkZXBVWldHRnRaWXVYYW92di94U2JtNXVldnZ0dDB1c3cyQXc2UFhYWDljenp6eWpSWXNXS1NjblIyUEhqalVmcUcySk1XUEdLQzR1VHErLy9ycDY5KzVkYnZ2MDlIU2RQSGxTZDl4eGh6VnY1NnJLeXNyU29VT0hkUERnUVVWSFIydi8vdjE2NG9rbnpHZHpXYXR3ZTE1a1pLUVdMVnFrNU9Say9menp6OFZXU2wxNXhoTUFBRldGNEFrQUFLQ2FHVFJva01MRHc4MnY4L1B6Tlh2MmJNWEd4c3JYMTljYzluVHMyRkU5ZXZSUWx5NWROR2ZPSEpzZkZKMmZuNitJaUFqOS9QUFBjbkZ4MGNTSkU4MkhWNWZFMzk5Zjc3NzdybDUrK1dVdFc3Wk1SNDhlMWIvLy9XOEZCZ1phTkYvaGxzZkMzOHV6Y3VWS21VeW1JcCs3cW5ENTJVdlNwYytEdGVMajQvWFdXMi9wNU1tVE1wbE1xbDI3dGtKQ1F2VFFRdytwVTZkT1ZvOFhFUkdoN2R1MzYralJvNUl1YmFWcjE2NWRoUU1zQUFBcWl1QUpBQUNnbXZIeDhaR3pzN04yN2RxbEhUdDI2SysvL2xKU1VwSWVmdmhoUGZyb296cHk1SWcyYmRxa2RldldhZHEwYVhKMGRGVDc5dTNWcTFjdjllelpzOHd6anNhTkc2ZjkrL2VYZXI5Ly8vN0ZycTFjdVZMSGp4L1hSeDk5cEppWUdIbDZldXF0dDk1U3UzYnR5bjB2TFZ1MjFMUnAwL1RtbTIvcThPSERldkxKSnpWbXpCaUx6aTZhTVdPR2twT1RMUXFxMHRMUzlPT1BQeW93TUZBZE9uUW90NzAxQmc4ZWJGRzdrajUzaGVyWHI2L1EwRkRkZDk5OWF0dTJiWkV6c2NycVY5SzlZY09HNmNLRkN6SVlESHJ3d1FmVnBVc1h0V3JWU2dhRFFTdFdyTkNLRlN1SzlTazg4Nm1rZTYxYnQ3WnFPeU1BQUpjamVBSUFBS2dHTWpNejlkNTc3eWtsSlVWbno1NVZSa2FHSk1uTnpVM2g0ZUY2ODgwMzFhSkZDMGxTczJiTjFLeFpNNDBjT1ZMSGp4L1hYMy85cFZXclZ1bWpqejdTakJrek5HUEdERFZ2M3J6RWVlNisrMjcxNnRYTDZ2cXlzckowNU1nUnRXalJRcSs5OXBvYU5teG9jZDhXTFZybzAwOC8xWWNmZnFpa3BDVDE2ZFBIb240ZUhoN3k4UEN3cUcxeWNyS3lzN1AxL1BQUFYvbEI1bDk5OVZXUjE3Ly8vcnNXTGx4WXJGMUVSRVNSMTB1V0xOR0NCUXNrWFRwY2ZQejQ4U1dPYisyVDZ3SURBeFVTRWxMaSsvemdndy9LN0Z2Uy9iRmp4eEk4QVFBcWpPQUpBQUNnR3ZEMDlGVGJ0bTIxWjg4ZWhZU0VLQ0FnUU0yYk4xZkxsaTNsN094Y2FyL0F3RUE5L3ZqaitzYy8vcUcvLy81YlVWRlJhdGFzV1pFMkF3Y09WT3ZXclNXcFFxR1RKQVVIQjJ2NjlPa0tDZ3FTZzRPRDFmMTlmWDAxZWZKa1pXVmx5ZDNkdlVJMWxLVkZpeGI2NG9zdnFqUkFDUXdNVk8vZXZZdXR1R3JYcnAzT25UdFhyTjJWYzdkdDIxWnBhV25semxPUko5ZVZoak9jQUFCWG04Rms2YVo0QUFEc2JOV3FWYnIxMWx2dFhRYXVRVmY3djQxTm16WnA4K2JOZXZIRkY2L2FuQUFBQU5jcVF4bkxpYTMvNXlnQUFBQUFBQURBQWdSUEFBQUFBQUFBc0FtQ0p3QUFBQUFBQU5nRXdSTUFBQUFBQUFCc2d1QUpBSUJTOFB3TkFBQUFvSElJbmdBQXVFSm1acVkrKyt3empSczNUdm41K2ZZdXgyWk1KcE15TXpOMThlSkZlNWNDQUFDQTZ4VEJFd0FBVjdodzRZTCsrT01QUlVkSGErN2N1Zll1eDJibXpwMnJ1KzY2UzdObno3YTZiMVpXbHBLU2tuVGt5QkZ0Mzc1ZGtaR1JXcnAwYWRVWENRQUFnR3JOeWQ0RkFBQndyYWxidDY0ZWZmUlJmZkhGRi9yeHh4L1ZxMWN2QlFZR1Z1a2NXN1pzMFlRSkV5cmNmOW15WlhKMGRKUWs5ZS9mdjlSMjc3MzNuanAzN2x6cyt2SGp4ODJoMm9ZTkd6Unk1RWk1dTd1WE9lZjQ4ZU1WRnhlbkN4Y3VsTG9Tckh2Mzd2TDE5ZFY5OTkybnRMUzBNc2RidVhKbG1mY0JBQUJRL1JFOEFRQlFncnZ1dWt0Ly92bW5UcHc0b2M4KysweFRwMDYxdU85SEgzMmtmZnYybGRsbTdOaXhDZ2dJS0hZOUt5dExLU2twY25SMFZJTUdEVXJ0YnpBWWlyeStzdjJaTTJlVWw1Y25CNGZpaTV2ejh2TDBuLy84UjBhalVmNysva3BNVE5Ubm4zK3U4ZVBIbDFselVsS1NNakl5NU9MaUltOXZiL012SHg4ZitmajRxSGJ0MnNYT3hTcnBQWjQ2ZFVvRkJRVmx6Z1VBQUlEckE4RVRBQUFsY0hSMDFPalJveFVaR2Frbm4zelNxcjdKeWNtS2o0OHZzMDNidG0wVkVSRlI3UHJjdVhNMWUvWnN0V3ZYVGxPbVRMRjR6dHExYTV2SHk4bkowZkRodytYczdLeVdMVnNXYS92aGh4L3E0TUdEYXRxMHFUNzg4RU9OR3pkT2YvNzVwMEpEUXpWZ3dJQnk1L3I5OTk4dHJxdWs5MmpKYWlnQUFBQmNId2llQUFBM2xDMWJ0bWp5NU1sVzlkbTBhWlBGYlpjc1dhTDMzMysveUxYKy9mdkx3Y0ZCeTVjdkw3Zi8zcjE3SlVudDI3ZTNxc2JMYmQyNlZUazVPZXJaczZjOFBUMkwzUHYyMjI4VkdSa3BkM2QzdmZIR0cvTDA5TlJycjcybU1XUEc2TU1QUDVTWGw1ZTZkZXRXNGJrTFpXVmxxVWFOR3BVZUJ3QUFBTlViaDRzREFHNG8rZm41dW5qeG9zMStWVVpCUVlGaVltSWtTUjA2ZEtqd09PdlhyNWNrM1hycnJVV3VSMFJFNkx2dnZwT3pzN01tVHB4bzNnYlh0R2xUdmZIR0d6SVlESHIzM1hlMWF0V3FDczh0WFhvcVlFNU9qdno4L0NvMURnQUFBS28vVmp3QkFHNG9OOTk4OHpWenFQVnR0OTFXNmxsSHp6enpUSW5YeTFzNWxadWJxNmlvS0hsN2U2dExseTZTSktQUnFJOC8vbGdyVnF5UWs1T1RYbi85ZGJWcjE2NUl2L0R3Y0wzODhzdWFPbldxcGs2ZHFwaVlHRDM1NUpNbHJscDYvUEhIUzV4N3hJZ1I2dGV2bi83KysyOUpVdVBHalV1dEV3QUFBRGNHZ2ljQXdBM3R6Smt6aW9xSzBoMTMzR0ZWdnpWcjFtakxsaTNxMzcrL09uVG9VT3l3YjJ1VWRBQjNTY283TjBxNnRNMHVLeXRMZDk5OXQ1eWNuSFRreUJGTm5UcFZ4NDhmbDRlSGh5Wk9uS2kyYmR1VzJMZFBuejd5OGZIUnhJa1R0WGp4WW0zWXNFRWpSb3pRb0VHRDVPVDAvNzlsS0syT3pNeE1HWTFHL2ZycnI1S2tmdjM2bGRqT3pjMU5hV2xwaW8yTlZkT21UU1ZKSnBPcFVwOURTZHErZmJ1T0hEbFNxVEVzZGZMa3lhc3lEd0FBUUhWSDhBUUF1R0VsSmlacTVNaVJNcGxNYXRPbWpUa0VzY1RLbFN1MWRldFdSVWRIYTg2Y09aV3FvNlFEdUV2U3YzLy9jdHVzWGJ0V2t0U2pSdzhsSnlmcmhSZGUwTVdMRjlXNGNXTk5tRENoM0ZWSTdkcTEwNmVmZnFxUFB2cEl1M2J0VWxSVWxBWVBIbHlrVFdrcnhuSnpjL1h4eHgvcjBLRkRhdDY4dVc2KytlWVMyN1ZzMlZJSkNRbDY2cW1uNU9MaW90emNYSDMvL2ZlcVU2ZE91ZSt2TEVlT0hDRVFBZ0FBdU1ZUVBBRUFiQzR2TDA4WEwxNVVUazZPY25KeXpCOFgvbTQwR2xWUVVLRDgvSHdWRkJRVStmankzNzI5dmF1MHJycDE2eW80T0ZqNzkrL1hraVZMTkhic1dJdjZaV1ptYXNlT0haS2tBUU1HVkhxbHpwWG16cDJyL1B4OGpSdzUwdXErSVNFaFdyTm1qWDcrK1dlOTg4NDdldkhGRjdWNzkyNDk5ZFJUcWxHamhtNjc3VFo1ZW5wcS92ejV4ZnJlZHR0dDh2YjIxczgvLzZ3UFB2aEFxMWV2VnRldVhlWG82R2pSM0d2V3JOR0tGU3ZrNit1cjExOS92Y2dxcWNzOStlU1R1bmp4b2c0ZE9xVDgvSHpWcTFldjBxR1RKTjEvLy8yVkhzTlNtelp0MHViTm02L2FmQUFBQU5VVndSTUFvTkp5Y25KMC92eDVuVDkvWHBtWm1UcC8vcnl5c3JMTXdWSnA1eGk1dUxpb1JvMGFjbkp5a3FPam94d2RIZVhpNGlJSEJ3YzVPanJLd2NHaHlNZEpTVWxWWHZ2UW9VTzFmLzkrUlVaRzZwLy8vS2ZjM2QzTDdiTng0MFlaalVZWkRBYUxWaUZaYSs3Y3Vjckx5NnRROEhUSEhYZG8vZnIxMnJKbGl6WnUzS2pldlh1cmQrL2U1dnVGSVY1SnJyelhwMDhmcStZZU1HQ0FUcDgrcmFGRGg4clgxN2ZVZHJWcjE5YWtTWk9zR2hzQUFBRFZFOEVUQU1BaUpwTkpHUmtaeXNqSUtCWXk1ZVhsbWRzNU9Eakl3OE5ESGg0ZTh2YjJWbzBhTmVUcTZscms5OEpmRGc3V1BWeTFzazliSzBuUG5qMzF5U2VmS0RNelU2dFdyZEt3WWNNc3JpTXNMRXgxNjlhdDhwb3F3MkF3Nkttbm50SXp6enlqMmJObmw3cmR6VlppWW1MTTIvMHNZZWsyUXdBQUFGUlBCRThBZ0JKbFptWXFOVFZWYVdscDV0OHZYdzNqN3U0dUx5OHZOVzdjV0o2ZW52THk4cEtucDZjOFBEeXFmT3VaTGJtNHVLaGZ2MzVhdEdpUmxpeFpVbTd3bEpTVXBOMjdkMHVTQmcwYWREVkt0RnJ6NXMwVkhCeXM2T2hvSFQxNlZFRkJRVlU2Zm1tcnZGNTc3VFdkUG4xYUNRa0pWVG9mQUFBQXFpK0NKd0NBY25KeWxKS1NvdFRVVkhQSWxKdWJLMGx5ZEhTVWo0K1Bnb0tDNU9Qam8xcTFhc25EdzhQaWMzK3FnNEVEQjJyUm9rVTZmdnk0OXUvZnI1Q1FrRkxicmxpeFFpYVRTVjVlWHVyWnM2ZE42akdaVEZhdkJydFNtelp0RkIwZHJVT0hEcG1ESjZQUktFbWxucjFrcWRLZXd1Zmg0YUU1YytabzVzeVpXcng0c1NaT25LanUzYnNYYTVlYW1xcVJJMGRXeWJsT0FBQUF1TFlSUEFIQURhaWdvRUJuejU1VlltS2l6cHc1bzNQbnprbTZ0RTNMMjl0YkRSczJsSyt2cjN4OWZlWHQ3VjJ0VmpCVlJGQlFrSm8wYWFKang0NXAyYkpscFFaUEpwUEovRVMzL3YzN3k5blp1Y3ByeWMzTmxkRm9WTTJhTlNzMWpwK2ZueVNadjdhU2RPSENCVW1TcTZ0cnBjWXViM3ZjTGJmY29zV0xGMnZ4NHNVbEJrOC8vUENEY25KeWROZGRkMVdxRGdBQUFGejdDSjRBNEFhUmtaR2hNMmZPS0RFeFVjbkp5Y3JQejVlRGc0UDgvUHdVR2hvcWYzOS8xYXBWcTlLcllhcXJXMis5VlY5OTlaWFdybDJyWjU1NVJtNXVic1hhYk4rK1hRa0pDVElZREJvNmRLaE42a2hOVFpVa2VYbDVWV3Fjd3NEcDhxOW5ZbUtpcFA4ZlN0bEttelp0RkJnWXFPM2J0MnZ2M3IxcTA2YU4rZDZCQXdlMGVQRmkxYTFiVjdmZmZydE42d0FBQUlEOTNaZy9YUURBRFNBL1AxOW56cHhSUWtLQ0VoTVRsWjJkTGVsU29ORzBhVlBWclZ0WC92NytOMnpRZEtXK2ZmdnE2NisvVm5aMnR0YXNXYU9CQXdjV2E3Tm8wU0pKVXNlT0hkV29VU09yNXpBYWpUcDQ4S0IyNzk0dFQwL1BFdHNjT1hKRWtoUVlHR2oxK0gvOTlaZmMzZDJWbnA2dXBVdVhTcEthTm0xcXZuL28wQ0ZKVXNPR0RhMGUyeG9HZzBFUFB2aWczbi8vZlUyZlBsMmZmdnFwWEZ4Y2xKNmVybmZmZlZjbWswbFBQdm1rVFZhTUFRQUE0TnJDVHhzQWNCMHBLQ2pRbVRObmRQTGtTWjA2ZFVwR28xRXVMaTZxVzdldStaZTd1N3U5eTd3bTFhNWRXNkdob2RxN2Q2LysvUFBQWXNGVFltS2lvcUtpSkVsMzNubW5SV05tWjJmcndJRURraTU5YmU2ODgwN2w1T1JJVXFublEyM1lzRUdTMUxadFc2dmZ3L3IxNjgzOUpTazRPRmdkT25Rd3Y5NjJiWnNrcVZXclZsYVBmYmx6NTg0cEtTbkovS3R3SmQyWk0yZjArT09QcTJ2WHJ1clRwNDhXTDE2cy9mdjNhK2JNbVhyNjZhYzFZY0lFSlNZbXFsZXZYdXJWcTFlbGFnQUFBRUQxUVBBRUFOVmNRVUdCa3BLU0ZCOGZyMU9uVGlrdkwwOHVMaTY2NmFhYjFLaFJJOVdwVStlNlA2T3BxdlRwMDBkNzkrNlZpNHVMY25KeVZLTkdEZk85K2ZQbnkyUXlxVkdqUnVyU3BVdXBZeFFVRkdqR2pCbUtpWW5SOGVQSFZWQlFZTDZYbDVlbjVzMmJxMjNidHVyV3JaczJidHhZcE8vSmt5ZTFkdTFhU2RMS2xTdlZyRm16SXR2VXluUGJiYmVwUm8wYWNuRnhVVkJRa0c2Ly9YYnoxejQ5UGQwY25KVlZmMGxtejU2dDNidDNLeVVsUlpKMDc3MzNsdGpPeWNuSlBKL0JZTkJMTDcya1o1OTlWc3VXTGRQV3JWdVZtcHFxZ0lBQXZmRENDMWJORHdBQWdPcUw0QWtBcWlHVHlhVGs1R1NkT0hGQ3AwNmRVbTV1cnB5ZG5kV3dZVU1GQkFTb1RwMDZsWDRxMm8yb1Q1OCs1dk9KTHBlZW5xNC8vdmhEa25UUFBmZVVHZVE1T0RqbzRNR0RpbzJObGNGZ1VQUG16ZFd1WFR1RmhZVXBMQ3lzeUlxekNSTW1tSU9wek14TXZmUE9PeklhamZMMDlOVGh3NGMxZnZ4NDllclZTNk5HalZMOSt2VTFZY0tFTXIrdTRlSGhDZzhQTC9IZVR6LzlKS1BScUpDUUVOV3JWOC9TVDRta1N5dTM5dTNiWjM3ZHZuMTcxYXRYVC9YcjExZTlldlZVcDA0ZDFhbFRSN1ZyMXk3eXVXbllzS0dHREJtaWVmUG1tYyt1R2pkdVhLbmJEQUVBQUhEOUlYZ0NnR29rSnlkSHg0OGZWMnhzckRJek0rWGs1R1FPbStyV3JVdllWRW1lbnA0bGhpSUxGaXhRVGs2T2F0V3FwZjc5KzVjN3pxT1BQcXI4L0h5MWJkdTJ6SkNsUjQ4ZWtxVFRwMC9yblhmZVVXeHNyT3JXcmF1Wk0yZHF4NDRkK3ZMTEw3VnUzVHB0M3J4WmQ5OTl0eDU1NUpFaXE3QXNkZmp3WVMxY3VGQ1NkUC85OTF2ZC8vNzc3OWNkZDl5aGwxNTZTVWxKU1pvMmJWcTVmVEl5TXZUVlYxOXAyYkpsa2k0RmNnVUZCWm93WVlJZWUrd3hEUjQ4V0M0dUxsYlhBZ0FBZ09xRjRBa0Fxb0hrNUdURnhzYnE1TW1US2lnb2tMKy92MEpDUXRTd1lVTTVPanJhdTd4cXhaTGdxRFRuenAzVDRNR0R5Mnh6MTExMzZabG5uckZvUEtQUnFDVkxsbWoyN05uS3lzcVN2NysvcGs2ZEtoOGZIL1hyMTAvZHVuWFR0OTkrcTRVTEYycmV2SGxhdTNhdHhvMGJwNDRkTzFwY2MycHFxaVpPbkNpajBhaU9IVHVxVzdkdUZ2Y3Q1T3ZySzBrV2Jkbk16czdXa2lWTDlPT1BQeW96TTFNR2cwRVBQUENBaGd3Wm9nOCsrRUM3ZHUzU3A1OStxZ1FqL3IwQUFDQUFTVVJCVko5KytrbTMzMzY3K3ZYcnA1dHV1c25xbWdBQUFGQTlFRHdCd0RVcU56ZFhjWEZ4aW8yTlZVWkdocHlkblJVVUZLU21UWnVxWnMyYTlpNnYybkoxZGJYcCtKYXM0a2xQVDlmS2xTdTFZTUVDSlNVbFNaSTZkZXFrVjE1NVJkN2UzdVoyN3U3dWV1cXBwelJnd0FCTm5UcFZzYkd4ZXVXVlY5U3ZYeitOR1RPbTNJUGlVMU5UOWVLTEx5b3hNVkcxYXRYU2l5KytXTGszVjRhRWhBVDk4Y2NmK3ZQUFA1V1JrU0ZKQ2dvSzB0aXhZOVc2ZFd0SjByUnAwN1I2OVdwRlJFUW9NVEZSUC96d2czNzQ0UWZWclZ0WE0yYk1NQWRjQUFBQXVINFFQQUhBTlNZakkwTUhEeDVVZkh5ODh2UHo1ZXZycTg2ZE95c2dJSURWVFZWZ3laSWxkcDAvS3l0TFR6enhoTkxUMHlWSkRSbzAwS2hSbzBwOXlwMGtOVzNhVkxObXpkTHMyYlAxODg4LzY5aXhZeFp0dWZQeDhkSGd3WVAxMDA4LzZkMTMzNVcvdjMrWjdldldyU3N2THkvcjN0RC9pWXVMMDd4NTh5UkpBUUVCR2pGaWhQcjA2Vk5rKzZmQllGRGZ2bjNWdTNkdnJWKy9Ybi84OFlkMjdkcWwvdjM3RXpvQkFBQmNwd3dtazhsazd5SUFBRkphV3BwaVltSjA2dFFwT1RvNnFuSGp4Z29LQ2xLdFdyWHNYZG8xWTlXcVZicjExbHZ0WFVhbHJWaXhRcEdSa1JvMmJKaTZkZXRtMWRsYysvZnZsNHVMaTVvM2IyNXhuOXpjM0NvNVQybmV2SGs2Zi82OFJvMGFWZUw5WDMvOVZZR0JnZXJZc2FQRlQxSk1UMCtYdTd1N25KMmRLMVhiMWY1dlk5T21UZHE4ZWJOTlY1RUJBQUJVRjRZeXZ2bGp4Uk1BMkZseWNySmlZbUtVbUpnb1oyZG5CUWNIcTFtelpoVTZSQnJWdzRBQkF6Umd3SUFLOVEwSkNiRzZUMVVkNGwzZXdlVDMzSE9QMVdOZXZyVVFBQUFBMXgrQ0p3Q3drOU9uVHlzbUprWXBLU2x5ZFhWVldGaVltalp0V3VtVkh3QUFBQUJ3clNCNEFvQ3I3T1RKazRxT2pqWnZNZXJRb1lNQ0F3TTV2d21vaGt3bWs4WGJDcXRLUkVTRXZMMjlOWHo0OEZMYnJGdTNUci85OXB2OC9mMzEybXV2VmJqRzVjdVhLeU1qUS9mZWUyOUZ5elZMVGs3V2tpVkw5T0NERDhyTnphM1M0MVcxMk5oWVJVVkY2Y0VISDdTNmIzNSt2aHdjSE1yOFBPZm01c3JKeWNtcXJiVUFBRndQQ0o0QTRDcEpUazdXbmoxN2xKcWFxcG8xYTZwTGx5NEtDQWpnaHhDZ0dpcmN2cGllbm43VnoySGJ0bTJiMnJkdlgrcjloSVFFZmZqaGg4ckt5cEtEZzRPR0R4K3VWcTFhVldpdWVmUG1LVDQrdmtxQ3B3MGJOdWpISDM5VVJrYUd4bzBiVjI3NzdPeHNEUnMyck5MelN0TEtsU3ZMYlROLy9ueXRXTEZDQVFFQjZ0R2poOFZqNStibWF2RGd3WHJ1dWVkMHh4MTNsTnB1OE9EQmV1eXh4elJpeEFqek5Yc0Vsd0FBWEcwRVR3QmdZeGtaR2RxN2Q2OFNFaExrN3U2dUxsMjY2S2FiYnVLSERhQWFhOUNnZ1NRcEtTbnBxZ1pQQlFVRk9uSGlSS21ybmM2ZlA2KzMzbnBMK2ZuNW1qQmhncjc4OGt1OSsrNjcrdVNUVDBxdDh6Ly8rWStTa3BJMGJkbzBxMnF4dHQ4ZGQ5eWg1Y3VYNi9mZmYxZmZ2bjBWRmhaV1pudFhWMWRGUkVRVXU3NTgrWExObXpldnlMMlNybG5yaVNlZTBMcDE2L1Q1NTUrcmMrZk9GVDVuTHpVMVZXKzg4WVpHalJxbERoMDZsTm4ydmZmZWs2dXJxMTU0NFFXYi9TTkUvLzc5SlVsZVhsNzY4Y2NmTFhwZm8wZVBWbXhzckZ4ZFhZczlDYlJ3dkVJR2cwRzFhdFZTV0ZpWUhuNzRZUVVHQnBaYVF5RW5KeWQ1ZTN1cmVmUG11dm5tbTNYcnJiZkt5WWtmU3dEZ2VzWGY4QUJnSXhjdlh0VCsvZnQxN05neE9UazVLU3dzVE0yYU5XTkxIWEFkcUYrL3Z2ejkvUlVWRmFXZ29LQ3I4dWY2NU1tVFNreE1WRTVPamx4ZFhSVWZIMisrRnhBUW9LeXNMTDMyMm10S1NFalEyMisvcmM2ZE82dEpreVo2OGNVWDllcXJyMnJhdEdueTh2SXFObTUwZEhTUnNTeDFaYi84L0h4bFptYVcyZWVSUng3UlgzLzlKUThQRDZXbnA1Zll4dFBUVTQ2T2pqSVlEQW9JQ0NoMnYvQkErc3Z2bFhUdFNrZVBIaTIzdms2ZE9zbkJ3VUg3OXUwck13aHAyN1p0cWZkOGZIems1dWFtS1ZPbTZQUFBQNWV2cjIrSjdiWnQyNlkxYTlabzZOQ2hWMlhsNi9uejU3Vml4UW9OSFRxMHpIYmJ0MjlYYkd4c21XMmNuSncwYU5BZ1NaZSs3b2NPSGRMYXRXdTFaY3NXZmZqaGgyclpzbVdaZll4R28xSlNVclIvLzM1dDJiSkYzMy8vdlY1OTlkVUtQVHdCQUhEdEkzZ0NnQ3BtTkJwMThPQkJIVHg0VUNhVFNjMmFOVk53Y0hDVlBWa01nUDBaREFZTkhEaFEzMy8vdlZhdlhxMCtmZnJZUEh4Nit1bW5kZkhpUlVuUzIyKy9YZVRlRHovOG9OZGZmMTNKeWNtYU9uV3FRa05ESlYwS1ltYk9uS2szM25oRFk4YU0wVnR2dlZYaWlwU3FjT2pRSVkwWk04YWl0dXZXclN2MTNxeFpzOVNpUlF0SjBvVUxGNVNhbWxya2ZtRmdkWG5vVmRLMVFvVmgxS2VmZnFvOWUvWlV1ajdwMHRhOXdybnk4dklrU1dscGFlWnI0OGFOMDdQUFBxc1BQL3hRa3lkUEx0WS9LeXRMSDMvOHNSbzJiS2dubjN6U29wb3FvMWF0V3NyTXpOU0NCUXMwWk1pUU1sZmMvdkxMTDNKeGNaR3JxNnR5YzNOTGJPUGs1S1RubjMrK3lMV0lpQWo5K09PUCt2cnJyL1hCQng5WTFNZG9OR3Jac21YNjZxdXY5SzkvL1V1VEprMVM1ODZkSy9BT0FRRFhNb0luQUtoQ3g0OGYxNTQ5ZTVTVGs2T0FnQUNGaG9iSzA5UFQzbVVCc0FGL2YzLzE2OWRQa1pHUlNraElVTmV1WFZXM2JsMTVlM3ZiWkN2dGtpVkw5TjU3NzBtU1hudnROZlAxclZ1MzZ0bG5uMVZPVG82Y25aMzF3Z3N2bE5pL2JkdTJldWFaWjNUdnZmZnFnUWNlcVBJRHZ1dlhyNit4WThlVzJXYjY5T255OGZIUnlKRWpTMjFUdDI1ZDg4Y2JOMjRzTWNTUXBNY2ZmOXlpYTRYbk83MzQ0b3ZLenM2V2RHbkw0dGl4WTlXdFd6Yzk5TkJEcGRheWRldFdSVVJFNkpsbm5pbTJOZkRLdWViT25hdTVjK2RLdWhUQ1BQcm9vL3I4ODgvMXh4OS9tRmY2RkpvK2ZicFNVMU0xZmZwMHVicTZsanAvU1NweUxsUkJRWUU2ZE9pZ3JWdTNhdXZXcmVyYXRXdUo3WTRkTzZidDI3ZXJSNDhlMnI1OXUxVnpQUFRRUS9ycHA1OTA0TUFCaS9zNE9UbHB5SkFoYXQ2OHVWNTg4VVc5Ly83Nyt0Ly8vbWRld1FZQXVENFFQQUZBRlRoLy9yeTJiOSt1NU9SazFhNWRXejE2OUNoMWV3V0E2MGRZV0pqcTE2K3ZQLy84VTB1WExyVzRYN2R1M2RTOWUzZXI1aktaVE5xNWM2ZEdqeDZ0bzBlUDZxYWJidEtKRXlmMC92dnZxMjNidG5yMjJXZGxNcG1VazVOVFl2OUdqUnJwdDk5KzA5R2pSK1hzN0d6VjNKYW9WYXVXaGd3WlVtYWI2ZE9ueTlQVHM5eDJWMXF3WUlFNXhQL2xsMS8wNVpkZkZqa3d2S1Jydi8zMm16Nzc3RFB6NjhKenVRcTFhdFZLcDArZlZsQlFVS256cmxxMVNwSjB5eTIzRlBzN3ZYQ3VBd2NPNlBubm55OTJ1SGpEaGcyVm41K3YzcjE3Rnh0M3lKQWg2dGl4bzNsbGw2WGVldXN0N2R5NVU1TW5UMWFiTm0wczdtYzBHblgzM1hkcjY5YXQrdlhYWDBzTm5uNzk5VmRKMHQxMzM2Mk5HemRhZGM1VmpSbzE1T0RnSUpQSlpIR2ZRaTFidHRTZGQ5NnBlZlBtYWZIaXhYcmtrVWVzSGdNQWNPMGllQUtBU3NqUHoxZE1USXdPSGp3b0p5Y25kZXJVU1lHQmdSd2NEdHhBL1AzOTljZ2pqK2owNmROS1NFZ29kWHZTNWNvNmk2ZzBodzhmVm5wNnVqcDM3cXg3N3JsSEVSRVJDZ29LMHJ4NTh5emV5bnZod2dXTkhqMmFnNXdsZGVuU1JSRVJFVXBPVHBhL3YzK0piYlp1M2FxZ29LQXkveUZoeTVZdHhhNnRYNzllUnFQUmZBNVlvV1BIam1uMTZ0V1NKR2RuWjYxZXZWcE5telpWNDhhTkxhbzVKaVpHMmRuWmlvMk50U3A0TXBsTTZ0aXhvNW8wYWFKZHUzWXBOalpXVFpzMkxkSW1KU1ZGZi8zMWwxcTJiS2syYmRwWUhTQnQzNzVkK2ZuNVZ0VjF1VDU5K21qZXZIbmF2SGt6d1JNQVhHZjRyZ01BS2lneE1WRTdkdXhRWm1hbUdqZHVyTFp0MjFiNEtVZ0FxamVEd2FBR0RSb1VXMVZUbFRadTNLaldyVnNYMjRiazR1SlM3S2xoMHFYdFhnRUJBVXBPVHBhdnI2OGNIUjMxM1hmZnFVK2ZQaVZ1WlNwcERFdnVYUTJuVHAyU3U3dTdKTXZQZURwMzdseVpZL2J0MjFjUkVSRmF2bnk1SG43NDRXTDNqeHc1b2hNblR1aUpKNTRvYzV6Qzg2QzJidDJxT25YcXFGdTNicG8yYlpyNVBLN0xyVjI3Vm12WHJpMXk3YkhISHJNNGVKbzZkYXFPSGoxYTRpcXFzaFNHU1BmY2M0OCsrT0FEelo4L1h5Kzk5RktSTmdzWExwVFJhQ3oxaVltbHljM04xWTRkTy9UUlJ4L0p4Y1dseE8yT2xpajhISnc4ZWJKQy9RRUExeTZDSndDdzBzV0xGN1Y3OTI2ZE9IRkNucDZldXVXV1cxU25UaDE3bHdYZ09yZHUzVHJkZnZ2dHBkNmZQSG15NnRldkw2bm8rVU1QUGZTUU9ZUXF5ZDEzMzEzcUUrWVdMRmlnOVBSMFBmYllZNlhldTFKQ1FrSlpiME5HbzdIVU5nYUR3ZndlTHZmY2M4OFZ1MmJwR1UrbHFWT25qcnAzNzY2RkN4ZHErUERoeGM2OG1qOS92cHljbkRSZ3dJQlN4OWkvZjc4U0V4TWxYZHB5dDN2M2JrMmJOazIvL1BLTFJTdUdoZzBiWm5HOWt0U2tTUk0xYWRMRXFqNlg2OXUzcjc3NTVodXRYcjFhbzBhTmtvK1BqeVFwT3p0YlM1Y3VWWjA2ZGRTclY2OXl4N2w0OFdLUk1OSmdNS2hEaHc1NjRva24xTHg1OHdyVjV1VGtKQ2NucDFLM2lnSUFxaStDSndDd3dyRmp4N1I3OTI3bDUrY3JPRGhZclZxMXVpcVBVUWVBa3lkUDZ1dXZ2OWJYWDM4dDZmK0hMSVVIanRldlg3OUNXL2pLT204cE1qSlM2ZW5wR2pGaVJMRjdKVjJUcEVjZmZiVE0rVTZmUGwxcUcyZG5aLzN4eHgvbTF6ZmRkSk9HRFJ1bUo1OTgwcnlpZE11V0xab3paNDdHalJ1bmxpMWJsanJQN3QyN3kzMDYzY2lSSS9YVVUwOXA3dHk1R2pWcWxQbjY0Y09IRlJrWnFTRkRocFM1emU2WFgzNVI5KzdkdFdiTkd0MS8vLzJLakl6VW0yKytxWmt6WjVZWW9ObWJrNU9UN3J6elRrVkVSR2p4NHNYbXI4T3laY3VVbVptcEVTTkdXUFQvTkNjbkp3MGFORWk1dWJuYXZuMjdVbE5URlJ3Y1hPSFFTYm9VWmhtTlJnNFdCNERyRU1FVEFGZ2dKeWRIMjdkdjE2bFRwK1R2NzYrT0hUdkt5OHZMM21VQnVJRkVSRVNZUDM3ODhjZk5LNXdLenllcTZCYW5GMTk4VVhYcTFOSExMNzljb2I0ZE8zWXM4bVM0eTUrNGQ2WDMzbnRQZm41K0dqMTZkSW4zTHc4OTR1UGo1ZUhob1R2dnZGTkpTVW1TTHAyck4zUG1UQm1OUmprN094ZlpXbmNsWDE5ZjNYbm5uWXFQajVldnI2ODhQRHlLdFduYXRLbUdEaDJxWDM3NVJWMjZkRkZZV0poeWNuSTBiZG8wZVhsNWxmbjB2ZVBIajJ2VHBrMmFObTJhMXF4Wm94bzFhbWpDaEFsNit1bW5GUlVWcFR2dnZMUFV2dlkwZE9oUS9mREREMXF5WklrZWZQQkJPVGs1NmJmZmZwTzd1M3V4cCsrVnhzbkpTYzgvLzd5a1M0SFJ2Ly85YjMzMzNYZXFXN2V1YnJ2dHRnclZkZWpRSVVrcTg3QjNBRUQxUlBBRUFPVTRmZnEwdG0zYnB0emNYTFZ0MjFiTm16Zm44SEE3Y1hSMFZINStQcXZNVU1TTjh0L0VsYXVacmx6aDlQSEhINXZQbUxyLy92c3RIbmZQbmowVldpbFYyUGZLZzduNzlPbFRhdnYzM250UDd1N3VaYllwVkY2UVZscDRWWkx4NDhkcjRNQ0JKZDRiTldxVWR1N2NxVW1USm1uYXRHbjY5dHR2ZGZ6NGNVMllNRUcxYXRVcWRjeFpzMmFwWmN1V0NnNE9ObDlyMUtpUlB2bmtFMlZuWjVzUEViL1dlSHA2NnJiYmJ0T2lSWXNVR1JtcG1qVnI2c3laTXhvK2ZMajVIQzFydUxxNjZ0VlhYOVdvVWFQMCtlZWZxMnZYcm1WKzNrcXpmUGx5U1ZMUG5qMnQ3Z3NBdUxZUlBBRkFLWXhHby9iczJhT2pSNCtxVnExYTZ0V3JGMXNBN016TnpVMlptWmw4SFZCRVptWm1oWDVncnU1T25EaWhreWRQcW1iTm1wSWtiMi92TXJlRlZUY3JWNjRzOG5ycDBxV2FQbjI2WG4vOTlSSVAxejV3NElCZWVPRUZoWVNFNklNUFByRDRId2pjM056MDl0dHZhK3pZc1hyNjZhZFZVRkNnRVNOR2xIbldVWHA2dXZidTNhdkpreWNYdTllNGNXTjk4TUVIV3JGaWhVWHoyOFB3NGNPMWVQRmkvZkhISDZwVnE1WWNIQngwMTExM1ZYaTgrdlhyYS9qdzRmcnh4eC8xNVpkZjZ0Ly8vcmRWL2JkdTNhcVZLMWVxZnYzNlpaNnBCUUNvbmdpZUFLQUVxYW1waW9xS1VtWm1wbHEyYktuUTBGQTVPRGpZdTZ3Ym5yKy92eElTRWdpZVVFUkNRb0pxMTY1dDd6SnNic3FVS1RwejVveE9uejR0U1hyNzdiZGxNQmcwZHV4WVNSWGZhbGNkeE1iRzZ2UFBQNWV2cjYrY25aMTE4ZUpGdWJxNm11OGZQbnhZYjd6eGhtcldyS21YWDM3WjZsV3BtWm1aOHZUMFZHWm1wZ3dHZ3p3OVBjdGNTZWZ0N2EyWFhucEpIVHQyVkc1dWJySDdMNzMwVXJHbnhwWEUycWNGWm1WbEtTVWxwY0lyMUFyVnIxOWZQWHIwMElZTkd5Ukp2WHIxVXQyNmRTczE1Z01QUEtCbHk1WnAxYXBWR2pSb2tFSkRROHZ0azV1YnE4V0xGK3ViYjc2Um01dWJKa3lZSUJjWGwwclZBUUM0OWhBOEFjQmxUQ2FUb3FPakZSTVRJemMzTi9YdTNidllOaExZVCtQR2piVmx5eGFscGFXWm44YUVHMXRhV3BwU1VsTFVyVnMzZTVkaWM2dFhyMWJqeG8zVnVYTm5MVisrWEpNblQxYTdkdTNrNHVLaS8vNzN2eFhlYWxjZCtQajQ2TWtubjlUNjllczFhZElrT1RvNktpd3NURjI3ZHBYUmFOU2NPWFBrNGVHaHFWT25XdlYzZG54OHZMNy8vbnV0WHIxYXJxNnVHalZxbEpZdlg2NHZ2dmhDUzVjdTFZTVBQcWkrZmZ2SzJkbTVXTjkrL2ZwVjVWdTB5Smd4WXhRWEYxZnFxaTlyM0hQUFBWcS9mcjM1NDhweWQzZlhZNDg5cG84Ly9sZ3paODdVWjU5OVZ1UWZiSXhHbzJiT25DbEp5c3ZMVTBwS2l2YnYzNjhMRnk2b2NlUEdldTIxMTlTMGFkTksxd0VBdVBZUVBBSEEvN2w0OGFJMmI5NnNzMmZQcW5IanhtcmZ2bjJKUDJ6QWZweWNuQlFjSEt4OSsvWXBORFNVOE9rR2w1YVdwbjM3OWlra0pPU0dPT05wMGFKRjVsVSt5NWN2Vi8zNjlZdXNEaWx0cTkyVlc5WnNKVHM3MjZKMkpwT3AzTFp1Ym01Rlh2djQrR2pZc0dFYU5teVl6cDA3cDVVclYyck9uRG5hdm4yN3VVMlBIajEwL3Z4NUZSUVVsTGxDdGFDZ1FOdTJiZE9TSlVzVUZSVWw2ZEtLbjlHalI4dmYzMTkzM1hXWGZ2cnBKLzM4ODgvNnozLytveSsvL0ZKOSsvWlY3OTY5RlJ3Y2JOY3ova3dtVTVIZkt5TTRPTmo4ZmxxMWFsWHA4U1JwNE1DQldyUm9rV0pqWTdWbzBhSWkyL2VNUnFNV0wxNHM2ZEo1ZlQ0K1Bnb0xDOU10dDl5aTNyMTczeEIvaGdIZ1JrWHdCQUNTenA0OXE4MmJOOHRvTkNvOFBMelMyeGhnTzc2K3Znb0pDZEgrL2Z2bDUrZW5CZzBheU5QVGt4OWFiaEQ1K2ZuS3pNeFVRa0tDVWxKU0ZCSVNjbDJkYTFTV3k3ZVdsY1pvTkNvakk4UDhPajgvWDRjUEg1YXJxNnZpNHVJa0ZROTFwRXNyZjhyYTltWEpsckJodzRhVjIwYVNUcDQ4V1c3YkJRc1d5TlBUMC93Nkx5OVBjWEZ4aW9tSjBjNmRPL1gzMzM4ckp5ZEhyVnExVXMrZVBiVmp4dzZ0V2JOR2taR1I4dlQwVk9mT25SVWVIcTR1WGJxWXg5bTdkNi9XclZ1bmRldldLVFUxVlFhRFFUMTY5TkNERHo2bzVzMmJtK2R5Y1hIUnlKRWpOWFRvVVAzNjY2OWF1blNwRmk1Y3FJVUxGOHJYMTFmZHUzZlhjODg5VityZk9ULzk5Sk8rK2VZYml6NFgxcG94WTRhU2s1TVZHQmhvY1oreWdzZnAwNmRiM2ErczhRd0dnNzc0NGd1citnQUFybjhFVHdCdWVJY09IZEtlUFh2azVlV2xXMjY1eFh4UUw2NWR2cjYrQ2c4UFYxeGNuQTRjT0tDc3JDemw1K2ZidXl4Y0JZNk9qbkozZDFmdDJyVVZIaDR1SnllK2xTbFVVRkNndSs2NlN4Y3ZYcFFrZVhsNXlkSFJVYSsvL3JvNWpPclFvVU94ODdBZWUreXhDczg1ZS9aczg4ZUZaMDFWQlZkWFYrWG01dXJOTjk5VVFrS0NrcEtTekgvR0d6VnFwQ0ZEaHFodjM3N213T2krKys1VFJrYUdObTdjcUxWcjEycmR1blZhdlhxMWF0U29vVysvL1ZhK3ZyNktqbzdXd29VTDVlM3RyZnZ1dTA5RGh3NVZ2WHIxU3EzQng4ZEgvL3puUC9Yd3d3L3JyNy8rMHJKbHkzVGd3QUcxYnQyNnpLQzdTNWN1RnA5RDk5RkhIMW54V1pFOFBEems0ZUZoVlI4QUFPeU43OVlBM0xDTVJxUCsvdnR2blR4NVVvMGFOVkxuenAzNUliWWFjWEp5VWxCUWtJS0NndXhkQ21CM3pzN09jblIwVko4K2ZYVGl4QWwxNnRUSi9Fajd6ei8vWEZsWldYSjBkRlREaGcyTDlSMHhZa1NGNTcyODc1QWhReW84VG1rYU5Xb2tWMWRYOWU3ZFc4MmFOVk53Y0hDcEI4blhyRmxUQXdjTzFNQ0JBNVdlbnE3MTY5Y3JMeS9QdkNMdXZ2dnVVNHNXTGRTbVRSdXIvcTUzYzNQVDRNR0ROWGp3WUNVbkp4YzdROHBnTU1qRHc4TzhOYnRwMDZZV24xVmtiZkFFQUVCMVpEQlZ4U1p4QUtobU1qSXl0R25USm1WbVppb3NMRXd0V3JTd2Qwa0FBQUFBVUMwWnlqZ0VrZUFKd0EwblBqNWUyN1p0azVPVGs3cDE2M1pEUElZZEFBQUFBR3lsck9DSlBTVUFiaWo3OSs5WGRIUzBhdGV1clc3ZHVsbDBXQzhBQUFBQW9HSUluZ0RjRUFvS0N2VDMzMy9yeElrVENnb0tVcnQyN2NwODNEWUFBQUFBb1BJSW5nQmM5M0p5Y3JScDB5YWRQWHRXN2RxMUsvTFliQUFBQUFDQTdYREdFNERyMnZuejU3Vmh3d1psWjJjclBEeGNEUm8wc0hkSkFBQUFBSEJkNFhCeEFEZWs1T1JrYmRxMFNRNE9EdXJSbzRkOGZIenNYUklBQUFBQVhIYzRYQnpBRFNjdUxrN2J0bTJUbDVlWGV2VG9JWGQzZDN1WEJBQUFBQUEzSElJbkFOZWRtSmdZN2R1M1QzWHIxbFczYnQzazdPeHM3NUlBQUFBQTRJWkU4QVRndXJKNzkyNGRPblJJVFpvMFVZY09IWGh5SFFBQUFBRFlFY0VUZ091Q3lXVFM5dTNiZGV6WU1iVnMyVkpoWVdIMkxna0FBQUFBYm5nRVR3Q3F2WUtDQW0zZHVsWHg4ZkVLRFExVjY5YXQ3VjBTQUFBQUFFQUVUd0NxdWZ6OGZHM2F0RWxuenB4UisvYnQxYXhaTTN1WEJBQUFBQUQ0UHdSUEFLcXR2THc4YmR5NFVXZlBubFhuenAwVkdCaG83NUlBQUFBQUFKY2hlQUpRTGVYazVHajkrdlZLVDA5WGVIaTRHalZxWk8rU0FBQUFBQUJYSUhnQ1VPM2s1T1JvN2RxMXlzek0xTTAzMzZ4Njllclp1eVFBQUFBQVFBa0luZ0JVSzdtNXVWcTNicDB5TXpQVnMyZFArZnY3Mjdza0FBQUFBRUFwSE94ZEFBQllLaTh2VCt2WHI5ZjU4K2ZWbzBjUFFpY0FBQUFBdU1ZUlBBR29Gb3hHbzlhdlg2OXo1ODZwZS9mdXFsT25qcjFMQWdBQUFBQ1VnK0FKd0RVdlB6OWZHelpzVUdwcXFycDE2OGFaVGdBQUFBQlFUUkE4QWJpbTVlZm5hK1BHalRwNzlxekN3OFBWb0VFRGU1Y0VBQUFBQUxBUXdST0FhMVpCUVlFMmI5NnN4TVJFZGVuU1JZMGFOYkozU1FBQUFBQUFLeEE4QWJnbW1Vd21SVVZGNmZUcDArclVxWk51dXVrbWU1Y0VBQUFBQUxBU3dST0FhOUx1M2J0MTh1Ukp0Vy9mWGsyYU5MRjNPUUFBQUFDQUNpQjRBbkROT1hqd29BNGZQcXpXclZ1cldiTm05aTRIQUFBQUFGQkJCRThBcmlseGNYSGFzMmVQQWdNREZSb2FhdTl5QUFBQUFBQ1ZRUEFFNEpweDVzd1ovZjMzMzZwWHI1NDZkdXhvNzNJQUFBQUFBSlZFOEFUZ21wQ1dscWJObXplclZxMWE2dGF0bXh3YytPc0pBQUFBQUtvN2ZySURZSGVabVpsYXYzNjlYRjFkMWJOblR6azVPZG03SkFBQUFBQkFGU0I0QW1CWE9UazVXcjkrdlNTcFo4K2VxbEdqaHAwckFnQUFBQUJVRllJbkFIWlRVRkNnelpzM0t6czdXejE2OUpDbnA2ZTlTd0lBQUFBQVZDR0NKd0IyczNQblRpVW5KNnRyMTY3eTlmVzFkemtBQUFBQWdDcEc4QVRBTG80Y09hTFkyRmlGaG9hcVljT0c5aTRIQUFBQUFHQURCRThBcnJxa3BDVHQyclZMQVFFQmF0MjZ0YjNMQVFBQUFBRFlDTUVUZ0tzcU16TlRtemR2VnExYXRkUzVjMmQ3bHdNQUFBQUFzQ0dDSndCWFRWNWVualpzMkNBSEJ3ZmRmUFBOY25SMHRIZEpBQUFBQUFBYkluZ0NjRldZVENadDJiSkZGeTVjVVBmdTNlWG01bWJ2a2dBQUFBQUFOa2J3Qk9DcTJMZHZuODZjT2FOT25Uckp6OC9QM3VVQUFBQUFBSzRDZ2ljQU5wZVFrS0FEQnc2b1JZc1dhdHk0c2IzTEFRQUFBQUJjSlFSUEFHenF3b1VMMnJwMXEvejkvUlVXRm1idmNnQUFBQUFBVnhIQkV3Q2J5Yy9QMTZaTm0rVGc0S0R3OEhBWkRBWjdsd1FBQUFBQXVJb0luZ0RZeks1ZHU1U2VucTd3OEhDNXVycmF1eHdBQUFBQXdGVkc4QVRBSnVMaTRoUWJHNnVRa0JEVnFWUEgzdVVBQUFBQUFPeUE0QWxBbFV0UFQ5ZjI3ZHRWcjE0OXRXclZ5dDdsQUFBQUFBRHNoT0FKUUpVeUdvM2F2SG16YXRTb29hNWR1M0t1RXdBQUFBRGN3QWllQUZTcGJkdTI2Y0tGQ3dvUEQ1ZUxpNHU5eXdFQUFBQUEyQkhCRTRBcUV4Y1hwL2o0ZUlXRmhjblB6OC9lNVFBQUFBQUE3SXpnQ1VDVnlNek0xSTRkTzFTdlhqMDFiOTdjM3VVQUFBQUFBSzRCQkU4QUtzMWtNbW5yMXExeWRIUlU1ODZkN1YwT0FBQUFBT0FhUWZBRW9OS2lvNk9Wa3BLaVRwMDZ5ZFhWMWQ3bEFBQUFBQUN1RVFSUEFDb2xKU1ZGTVRFeGF0cTBxUm8wYUdEdmNnQUFBQUFBMXhDQ0p3QVZscGVYcDZpb0tIbDZlcXB0MjdiMkxnY0FBQUFBY0kwaGVBSlFZVHQzN2xSV1ZwYTZkdTBxSnljbmU1Y0RBQUFBQUxqR0VEd0JxSkQ0K0hqRnhjVXBKQ1JFUGo0KzlpNEhBQUFBQUhBTkluZ0NZTFdMRnk5cXg0NGRxbDI3dGxxMWFtWHZjZ0FBQUFBQTF5aUNKd0JXMjdGamgvTHo4OVdsU3hjWkRBWjdsd01BQUFBQXVFWVJQQUd3U254OHZFNmRPcVd3c0RCNWVIall1eHdBQUFBQXdEV000QW1BeFhKeWNyUno1MDdWcmwxYlFVRkI5aTRIQUFBQUFIQ05JM2dDWUxHZE8zZkthRFNxYytmT2JMRURBQUFBQUpTTDRBbUFSVTZkT3FYNCtIaUZob2JLMDlQVDN1VUFBQUFBQUtvQmdpY0E1Y3JOemRYMjdkdmw1K2VuNXMyYjI3c2NBQUFBQUVBMVFmQUVvRnc3ZCs1VVhsNGVXK3dBQUZmVjNyMTc5Y3N2djFTbzc0RURCN1JreVJJWmpjWXFycXJvSEJzM2JwVEpaTExaSEJWVlVGQ2d5TWhJYmRxMHlkNmxTSktPSHordWxKUVVlNWNCQUxBREozc1hBT0RhZHZyMGFaMDRjVUpoWVdIeTh2S3lkemtBZ0J0SVZGU1U1czJicDN2dnZkZnF2a3VXTEZGVVZKUUdEUnBrdm1ZeW1YVGh3Z1ZsWkdTWWY1MDdkMDVwYVdsS1MwdFRTa3FLN3JqakRvV0dobG8weCt6WnM3Vjc5Mjc5K2VlZlZ0ZG5hM2w1ZVlxSWlGQkJRWUU2ZGVva0Z4Y1hpL3QrK3VtbldyQmdnZFZ6cmx5NXNzVHJKcE5KNzcvL3ZpNWN1S0E1YytiSTBkRlJTNWN1TFhlODBOQlFCUVlHbHRzdUp5ZEhTVWxKRnRYbzUrY25kM2QzaTlvQ0FLb0d3Uk9BVWhtTlJ1M1lzVU0rUGo1cTBhS0Z2Y3NCQUZ5SCt2ZnZYNmsyTld2VzFQejU4NHRjKzMvczNYbGNWT1g3UC83WE1NTyt5YWF5Q1M0c0N1NjVwR21XYTVxV21WbHFtdmJSTnBXME5CTTMzSGRGVTN1WG1xS21XV21SUzBtb3VTRHVHd2dpcTJ6Q0lKdnN6RERmUC96TitUa3dBd01DZy9oNlBoNDhZdTV6bjNPdUFlT2N1YzU5WDNkeGNUSE9ueitQL3YzN0l5d3NER3ZXckVGK2ZqNEtDZ28wams0U2lVUXdOemRIbHk1ZHRFNDg1ZWJtd3NMQ1FxdStkU0U0T0xqUzdkN2UzamgxNmhTMmI5OWU2WHN5TlRWRno1NDlLN1RQblR0WHF6aisvZmRmWEwxNlZlUDI4K2ZQSXpZMkZuUG56b1ZZTEFZQStQdjdWM25jYWRPbUNZbW5iNy85VnVNNU5tN2NpSmt6WjJvVjY5eTVjOUcvZjMrdFEvRlRvd0FBSUFCSlJFRlUraElSVWUxZzRvbUlOSXFJaUVCaFlTRjY5ZXJGS1haRVJGUW5kdTNhcFhIYmI3LzlodVBIajFmYVI1bkllTnEvLy82TGdvSUNEQmd3QU0yYU5VUDc5dTFoYkd3TVUxTlRtSmlZd01URUJLZE9uVUpFUkFTMmJ0MEtLeXNyV0ZsWlFTS3AzcTF4UmtZR21qWnRXcTE5YXRPcVZhdTA2bmYwNk5GS1J4aTV1cnFxVFR4cG02QzVkKytleHFTUVRDYkRqaDA3MEw1OWU1WGphUm9kSlpQSk1HL2VQQ1FrSktCWHIxNUMrNWd4WXpCZ3dBQVVGaGJDMzk4Znc0WU5RL3YyN1ZYMjNieDVNOXEyYlFzQU9IejRNTFp2M3k2Y0p6TXpFMlBHak5IcS9SQVJVZTFpNG9tSTFNckp5Y0c5ZS9mUXBrMGJXRmxaNlRvY0lpSnFwSnlkblRWdVUwN3hycXhQZVFxRkFyLy8vanRjWFYzUnJsMDdBT3BIN2tSR1JpSWlJcUxHSTNvTENncVFsWlVsbkVNWC92NzdiNVhYRnk5ZVJFRkJnY2FFVVZwYUdtN2V2SWxCZ3dhcFBGQ3F5NGRMdi83Nks5TFQwK0huNXdjQXVIMzdOcnk5dmFHblY3SFViRWxKQ1pZc1dZTEl5RWlzV2JNR2RuWjJ3clpPblRvQmVISi80dS92ajNidDJnbnZNeXdzck03aUp5S2laOGZFRXhGVm9GQW9jUDM2ZFJnYUdzTEx5MHZYNFJBUlVTTlgxWFE3VGR2VlRiTzdlUEVpRWhNVE1XclVxRnFMVDUyNHVEZ0FRSFIwZEswZVY2RlFhSjBJZW5xMGwwS2h3SkVqUjNEMzdsMDRPanFxdlg1djM3NGRvYUdoc0xlM1IrZk9uV3N0WmswU0V4T3hkKzllakIwN0ZxNnVyZ2dQRDhmWFgzOE5IeDhmREJzMlRLVnZSa1lHL1B6OGtKaVlpRldyVnNIVDA3UGE1MHRMUzRPWm1Sa0FJRHM3VzRnQmVKS3dJaUlpM1dEaWlZZ3FpSStQUjBaR0JsNSsrV1hvNit2ck9od2lJcXBIOSsvZng2MWJ0NUNTa29MUzBsS3Q5bm41NVpkVnBrVlZsNmFwZEZWTnRTcy96YTZzckV6b1c5ZFR4Q01pSWdBOFNYWWtKQ1RBeGNYbG1ZKzVhTkVpM0xoeEE4dVhMNjh3amF3cUlwRUl2cjYrK09TVFQ3QjgrWEpzMzc0ZGxwYVd3dmF6Wjg4aU5EUVVvMGFOMGpycFZGSlNvbFcvc3JJeXRmc3VXN1lNcnE2dStPQ0REMUJTVW9LTkd6ZWlkZXZXZU9PTk4xVDYvdnZ2djlpNmRTdnk4dkxRcEVrVDNMMTdGNjFhdFlLUmtaRlc1MWRhdm54NWhiYkpreWRYNnhoRVJGVDdtSGdpSWhYRnhjVzRmZnMybWpkdkRpY25KMTJIUTBSRTlhU3dzQkRCd2NHNGQrOGViR3hzMEtaTkcxaGFXbXFWd0tuT1ZMaW5TYVZTQU5DWVlGRFdYS29zQVNHVlNtRmdZQUJMUzB2ODg4OC9TRWhJcUZFczFYWDkrblhvNmVsQlgxOGY1ODZkcTVYRWs3SzJZbXhzYkxVVFR3QmdiVzJOTDcvOEVtRmhZU28vcyt6c2JHemV2Qm1kT25YQ2xDbFR0RDVlK1ZGSjFaR1VsSVRZMkZqbzZlbGg2TkNoVUNnVUVJdkYyTEpsaXpETjd1clZxd2dJQ0VCRVJBVDY5dTJMVHo3NUJJY1BIOGJPblR0eDhPQkJqQjQ5R20rLy9UWU1EUTIxT2lkclBCRVJOVXhNUEJHUmlsdTNia0VtazlYTEVId2lJbW9ZeXNySzhQdnZ2eU0zTnhmRGh3K3Z0NVZNeDQ0ZFd5djlQRDA5c1dUSkV2ejQ0NDl3Y1hHcDgrUlRmbjQrYnR5NEFTOHZMelJwMGdULy9QTVB4bzBiOTh5anJGYXZYbzJZbUJqMDY5ZFA2MzIyYk5tQ3dNREFDdTIvL2ZaYmhiYWJOMjlpeUpBaEZkcjM3TmtEQndjSDRiV3pzek02ZCs1Y1lXU1NKaEVSRVlpUGoxZHBhOVdxRlZhdFdnVnpjM05FUlVYQjM5OGY3NzMzSGh3Y0hIRHc0RUdjUEhrU2lZbUpjSEJ3Z0orZm56Qmk3dE5QUDhXd1ljT3dkZXRXN05peEE3Ly8vanZHang4UGIyOXZ4TVhGb2JDd0VBQnc5KzVkaU1WaW1KcWFDdFByaUlpb1lXTGlpWWdFNmVucFNFaElnTGUzTjIvaWlJaGVJS0dob1pCS3BSZzNibHk5cnRLbUxtRlNFM3A2ZWxpelpnM3k4dkt3Wk1rU3pKdzVVOWkyZi85K3Rmc29helNwMjk2dFc3ZEtrMituVDUrR1RDWkRuejU5WUdOamczUG56dUh5NWN2bzBhUEhNNzJQbGkxYm9tWExsalhhZC9iczJUVStiNU1tVFZSZUR4OCtITU9IRDlkNi85ZGVlMDF0ZTlldVhWRlFVSUFsUzVhZ2RldldtREJoQW9BblJkRWxFZ2xtelpxRlFZTUdWWmd5NmV6c2pGV3JWaUVvS0FqZmYvODlwRklwL3Z2dlAvejg4ODlDbjJQSGp1SFlzV053ZG5iR3JGbXpBTERHRXhGUlE4WEVFeEVCZVBLMCs4YU5HekEzTjRlSGg0ZXV3eUVpb25wU1dGaUlTNWN1b1Z1M2J2V2FkQUlBWTJOakFFQnVibTZORWdQVzF0WXdOVFVWampGcTFDaDRlM3VyOU5tOWUzZWx4MUMzM2N6TVRHUGlTYUZRNEk4Ly9vQyt2ajc2OSs4UEV4TVRXRmxaWWYvKy9jK2NlSG9XZ3dZTmV1Wmp4TWJHVmxvc1hYa09iZnNCd01hTkc1R2RuWTNseTVjTFV5YzNiZHBVSWRtbHpzQ0JBOUc5ZTNlWW01dERUMDhQa3laTlFrNU9EdDU5OTEzTW5qMWJPSTl5VlR2V2VDSWlhcGlZZUNJaUFFQk1UQXh5YzNQeDZxdXZxbDNpbUlpSUdxZTR1RGlVbFpYVmVLUk5iZmpycjcrcVRCQ3BNMnZXTEdFNjJLUkprOVFtaTVRMWZzcGJ0V29WZ29PRE5XN1g1TXlaTTBoSVNNQ2dRWU5nWVdFQjRNa0lvWUNBQUp3OWV4WjkrL2F0NXJ0NE5tVmxaUlZHRE5YVXhZc1hLLzA5S0JNOTJ2WTdkT2dRenB3NWcvSGp4K1BSbzBlNGRlc1dFaE1UOGY3NzcyUFVxRkhJemMydE1pWnRmaittcHFibzBLRURac3lZSWRUYUtsL2o2ZkhqeDFpOGVMRldDUzhpSXFwZFREd1JFWXFMaXhFZUhnNUhSOGQ2ZjlwTlJFUzZwUnhwWkdkbnArTklLaVlaMHRQVElaVks0ZVhscGRLdXJsQjB1M2J0Nmp5K2dvSUMvUGpqanhDTHhSZy9mcnpRL3M0NzcrRHc0Y1BZdW5VcnVuVHBVcS9UMVl1TGkyRmdZRkNyeHl6L2U5aS9mNy9hUkZObC9XUXlHWDc2NlNjQXdMNTkrd0FBSmlZbWNIUjBoTEd4TVQ3NTVCT1ZWZlBPblR1SDY5ZXZ3OGZIcDlyeHRtelpFdXZYcjYrMGo3bTVlWlY5aUlpb2JqRHhSRVFJRHcrSFhDNUh4NDRkZFIwS0VSSFZNNFZDQVFDMW5yeW9EY2VPSGNPaFE0ZHc0c1FKWFljQzRFa2hiNmxVaXRHalI4UGUzbDVvTnpVMXhVY2ZmWVR2dnZzT3ExYXR3dEtsUzUrNTBMaTJjbkp5R21SZFJvbEVnbzgrK2doR1JrWm8wYUlGV3JSb0FSc2JHMkY3K2FtQnljbkp1SDc5T3Q1ODg4MXFueXM1T1JtUmtaRXFiVkZSVVFDQTRPRGdDdjM3OSs5ZjdYTVFFVkhOTWZGRTlJTEx5Y2xCYkd3c1BEdzhoRG9aUkVSRURVRnViaTdNemMxMUhRYUFKNnZFL2Z2dnYzQnljc0xFaVJNcmJCOHhZZ1JPbno2TlM1Y3VZZXZXclpnMmJWcTF6MUZRVUlCSGp4N0IyZGxaNjMxU1UxTWI3R2psOHFQU2xJcUxpMkZvYUZncjV5Z29LTUNOR3pmZzcrK3ZkdnVxVmFzcXRESHhSRVJVdjVoNEluckIzYng1RTRhR2htamJ0cTJ1UXlFaUlsSng5KzVkNk9ucDRjS0ZDM2pwcFpkcUxWbFJYVWVQSHNVUFAvd0FZMk5qTEY2OFdHMGNJcEVJdnI2KytQenp6L0hubjMraXVMZ1lQajQrUWtGdGJjeVlNUU1KQ1FudzlmVkZ2Mzc5cXV5Zms1T0RwS1FrdlBYV1c5VjVPL1dxb0tBQVVWRlJ1SGZ2SHU3ZXZZdnc4SEI4L1BISFFtMnU2bEpPendzT0RzYWZmLzRKcVZTS1E0Y09WUmdwVmI3R0V4RVI2UTRUVDBRdnNKU1VGS1NucDZOYnQyN1Z1akVtSWlLcVRVT0hEa1hQbmoyRjEzSzVITHQzNzBac2JDeXNyYTJGWkUvWHJsM3h5aXV2b0h2Mzd0aXpaMCtkRjRxV3krWFl0V3NYRGgwNkJBTURBL2o1K1FuRnE5V3hzN1BEc21YTDhNMDMzK0R2di85R1RFd001c3laQTFkWFY2M09wNXoycVB4dlZZS0NncUJRS0ZSK2RyWGg2ZHBMd0pPZlEzVWxKaVppMGFKRlNFcEtna0toZ0sydExieTh2REIyN0ZpODlOSkwxVDdlcmwyN2NPM2FOY1RFeEFCNE1wV3VVNmRPTlU1Z0VSRlIvZUVuVGFJWFZGbFpHVzdkdWdVcks2dEtiNktKaUlqcW1wV1ZGZlQxOVhIejVrMWN2MzRkcDA2ZFFucDZPc2FQSDQrSkV5Y2lPam9hSVNFaE9IdjJMTmFzV1FPeFdJek9uVHVqYjkrKzZOT25UNlUxanI3ODhrdUVoNGRyM0Q1dzRNQUtiVUZCUVlpUGo4ZUdEUnNRRVJFQk16TXpMRnEwQ0owNmRhcnl2WGg0ZUdETm1qVll1SEFoN3QrL2o2bFRwMkxHakJsYTFTN2F2SGt6cEZLcFZvbXFyS3dzSERod0FLNnVydWpTcFV1Vi9hdGoyTEJoV3ZWVDk3TlRzcmUzaDdlM045NTc3ejEwN05oUnBTWldaZnVwMnpaaXhBams1K2RESkJMaGd3OCtRUGZ1M2VIcDZRbVJTSVNUSjAvaTVNbVRGZlpSMW54U3Q2MXQyN2JWbXM1SVJFVFBob2tub2hmVS9mdjNrWmVYaDlkZmY3M2VDcUFTRVJFcDVlWGxZY1dLRlhqMDZCRXlNaktRbTVzTEFEQTJOa2JQbmoyeGNPRkN1THU3QXdEYXRHbURObTNhWU1LRUNZaVBqOGVwVTZmdzc3Ly9Zc09HRGRpOGVUTTJiOTRNTnpjM3RlZDU1NTEzMExkdjMyckhWMUJRZ09qb2FMaTd1MlBldkhsd2RIVFVlbDkzZDNkczI3WU42OWV2UjNwNk9sNTc3VFd0OWpNMU5kVzYzcUpVS2tWaFlTR21UNTllNjlmeEgzLzhVZVgxc1dQSDhNY2ZmMVRvdDJ2WExwWFhmLzMxRjQ0Y09RTGdTWEh4V2JObXFUMStkVmV1YzNWMWhaZVhsOXIzdVhidDJrcjNWYmZkeDhlSGlTY2lvbnJFeEJQUkM2aTR1QmgzNzk2dHNNSU1FUkZSZlRFek0wUEhqaDF4Ky9adGVIbDV3ZG5aR1c1dWJ2RHc4SUMrdnI3Ry9WeGRYVEY1OG1STW1qUUpWNjVjd2FWTGw5Q21UUnVWUG0rODhZWlF1N0FtU1NjQWFOZXVIZno5L2RHNmRXdm82ZWxWZTM5cmEyc3NYNzRjQlFVRk1ERXhxVkVNbFhGM2Q4Zi8vdmUvV2syZ3VMcTZvbCsvZmhWR1hIWHExQW5aMmRrVitwVS9kOGVPSFpHVmxWWGxlV3F5Y3AwbXJPRkVSTlR3aVJUYVRpSW5va2JqeG8wYmlJdUx3NUFoUStya1pwaUlpSjRmSVNFaHVIanhJcjc2Nml0ZGgwSkVSRVRQS1ZFbHcyK3IvL2lHaUo1cmVYbDVpSW1KZ1p1Ykc1Tk9SRVJFUkVSRVZLZVllQ0o2d1lTRmhVRmZYeDhlSGg2NkRvV0lpSWlJaUlnYU9TYWVpRjRnbVptWlNFeE1oS2VuSnd3TURIUWREaEVSRVJFUkVUVnlURHdSdlVCdTM3NE5FeE9UQ2tWWWlZaUlpSWlJaU9vQ0UwOUVMNGpVMUZSSXBWSjRlWGxCTEJick9od2lJaUlpSWlKNkFURHhSUFFDVUNnVXVIUG5EaXdzTE9EaTRxTHJjSWlJaUlpSWlPZ0Z3Y1FUMFFzZ0lTRUJPVGs1Nk5DaEF5cFo1WktJaUlpSWlJaW9Wakh4Uk5USXllVnloSWVIdzliV0Z2YjI5cm9PaDRpSWlJaUlpRjRnVER3Uk5YSnhjWEVvS0NoQWh3NGRkQjBLRVJFUkVSRVJ2V0NZZUNKcXhPUnlPU0lpSXRDOGVYUFkyTmpvT2h3aUlpSWlJaUo2d1REeFJOU0l4Y2JHb3Fpb0NGNWVYcm9PaFlpSWlJaUlpRjVBVER3Uk5WSnl1UnlSa1pGd2NIQ0F0YlcxcnNNaElpSWlJaUtpRnhBVFQwU05WRXhNREVjN0VSRVJFUkVSa1U0eDhVVFVDTWxrTWtSR1JzTFIwUkZObWpUUmRUaEVSRVJFUkVUMGdtTGlpYWdSaW82T1JuRnhNVWM3RVJFUkVSRVJrVTR4OFVUVXlNaGtNdHk3ZHc5T1RrNnd0TFRVZFRoRVJFUkVSRVQwQW1QaWlhaVJ1WC8vUGtwS1NqamFpWWlJaUlpSWlIU09pU2VpUmtRbWt5RXFLZ3JPenM2d3NMRFFkVGhFUkVSRVJFVDBnbVBpaWFnUmlZK1BSMGxKQ2RxMmJhdnJVSWlJaUlpSWlJaVllQ0pxTEJRS0JhS2lvbUJ2YjgvYVRrUkVSRVJFUk5RZ01QRkUxRWdrSmlZaVB6OGZIaDRldWc2RmlJaUlpSWlJQ0FBVFQwU054cjE3OTJCdGJRMDdPenRkaDBKRVJFUkVSRVFFZ0lrbm9rYmg0Y09IeU03T2hxZW5wNjVESVNJaUlpSWlJaEl3OFVUVUNOeTdkdzltWm1ad2NIRFFkU2hFUkVSRVJFUkVBaWFlaUo1em1abVpTRTlQaDRlSEIwUWlrYTdESVNJaUlpSWlJaEl3OFVUMG5MdDM3eDZNakl6ZzR1S2k2MUNJaUlpSWlJaUlWRER4UlBRY2UvejRNWktTa3VEbTVnYXhXS3pyY0lpSWlJaUlpSWhVTVBGRTlCeUxpb3FDUkNKQnExYXRkQjBLRVJFUkVSRVJVUVZNUEJFOXA0cUtpaEFmSDQ5V3JWckJ3TUJBMStFUUVSRVJFUkVSVmNERUU5Rno2djc5KzFBb0ZIQjNkOWQxS0VSRVJFUkVSRVJxTWZGRTlCd3FMUzFGVEV3TVhGeGNZR3hzck90d2lJaUlpSWlJaU5SaTRvbm9PUlFiRzR2UzBsS09kaUlpSWlJaUlxSUdqWWtub3VkTVdWa1o3dCsvRDN0N2UxaGFXdW82SENJaUlpSWlJaUtObUhnaWVzNGtKQ1Nnc0xBUW5wNmV1ZzZGaUlpSWlLaEdpb3VMa1ptWnFlc3dpS2dlU0hRZEFCRnBUNkZRNE42OWU3Q3hzWUd0cmEydXd5RWlJaUtpWjVTU2tnSUhCNGQ2TzE5NGVEamk0dUtlNlJodWJtNW8zYm8xVWxOVHRlcnY1T1FFa1VpazB2YjMzMy9qdSsrK1ExQlFrTkIyOE9CQjdOeTU4NWxpQTZCeVRDTFNQU2FlaUo0aktTa3BlUHo0TVhyMTZxWHJVSWlJaUlpb0JwUVBFa05DUW5EeDRrWEV4OGZYYTZMa3YvLyt3NUVqUjU3cEdHUEhqb1c1dVRrbVQ1NnNWZi9Bd0VBRUJ3ZkQzOTlmcS9mcTQrT2o4cnFzckF5NXVibG8wcVJKcGZ0ZHZYb1ZGeTVjMENvbUlxby9URHdSUFVlaW9xSmdibTVlcjAvRmlJaUlpS2oydlAvKyt3MWlpdG14WThmVXRpOWF0QWczYjk1RVFFQ0F4bnFpWXJFWVlyRllTQ0lOSERnUW4zLytPVWFPSEFrQStQUFBQeXVNWnFxT045OThVK1gxZ1FNSDhQdnZ2MlByMXEyVjNnZm41ZVV4OFVUVUFESHhSUFNjeU1uSlFVWkdCcnAwNlZKaHFESVJFUkVSUFIvTXpNd3dkT2hROU9uVEJ6NCtQaWdxS3RKSkhBWUdCaFhhTWpJeWNQMzZkZlR2M3g5MmRuWmFIVWVoVU5SMmFDckN3c0lRRUJBQWUzdDd5T1Z5SkNZbVZ1aGphV2tKQ3d1TE9vMkRpR3FPaVNlaTUwUk1UQXdrRWdsY1hGeDBIUW9SRVJFUjFWQnQxRENxVFFNSERxelFGaFFVcEhHMGtxWjJzVmhjcTNFQlFGSlNFdno4L0NDVHlaQ1ltS2h4YXQra1NaTXdkdXpZV2o4L0VkVU9KcDZJbmdNeW1Rd0pDUWx3Y1hHQlJNTC9iWW1JaUlocVUwRkJBUzVmdm96bzZHams1T1JVMmYvbGwxOXVWRFUzMzMzM1hRd2RPclRTUHNlUEg4ZHZ2LzBtdkM2ZnNOcXlaUXUyYk5taTBxYnMwNjlmUDNUczJMRmFNVDE0OEFCejVzeEJYbDRlM056Y3NHN2RPcGlZbUFqYjA5TFM4TTAzM3dBQWhnd1pVcTFqRTFIOTRpZFlvdWRBUWtJQ1pESVpXcmR1cmV0UWlJaUlpQnFWKy9mdkl5Z29DSEs1SFBiMjltalRwbzNhYVdoUGMzWjJycWZvNm9lbHBXV1Y3Nmw4dmFkZHUzWUJBRkpUVStIcjY0dFpzMmJCMjlzYkFCQWNISXo5Ky9jTGZVeE1USER4NGtXdDQ4bk16SVNQanc4Y0hCemc3KytQTFZ1MndNZkhCL1BuejRlTGl3dk9uajBMZjM5L09EczdZL0hpeFZVV0hTY2kzV0xpaWVnNUVCTVRBMXRiVzQwRkhvbUlpSWlvK3U3ZnY0L0F3RUM0dTd0andJQUJNRFkyMW5WSU9yRno1ODVxVHdGVUpxcHUzTGdCQU9qV3JSdHNiVzBCQUZaV1ZpcDlBTURhMmhwZVhsNWFIZHZhMmhyejU4OUgrL2J0WVdCZ2dNV0xGMlBIamgzNDlOTlA0ZUxpZ3JpNE9Jd2RPeGJqeDQrdmt5bCtSRlM3bUhnaWF1QXlNaktRazVPREhqMTY2RG9VSWlJaW9rYWpvS0FBUVVGQmNIZDN4L0RodzNVZFRyM1MwOU5UZVYyVHFYYkFrNS9od1lNSDRlbnBLU1NkTk9uVnE1Zks5TVNTa3BKSyszZnQyaFVsSlNXNGVmTW1MbDI2aFBQbnowTmZYMStZYmhjVUZJVDA5SFM0dTd1alpjdVdjSFIwclBSNFJLUTdURHdSTlhBeE1URXdORFNFazVPVHJrTWhJaUlpYWpRdVg3NE11VnlPQVFNRzZEcVVlbFZhV2dwOWZYMlZ0cHBNdFpQSlpGaStmRG1rVWltKytPSUxyYzRkRUJBQVEwTkRpRVFpQkFZR2FseUpMalEwRkFjUEhrUlVWQlQwOVBUUXVYTm5mUFRSUitqZHV6ZU1qWTJSbloyTmtKQVFYTDU4R1QvOTlCUHk4L1BSb1VNSGRPdldUYXM0aUtoK01mRkUxSUFWRnhjaktTa0pibTV1Rlo1TUVSRVJFVkhOUlVkSHc5N2Uvb1diWGxkVVZBUWpJeU9WdHBwTXRZdUlpTUQxNjlmeCt1dXZvM2Z2M2lyYmJHMXQwYUZEaHdyN0JBY0hJeVVsQlFCZ1lXR0JLVk9tcUQyMnU3czcyclZyaDNIanhxRkRodzdZdlhzM2poOC9qbHUzYnNISnlRa3RXclJBaHc0ZE1IandZSWhFSXNURnhjSFkyQmhuejU2dDFuc2dvdnJCeEJOUkF4WVhGNGV5c2pJV0ZTY2lJaUtxWlRrNU9XalRwbzJ1dzZoM2p4OC9ocW1wcWZEYXdjRUJnd1lOUXQrK2ZZVzJBd2NPSUNnb1NDZ09EZ0JuejU3RnlaTW5oZGZ0MjdmSG1qVnI0T25wV2VFY3ZYdjNSdS9ldlRGeDRrU01HREVDbzBhTkFnRHMzcjBiY3JrY1lyRVlJcEZJWTR6VzF0YVlPbldxOE5yRHd3TUFrSlNVaE51M2J5TTFOUlVLaFFJelo4N0UwS0ZEZWE5TTFNQXg4VVRVUUNrVUNzVEd4cUo1OCtZcU53ZEVSRVJFVkR1cVdyMnVNVXBQVDRlTmpZM3dlcytlUFRoNThpU3lzcktFVVVwbVptWUFuaFFITHlrcHdaRWpSekJtekJpTUd6ZE81Vmp0MjdmSDZkT25OWjRySlNVRmQrN2NnYlcxdGRydHpabzFRN3QyN1RUdWYvUG1UVHgrL0JndFdyUkF6NTQ5aFpGYVJVVkZpSStQYjNTckN4STFWa3c4RVRWUWFXbHB5TS9QUjZkT25YUWRDaEVSRVJFMUFpVWxKVWhNVE1TZ1FZT0V0dFRVVkd6ZXZCbE5talRCN3QyN0laR29ma1M4Y3VVS2R1ellnWWlJQ0N4WXNLRENLbklyVnF5bzlKd1hMbHpBaFFzWDFHN3IxNjlmcFltblgzLzlGVmV1WElGQ29RRHdaQ1NVbzZNalhGeGM0T3JxaXFLaUlyaTR1QWlyNkJGUnc4VEVFMUVERlIwZERSTVRFOWpiMitzNkZDSWlJaUtxSlZ1MmJCRytsOGxrRmRvQVlQcjA2UUNBNjlldkl5QWdBTDYrdnJDenMzdm1jOSs4ZVJNeW1ReGVYbDRBZ0xLeU1xeGV2Um9sSlNXWVBYdDJoYVFUOEdUYTNJY2Zmb2k5ZS9kaTNicDFtRE5uanNvMHVhQ2dJSTNuR3pod0lNYU9IWXRKa3liVktON2x5NWRESnBNaE5UVVZpWW1KZVBEZ0FlTGk0aEFXRm9ZVEowNUFMcGZqbFZkZXdhSkZpMnAwZkNLcUgwdzhFVFZBQlFVRlNFMU5oYmUzZDZYejM0bUlpSWpvK1JJWUdGaGxtekx4VkZwYWlwaVlHRXliTmczTGxpMkRtNXZiTTUzNytQSGprRWdrNk5HakI0QW5OWmZDdzhNeFljSUVkT3pZVWVOK0V5Wk1RRVpHQms2Y09BRnJhMnVOUmNIcmdrUWlnYk96TTV5ZG5kR3JWeStodmFTa0JERXhNVEEzTjYrM1dJaW9acGg0SW1xQVltTmpJUktKMExKbFMxMkhRa1JFUkVTMXFMSVJRdVgxNk5FRDY5ZXZ4N3g1OC9EMTExOWp5WklsbFNhSUtoTWJHNHVRa0JEMDY5Y1BscGFXT0gzNk5BNGVQSWpldlh0ajlPalJTRXRMUTVNbVRRQUFVVkZSTURFeFVkbC94b3daZVBEZ0FRNGRPZ1I3ZTN1dGE1QW1KQ1JVV2djS0FIcjE2Z1ZEUTBQaDljQ0JBNnY1N29pb0lXUGlpYWlCS1NzclEyeHNMQndkSFNzc2RVdEVSRVJFTHhaM2QzZXNYYnNXczJmUHh2NzkrMnVjZUFvTURJU2VuaDQrL1BCRHlHUXkvUHp6ei9EdzhNRGN1WE5SVUZDQThlUEhxL1R2MzcrL3ltdUpSSUtGQ3hkaTVzeVphTnEwS1h4OWZiVTZiMlUxbnBSKy92bG5sYW1FUGo0K1dyNHJWVmV2WHEzeVhFUlUvNWg0SW1wZ2twT1RVVnhjekdWaGlZaUlpQWdBMExKbFM2eGZ2LzZaNmp4Tm1qUUpMaTR1d2twd0d6ZHVoRUtoZ0pHUkVZeU1qREIrL0hpVWxKUkFvVkNnZWZQbUdEeDRjSVZqV0Z0YlkrZk9uWkJJSk5VYXVhV3RIajE2d05yYVdxWDRlWFY0ZVhtcFRNY2pvb2FCaVNlaUJrWTVWNzFwMDZhNkRvV0lpSWlJR2dnWEY1ZG4ydC9TMGhJalI0NFVYcHVabWFsc256aHhvbGJIVVZlQXZMYTBiTm55bVVwTlBPditSRlEzOUhRZEFCSDkvM0p5Y2lDVlNqbmFpWWlJaUlpSWlCb0ZKcDZJR3BEWTJGaUl4V0s0dXJycU9oUWlJaUlpSWlLaVo4YkVFMUVESVpmTGtaQ1FnQll0V2tCZlgxL1g0UkFSRVJFUkVSRTlNeWFlaUJxSTFOUlVsSmFXY2w0NkVSRVJFUkVSTlJwTVBCRTFFUEh4OFRBek00T05qWTJ1UXlFaUlpSWlJaUtxRlZ6VmpxZ0JLQzR1eHNPSEQ5R3VYVHRkaDBMMDNKREpaRWhJU0lCVUtrVmhZU0hrY3JtdVF5S3FOckZZREdOalk5aloyY0hGeGFWT1Y0c2lJaUlpMGdYZTNSQTFBQThlUElCQ29Yam1aWEtKWGhTWm1abTRlL2N1Ykd4czBMWnRXNWlabVVFc0Z1czZMS0pxazh2bHlNdkxRMHBLQ2tKRFE5R3VYVHRZVzF2ck9pd2lJaUtpV3NQRUUxRURrSkNRQUZ0Ylc1aWFtdW82RktJR0x6TXpFK0hoNGZEMjlvYVZsWld1d3lGNkptS3hHSmFXbHJDMHRFUldWaGJDd3NMZzVlWEY1Qk1SRVJFMUdxenhSS1JqdWJtNXlNcks0bWduSWkzSVpETGN2WHVYU1NkcWxLeXNyT0R0N1kyN2QrOUNKcFBwT2h3aUlpS2lXc0hFRTVHT0pTUWtRRTlQRDg3T3pyb09oYWpCUzBoSWdJMk5EWk5PMUdoWldWbkJ4c1lHQ1FrSnVnNkZpSWlJcUZZdzhVU2tRd3FGQWdrSkNYQndjSUMrdnI2dXd5RnE4S1JTS1J3Y0hIUWRCbEdkY25Cd1FFWkdocTdESUNJaUlxb1ZURHdSNlpCeU5TNVhWMWRkaDBMMFhDZ3NMSVNabVptdXd5Q3FVMlptWmlnb0tOQjFHRVJFUkVTMWdva25JaDFLU0VpQW9hRWhtalZycHV0UWlKNExjcm1jcTlkUm95Y1dpeUdYeTNVZEJoRVJFVkd0WU9LSlNFZGtNaG1Ta3BMUW9rVUw2T254ZjBVaUlpSWlJaUpxZlBocGwwaEhrcE9USVpQSnVKb2RFUkVSRVJFUk5WcE1QQkhwU0VKQ0Fpd3NMTGc2RnhFUkVSRVJFVFZhVER3UjZVQmhZU0hTMDlNNTJvbUlpSWlJaUlnYU5TYWVpSFRnd1lNSFVDZ1VhTkdpaGE1RElTSWlJaUlpSXFvelREd1I2VUJDUWdLYU5tMEtFeE1UWFlkQ1JFUkVSRVJFVkdlWWVDS3FaOW5aMmNqSnllRTBPeUlpSWlJaUltcjBtSGdpcW1jSkNRa1FpOFZ3Y25MU2RTaEVSRVJFUkVSRWRZcUpKNko2cEZBbzhPREJBemc2T2tJaWtlZzZIQ0lpSWlJaUlxSTZ4Y1FUVVQxS1QwOUhVVkVScDlrUkVSRVJFUkhSQzRHSko2SjZsSlNVQkVORFF6UnIxa3pYb1JBUkVSRVJFUkhWT1NhZWlPcUpRcUZBY25JeUhCMGRJUktKZEIwT0VSRVJFUkVSVVoxajRvbW9ua2lsVWhRWEY4UFIwVkhYb1JBUkVSRVJFUkhWQ3lhZWlPcEpjbkl5REF3TTBMUnBVMTJIUWtSRVJFUkVSRlF2bUhnaXFnY0toUUpKU1Vsd2NIQ0FuaDcvdHlNaUlpSWlJcUlYQXo4QkU5V0RSNDhlb2Fpb0NFNU9Ucm9PaFlpSWlJaUlpS2plTVBGRVZBK1NrcElna1VpNG1oMFJFUkVSRVJHOVVKaDRJcXBqbkdaSFJFUkVSRVJFTHlwK0NpYXFZMWxaV1Nnc0xPUTBPeUo2WVNnVUNsMkhRRVJFUkVRTkJCTlBSSFZNT2MydWVmUG11ZzZGaUJxb1ZhdFdZZFdxVmNqSnlSSGFUcDgralpTVUZLMlBrWmVYVnhlaFZZdENvY0RKa3ljeGZ2eDRSRVpHNnVUOGVYbDVLQ29xcXZkekV4RVJFWkY2RWwwSFFOVFlKU1Vsb1huejVoQ0x4Ym9PaFlpZXNtWExsbG85WHJkdTNkQ3paODhhN1JzY0hBd0FtRFJwRWl3dExYSG56aDJzWExrU0JnWUcrTC8vK3orOC9mYmJsZTUvK1BCaDdOdTNEMnZYcmtYcjFxMXJGRU50RUlsRXVIanhJdExUMDdGOCtYTDg4TU1QTURZMnJyZno3OSsvSDN2MjdNR29VYVB3NmFlZlZtdmZnb0lDNU9YbElUYzNGems1T2NqT3prWmhZU0hlZlBQTk9vcVdpS2poa0VxbCtPdXZ2L0RCQngvVTY5OXRiVnk1Y2dVMk5qWm8xYXBWcFcxVjJibHpKNktqbytIcjZ3c3pNN05xeDFGWVdJaUhEeCtpWmN1VzFkNjNLcjYrdm1qYnRpM0dqeDlmNDJPVWxKUkFKcFBCeE1SRVk1Lzc5KzlqeDQ0ZCtPcXJyOUN1NmhmNkFBQWdBRWxFUVZTMGFkTnFuME1xbGNMR3hvYmxRNmphbUhnaXFrTlpXVm5Jejg5SCsvYnRkUjBLRVpVVEdCaFlxOGN6TXpPcmNlS3BQRzl2YjR3Yk53Nzc5Ky9IMXExYmNldldMY3llUFZ2dHphUmNMc2ZGaXhmeCtQRmp6SjA3RjVzMmJZS2pvNk93ZmVEQWdUV093ODNORGR1MmJhdldQbDk5OVJVaUlpS1FsWldGeU1oSWRPN2N1ZHJuclN6bUZTdFdvRnUzYmhYYTQrUGpzWC8vZmdEQStmUG5NV0hDaEVwdnZnRmcxcXhaU0VoSVFINStQdVJ5dWRvK3ZYcjFnclcxTmQ1Nzd6MWtaV1ZWZXJ5Z29LQkt0eE1STlZUbno1L0hnUU1Ia0p1Yml5Ky8vTExLL29XRmhSZ3hZa1N0bkx1cXY1M3o1czFELy83OU1YZnUzRXJiS3ZQZ3dRUDg5dHR2Nk5XclY0MlNUZ0N3Yk5reTNMdDNEOXUzYjRlZG5SMGlJaUl3WThhTWFoMWo3dHk1Nk4rL3YwcGJjWEV4cmwyN0JrOVBUNkV0UGo0ZVU2Wk1xZko0Nzc3N0xqNzU1Qk1Bd01xVks1R1VsSVNsUzVkcW5Ha2hrVWdRSGg2T0pVdVdZTk9tVFpCSTFLY0RybCsvanBTVUZEeDY5QWdaR1JsSVRFeEVmSHc4OHZQenNXblRKcTMralFDcXY5dURCdzlpNTg2ZFd1Mm43VEhwK2NIRUUxRWRTa3BLZ2xnc2hyMjl2YTVESWFKeXRMbHhtVHg1TWhJVEUrdjlKa2NrRW1IaXhJbG8yN1l0bGk5Zmp0RFFVRVJIUjZORGh3NFYrb3JGWXZqNStXSFdyRm1JaVluQm5EbHpzR25USnRqWjJRRUFyS3lzMUo1RG9WQWdPenU3MGo2V2xwYkM5MU9tVE5HWW5DbXZ1TGdZaG9hR1dvOHEyN1ZyVjRVMnNWZ01Cd2NINGZYRGh3OVJXbHFxOWlscmFXa3AxcTFiQjVsTUJqczdPNlNscGVINzc3L0hyRm16S2oxdmVubzZjbk56WVdCZ0FFdExTK0hMeXNvS1ZsWldzTFcxclZDdnl0blp1Y0p4a3BPVFVWWldwdFY3SlNKS1RFekU3Ny8vam12WHJpRWpJd05HUmtidzl2YkdoQWtUNE9ibXBwT1kzbnJyTGZ6enp6ODRkdXdZWG4vOWRiWFhtNmNaR1JtcC9kdjl6ei8vNEpkZmZsSFpwcTZ0UGhVWEYyUHAwcVdReVdRNGUvYXMxZzlreWwvN0owK2VqR25UcG1INTh1Vll2MzY5MEw1OCtYTFkyOXNqTlRVVnZyNit3dnVjUEhteXNFMzVXcDN3OEhESTVYSzBhOWV1d3Jhbjl5OXZ5WklsS3EvSGpCbUQrZlBuWTlxMGFWaTZkQ2xhdFdvbFhPZVZURXhNOE5aYmJ5RWtKQVJSVVZHd3NiR3BjTnltVFp2aXhJa1QrTysvLzJCdmI0K1VsQlQwN05rVDA2ZFBSK3ZXcmRHaVJRc0F3TWlSSXpGOCtIQzFzZjMxMTE4NGN1U0kybTArUGo0cXI4dkt5cENibTRzbVRacW83YTkwOWVwVlhMaHdvZEkrMUhBeDhVUlVoNVRUN0RROVRTQWkzZEEySWFJYzRWS2RhWG5UcDArdlVVenFkTy9lSGY3Ky9raE1US3owUTRDSmlRbFdybHlKTDc3NEF1bnA2ZmoyMjIreGNlTkdtSnViNDlDaFEycjNlZnBwdGFZK1Qzdnc0RUcxa3l1NXViblY2djgwVzF0YjRlYTl1TGdZbzBhTmdyNitQanc4UENyMFhiOStQZTdkdTRkV3JWcGgvZnIxK1BMTEwzSGl4QWw0ZTN0ajBLQkJWWjdyMkxGaldzZWw3b09UTnFPaGlJZ0FJRG82R3RPblQ0ZFlMRWJuenAzUnRXdFh4TWZISXpRMEZOZXVYY09HRFJ0VVJyN1VGcmxjWG1VdHdBOC8vQkNuVHAyQ3FhbXBTczNCcDVtWm1VRXNGa01rRXFsTnhDc2ZXRHk5VFYxYmZTa3JLOE9hTld1UW5Kd000TWtJb2FGRGg2cnRxMUFvOE9PUFB5STBOQlF2di94eWhlMnRXN2ZHQng5OGdMMTc5Mkx2M3IzbzBhTUhBTURlM2w3bHZUMzlmZmx0U29XRmhjakl5QUFBSVpsaWFtcUt4TVJFQUU4ZXFGUzJQd0RvNit1cnZQYjA5TVRHalJzeGUvWnNMRm15QkZPblRzV0tGU3ZVN2d0VVRBQXBIVHQyREQ0K1B2am1tMjhna1Vnd2NPQkE5T2pSbzhKSUxVdExTNDJ4UGYzZ3FyenlVOWdQSERpQTMzLy9IVnUzYmxWNTRGUmVYbDRlRTAvUE1YNGFKcW9qT1RrNXlNdkxnNWVYbDY1RElhSnlxanZOcmpyOXAwK2ZqcHljSEx6NzdydlZEYXRhdFIyV0xsMnFNclhQeXNvS2ZuNSttRGx6SnV6czdJU0VkMWxaR1ZKVFUxV20zMVZGb1ZBZ0pTVkY3VDYxT2ZwcjZOQ2h3czExWlM1ZnZvemk0bUwwNmRPbndoU0pnSUFBQkFjSHc4VEVCUFBuejRlWm1Sbm16WnVIR1RObVlQMzY5VEEzTjFmN0FhSzZDZ29LWUdobytNekhJYUlYVzI1dUxsNTk5VlY4OXRsbktoL085KzNiaHoxNzltRFhybDFZczJaTnJaODNLaXBLNjJsaFo4K2UxYmh0NjlhdGNIZDNCd0RrNStjak16TlRaYnN5WWFWTW9HaHFVeXFmdUxoejV3NDhQRHhnWUdDZ1ZheFB5OHJLZ3JtNXVYRDlVeWdVMkxCaEE4NmZQNCtsUzVmaTRzV0xPSHo0TUZ4ZFhURjQ4R0NWZmZQejg3RjI3VnFFaG9iaXBaZGVncSt2cjlwenZQLysrN2h4NHdhNmR1MWE3ZmllZHYzNmRTeGV2RmlsN2VrSFZ3c1dMQUFBcEthbWFqeUd1dXVuczdNek5tellnS0tpSXRqWTJHRGR1blhDdG9zWEwrTE1tVE1ZTTJaTXBiV3g5UFgxYS9UenI0bXdzREFFQkFUQTN0NGVjcmxjN2I4UlMwdExXRmhZMUVzOFZIZVllQ0txSTBsSlNkRFQwK00wTzZJR3lzaklDSC85OVZlbGZhb3oxVzc0OE9IQ2FtcGlzYmhhVDNhVk4xcjI5dlphajVCVVYvelZ6YzBOYTlldWhadWJHeVFTQ1dReUdXYk9uSW5VMUZUczNMbXowaWVRVHp0MTZoVFdyVnVIc1dQSDRzTVBQOVQ2ZlNnTkhEZ1ErdnI2T0g3OGVMWDNWZWZjdVhNQWdBRURCcWkwNzlxMUN3Y09ISUMrdmo3OC9QeUVuM21yVnEwd2YvNThMRjY4R011V0xjUE1tVE1yN0ZzZGVYbDVLQzR1cnZSSkxCR1JOcnk4dk5DbFM1Y0s3ZSsrK3k0Q0FnSVFFUkZSSitlMXQ3ZlhPTUpGeWQvZkgxWldWcGd3WVlMR1BzMmFOUk8rdjNEaEF0YXVYYXUybjdwcFplcmFucjYrWHI1OEdiNit2cGd6WjA2TjZoTisvLzMzdUhidEduYnUzQWtqSXlPc1hMa1NJU0VobURsekpycDM3NDZYWG5vSnVibTVXTGR1SGU3ZnY0OHBVNmJBME5BUUZ5NWN3TmF0V3lHVlNqRml4QWg4L3ZubkdoY0ZNakF3d01hTkd3RkErRjBwRjZjb0tDZ0FvTHJLckhKYmViMTc5MFpRVUJEdTNMbURXYk5tWWNHQ0JlamJ0Nit3UFQ0K0hnQTBKc0NVWG5ycEplSDc3T3hzTkduU1JPVmExYkZqUndCQWJHd3NUcHc0Z2FaTm0rSzExMTRUcHJVVkZoYmlqei8rd0toUm82cWRiSkxKWkNnc0xOUzRyU3BKU1VudzgvT0RUQ1pEWW1LaXhxbUlreVpOd3RpeFk2c1ZHelU4VER3UjFaR2twQ1EwYTlhc3dqQllJbXBZcmwrL3JyWjJrYm9DMWxldVhLblFwcWVuVitISnA1bVpXYlZxV1NodnNOZXVYYXR5VTE4VGJkdTJGYjZYU0NSbzFhb1ZJaU1qc1duVEppeGF0S2pLL1l1TGk3Rno1MDdJWkRLSVJDS2gzZExTVXVzYVQ5cXl0TFJFU1VsSnBYMUtTa3B3NmRJbFdGcGFvbnYzN2dDZTNOQnUzTGdSSjArZWhFUWlnYSt2THpwMTZxU3lYOCtlUGZITk45OWc5ZXJWV0wxNk5TSWlJakIxNmxTMW81WTAzZXlPR3pjTy9mdjNGMzd2TGk0dU5YbWJSUFFjS0Nnb3dPWExseEVkSGExeG10blRYbjc1WmZUcTFhdmE1OUUwY3RMUTBCQmlzYmhDWGJuYTBxUkpreXBYNmZUMzk0ZVptVm0xVi9NOGN1U0lNQnIxMTE5L3hROC8vS0NTVUZMWGR2andZV3pmdmwzbE9GMjZkSUdscFNXT0hqMWE3Y1JUWVdFaFFrSkMwTHAxYTJGMTJDdFhydURMTDcvRUcyKzhBZURKOVhyKy9QbjQ2YWVmY1BEZ1FZU0VoS0JwMDZZSUR3OUhzMmJOc0d6Wk1tSDZYSFZNbXpaTjVmWElrU00xYml2dnhJa1RhTktrQ1p5Y25EQnc0RURoWitUaTRvSWpSNDdBMU5SVTVWcGMvajByRTJSLy92a25kdTNhaFJrelpsU1lFcGVVbElSdnYvMFdqbzZPV0xseXBjcERxTWpJU1B6MDAwK0lpNHZEdkhuemhQYnlQMzkvZjMvNCsvc0RBSDc4OFVjQVQwYnA3ZHUzcjlMM3A4bURCdzh3Wjg0YzVPWGx3YzNORGV2V3JWTlpFQ1F0TFEzZmZQTU5BR0RJa0NFMU9nYzFMRXc4RWRXQjNOeGM1T2JtcXExRlFrUU55NkpGaTRTUlNrOVROOHJwNlpzeXBhcEc5aWdVQ2h3N2RneURCdyt1TWhHZGxaV2xNZkdVbDVlSDlQVDBhaTBkRFFBZmYvd3h6cDA3aC9QbnorUDA2ZE40N2JYWEt1MS84T0JCU0tWU09EazVZY3lZTVVLN3NnN1U3Tm16OGVqUm95clBLNVBKTkNaMGxBNGNPRkRsY1M1ZnZveUNnZ0s4ODg0N2tFZ2tpSTZPeHVyVnF4RWZIdzlUVTFQNCtma0pUM1RMZSsyMTE0UXBpSUdCZ1RoLy9qekdqUnVIb1VPSHFvd3NVemUwSDNqeU01ZkpaUGp0dDk4QW9NTE52Skt4c1RHeXNySVFHeHNyL0g0VUNvWEdEd3Zha0VxbCtPV1hYMnE4ZjNVa0pTWFZ5M21JR3FyNzkrOGpLQ2dJY3JrYzl2YjJhTk9tVFpXalAycTdYbEZjWEJ4a01sbWQxSGQ2WGtna0V2VHYzeCtIRHg5VytYdXFqVE5uenFDb3FBakRoZzBEQUxSdjN4NTc5dXlCcmEydFNyK01qQXlZbVpuQnlzb0tVcWtVVXFrVXdKT0hUV1ptWnBETDVXcEhPNTA4ZVZJbElUbDY5R2hoRkZtWExsMWdaR1NFOFBCd25EdDNEbE9tVEZGN2pKQ1FFSlhmYjE1ZUhzNmVQWXVSSTBkV3VEL1FwajZoVW9jT0hUQjM3bHljUEhrU3ExYXRRbGhZR0w3NDRndElKQktFaFlWaDhlTEY4UER3d1B6NTgyRnNiSXpTMGxLVWxKU2dwS1FFRGc0T0dEQmdBSUtDZ3RDNmRXdmh1cTk4ZUJZVUZJUURCdzVnd29RSjZOZXZINEFubytmR2pCbUR0bTNiQ3RNdXk0dUtpdEk0ZWk4ek14TStQajV3Y0hDQXY3OC90bXpaQWg4Zkg4eWZQeDh1TGk0NGUvWXMvUDM5NGV6c2pNV0xGMWRaZEp5ZUQwdzhFZFdCcEtRa2lFUWlUc3NnYXFEMjdOa2pKQVgyN3QycmRkRnNkWWtBNVhGKytPRUh0VStxTjIvZWpLTkhqK0xTcFV0WXRHaFJwVlBwZnZubEY3V2prb3FMaXpGLy9ueEVSMGZqcTYrK0VwSkh5Y25KUWgwSUpTTWpJMnpidGsxNGJXRmhnWWtUSitLNzc3N0Q5dTNiaFp0cmRXSmpZM0h3NEVFQXdJd1pNOVFteWxKVFU1R1dscWJ4UFNncEZBcU5DWjNxK08rLy93QUFyN3p5Q3FSU0tXYk9uSW1pb2lLNHVMaGd3WUlGVlk1QzZ0U3BFN1p0MjRZTkd6Ymc1czJidUhUcGt2REJSRW5UVk1xU2toSnMzTGdSVVZGUmNITnpRKy9ldmRYMjgvRHdRRXBLQ2o3OTlGTVlHQmlncEtRRSsvYnRROU9tVFd2d2pwL0l5Y2xCZm41K2pmY25JdTFrWm1iaTRzV0xjSGQzeDRBQkE5Uk9ZNjRQeXV0TCtiOVB6NFBrNUdSaHRJcTJOWjdLcjdhbTlNWWJiK0R3NGNNNGR1eFl0UmJyT0g3OE9Dd3RMWVhrQ1BCa2tZcUNnZ0tFaDRjTEk2Q2lvNk1CUENuRS9kRkhIOEhLeWdwLy9mVVhqaDgvanFOSGo4TEl5QWllbnA1bzJiSWxuSnljWUd0cmkrYk5tK1BYWDM4VnByOEJUeEpQVDQ4aXk4dkx3Ly8rOXorMGF0VktXRlcydlBJanlmNzU1eCtVbEpSZzJMQmhGZW8xN2RxMUM1TW5UOFlubjN5aWNSVFc1TW1UTVhueVpQVHYzeDkyZG5iWXNHRUQxcXhaZzJQSGpxRnYzNzZ3dExURXJGbXpvRkFvRUJZV2h0R2pSNk9rcEVUanFMcGR1M2JCdzhNRG5UcDFFaEtyTVRFeEFKN1VrWHc2MmZwLy8vZC9hbytoWkdkbnAvR2FhVzF0amZuejU2TjkrL1l3TUREQTRzV0xzV1BIRG56NjZhZHdjWEZCWEZ3Y3hvNGRpL0hqeDJ1YzhralBIeWFlaU9wQWNuSXltalp0V20rRitZaDBUUzZYbzdpNFdIaUNwdnlTeVdTUXkrV1F5V1RDbDdyWFpXVmxVQ2dVd24rZi9ucTZyYmFlZWoyZEZMNTI3WnJhS1dUcW5qWmV2WHExUXB1ZW5oNEdEQmlnc1o3Yk8rKzhnek5uemlBME5CUXJWcXpBZ2dVTE5JNkV1WERoUW9XbnZISzVITXVXTFVONGVEaEVJcEZLTXFLMHRMUkNjc2ZJeUtqQ2NZY05HNFlqUjQ0Z09Ua1pPM2Z1VkZ2blF5YVRZZlhxMVpESlpIampqVGZRdVhObnRURXFWVmIzcXFvYVR4OTg4SUd3bWs5VnZMeThjT2JNR1J3NmRBaExseTdGVjE5OWhWdTNidUhUVHorRm9hRWhCZzhlRERNek0veisrKzhWOWgwOGVEQXNMUzF4Nk5BaHJGMjdGcWRQbjBhUEhqMjB2cEU5YytZTVRwNDhDV3RyYS9qNittcE1HazZkT2hWRlJVV0lpb3FDWEM1SDgrYk5ueW5wQkFCdDJyUjVwcnBVMVJFU0VvS0xGeS9XeTdtSUdwcVltQmk0dTd0clhCYStQZ1FIQitQVXFWUG8xS21UeHBHVnRTVWxKYVhTN1RLWlRHTWZrVWlrOWxxbmJqcVp0aldleW5OMWRZV2JteHRPbno2Tnp6NzdUS3U2aC9mdTNVTmtaQ1RlZi85OTRZSEp4bzBiY2Z2MmJTUW5KME9oVUVCZlh4OWVYbDc0NUpOUFlHdHJpd2NQSHFCWHIxNnd0TFJFejU0OWtaT1RJNndzR0JZV2hwczNid3JIbnpWcmxqQzlMQ0FnQUh2MzdsVTVmMGxKQ1JZdVhJaTB0RFNrcGFWcG5DWTRhTkFneko0OUc4Q1Roek9CZ1lIbzFxMGJtamR2WHVGYXJrenkyTmpZVkRxNnpzYkdScmplR0JvYVl2NzgrUWdQRDRlM3R6Y1VDZ1VHRGh3SVEwTkRtSnFhd3NURUJFWkdSakEyTmxiNTNzaklDSEs1SElzV0xjS0JBd2VFcWV1UEh6L0dqUnMzQUR3WkZYamt5QkdNSERrU0owNmN3SVlORzZyOHZTaXB1MS9vMnJVclNrcEtoQWRDNTgrZmg3Nit2cERBREFvS1FucDZPdHpkM2RHeVpjdHFMWkJDRFJNVFQwUzFyTEN3RU5uWjJXb0xSeEk5VDBwTFMxRllXRmpoUzVsZ2VqclJWRlh0SDVGSUJJbEVJbnlKeFdKSUpCSVlHaHBDSXBGQVQwOFBJcEVJSXBGSTVmdnliUThmUHF6MTk3bHAweWExVSszVUpaN1VGVkhWMTlldk5FR2dIQ28rZCs1Y25EdDNEdHUyYmNNWFgzeWh0cTlDb2NEMjdkdUY4OGhrTXF4Y3VSS2hvYUhRMDlQRFYxOTlwUktYcTZ1cnlnMmRwcHRkaVVTQ2p6LytHTnUzYjlmNEJMS3NyQXd1TGk3SXpjM0ZKNTk4b3ZIOTFMZTMzbm9MNTg2ZFEyaG9LQzVjdUlCKy9mcXBQTkV1S3l2VCtPK3YvTGFxcGhtV04yalFJS1NtcG1MNDhPR3d0cmJXMk0vVzFoWkxsaXlwMXJHSnFHRlFLQlQxbHVSVjUvYnQyMWkvZmoyYU4yOE9YMS9mWjVxaXE0MkpFeWRXdWowMU5WVmpuL0lQRkZxMGFJRVJJMGFvMU04TERRM0ZuajE3OE9XWFgxWmFjdUxXclZzYVY4OTc5ZFZYc1dQSERseThlQkY5K3ZTcDZpM2h5SkVqa0Vna0dERmloTkRtNmVtSnZMdzhEQmt5QkI0ZUhtalhycDN3UUhqZnZuM1l1M2N2M25ubkhhRy9wYVVsQmc4ZUxLeDJsNW1aaWZqNGVFaWwwZ29yNEQydHFLZ0lpeGN2Umx4Y0hOYXNXVk5oYWgvd0pBbW1YSzFQS1RzN0d5a3BLVWhKU1ZHNWRpdS9WMTdidDIvZmp0MjdkMWY1TTFBU2lVVHc5dllXdnYvNjY2OHhiOTQ4REJvMFNMZ0dmdnZ0dHhnNmRDaTZkKytPME5CUWJOKytIYXRXcmNMV3JWdGhZMk1qSE92VXFWTkNVaXd5TWhMSGp4K0hUQ2JEMEtGRGhYTW9IVGh3QUVGQlFWclZ0d3dORGNYQmd3Y1JGUlVGUFQwOWRPN2NHUjk5OUJGNjkrNE5ZMk5qWkdkbkl5UWtCSmN2WDhaUFAvMkUvUHg4ZE9qUVFXM3RUWHArTVBGRVZNdVV5NTV5TlR0cXlCUUtCUW9LQ3BDZm40Kzh2RHprNStlam9LQkFKY0drN3NPOGdZRUJqSXlNWUdCZ0FGTlRVMWhaV2NIUTBCQUdCZ2JDbC9LMXZyNitrR2pTMDlPcmxianJJdkZVMmNwMm16ZHZWdms1YUxPNm5Ub2RPM2JFdEduVHNHblRKdnp4eHg5d2RIVEUyMisvWGFHZm1aa1pidDY4aWVQSGo2Ti8vLzVZdkhneHJsNjlDbjE5ZmZqNittcE1HbW1qVDU4KzZOcTFxMHJ4enFjWkdCaGczcng1U0V0TGc2bXBhWTNQVTl0RUloRSsvZlJUZlA3NTU5aTllL2N6L1F4cUlpSWlRcGp1cDQzcUZKVW5JdDB6TnpmWDJmUzZ5TWhJTEZpd0FPYm01bGkxYWxXOTFMSlJWNnRRYWNXS0ZiQ3hzZEg0OE9IcDBhS0ppWWt3TlRYRjIyKy9qZlQwZEFCUFJ1aHUyYklGTXBrTSt2cjZsVTYzdHJhMnh0dHZ2NDNFeEVSWVcxdXJYSGY2OWV1SEhUdDI0T1RKazFVbW5xUlNLZjc3N3ovMDdkdFhaWXJiRzIrOGdTNWR1dUQ2OWV0SVRVMFY3czhCNE9iTm01QklKTUtLcWVvWUdSbFYrYkJDS3BWaThlTEZlUERnQVZhdlhvMkhEeC9DMDlOVDVkL1RMNy84Z2p0MzdxQnIxNjRxbytvc0xTMVZyaGVwcWFudzlmV3RjQTM1NElNUE5FNjFVNWNnZlBEZ0FRSURBekZxMUNqWTI5dERMcGZqNnRXcktndHdYTDE2VlhoQW5wdWJpL3YzNzBNbWs2a2t6Y3JLeW5ENDhHRU1HREFBQVFFQkdENThPT0xpNHZERER6L0ExdGEyd3M5R09ZVmZtOXBuN3U3dWFOZXVIY2FORzRjT0hUcGc5KzdkT0g3OE9HN2R1Z1VuSnllMGFORUNIVHAwd09EQmd5RVNpUkFYRndkalkyT05pVXA2UGpEeFJGVExVbE5UWVdGaG9mSERIVkY5VVNnVXlNdkx3K1BIajRYa1VsNWVuckRrNzlOMWpmVDA5R0JzYkF4alkyTllXVm5Cd2NGQmVLMzhNakl5YWhSejdiZHMyVktueHhlTHhmajg4ODhydEE4Yk5neFJVVkc0ZCsrZXhwV1FwazZkaWcwYk51Qi8vL3NmVHB3NGdjaklTSmlhbW1MSmtpWG8wS0hETThlbXpkOGxiVmZWcTJyS1JHWEZ4Yk95c3JRNmg1S2JteHZhdFd1SHUzZnZJaVltQnExYnQ2N1cvbFhSTkZKczNyeDVTRTFOclhKcUNoRTl2M1NWZExwLy96NisvZlpiR0JrWlljMmFOZlUybGFpeVpNcUtGU3RnWW1LaTFlalFxcTRCMVJrNU8ydldMR0hsT2VESmRjalQweE1aR1JsVjFtQThjK1lNWkRLWnltSVlTdEhSMFpWT0NhdHNtNk9qWTZVL2g0Y1BIK0tMTDc2QVNDVEM2dFdyWVdscGlXKy8vUmI3OXUzRHdvVUw0ZXJxaWtPSERtSEhqaDF3ZFhYRi9QbnpWVWF6NmVucHFVM1NsRzlyMHFSSnRXckczcjU5RzMvKytTZTZkKzhPZTN0N0ZCUVVBRkEvRGI4eXAwNmR3c09IRHpGa3lCQUVCQVFBZ1BCK3ZieThxbldzOHF5dHJURjE2bFRodFhJa1dGSlNFbTdmdm8zVTFGUW9GQXJNbkRrVFE0Y09yZlZyUHVrR0UwOUV0VWd1bHlNdExRMXQyclRSZFNqMEFsRW9GTWpQenhkV1U4ekp5UkcrZi9xR1RWOWZIMlptWnNLeXZhYW1wakF6TTRPWm1SbU1qWTNyZkhoL1F4RVlHRmlueDlmVDAxT2JlQUtBNmRPblF5NlhDMU1TWW1OalZaNXVkdW5TQmYzNzkwZHdjREFpSXlQUnRHbFRMRisrSEs2dXJ0V09ZOXUyYlRoeTVJaFdmYXRhdGxyZFNLK3FDb2ZYVm5GeHBmYnQyK1B1M2J1SWlvb1Nia0psTWhrQWFGVURwREthbnRDYW1wcGl6NTQ5MkxKbEN3SURBK0huNTZjMmFaaVptWWtKRXlZOGMxMG5JcXAvdW5pZ0VoY1hoN2x6NThMQXdBRHIxcTJyOVJYeTZrUDU2OExSbzBmaDcrOFBYMTlmbGVuUVNwR1JrWmc1Y3lhOHZMeXdkdTNhS3U4NS9QejhLcDNpckRSNjlHaDA2ZEpGN1FwNHZYdjNyaERubzBlUE1IYnNXSXdlUFZwamdld3BVNlpVV2FlMWVmUG1HRFJvRU41KysyM2hnYzMyN2R2aDUrZUhHVE5tb0dQSGpnZ05EWVdIaHdlV0wxK3VjVkdQOHBLU2twQ2NuSXlXTFZzQ2VKSU1YTEZpaFZiN0FrQjRlRGpFWXJFd0ZTNHpNeFBBazRWR3RGVllXSWdkTzNiZzFWZGZWUmxGcHFlbmgyblRwaUVtSmdianhvMVR1Mi81KzRtTkd6ZFdtSmFuZFBQbVRUeCsvQmd0V3JSQXo1NDloZVJZVVZFUjR1UGpuOHYvTDBnekpwNklhcEZVS2hXVzRpV3FDM0s1SE5uWjJjakt5a0pXVnBhUVpIcDZPcGlKaVFrc0xDelFyRmt6V0ZoWXdNTENBbVptWml4Mi8vL1JkcnFjUXFIQTRNR0RNV2JNR0h6ODhjZTFjbTdsMU1PVWxCVHMzcjBiWjg2Y3FiQzZ6R2VmZllZYk4yNGdNek1UTFZ1MnJQR05sN0d4Y1pVM21ybTV1UUNxZDBPcVZGL0Z4WldVZFNlZVhnbEpXV2k5dWs5eXk2dHFldHlycjc2S3dNQkFCQVlHcWswOC9menp6eWd1THNiSWtTT2ZLUTRpYXZ3ZVBIaUFPWFBtd01EQUFHdlhyb1dUazVPdVEzcG1zYkd4K1A3NzcyRnRiUTE5ZlgwVUZSV3AvRjIrZi84KzVzK2ZEd3NMQzN6enpUZGFQZWpTSnVta1ZKMFJNZnYyN2F1eXJsZHVicTdhUkZaNTVVZDFPVGc0WU55NGNWaXhZZ1V1WGJxRTRjT0g0N1BQUGxPN1F1eU5HemR3L3Z4NVpHWm1JaU1qQTFLcEZBQXdhZElrQU1ENjllc0JQQmxsOVBMTEw2czkvL2p4NHl1MDNicDFDMjV1YnNJSTU3aTRPQUJQRW1YYU9IMzZOSXlOalZGY1hJd0pFeWFvN2RPaVJZc0sxMDFOTlo0cWV5RHo2NisvNHNxVks4SjlrTFcxTlJ3ZEhlSGk0Z0pYVjFkaEJWc3JLeXV0WXFlR2pZa25vbHFVbXBvS2ZYMTlsY0o4UkRVbGw4dVJrNU1qSkpreU16T1JtNXNyWEtBTkRBelFwRWtUdEdyVkNoWVdGckMwdElTRmhZWGFHeHlxdnZ6OGZDZ1VDcFc2Q00vcTBhTkgyTGR2SDA2Y09BRzVYQTZSU0lRQkF3YmczMy8vRmZwWVdsckN6ODhQWDMvOU5TNWR1b1RWcTFkajd0eTUxYTZUTlduU0pPRUdWcDNDd2tLaEVLdTZGZUVhR21YQzZlblJUV2xwYVFCUTUzOXoyN2R2RDFkWFYxeTdkZzEzN3R4QisvYnRoVzJSa1pFSURBeEVzMmJOTUdUSWtEcU5nNGllZjdObnowWjJkamE2ZCsrdWNWVHE5T25UQVFEWHIxOUhRRUFBZkgxOVZVYWVORFJXVmxhWU9uVXF6cDA3aHlWTGxrQXNGcU5EaHc3bzBhTUhaRElaOXV6WkExTlRVNnhldlZxbjd5TW9LQWhIang3RmtDRkROSTRrTGlzclEzWjJOaXd0TFN0c0t5a3B3YTFidHdBQWVYbDV3aWltaElRRWhJU0U0T1RKazBoS1NvS2JteHMrKyt3emxXdEZlWThmUDBaeWNqSk1UVTNoNHVJQ1IwZEhCQWNIWStYS2xXalJvb1Z3WGRQVDAxTlo3T1hwZXB3QWtKT1RnL2o0ZUxpNnVpSTVPUmxTcVJTdnYvNjZjSjZMRnk5Q0lwRUlJNmlxY3VuU0pjVEV4R0RWcWxVYWs2TDYrdm9WSG9wVnA4YVQwdkxseXlHVHlaQ2Ftb3JFeEVROGVQQUFjWEZ4Q0FzTEUrNlRYbm5sRlN4YXRFanJZMUxEeGNRVFVTMUtUVTFGOCtiTmE2MlFNcjFZaW9xS2hLZGVqeDQ5UW5aMnRrcVN5Y3JLQ3ZiMjlyQzJ0b2FWbFJYcmlEMmp0OTkrV3hneFU1bTVjK2RxZFR4VFUxUDg4Y2NmYXJjOWV2UUlodzRkd3JGangxQmNYQXlSU0lRK2ZmcGc0c1NKY0hGeFVVazhBVTlXNDVrelp3NldMVnVHMDZkUEl6OC9INzYrdmkvYzcvelVxVk13TVRGQlRrNE9qaDQ5Q2dBcVQ2R2pvcUlBb001cm80aEVJbnp3d1FkWXVYSWwvUDM5c1czYk5oZ1lHQ0FuSndmTGxpMkRRcUhBMUtsVG1mUWxvaW9wcHo1ZHZueFpZeDlsNHFtMHRCUXhNVEdZTm0wYWxpMWJCamMzdHhxZlY1bW9xSXBDb2FpeWIvbTZXRlpXVmhneFlnUkdqQmlCN094c0JBVUZZYytlUGJoMjdaclE1NVZYWHNIang0OVJWbGFtOWo2NXVMZ1lqeDQ5cWpUKzh2WDIxTFVwUFYwWHFheXNERC8vL0RNQ0FnTGc3dTZ1Y1RvODhHUkVXbGxaV1lXUk9zWEZ4Vmk0Y0NIQ3dzSmdabVlHUHo4L0xGeTRFS3RXcmNMbHk1Y2hFb25RclZzM2ZQYlpaK2pldmJ2RzR5djE3ZHNYZmZ2MkZWNG5KaVlpT0RnWUw3MzBFdmJ2M3krc1pQZDBYVXF4V0t4U2V4TUFmdmpoQi96ODg4ODRjdVNJOEc5S1dSTXlNaklTLy8zM0gzcjM3cTMxeU9EczdHelkyTmhVdWlKaGJaSklKSEIyZG9henM3UEtpT0tTa2hMRXhNVEEzTnk4WHVLZ3VzZkVFMUV0ZWZ6NE1mTHo4NSs1NEI2OU9QTHk4cENSa1NFa20vTHk4Z0E4dWJHd3RyYUdoNGNIckt5c1lHVmwxYUJXR1d0czFFMlBPbkxrQ016TXpDclVLcWlzWFoyMHREVDg4c3N2K1B2dnYxRmFXZ29BNk5xMUt6NysrT01xUDBEMDdkc1gwNlpOdzNmZmZZZkxseS9EeDhjSHZyNisxYTczbEpXVlZTZkQxS3VxQzFWYVdscGxuNnFjTzNjTzU4K2ZGMTYzYTlkT1dJa0hlTEl5RC9Ba1VmY3Nzck96a1o2ZUxudzlmUGdRYVdscGVQandJU1pQbm93ZVBYcmd0ZGRlUTJCZ0lJTjltZm9BQUNBQVNVUkJWTUxEdzdGbHl4Wjg5dGxuV0xCZ0FkTFMwaXA4Z0NBaTBxUTZxNlAyNk5FRDY5ZXZ4N3g1OC9EMTExOWp5WklsNk5peFk0M09xeHpoV3BXa3BLUXEreXF2aFVxbHBhVklTRWhBUkVRRWJ0eTRnU3RYcnFDNHVCaWVucDdvMDZjUHJsKy9qak5uemlBNE9CaG1abWJvMXEwYmV2YnNpZTdkdXd2SHVYSGpCaFlzV0tEeG5DRWhJUWdKQ2FteVRTa29LQWdLaFFJWExsekFuajE3RUI4ZmorN2R1MlBldkhsQzBpWThQQnpwNmVrd05UV0ZpWWtKQ2dvS3NHL2ZQZ0JRdWRZQXdPTEZpM0hqeGczTW5qMGJOalkyV0xod29WRGJ6OVhWRmYzNjlZT2RuUjN5OHZKdzl1eFppTVZpeU9WeWxKYVdvclMwRkRLWlRQaStlL2Z1bFY3TFgzdnROWGg2ZXNMVTFGVGxTMWtmVW1uZ3dJSDQrdXV2TVhqd1lBQkFhR2lvVVB6N3pwMDc4UFB6ZzRHQlFhV2puNVVQdEc3ZXZBa25KeWZjdTNldnltdDNaZHZWYmV2Y3VUUFdyRm1qMWY3VWVESHhSRlJMbE11MGFqdUhtbDQ4aFlXRlNFdExRMXBhR3RMVDAxRlVWQVRneVpCbFcxdGJ0R3paRW5aMmRyQ3lzdUtvdVhxazdzbm5rU05IWUdWbFZXRmJaZTFQazBxbDJMdDNMNEtDZ29RQzJPN3U3cGd5WlVxMXB1Nk5HREVDMXRiV1dMbHlKZUxqNC9INTU1OWowcVJKR0RseVpKVUZ0UjgvZm96MTY5ZWpkZXZXK1BEREQ3VStwN1lxRzA2Zm1KZ0lrVWlrY1poK1NrcUtTbDB5VFFZUEhneERRME1ZR0JpZ2RldldHREpraUZBYkpDY25CNWN1WFFJQXJaNHVQMjMzN3QyNGRldVc4SFI5OU9qUmF2dEpKQkxoZkNLUkNMTm56OFlYWDN5QnYvLytHNWN2WDBabVppYWNuWjB4YytiTWFwMmZpRWhiN3U3dVdMdDJMV2JQbm8zOSsvZlhPUEhrNCtOVGF6RVpHUm1ocEtRRUN4Y3VSRXBLQ3RMVDA0Vy82VTVPVG5qenpUZngrdXV2Q3c5WTNudnZQZVRtNXVMQ2hRdjQ3Ny8vY1Bic1dadytmUnFHaG9ZSUNBaUF0YlUxUEQwOXNYVHAwbHFMTVN3c0RDdFdySUJVS29XZG5aMUtna1lwS2lvSzI3WnRVMm5UMDlQRG1ERmpLbHlyYlcxdE1XSEMvMlB2emdPaXJ0WStnSCtIZFZoa0ZaRmRRUlRGSFJjZ0Y5U3NWRkxUeXRSU0s2L2VTbE5USzlkcmxocVlGcWxsWnBpVkthVlo1blhOTkJRRkUwVkVKWlZkUUxhQllXZVlZZDQvZkprcnpNSXdMS1B5L2Z6Ri9NNDV2L01NS013OGM4NXpaaWlTSmw5KytTVWlJaUlRRnhjSGtVaWtXS0hVRUlGQTBPQ3BnYzdPemxxZlpGZjdOMG9pa1NBeE1SRmVYbDRvTHkvSCsrKy9ENEZBZ05XclYydjhlOTJ2WHo4NE9EaGd3NFlOQUFCVFUxT045YStBaHVzaTFsZC90Wld1L3hZdlhicUVxS2dvbmNhUy9qSHhSTlJNc3JPellXZG5wL1JwQkxWZE1wa01lWGw1aXBVVHRZV2NUVTFOMGFGREI3UnYzeDRPRGc2d3NySnFNeWZLdFJWVlZWVTRmdnc0YW1wcTRPVGtoTmRlZXczRGh3L1g2ZWM4Wk1nUWhJYUc0b01QUGtCaFlTRjI3TmlCSTBlT1lPSENoV3JmZ01UR3htTGp4bzBvS0NobzltMW8vdjcrRUl2RldMRmloZG8rbzBlUGhwR1JrZG9YcDF1MmJGSDhmMmhvTG45L2Y1VnQrL2J0ZzFRcWhhK3ZiNk1UL2hVVkZVaElTRkE4N3Rldkh6cDI3QWduSnlkMDdOZ1JIVHAwVVB3ZmZmQm41dUxpZ3VEZ1lFUkVSQ2kyeXl4Y3VGRHIwNHFJaUhUUnVYTm5iTnEwcVVuMWtZS0RnNXN4b3Z0Y1hWMGhGQW9SRkJTRUxsMjZvRWVQSG1qZnZyM0t2bFpXVmhnelpnekdqQmtEc1ZpTXMyZlBvcnE2V2xGRTNNYkdSdTN2ZTEzSVpESU1HalFJUFh2MlJGQlFrTW9QYTBhUEhnMGZIeC9GaWlSalkyTzR1N3Vyck84MGQrN2NPci9yM2R6Y3NHVEpFc1ZqdVZ5dVdORlVYVjBOdVZ3T2dVQlE1OE1MZ1VBQUF3TURsYXZZMVYzWHhNTENRdkc4VEV4TThPT1BQeUk5UFIwT0RnNVl0R2dSdkwyOTRlSGhvVFR1d1ZWM0ZoWVcyTFZyRjFKVFV5R1h5K0hzN0t4MDRNaTJiZHNVSi9mVlBuZGREQjQ4R0haMmRuanFxYWQwR3UvcjY2dnlnQTk2TkREeFJOUU1xcXVya1plWGh4NDlldWc3Rk5LemtwSVNaR1ZsSVNjbkIzbDVlWXBhQnUzYnQ0ZUhod2M2ZHV3SWEydHJKcG9lYzY2dXJwZzhlVExzN093d2NlSkVqYXVUdEttNzRldnJpNTA3ZDJMTGxpMDRjK1lNaW9xS2xGN2MxeGJhcnFxcXdySmx5eFIxaWRTZFNxT3JlZlBtTmZrZXRmVkxkSFg3OW0xRlBhMHBVNlkwZXZ5VUtWTXdZY0lFTEYyNkZMbTV1WFcyQUtoVFhGeU1yNy8rR3NlT0hRTncvMDFDVFUwTlZxMWFoVm16Wm1IY3VIRThPWktJV295cUJJSys2ZnIzd05yYXVrVVNZUTh5TkRURXdvVUxOZmF4dExSRTkrN2R0YnBmUXg4d0NBUUNtSmlZNlB4M3dNWEZSVzJkU0hYcTk3ZXdzRkE4bjRaV0xUM0kxTlJVWTAybnJsMjdOaW91ZFRwMzdxeDFrZk9XR0UvNnhjUVRVVFBJeWNtQlhDNkhrNU9UdmtPaFZpYVh5eUVTaVpDWm1ZbXNyQ3lVbEpRQXVQL0pucGVYRnpwMjdJajI3ZHMzdUMyS0hpMlZsWldReStVd016TkRjbkl5QUNqOWpPZk1tYU0wVGk2WEl6VTFGWFoyZGpBM040ZE1Kc1BldlhzQjNIL1JxcWtXazVXVkZWYXNXSUhodzRmRHlNaElhU1ZUN2NsMHRiK0wzbi8vL2NjeUdTNFNpZkRCQng5QUtwWEN6ODlQN1RIVG10Uit3cTVOQXJpaW9nSy8vLzQ3OXU3ZGk5TFNVZ2dFQXJ6MDBrc0lEZzdHeG8wYkVSY1hoeSsrK0FMNzl1M0RNODg4ZzFHalJzSGQzYjNSTVJFUkVSRTlydmhPaUtnWlpHZG5ReWdVd3NiR1J0K2hVQ3VReVdUSXpjMVZKSnRxVHlsemNIQkFseTVkNE96czNPWk9IMnRyNHVQanNXTEZDZ2dFQXNYSmcxNWVYZzJPRXdnRWVPKzk5MUJZV0tqVTFyZHZYNjArS1IweVpJaks2N1gxbEVhT0hJa0ZDeFk4bHY4R1JTSVJGaTllakp5Y0hOalkyR0R4NHNVdE5sZFdWaGFPSERtQ28wZVBLcllGZW5sNVljR0NCWXBQbEVORFEzSDY5R21FaDRjakp5Y0hQLzc0STM3ODhVYzRPanJpODg4L1Z5UzRpSWlJaU5veUpwNklta2d1bHlNN094dE9UazdjUHZVWWs4bGt1SGZ2SHRMVDA1R2RuUTJaVEFZakl5TjA3TmdSTGk0dTZOaXhJN2ZaUEViR2pCbWpNbWxRZTkzVDB4TWVIaDZLaytvOFBEenc3My8vVzZ0N2QrN2N1VTdpeWNURUJQMzc5OGZiYjcvZHBKakhqeCtQamgwN05yclE5cVBFMXRZVzQ4YU53NzU5Ky9EUlJ4ODFXTy9FMGRGUjU2T1kwOUxTRUJFUkFlQitQWXZwMDZkanhJZ1JkUXIvQ3dRQ2pCdzVFa0ZCUVRoNzlpeU9IRG1DdUxnNGpCNDlta2tuSWlJaW92OG5rTmQrVkV0RU9oR0pSRGgxNmhRQ0FnTFVudUJFanlhNVhJN2MzRnlrcDZjak16TVQxZFhWTURFeGdhdXJLMXhjWE5DaFF3ZWVQdGZLL3ZqamowYlZMWGdZU2FWU1NDUVN4UWxBbHBhV2VrbGF5K1Z5M0w1OUcwRHoxVytvdFhQblRoZ1pHV0hXckZuTmV0OWFFb21rV1JLOUVSRVJLQ2twd2V6WnMxVzI3OSsvSDUwNmRZS2ZuNS9XUHlPeFdBeHpjM01ZR3hzM0tiYlcvTGQrL3Z4NVhMaHdvVVZYa0JFOWpEWnQyZ1JYVjFlZGFzVVJFVkZkQWcwdmxyamlpYWlKc3JPeklSQUk2cHoyUUkrMmdvSUNwS2VuSXlNakExVlZWWXA2T201dWJuQjBkR1N5aVpyRXlNam9vYWo1SlJBSW1qM2hWRXRkSXFlNU5OZnF3b2JlYkQ3Ly9QT052cWVxMDVDSWlJaUkyakw5di9JbGVzUmxaMmZEd2NHaHlaOXVrMzVWVkZRZ0xTME5LU2twS0MwdGhZR0JBWnljbk9EdTdnNG5KeWNZR2hycU8wUWlJaUlpSXFKSERoTlBSRTFRV1ZtSndzSkM5T25UUjkraGtBNXE2M09scEtRZ096c2JjcmtjN2R1M2g0K1BEMXhkWFpsTUpLSTJSUzZYNjJYYlozaDRPS3l0clRGNThtUzFmU0lqSS9ITEw3L0F3Y0VCeTVjdjF6bk80OGVQbzdpNEdDKzg4SUt1NFNyazVlWGg5OTkveDlTcFUyRm1adGJrK3pXMzVPUmt4TVRFWU9yVXFZMGVLNVBKWUdCZ29QSDdMSkZJWUdSa3hGWEFSRVRVSUNhZWlKcmczcjE3QUFBbkp5YzlSMEtOVVZwYWlwU1VGS1NtcHFLeXNoS21wcWJ3OXZaRzU4NmRZV1ZscGUvd2lJaGFWZTNXUmJGWXJKZlRXUzlkdW9SKy9mcXBiYy9LeXNLbVRadFFYbDRPQXdNRFRKNDhHVDQrUGpyTkZSRVJnWXlNakdaSlBKMDdkdzU3OSs1RmNYRXhGaTVjMkdEL2lvb0tqQjgvdnNuekFzREpreWNiN0hQZ3dBR2NPSEVDYm01dWFrL0RWRVVpa1dEY3VIR1lOMjhlSmt5WW9MYmZ1SEhqTUd2V0xFeWZQbDF4VFYvSlN5SWllcmd4OFVUVUJObloyYkN3c05ENTFDUnFQWEs1SFBmdTNjUHQyN2VSazVNREFPallzU002ZCs0TVoyZG5mbUpMUkcyV3M3TXpBQ0EzTjdmVkUwODFOVFZJVDA5WHU5cXBwS1FFLy9uUGZ5Q1R5YkJxMVNyczJMRURIMzMwRWJadTNhbzIxazgrK1FTNXVia0lEUTF0VkN5TkhUZGh3Z1FjUDM0Yy8vM3ZmekZ5NUVqMDd0MWJZMytoVUlqdzhIQ2w2OGVQSDBkRVJFU2RObFhYR3V2MTExOUhaR1FrdG0vZmpvRURCOExVMUZTbis0aEVJcXhjdVJLelo4OUcvLzc5TmZaZHYzNDloRUloRmkxYXhMK3JSRVNrd01RVGtZNXFUenh6YzNQVGR5aWtRWFYxTlZKVFUzSG56aDJVbHBiQzFOUVUzYnQzaDZlbko4ek56ZlVkSGhHUjNqazVPY0hCd1FFeE1USHc4dkpxdFpwMmQrL2VSVTVPRHFxcXFpQVVDcEdSa2FGb2MzTnpRM2w1T1pZdlg0NnNyQ3lzV2JNR0F3Y09ST2ZPbmJGNDhXSXNXN1lNb2FHaEtqLzR1WEhqUnAxN2FhditPSmxNaHRMU1VvMWpYbm5sRmZ6NTU1K3dzTENBV0N4VzJjZlMwaEtHaG9ZUUNBUXFYelBVRnFSL3NFM1Z0ZnFTa3BJYWpHL0FnQUV3TURCQVFrS0N4a01OTkpVTXNMVzFoWm1aR1Q3KytHTnMzNzRkZG5aMkt2dGR1blFKWjg2Y3diUFBQc3VrRXhFUjFjSEVFNUdPaW9xS0lKRkllSnJkUTZxa3BBUjM3dHhCYW1vcXBGSXBiRzF0TVdqUUlMaTV1ZkVGTVJIUkF3UUNBY2FNR1lNZmZ2Z0JwMCtmeG9nUkkxb2wrZlRHRzIrZ3NySVNBTEJtelpvNmJULysrQ05XckZpQnZMdzhoSVNFb0dmUG5nRHVKMksyYk5tQ2xTdFg0dTIzMzhaLy92TWZkT3JVcVVYaXUzWHJGdDUrKzIydCtrWkdScXB0MjdadG0rSUV5Ykt5TW9oRW9qcnR0UW1yQjVOZXFxN1ZxazFHZmZIRkY0aVBqMjl5Zk1EOXJYdTFjMVZYVndNQUNnc0xGZGNXTGx5SXQ5NTZDNXMyYmNLNmRldVV4cGVYbCtQVFR6K0ZpNHNMNXN5Wm8xVk1SRVRVZGpEeFJLU2ozTnhjQ0FRQ09EZzQ2RHNVZWtCK2ZqNXUzcnlKZS9mdVFTQVF3TlhWRmQ3ZTNyQzN0OWQzYUVSRUR5MEhCd2VNR2pVS3AwNmRRbFpXRmdZUEhneEhSMGRZVzF1M1dNMmUzMy8vSGV2WHJ3Y0FMRisrWEhIOTRzV0xlT3V0dDFCVlZRVmpZMk1zV3JSSTVmZytmZnJnelRmZnhBc3Z2SUNYWG5xcDJRdDhPems1WWNHQ0JScjdoSVdGd2RiV0ZqTm16RkRiNThFUHFLS2lvckJ4NDBhVi9WNTc3VFd0cnRYV2QxcThlREVxS2lvQTNOK3l1R0RCQWdRRUJHRGF0R2xxWTdsNDhTTEN3OFB4NXB0dkttME5yRC9YbmoxN3NHZlBIZ0QzQzhEUG5Ea1QyN2R2eDVFalJ6QjI3Tmc2ZmNQQ3dpQVNpUkFXRmdhaFVLaDJmaUlpYXB1WWVDTFNVVTVPRG14c2JCUkZXVW0vc3JPemtaaVlpUHo4ZkJnYkc2Tjc5Kzd3OHZKNktFOGFJaUo2R1BYdTNSdE9UazQ0ZXZRb0RoOCszS2l4QVFFQkNBd01iTlFZdVZ5T0sxZXVZTzdjdVVoS1NvSzd1enZTMDlPeFljTUc5T25UQjIrOTlSYmtjam1xcXFwVWpuZDFkY1V2di95Q3BLU2tGam1GMU1iR0JzSEJ3UnI3aElXRndkTFNzc0YrOVIwOGVCQ1dscFlBZ0o5Ly9oazdkdXlvVXpCYzFiVmZmdmtGWDM3NXBlSnhiVzJ1V2o0K1Bzak96b2FYbDVmYWVmLzQ0dzhBd1BEaHc1VzJ6TlhPbFppWWlQbno1eXNWRjNkeGNZRk1Ka05RVUpEU2ZZT0RnK0huNTZkWTJhV3JUWnMyTldtOEx2THk4bHA5VGlLaXRvYUpKeUlkMU5UVUlEOC9IOTdlM3ZvT3BVMlR5K1hJeU1oQVltSWl4R0l4aEVJaGV2ZnVEUzh2TDQyMUxJaUlTRFVIQndlODhzb3J5TTdPUmxaV0ZpUVNpVmJqZEtsM2VQdjJiWWpGWWd3Y09CRFBQLzg4d3NQRDRlWGxoWWlJQ0swLzFDa3JLOFBjdVhQNU94L0FvRUdERUI0ZWpyeThQTFdyc1M5ZXZBZ3ZMeSsxZFpvQUlEbzZXdW5hMmJObklaVktGYlhBYXFXa3BPRDA2ZE1BQUdOalk1dytmUnFlbnA3dzhQRFE2VG5vV2dCZFYxVlZWZnlBaW9pb0ZmQ3ZOSkVPQ2dvS0lKUEowS0ZEQjMySDBpYlYxTlFnTlRVVmlZbUpLQ3NyZzZXbEpmejgvTkNwVXlmV2J5SWlhaUtCUUFCbloyZWxGVFhOTFNvcUN0MjdkMWNVMHE1bFltS0MwYU5ISy9VUER3K0htNXNiOHZMeVlHZG5CME5EUTN6Ly9mY1lNV0tFMGowQXFMeUhObTJ0SVRNelUzSEFoYlkxbm9xS2lqVGVjK1RJa1FnUEQ4Zng0OGZ4OHNzdks3WGZ1WE1INmVucGVQMzExelhlcDdZZTFNV0xGOUdoUXdjRUJBUWdORFJVVVkvclFYLzk5UmYrK3V1dk90ZG16WnFsYytKcDNyeDVPbzNUMWFaTm14UXJ6NGlJcU9VdzhVU2tnNXljSEJnWUdLQjkrL2I2RHFWTmtjdmxTRXRMdzQwYk4xQldWZ1liR3h2NCsvdkQxZFcxeFdxUUVCRlJ5NGlNak1Renp6eWp0bjNkdW5Wd2NuSUNVTGYrMExScDB4UkpLRlVtVFpxazlvUzVnd2NQUWl3V1k5YXNXV3JiNnN2S3l0TDBOQ0NWU3RYMkVRZ0VpdWZ3SUZVSkZtMXJQS25Ub1VNSEJBWUc0dGRmZjhYa3laT1ZWdkljT0hBQVJrWkdlT3FwcDlUZTQvcjE2OGpKeVFGd2Y4dmQxYXRYRVJvYWlwOS8vaGx5dWJ6QkdNYVBINjkxdkVSRTFIWXc4VVNrZzl6Y1hOamIyN2Zha2ROdFhlMld1aHMzYnFDa3BBVFcxdFlJREF5RWk0dUx2a01qSWlJZDNiMTdGenQzN3NUT25Uc0IvQy9KVWx0dzNNbkpTYWN0ZkpycUxaMDZkUXBpc1JqVHAwOVhhbE4xRFFCbXpweXBjYjdzN0d5MWZZeU5qWEhreUJIRlkzZDNkNHdmUHg1ejVzeFJiQ3VMam83Rzd0MjdzWERoUW5UcjFrM3RQRmV2WG0zd2RMb1pNMmJnMy8vK04vYnMyWVBaczJjcnJ0KytmUnVuVHAxQ2NIQ3d4bTEyUC8vOE13SURBM0htekJsTW1USUZwMDZkd3VyVnE3Rmx5eGFWQ1RRaUlpSnRNUEZFMUVqVjFkVVFpVVR3OWZYVmR5aHRRbVptSmhJU0VsQmNYSXgyN2RweGhSTVIwV01pUER4YzhmVnJyNzJtV09GVVc1K29NYXQ5SHJSNDhXSjA2TkFCNzczM25rNWovZno4NnB3TTkrQ0plL1d0WDc4ZTl2YjJtRHQzcnNyMkJ6K2d5c2pJZ0lXRkJTWk9uSWpjM0Z3QWdFd213NVl0V3lDVlNtRnNiRnhuYTExOWRuWjJtRGh4SWpJeU1tQm5ad2NMQ3d1bFBwNmVubmoyMldmeDg4OC9ZOUNnUWVqZHV6ZXFxcW9RR2hxS2R1M2FhVHg5THpVMUZlZlBuMGRvYUNqT25Ea0RVMU5UckZxMUNtKzg4UVppWW1Jd2NlSkV0V09KaUlnMFllS0pxSkh5OHZJZ2w4dFozNm1GNWVYbDRlclZxeWdzTElTRmhRVUdEUm9FZDNkM0pwemFPRU5EUThoa01xNDJwTWRhVy9rM1huODFVLzBWVHA5KytxbWl6dFNVS1ZPMHZtOThmTHhPSzZWcXg5WXZ6RDFpeEFpMS9kZXZYdzl6YzNPTmZXbzFsRWhUbDd4UzVaMTMzc0dZTVdOVXRzMmVQUnRYcmx6QjJyVnJFUm9haXUrKyt3NnBxYWxZdFdvVmJHeHMxTjV6MjdadDZOYXRHM3IwNktHNDV1cnFpcTFidDZLaW9rSlJSSnlJaUtpeG1IZ2lhcVRjM0Z3WUdSbHBYS3BPdWlzdExVVjhmRHd5TXpNaEZBcFpOSnpxTURNelEybHBxY3BDd2tTUGk5TFNVa1hoNmJZa1BUMGRkKy9laFpXVkZRREEydHI2c2ZwYmUvTGt5VHFQRHg4K2pMQ3dNS3hZc1FKQlFVRksvUk1URTdGbzBTTDQrdnBpNDhhTlduL3dZbVptaGpWcjFtREJnZ1Y0NDQwM1VGTlRnK25UcDJQWXNHRnF4NGpGWWx5N2RnM3IxcTFUYXZQdzhNREdqUnR4NHNRSnJlWW5JaUtxajRrbm9rYkt5Y2xCaHc0ZHVQS21tVWtrRXR5OGVSTjM3dHlCUUNCQTkrN2Q0ZVBqd3lPeXFRNEhCd2RrWldVeDhVU1B0YXlzckRaeGVNWEhIMytNZS9mdUlUczdHd0N3WnMwYUNBUUNMRml3QUlEdVcrMGVCY25KeWRpK2ZUdnM3T3hnYkd5TXlzcEtDSVZDUmZ2dDI3ZXhjdVZLV0ZsWjRiMzMzbXYwYTQ3UzBsSllXbHFpdExRVUFvRUFscGFXR2xmU1dWdGJZK25TcGZEejg0TkVJbEZxWDdwMEtaWXVYZHJndlBvK0xaQ0lpQjVPZkVkSDFBaVZsWlVvTGk2R3A2ZW52a041Yk5UVTFDQXBLUWszYnR5QVJDS0JoNGNIZXZYcXBYUWFEeEZ3LzVQMzZPaG9GQllXd3RiV1Z0L2hFRFc3d3NKQ0ZCUVVJQ0FnUU4raHRMalRwMC9EdzhNREF3Y094UEhqeDdGdTNUcjA3ZHNYSmlZbStPeXp6M1RlYXZjb3NMVzF4Wnc1YzNEMjdGbXNYYnNXaG9hRzZOMjdOd1lQSGd5cFZJcmR1M2ZEd3NJQ0lTRWhTbHYvTk1uSXlNQVBQL3lBMDZkUFF5Z1VZdmJzMlRoKy9EaSsrdW9ySEQ1OEdGT25Uc1hJa1NOaGJHeXNOSGJVcUZITitSU0ppSWdVbUhnaWFvVGFZcUNzNzlROENnb0tFQnNiQzdGWURBY0hCL1RwMDRmSkJOTEl5TWdJUFhyMFFFSkNBbnIyN01sL0wvUllLU3dzUkVKQ0FueDlmZHRFamFmZmZ2dE5zY3JuK1BIamNISnlnb21KaWFKZDNWYTcrbHZXV2twRlJZVlcvZVJ5ZVlOOTYzK1lZbXRyaS9IangyUDgrUEVvS2lyQ3laTW5zWHYzYnNUR3hpcjZEQmt5QkNVbEphaXBxZEc0M2J5bXBnYVhMbDNDNzcvL2pwaVlHQURBc0dIRE1IZnVYRGc0T09DNTU1N0R2bjM3OE5OUFArR1RUejdCamgwN01ITGtTQVFGQmFGSGp4NWN3VTFFUkMyT2lTZWlSc2pKeVlGUUtPUTJueWFxcnE3R3RXdlhrSlNVQktGUWlJQ0FBTGk2dXVvN0xIcEUyTm5ad2RmWEY5ZXZYNGU5dlQyY25aMWhhV25aSnQ2bzArTkhKcE9odExRVVdWbFpLQ2dvZ0srdjcyTlYxMGlUQjdlV3FTT1ZTbEZjWEt4NExKUEpjUHYyYlFpRlFxU2xwUUZRVHVvQTkxZithTnIycGMyV3NQSGp4emZZQndEdTNyM2JZTitEQncvQzB0SlM4Ymk2dWhwcGFXbTRlZk1tcmx5NWdyLy8vaHRWVlZYdzhmSEIwS0ZEY2ZueVpadzVjd2FuVHAyQ3BhVWxCZzRjQ0g5L2Z3d2FORWh4bjJ2WHJpRXlNaEtSa1pFUWlVUVFDQVFZTW1RSXBrNmRDbTl2YjhWY0ppWW1tREZqQnA1OTlsbnMzNzhmaHc4ZnhxKy8vb3BmZi8wVmRuWjJDQXdNeEx4NTg5VCtEdDIzYngrKytlWWJyYjRYUkVSRXFqRHhSTlFJdWJtNVhPM1VSSm1abWJoeTVRb3FLaXJnNWVXRlhyMTZxVnp5VDZTSm5aMGQvUDM5a1phV2hzVEVSSlNYbDBNbWsrazdMS0pHTXpRMGhMbTVPZHEzYnc5L2YzL1d0WHRBVFUwTm5udnVPVlJXVmdJQTJyVnJCME5EUTZ4WXNVS1JqT3Jmdjc5U1BheFpzMmJwUE9lMzMzNnIrTHEyMWxSekVBcUZrRWdrV0wxNk5iS3lzcENibTZ2NG5lWHE2b3JnNEdDTUhEbFNrVEI2OGNVWFVWeGNqS2lvS1B6MTExK0lqSXpFNmRPbllXcHFpdSsrK3c1MmRuYTRjZU1HZnYzMVYxaGJXK1BGRjEvRXM4OCtpNDRkTzZxTndkYldGdi82MTcvdzhzc3Y0ODgvLzhTeFk4ZVFtSmlJN3QyN2EwemNEeG8wU09zUDNEWnYzdHlJN3dvUkViVVZmSFZEcEtYUzBsS1VsNWN6OGFTajh2SnlYTGx5QlZsWldiQ3lza0pBUUFEczdlMzFIUlk5d295TWpPRGw1UVV2THk5OWgwSkV6Y3pZMkJpR2hvWVlNV0lFMHRQVE1XREFBTmpZMkFBQXRtL2Zqdkx5Y2hnYUdzTEZ4VVZwN1BUcDAzV2U5OEd4d2NIQk90OUhIVmRYVndpRlFnUUZCYUZMbHk3bzBhT0gya0x5VmxaV0dETm1ETWFNR1FPeFdJeXpaOCtpdXJwYXNTTHV4UmRmUk5ldVhkR3JWNjlHSlN6TnpNd3didHc0akJzM0RubDVlVW8xcEFRQ0FTd3NMQlFmQ25sNmVtcGQyNUtKSnlJaVVrVWdsOHZsK2c2QzZGR1FsSlNFeTVjdlkrellzYkN3c05CM09JOE11VnlPTzNmdUlDRWhBVFUxTmVqUm93ZTZkZXVtc1Y0RkVSRVJVVXZidEdrVFhGMWRIN3ZpOVVSRStpRFFVRFNRSzU2SXRKU2Jtd3NMQ3dzbW5ScWhxS2dJc2JHeEVJbEU2TkNoQS96OC9PclV1Q0FpSWlJaUlxTEhHeE5QUkZxUXkrWEl6YzFsQVd3dFNhVlMzTGh4QTdkdTNZS3hzVEVHRGh5SVRwMDY2VHNzSWlJaUlpSWlhbVZNUEJGcG9iaTRHQktKaFBXZHRIRHYzajFjdm53WlpXVmw4UER3UUo4K2ZXQnFhcXJ2c0lpSWlJaUlpRWdQbUhnaTBrSitmajRBcUMwQVN2ZFBINHFQajhmdDI3ZGhZV0dCWWNPR3dkSFJVZDloRVJFUkVSRVJrUjR4OFVTa2hmejhmRmhZV01ETXpFemZvVHlVU2twS0VCMGRqYUtpSW5UdTNCbDkrL2Jsa2VCRVJFUkVSRVRFeEJPUk52THo4NVdPRzZiNzB0TFNjUG55WlFnRUF2ajcrOFBOelUzZklSRVJFUkVSRWRGRGd1ZVpFeldndkx3YzVlWGwzR1pYajFRcXhjV0xGM0h4NGtWWVcxdGo5T2pSVERvUkVSRVIwVU52OU9qUitPS0xMeFNQdi9qaUM0d2VQVnJuKzhubGNuejc3YmZJenM1dWp2Q0lIanRjOFVUVUFOWjNVbFpZV0lqbzZHaVVscGJDeDhjSHZyNitNREJnSHB1SWlJZ2VMWldWbGZvT2dSNEQ5KzdkdytIRGgzSDA2RkdFaElRb25lWmNWbFlHYzNOekNBUUNwYkZOU1hqNStQaGd5NVl0T284bmFpMU1QQkUxSUQ4L0h5WW1KbWpYcnAyK1E5RTd1VnlPMjdkdjQ5cTFhekF4TWNIdzRjTjUwaDhSRVJFOXNzckt5bHA5enFpb0tCdzdkZ3lKaVlrb0tTbUJ1Yms1dW5mdmpoZGVlQUY5Ky9adDhmbnJKenFNalkzaDZPZ0lmMzkvVEpzMlRlazFiLzMrQW9FQU5qWTI2TjI3TjE1KytXV2xKSXVxTVVaR1JyQzJ0b2EzdHplZWVPSUpQUG5ra3pyWEE2MnVyc1o3NzcySHdzSkNiTjI2RlJZV0ZqcmRwems1T1RsaDQ4YU5XTHAwS1pZc1dZTFEwRkI0ZW5vcTJqLysrR1BjdTNjUFc3WnNnVkFvckRNMlBEeGM1VDNGWWpFV0xWcUVCUXNXb0UrZlBpcjdtSmlZTkJoYmVYazU1czJiaDNidDJtSGp4bzFhalNGcWJrdzhFVFVnUHo4Zjl2YjJLaitoYUV1cXFxcHc4ZUpGM0x0M0QwNU9UaGc0Y0NCTVRVMzFIUllSRVJHUnppb3FLbkRyMWkxMDdkcTExZWJjdW5VclRFeE00T2ZuQjZGUWlQVDBkRnk4ZUJGLy8vMDNWcTVjaVdIRGhyVjRERVpHUmhnN2RpeUErOG0zK1BoNDdOKy9IK2ZPbmNPV0xWdGdZMk9qdHI5TUpzT3RXN2Z3MTE5L0lUbzZHcHMyYlVLM2J0MDB6aUdWU2xGUVVJRHIxNjhqT2pvYVAvendBNVl0V3daZlg5OUd4NzU5KzNiY3VIR2p3YVNUUkNMQnVISGpHblZ2ZGF1UERoNDhDRXRMUzZYcjE2OWZ4ei8vL0lOSmt5YWhjK2ZPQ0FrSndaSWxTN0I4K1hMczNyMGJwcWFtaUk2T1JuUjBOSjUrK3VrNlNTZXhXSXppNHVKR3hWZWZSQ0tCV0N5R3RiVzEyajdtNXVaWXVYSWwzbnJyTFd6YnRnMkxGaTFxMHB4RXVtRGlpVWlEMmwvbTd1N3UrZzVGcjNKemN4RVRFd09KUklJK2ZmckEyOXU3elNmaWlJaUk2TkZuYjIrUFAvNzRBelkyTnEyMmludmx5cFZLQ1plalI0OWk4K2JOK1A3Nzcxc3Q4VFIvL256Rlk2bFVpZzBiTmlBeU1oSzdkKy9HZ2dVTE5QWUg3cS9VMmJ0M0wzYnUzSW1OR3pjMk9FZnRQTWVPSGNQWFgzK05KVXVXWU8zYXRSZzRjS0RXY1YrL2ZoMkhEaDNDcEVtVDBLVkxsd2FmWS8zblVTc3NMRXpsZFhYOTY2OVNxblhod2dWRVJFUmcwcVJKQUFBdkx5K3NYYnNXbFpXVk1EVTFSVlZWRmJadDJ3WXJLeXY4NjEvL3FqUDJ0OTkrdy9mZmY2L3hPV2lLdGRhMGFkUHc2cXV2YXV6ajZlbUppUk1uWXYvKy9SZzVjcVRhRlZSRUxZV0pKeUlOQ2dvS0FMVHQrazQzQjRBMkpnQUFJQUJKUkVGVWJ0ekE5ZXZYWVdscGlTRkRoc0RXMWxiZklSRVJFUkUxQzA5UFQ2U25wMlBQbmowWU1HQUFQRDA5NGVEZzBLTGJrVlN0OGhrMWFoUTJiOTZzZU8zWjJveU1qREJuemh4RVJrWWlKaVpHcXpIVHBrM0R2bjM3a0ppWTJLaDVnb09ENGUzdGpjV0xGMlBEaGczWXRXdVh4aFU3RDlxMWF4ZU1qWTB4ZGVyVUJ2c2FHQmdnT0RoWVpadTZaSTY2L2c4U2k4V3dzTEJRdTFXd1Y2OWVpcSszYmR1R2UvZnVZZG15WldxZjQ4bVRKMVZlRjRsRW1ESmxDajc4OEVQNCsvdXI3Tk9ZK2xBdnZmUVNEaDA2aFBEdzhBYVRXVVROallrbklnM3k4L05oWUdBQU96czdmWWZTNm1ReUdTNWR1b1QwOUhTNHVibGh3SUFCT3UvRkp5SWlJbm9ZR1JrWllkcTBhWWlKaVVGMGREUXVYcnlvMWJpQWdBQUVCZ1kyV3h5Wm1aa0FvSExMV210eGRIU0VrWkVSQ2dzTHRlcHZhbW9LQXdNRHlPWHlScy9WclZzM1RKdzRFUkVSRVRoMDZCQmVlZVdWQnNla3BhWGg2dFdyR0RGaWhOSld3TmEwWThjTy9QMzMzOWkzYjUvR2ZuLysrU2VPSGoyS0VTTkdZT1RJa1JyN2Z2WFZWemh4NGtTZGExOS8vYlhHOWdNSERqUXFibXRyYXd3ZE9oU25UcDNDblR0M0dsd3hSdFNjK0M2U1NJUDgvSHpZMmRtMXVSUGJLaXNyRVJVVkJaRklCRjlmWC9UbzBVUGZJUkVSRVJHMUNBTURBd1FFQktCdjM3NUlTVW1CV0N4dU1Kbmk1dWJXNUhubGNqbUtpNHNSSHgrUG5UdDN3dHJhR25QbnptM3lmWFZWV1ZrSnFWU3E5UWV1c2JHeGtNbGtkVmI0Tk1hSUVTTVFFUkdCQ3hjdWFKVjRPbnYyTEFBMGE4SlBGMWV1WElHSGg0Zkc5d2ZwNmVuNDdMUFA0T3pzaklVTEZ5STJOaGJmZnZzdFFrSkNZRzV1RGdDWU1HRUNSb3dZQVFDWU8zZXUwczllSkJJcHZsYlZEdHpmN21obFphVjE3SUdCZ1RoMTZoU2lvcUtZZUtKV3hjUVRrUm95bVF3aWthaFZpMDArRElxS2loQVZGWVdxcWlyNCsvczN5d3NySWlJaW9vZWRtWmxacTMzWU5uSGlSTVdKZWdLQkFFT0hEc1g4K2ZQMXVwTG56Smt6QUlCKy9mcHA3Q2VSU0hENThtVnMzcndaSmlZbWVPMjExM1NhejhQREF3Qnc5KzVkcmZvbkpDUUFVTDFWVVoyTEZ5OGlOemRYNi82SER4OVd1bVpyYTRzbm5uZ0NBSkNTa29LOHZEdzgrK3l6YXUrUmw1ZUg5OTkvSHdLQkFHdlhyb1c1dVRtRVFpRVNFeE94Yjk4K3hmZkwydHBhc2YwdUxDeE1hZTZJaUFqRjE2cmFUNTQ4MmVqWDZiWGZ1OXJ2SlZGclllS0pTSTNDd2tMVTFOUzBxZnBPV1ZsWmlJbUpnWkdSRVlLQ2d0cmtGa01pSWlLaWxqWnUzRGhVVmxhaXJLd002ZW5wT0h2MkxCSVNFakI3OXV4RzFlMXBEbUt4R0dmUG5zVlhYMzBGYzNOemxhdVBLaXNyNjhRbEVBalF2MzkvdlA3NjYvRDI5dFpwWGlNakl4Z1pHYUdxcWtxci9oa1pHUkFLaFhCd2NOQjZqb01IRCtMU3BVdGE5MWRWKzhqSHgwZVJlSXFPamdZQURCNDhXT1g0a3BJU0xGdTJEQ0tSQ0d2WHJsVWsxM3g5ZmRHL2YzLzg4c3N2bURoeG90SnI3RGZmZkJOejVzeXBjODNVMUJUaDRlRndjSENBbjUrZlVyc3U3TzN0WVdabXB0amFTZFJhbUhnaVVpTS9QeC9BL1YvUWJjRS8vL3lEK1BoNDJOallZTWlRSVRBek05TjNTRVJFUkVTUHBmb25uTjI5ZXhjZmZQQUJRa05EWVdobzJHQk5vS2FxbjBnQ2dBNGRPbURGaWhWd2NYRlI2bTlrWklTeFk4ZENJcEVnTmpZV0lwRUlQWHIwMERucFZCdURWQ3JWdXJCNFVWRlJvdys1MmJCaGc4cnI2cEo3NmdwOTE0cU1qSVNqb3lNOFBUMVZ4cmQ4K1hLa3A2ZmozWGZmeGFCQmcrcTBUNXMyRFV1V0xNRytmZnZ3NXB0dklpTWpRNnZua0plWDEyQWZSMGRIclF2aVcxbFphVjNIaTZpNU1QRkVwRVorZmo2c3JhMWI5RlNUaDBGTlRRMWlZMk9SbXBvS0Z4Y1hEQm8waUVYRWlZaUlpRnFScTZzcmxpeFpnbm56NWlFaUlxTEZFMCsxaVNTQlFBQnpjM04wN2RvVi92NythbDhER2hrWllmNzgrUUR1SjR6ZWZmZGRmUC85OTNCMGRNVFRUeit0VXd5M2J0MENBSGg1ZVduVnY3cTZXcSt2VVRNeU1uRG56aDA4Ly96elNtM1oyZGw0Ly8zM2taMmRqWGZlZVFkUFB2bWtVcDgrZmZxZ2E5ZXVPSExrQ0taT25hcnpGa1ZWUHYvOGMzVHYzbDJydm9hR2hwQktwYzAyTjVFMitPNlNTQVc1WEk3OC9IeTR1N3ZyTzVRV1ZWVlZoUXNYTGlBdkx3L2R1M2VIcjY4dkJBS0J2c01pSWlJaWFuTnFFekMxcSs1YjBvT0pwTVlTQ29WWXRtd1pacytlamUzYnQyUHc0TUU2MWFZNmZ2dzRBR0RvMEtGYTlUY3pNME5sWldXajUya3VtWm1ac0xTMFZMbGFhc0dDQllwdGRyVUZ3MVY1L3ZubnNYNzlla1JIUnplNHVpb2tKQVNKaVluWXRXdFhrMk4vVUVWRmhhTEFPVkZyWWVLSlNJWGk0bUpVVjFjLzF2V2Rpb3VMY2U3Y09WUlVWR0R3NE1HUGZaS05pSWlJNkdHV2xwWUdBSEJ5Y3RKekpBMXpjbkxDNU1tVHNYZnZYdXpZc1FQdnZ2dHVvOFpmdkhnUkowK2VoSk9URTU1NjZpbXR4amc0T0NBakl3TlNxVlNybFU4bEpTVW9LQ2hvVkZ5cHFha3FyOXZZMk1EZjN4Lzc5dTJEcWFrcGdQc2ZWTmNXTHBmSlpOaXdZUVA2OXUyck5MYXFxZ3BoWVdGNDdybm5NSFRvVUlTRmhTbUsyR2RrWkRTNDhrbFR6YTlaczJaaCt2VHAyancxQVBkWGpSVVZGYUZ6NTg1YWp5RnFEa3c4RWFsUSswblQ0NXA0eXMvUHg3bHo1MkJnWUlDZ29LQTJVOGVLaUlpSVNKOGlJeU5oYjIrdmRES2JTQ1RDcGsyYkFOd3ZQUDRvZU9tbGwzRHMyREg4OGNjZkdEdDJMSHIyN05uZ0dJbEVna09IRHVHYmI3NkJtWmtaVnExYXBYVlpDMDlQVDZTbHBTRTFOUlZkdW5ScHNQK2ZmLzZKclZ1M2FuWHZXdlZyYjlWNjVaVlhNR1BHREVYU0tTc3JDeHMzYmxTY0RyZDE2MWExQ1VPUlNJU1RKMC9DdzhNRDN0N2VLazlPZlBQTk56Rmd3QUFBd0xsejV4QWVIbzZ2di80YWhvYUdBSURYWG5zTnMyYk53ckJod3hSamRObXFsNVNVQkxsY3J0WDNqNmc1TWZGRXBFSitmajdNemMwZnkyV29PVGs1aUlxS2dybTVPWVlORy9aWVBrY2lJaUtpaDFGcWFpbysvUEJEdUxtNW9XdlhyakF6TTBOdWJpN2k0dUlna1Vnd2Z2eDRQUFBNTTRyK2x5OWZ4bmZmZlljVksxWTA2alMzMW1CdWJvNVpzMmJoMDA4L3haWXRXL0RsbDEvQ3dNQkEwUzZWU3JGbHl4WUE5MWZhRkJRVTRQcjE2eWdySzRPSGh3ZVdMMSt1c2tpM09uNStmamg5K2pTdVhMbWlWZUprNk5DaGF1dEhMVnEwU09YMVR6LzlWT1gxRGgwNkFMaS9ldW5BZ1FQNDhjY2ZJWkZJMEtGREIrVG01cUpqeDQ1cTQ2ZzlRVTdUN2dKN2UzdTR1YmtwdmdZQU56YzNSZUlKQU96czdCUjlkSFhseWhVQVFQLysvWnQwSDZMR1l1S0pTQVdSU0tSMHpPbmpJQ3NyQ3hjdVhFQzdkdTB3Yk5nd0NJVkNmWWRFUkVSRTFHWUVCUVVoTnpjWDE2NWRRMlJrSkdwcWFtQmpZNE5CZ3dZaE9EZ1lmbjUrZGZwWFYxY2pLU2tKOCtiTncwY2ZmZFNrVStSYXdwZ3hZL0RiYjc4aE9Ua1p2LzMyRzU1NzdqbEZtMVFxeGFGRGh3RGNMMmh0YTJ1TDNyMTdZL2p3NFFnS0NxcVRWTkhHa0NGRHNIWHJWcHcrZlJvdnZQQkNnLzN0N093YS9YcGUwNnF0cTFldklqUTBGTG01dVhCMWRjWGl4WXNSSHgrUFhidDJJU1ltQm9NSEQxYXFsVnBXVm9aRGh3N0J3TUJBNitMZkxlbk1tVE13TnpkSFFFQ0F2a09oTm9hSko2SjZKQklKU2t0THRUNWg0MUdSa1pHQm1KZ1kyTmpZWU5pd1lZLzlhWDFFUkVSRUR4dDNkM2NzV2JKRTYvNkRCdy9HcGsyYnNIejVjaXhac2dScjE2NUZuejU5bWhSRFEwV3RHOU5mSUJEZ3E2KythdkljMnJDd3NNQzRjZU53NE1BQnhNZkhvM2Z2M3MwK2h5YWRPbldDdWJrNVpzK2VqY21USjhQSXlBaVdscGJZczJjUFZxMWFwWEhzK1BIamRTckFYcDlZTElhbHBTVnljbklBb0ZISnV5dFhyaUE1T1JrdnZ2Z2lkenhRcTJQaWlhaWV3c0pDQUhpc1ZqeWxwcWJpMHFWTHNMZTN4NUFoUTJCc2JLenZrSWlJaUloSUMxMjdkc1hHalJ1eGRPbFM3Tm16cDhtSnAwZlp5eSsvakQvLy9CTmZmLzAxUHYvODgxWTlqZG5hMmhvN2R1eW9NMmVuVHAzdzFWZGY0ZkxseTZpcXFsSWFZMlJraEU2ZE9xRmZ2MzVhejJObFpRVnZiKzg2ODNoN2U4UGEyaHJ2dnZzdWtwT1RBZHhQK3RXdkZhWk9UVTBOdnY3NmE5aloyV0hxMUtsYXgwTFVYQVJ5dVZ5dTd5Q0lIaVkzYjk3RTlldlhNWEhpUksxT3pIalkzYmx6QjFldVhJR2pveU1DQXdNZmkrZEVSRVJFMUZTYk5tMUNRRUFBQWdNRDlSMktWdExTMHVEZzRORG1WNnZFeHNaaStmTGxlUDMxMS9IaWl5L3FPNXdtRVl2RitPV1hYekJpeEFoMDZ0U3B3ZjZ4c2JISXpNeUVRQ0NBdDdjM2ZIeDh0SnBuNzk2OTJMVnJGelpzMktDMG5aT291UWcwWklMNURwU29IcEZJQkNzcnE4Y2lRWk9ZbUlocjE2N0IyZGtaL3Y3K2pkNUxUMFJFUkVRUEJ3OFBEMzJIOEZEdzgvUERzbVhMY092V0xaU1hsei9TaVRocmEydTgrdXFyV3ZmMzgvTnJkT0tvckt3TXhjWEZXTFpzR1pOT3BEZVAvanRyb21ZbUVvblVIb2Y2S0VsSVNNRE5temZoNXVhR1FZTUcxVGxsaElpSWlJam9VUlVVRklTZ29DQjloL0ZJc0xDd3dOeTVjL1VkQnJWeFREd1JQYUM4dkJ5VmxaV1BmSDJudUxnNDNMNTlHNTA2ZGNLQUFRTmFkZjg3RVJFUkVSRVJVUzBtbm9nZUlCS0pBRHphaGNWalkyT1JuSnlNTGwyNm9HL2Z2a3c2RVJFUkVSRVJrZDR3OFVUMEFKRklCRU5EUTFoWldlazdGSjNFeDhjak9Ua1ozYnAxYS9ValpvbUlpSWlJaUlqcVk5RVhvZ2VJUkNMWTJ0bytrdldRRWhNVDhjOC8vOERUMDVOSkp5SWlJaUlpSW5vb1BIcnZyb2xhaUZ3dVIyRmg0U081elM0NU9SblhybDJEbTVzYit2ZnZyKzl3aUlpSWlJaUlpQUF3OFVTa1VGSlNBcWxVK3NnbG51N2V2WXZZMkZnNE9qcGkwS0JCck9sRVJFUkVSRVJFRHcwbW5vaitYMjFoY1Z0Yld6MUhvcjJjbkJ6RXhNVEEzdDRlZ1lHQmorUVdRU0lpSWlJaUlucDg4VjBxMGY4VGlVUXdNVEdCcGFXbHZrUFJTa0ZCQWFLaW90Q3VYVHNNR1RJRVJrWThLNENJaUlpSWlJZ2VMa3c4RWYwL2tVajB5R3l6RTR2Rk9IZnVISVJDSVlZT0hRb1RFeE45aDBSRVJFUkVSRVNraElrbklnQXltUXhGUlVXUFJPS3ByS3dNa1pHUk1EQXd3TEJodzJCbVpxYnZrSWlJaUlpSWlJaFVZdUtKQ0VCUlVSSGtjdmxEbjNpcXJLeEVaR1FrWkRJWmhnNGQrc2hzQ3lRaUlpSWlJcUsyaVlrbkl2eXZzUGpEbkhpU1NxVTRlL1lzS2lvcU1HVElFTmpZMk9nN0pDSWlJaUlpSWlLTm1IZ2l3djNFazRXRkJVeE5UZlVkaWxwLy8vMDNpb3FLNE8vdmovYnQyK3M3SENJaUlpSWlJcUlHTWZGRWhQdGI3V3h0YmZVZGhsbzNidHpBM2J0MzBhdFhMemc3TytzN0hDSWlJaUlpSWlLdE1QRkViWjVNSmtOSlNjbER1M1V0TXpNVDE2OWZoN3U3TzN4OGZQUWREaEVSRVJFUkVaSFdtSGlpTms4c0ZrTXVseitVaWFlaW9pTEV4TVRBMXRZV0F3WU0wSGM0UkVSRVJFUkVSSTNDeEJPMWVVVkZSUUR3MENXZXFxcXFFQlVWQldOall6enh4Qk13TkRUVWQwaEVSRVJFUkVSRWpjTEVFN1Y1aFlXRk1EVTFoWm1abWI1RFVhaXBxY0g1OCtkUldWbUpKNTU0NHFHS2pZaUlpSWlJaUVoYlREeFJtMWRVVlBUUXJYYTZjdVVLOHZQek1XREFBTmpaMmVrN0hDSWlJaUlpSWlLZE1QRkViWnBjTG9kWUxINm9UclM3YytjT2twT1QwYTFiTjNoNGVPZzdIQ0lpSWlJaUlpS2RNZkZFYlZwSlNRbGtNdGxEcytJcE56Y1hjWEZ4Y0hKeVFxOWV2ZlFkRGhFUkVSRVJFVkdUTVBGRWJkckRWRmk4b3FJQ0Z5NWNnS1dsSlFZUEhneUJRS0R2a0lpSWlJaUlpSWlhaElrbmF0T0tpb3BnYUdnSVMwdEx2Y1lobDhzUkV4TURtVXlHd01CQUdCc2I2elVlSWlJaUlpSWlvdWJBeEJPMWFiV0Z4Zlc5dXVqbXpadkl5OHREdjM3OVlHVmxwZGRZaUlpSWlJaUlpSm9MRTAvVXBqME1KOXJsNWVYaHhvMGJjSE56UStmT25mVWFDeEVSRVJFUkVWRnpZdUtKMnF5S2lncFVWVlhwTmZFa2tVZ1FFeE1EYzNOeitQbjU2UzBPSWlJaUlpSWlvcGJBeEJPMVdROURZZkcvLy80YmxaV1Y4UGYzWjEwbklpSWlJaUlpZXV3dzhVUnRWbEZSRVFRQ0FheXRyZlV5LzUwN2Q1Q1ZsWVZldlhyQnpzNU9MekVRRVJFUkVSRVJ0U1FtbnFqTktpb3FRcnQyN1dCb2FLaVh1YTlldllxT0hUdWlhOWV1clQ0L0VSRVJFUkVSVVd0ZzRvbmFyTUxDUXIxc3M1TktwWWlPam9hSmlRa0dEaHlvOXhQMWlJaUlpSWlJaUZvS0UwL1VKbFZYVjZPc3JFd3ZpYWU0dURpVWxKUmcwS0JCRUFxRnJUNC9FUkVSRVJFUlVXdGg0b25hSkxGWURLRDFDNHRuWm1ZaUpTVUZQajQrY0hSMGJOVzVpWWlJaUlpSWlGb2JFMC9VSnRVbW5scXpzTGhFSXNIbHk1ZGhZMk1EWDEvZlZwdVhpSWlJaUZTVHkrWDZEdUd4bEppWXFIaTlyY3ExYTlmd3p6Ly90R0pFajRhQ2dvSldtZWZtelp0WXUzWXRLaW9xbXVWKzVlWGxpSWlJUUdwcXFrNng3TjY5RzhYRnhXcjcvUG5ubjlpNGNXTVRJbXdZZnhlMExDTjlCMENrRDhYRnhUQXhNV25Wclc1eGNYR29xcXJDa0NGRFlHREFuQzhSRVJHUlBoa2JHMnRNanBCdTh2UHpzV2pSSWp6NTVKTll2SGl4eWo2Yk4yOUcrL2J0RzB3bTFOVFVJRE16VTZjNHJLMnRZV1ZscFhpOGI5OCtmUFBOTnpyZDYwRW5UNTVzOGoxVU9YZnVITmF0VzRlbFM1ZGk1TWlSQUlDS2lncWNQMysrVWZjWk5XcFVnMzN1M2J1SHMyZlBRaWdVNHQxMzM5VXAzZ2NWRmhaaTE2NWRTRXBLd3ZMbHl4czFkdCsrZllpTGk4Tnp6ejJudGs5aVlpSk9uRGlCcFV1WE51cmVFb2tFWldWbEtDMHRSVWxKQ1lxTGl5RVdpMUZZV0FpUlNJVDgvSHprNWVVaE96c2JQajQrK09pamp4cDFmOUllRTAvVUpvbkY0bFpkN1pTZG5ZMjB0RFQ0K1BqQTF0YTIxZVlsSWlJaUl0V2NuWjJSbTV1cjd6QUFBS3RXclVKMGREU0VRaUYrLy8zM0ZwOXY5T2pSRGM3MTdMUFBvckt5c2s2aVpmVG8wVXI5NmlkaTJyZHZqMG1USnVIbm4zL0doQWtUMEtWTGx6cnQrZm41dUh2M0xzYU9IZHRnbkNVbEpYanR0ZGNhN0tmS3JGbXpNSDM2ZEtYckN4WXNxUE80cHFZR3hjWEZEWmJndUhUcEVxS2lvaG9WUTNWMU5kNTc3ejBVRmhaaTY5YXRzTEN3VU51M2QrL2VjSEZ4UVVoSUNJeU5qVEYwNkZBVUZoYmk0NDgvYnRTY3RZbW5vMGVQYXV6WHZuMTc1T1hsTmRodnpKZ3hBTkRnYXFhK2ZmdmlyNy8rUW5Cd2NKMkVYMzJkT25WU2ZKMmVubzRMRnk1Z3hvd1pHc2RvYTlldVhUaDI3QmlxcXFwUVdWa0ptVXltc2IrcHFTbHNiVzNoNHVJQ0l5TWo1T1RrYUN5SFVsNWVqbm56NXFGZHUzYll1SEVqVEV4TW1oeHpXOEhFRTdWSllyRVlibTV1clRKWGRYVTFZbU5qMGE1ZE8vVG8wYU5WNWlRaUlpSWl6ZnIwNllORGh3N2gxcTFiNk5xMXE5N2lPSGJzR0M1ZXZLaTMrUnRqL1BqeE9ITGtDS1JTS2NhUEg2KzRmdS9lUFZSWFZ5c2VQL0hFRTBoTlRVVlpXUmt5TWpJVTE5M2MzSEQ2OUdrSUJBSUVCUVZwUGUrQ0JRc1FIQnhjNTlyaHc0Y1JGaGFHL2Z2M0szMmdyQ3BCVnF2K2ZmYnUzWXNEQnc1ZzI3WnRjSFoyVmp1dXRMUzAwWW1uN2R1MzQ4YU5HdzBtblFEQXlzb0tJU0VobUQ5L1B0YXZYNCtQUHZvSS9mcjF3NDgvL3FqVWQ5cTBhWGpxcWFjd2E5WXN0ZmZidkhsemcvSGw1K2NqTGk1T1k1L2F4Tk8vL3ZXdkJ1OEhRTzBxdDFvUEppcC8rT0VIMk5qWVlQTGt5WXByaHc4ZlZocVRrcEtpdHMzWDF4ZWRPM2NHY0g5WGkwZ2t3dE5QUHcyaFVBZ3pNek9ZbTV2RDB0SVNscGFXYU5ldUhheXNyR0J0YlExcmErdEc3MzR4TnpmSHlwVXI4ZFpiYjJIYnRtMVl0R2hSbzhhM1pVdzhVWnRUV1ZrSmlVVFNMRmwxYmNUSHg2T2lvZ0lqUjQ2RW9hRmhxOHhKUkVSRVJKcDVlM3VqVzdkdStPT1BQMkJqWTRNT0hUcTBlZ3k1dWJuNDhzc3ZNV0xFQ0p3NmRhclY1MitzK2ZQbjQ4U0pFNUJLcFpnL2Y3N2krdkxseStza21HclZUNmlkT0hFQ3g0NGRnMXd1eDdScDAxVE9zVzNiTnFWRVlGRlJFYkt5c3BTdUFmZVRYbVZsWlRvOW40U0VCSHozM1hkd2NuS0NUQ1pUK1J6cWI5blQxdlhyMTNIbzBDRk1talJKYWRXWE92YjI5dmpnZ3crd2JkczJ1THU3dzhEQUFQSHg4Umd3WUlCU2NrMG9GTUxCd1VIeCtPTEZpK2pZc1dPZFBsT25Uc1hNbVROVnppV1R5V0JnWUFDQlFLQ3lmZGV1WFlpSWlLaHpMU0FnQUZPblR0WHF1ZFFYRVJGUkozRjM1ODRkbkRsekJtKy8vVGJNek14dzkrNWQyTm5aSVN3c1RPMDlWTFc5OGNZYmlzUlRyU1ZMbHVnVW96WThQVDB4Y2VKRTdOKy9IeU5IamtTZlBuMWFiSzdIQ1JOUDFPYlVGcTVyamExMnVibTVTRTVPaHJlM04renQ3VnQ4UGlJaUlpTFMzcWhSbzNEZ3dBSHMyYk1IQXdZTWdLZW5KeHdjSEZwbEM0MWNMc2NubjN3Q0l5TWp6SjA3OTVGSVBLa1RIaDRPQUVoT1RrWkJRUUVHRGh3STRINFI4UTRkT2lpMkw1MCtmUnJwNmVsNCt1bW5NV1hLRk1YNFR6NzVCQ1VsSmZqZ2d3OVViblhhdlhzM2R1L2VyWEx1ZWZQbTZSVHozYnQzOGNFSEgwQXFsU0lqSTBQdGxyNVhYMzFWYlpKTWsxMjdkc0hZMkxqUmlScHZiMjk4OXRsbkFPNnZzdHE2ZFN2OC9QeXdjdVZLdFdQRVlqRSsvdmhqV0ZoWTROdHZ2MVY4MkMwUUNOUis4UDNNTTg5Z3lwUXBtRDE3dHRheDJkallvSHYzN28xNE52OVR2OXpJRjE5OGdVNmRPbUhzMkxHUVNxVll2WG8xWkRJWmpoMDdwaFR6RjE5OGdZTUhEN1pZZmEzR2V1bWxsM0RvMENHRWg0ZHJUSlRSL3pEeFJHMU9iZUtwcFZjOFNhVlNYTHAwQ1JZV0Z1alpzMmVMemtWRVJFUkVqV2RtWm9acDA2WWhKaVlHMGRIUldtOTVDd2dJUUdCZ1lKUG1QblRvRUs1Y3VZSVZLMVk4RmpWQXBWSXBRa0pDVUZSVWhHKy8vUmFtcHFiNDdMUFBJSlBKOE5sbm44SEV4QVE3ZCs0RWNML284NE5sTDhyTHkrSHM3S3kyRk1iOCtmTXhidHk0T3RmKys5Ly9Zc3VXTGZqcHA1K1VYdGMvODh3ekdtTk5UMC9IdSsrK2k5TFNVbmg3ZStPVFR6NkJ1Ym01b2owbkp3ZnZ2ZmVlVnZkU0pTMHREVmV2WHNXSUVTTWFyQjJsaWFXbEpXYk5tb1d0VzdkaStQRGhHRHAwcU1wK08zYnNRRWxKQ2Q1Nzd6MUYwaVlrSkFUbTV1YUlqbzVXZS8vczdHeTE3YU5HalVMLy92MFZqK2ZObXdjUER3L2N1M2NQbFpXVmpYNHVRVUZCaXZwTy8vM3ZmNUdRa0lCTm16WkJJQkRnd0lFRHlNakl3T0xGaTV0bGg0aW1yWllOZWYzMTEvSFNTeTlwN0dOdGJZMmhRNGZpMUtsVHVIUG5qdFlyMnRveUpwNm96UkdMeFRBMU5ZV3BxV21MenBPUWtJQ3lzaklNSHo0Y1JrYjhyMFpFUkVUME1ESXdNRUJBUUFENjl1MkxsSlFVaU1YaUJvOVdiMnF0MEt5c0xIejk5ZGNZUG54NG8yb2RQY3gyN3R5SmxKUVVoSVNFd016TURBQ3dkdTFheko4L0h5dFdyTURnd1lPUm41OFBiMjl2Wkdkbks4Yko1WExrNU9UQXo4OVA3YjBOREF5VUVoSzFwMFNyYXRORUpCSmh3WUlGY0haMlJsaFlHTFpzMllJRkN4Wmc1Y3FWOFBEd1FHUmtKTUxDd3VEbTVvWTFhOWJvbERnNmUvWXNBR2lkblB6bGwxL3c1WmRmS2g1UG16WU5yNzc2S29EN1JkNFBIVHFFTDc3NEFuNStmblVTWkFBUUZSV0ZFeWRPNE1rbm44VGd3WU1WMS92Mzc0L0xseTlqMWFwVmF1ZU5qSXhFWkdTa3lyWWZmdmloemhhMkNSTW1BTGhmd3lrK1BsNnI1L1dna3lkUEtyYWxuVGx6Qm5LNUhFdVhMbFVVQU8vVHB3K2VmdnBweU9WeXBjUldiWitLaWdxbCs5YitXM3ZRNjYrLzN1ajRhbW03ZFM0d01CQ25UcDFDVkZRVUUwOWE0THRoYW5PS2k0dGJmSnRkUVVFQmJ0KytEVTlQVDczVUN5QWlJaUtpeGpFek0ydVZnMkRrY2psQ1EwTmhibTZPdDk5K3U4WG5hdzBYTGx6QWdRTUhNSFhxVlBUcjEwOXgzY1hGQmF0WHI4Yjc3NzhQTHk4dnpKOC9IeVVsSmZqKysrOGhsVXBoWkdTRXUzZnZvcUtpQXA2ZW5tcnZIeFlXcG5aTDAvUFBQOStvV08zczdMQnk1VXIwNnRVTEppWW1XTE5tRFhidTNJbC8vL3ZmOFBEd1FFcEtDcVpObTRhWFgzNVo1OVUzQ1FrSkFPNFh2dFpHdjM3OUZLZnQxWCtlQmdZR21EMTdOalpzMklEazVHU2xuUlNIRGgyQ282TmpuWnBiOVczZXZGbXBEdEp6enoySFNaTW00WlZYWHFselBTWW1SdU5KZWdzWExsU1pBR3FNdDk1NlMzSEsrSVlORzVDWm1ZbDMzbmtIQW9FQWVYbDVhcmMyUGxqUXZsYjk3WGNDZ2FEQkZVdk5vZlpuVy91ekpzMlllS0kyUnl3V3c4UERvOFh1WDFOVGcwdVhMc0hNekF5OWUvZHVzWG1JaUlpSTZOSHowMDgvNGZyMTYxaTdkbTJySFhiVGtrcExTeEVhR29xK2Zmc3ExVFBLeU1oQWNuSXlWcTFhaGY3OSs4UE16QXlYTGwxQ2RYVTFidDY4aVY2OWV1SGF0V3NBb0xGMjBJd1pNNVJXaHAwNWN3YmZmZmNkUHYvOGMxaGFXdFpwVTFldnFaYWZueDhrRWduaTR1SVFFeE9EYytmT3dkallXTEdhNk9USms4ak56VVhYcmwzUnVYTm51TGk0YVB2dFVEenYrc1cvTmVuY3ViTWlNYVFxd1JZUUVJRHc4SEMwYjk5ZXFlMmpqejVDVGs2TzBrcW9COVdlN0ZhZnNiR3gwdldHVG5wcmpwUEJhN2ZjblRoeEFzbkp5WGp6elRjVkp3cGFXVm5oL2ZmZjErbStNcG1zMVhhYTJOdmJ3OHpNREptWm1hMHkzNk9PaVNkcVV5b3FLbEJkWGQyaWYrVHYzTG1ENHVKaUJBWUd3dGpZdU1YbUlTSWlJcUpIUzJwcUtuYnYzbzNSbzBjaklDQkEzK0UwQzB0TFM2eGN1Ukl1TGk2WVAzOCsvUDM5RlFXcmYvbmxGeHc1Y2dTN2R1MVNiSW5xMmJNbmpJeU1jTzdjT2ZUcTFRdFJVVkZ3Y0hCUW1kQXdOalpHVUZBUWZIMTlsZHByNjJJNU96c3I3V1o0c0o1UWZkSFIwZGkzYng5dTNib0ZBd01EOU92WEQ3Tm16Y0lUVHp3Qk16TXpGQlVWNGZ6NTg3aDQ4U0oyN2RxRnNySXk5TzdkVzFFd1hSdEZSVVZOcnRzbEVvbHc5ZXBWdGUyWm1aazRmZnEwNHZIdDI3Y1ZYNDhZTWFKTzMzdjM3cWtzbUY5U1VxSjBrbDlCUVlGU1A1bE1odno4ZksxajE4VE96ZzdHeHNZUWlVVDQ4c3N2MGFkUEgweWNPRkhSYm1wcWlsR2pSdWwwNytycTZqcnZ2MjdkdXFYMVdGdGJXNjBUaGJXc3JLeFFXRmpZcURGdEZSTlAxS2EwOUlsMmxaV1Z1SEhqQmh3ZEhSdjl5UWdSRVJFUlBkNUNRME5SWFYwTlMwdExmUGZkZDBydFVxbFVjWDNHakJrdEZvZXhzVEdxcTZzMTlwRktwUTJ1ZnFsVlc1OXAxS2hSQ0E4UFIxVlZGU1pQbm94ang0NWgxS2hSaXRVc3dQMFZOUU1HRE1DcFU2Y3dkdXhZWExwMFNlVVdxdHFrU21CZ0lNUmljWjBrQy9DL3BFSlVWSlJTblovQXdFQklKQktjUG4wYTdkdTNSNjlldlJSdFhidDJSWThlUFRCOStuVDA3dDBiMzM3N0xZNGNPWUtyVjYvQzFkVVY3dTd1Nk4yN041NSsrbWtJQkFLa3BLVEF6TXhNYlMwa1ZhcXJxNXU4OGlZcEtRbnIxNjlYMng0Ykc0dlkyRmlWYmZVVFQydldyRkhaNzhpUkl6aHk1RWlEc2VUazVHRG16SmtOOXRQRzU1OS9qbTdkdW1IRGhnMEFnRVdMRmlFdExRMFpHUmtRaVVTWU1HR0MwczlhblU2ZE90WFpRbGhlWGw1bjVkZGJiNzJsZFZ6UFBmY2Mzbnp6VGEzN0E0Q2hvU0drVW1tanhyUlZURHhSbXlJV2l3RzAzSWwyQ1FrSmtFcWw2TnUzYjR2Y240aUlpSWdlWGJXclVnNGVQS2l5WFNxVjR2dnZ2d2ZRc29rbkd4dkRPOGF0QUFBZ0FFbEVRVlFiNU9YbElTY25CNDZPamtydEJRVUZrRXFsY0hKeWF0UjlwMDZkQ29sRWdoOSsrQUYvL2ZVWERBME5GVVd5SHpSbXpCaEVSMGRqeFlvVnFLbXB3Wmd4WTVUNmFFcTZQT2pUVHovVjJENTQ4T0E2aVNjN096dk1tVE5IOGJoYnQyNEFnTHQzN3lJK1BoN1oyZG1ReStWWXRHZ1J4bzRkQ3k4dkw2M2llSkNabVpsT0o3ODlxSGZ2M3RpOWU3Zkt0cGt6WjJMVXFGRmEveHZadm4yNzB2TVlQWG8wcGt5Wm9saWRWaXNxS2tvcFVXVnZiNCtRa0JDbCt4NDZkQWpuejUvSGhnMGJJQkFJQUFDLy9mWWJ6cDgvcjdJL0FIaDRlT0NQUC81QVhGd2NqSXlNOE9xcnJ5cUsrZnY2K21MQ2hBbGEvK3luVFp0V0ovRWtFb25RcmwyN09uMkNnb0l3YWRJa2pmZlJ0ZFphUlVXRnhpMk85RDlNUEZHYlVseGNES0ZRcUhLcGFWT0pSQ0trcEtTZ2E5ZXVqOFYrZlNJaUlpSnFYdlVMSVQ5bzlPalJFQXFGK1AzMzMxczhEaDhmSCtUbDVlSE1tVE9ZTW1XS1V2dTVjK2NBYUY4YyswRXpaODVFU2tvS29xS2k0T2ZucDNMN1VrQkFBRHAzN295VWxCUU1IanhZWldGeGRjbTVYMy85RmJ0Mzc0YVBqdzhTRXhQaDVlVUZvVkNJMWF0WHEzeU5yMjdsVVZ4Y0hFcEtTdUR1N2c1L2YzL0Y2cTdLeWtxa3BxWTJxWmFSZzRNRE1qSXlGQVhVZFdGcWFscG5wVmg5RmhZV0d0c2ZWRk5Ub3pnWnJyNzYxMVdkNkdocWFvcisvZnNyWFQ5dzRBQnNiVzNybkVnWUZSVUZBQ3I3MTNKemMwTy9mdjNnN3U0T2QzZDN1TG01d2MzTnJVNE5xeGRlZUFHelpzMVNlNDl4NDhZcFhjdk96b2FQajArZGE3YTJ0aHJyaCttcXVyb2FSVVZGU2tYYlNUVW1ucWhORVl2RkxaSVVrc3ZsaUl1TGc2bXBhYXVjaGtKRVJFUkVwS3Rubm5rR1o4K2V4UTgvL0FCUFQ4ODY5WXV1WGJ1R2I3LzlGZ0tCQU1IQndZMis5KzNidDNIcDBpV1ltNXNqTmpZV1gzMzFGZWJPblZ1bmoxZ3NSbmw1T1lEN3E3eHFhbXBnWUdCUXAwLzlvdGN5bVF6ZmZQTU5mdjc1Wjh5Y09STTJOalpJVEV6RTh1WExzWHIxYXF4WnN3YXJWcTNTdWs3UHp6Ly9qTC8vL2x1UmFMR3pzNE9MaXdzOFBEelFxVk1uVkZaV3dzUERRNmRhVFo2ZW5raExTME5xYWlxNmRPblM2UEcxcmwrL0RsdGJXNjBUVE9xbzIwSVdFUkdCaUlnSW5lNHBFb2tRRnhjSGYzOS9yZnBYVlZYaG0yKyt3VFBQUElQdTNic2pORFJVWTM4REE0TkdMUmJJeXNxQ1dDeldlRHBpYzBwS1NvSmNMbS9TejdjdFllS0oycFRpNHVJV3lVcW5wNmVqb0tBQUF3WU1ZRUZ4SWlJaUltbzJseTlmeG5mZmZZY1ZLMVkwdXZpeE9vTUdEVUp3Y0RBT0h6Nk01Y3VYdzhYRkJRNE9EaWdzTEVSYVdocUEreWZEMVc1RHE3Vmx5eFpGVFpzdFc3WUFBT2JQbjY5b1QwNU94ckpseTJCalk0UFBQdnNNbXpkdnh2NzkrMkZpWXFMWWNsZGFXb29WSzFZZ0p5Y0gzYnQzUjJ4c0xENzk5Rk84ODg0N2l1MWE5ZDI5ZXhjaElTRzRkZXNXNXMyYmh3a1RKdUR3NGNNQTd0ZHUzYmh4STk1Ly8zM01tVE1IcjcvK09zYU1HUU5EUTBPTjM0TjE2OVpCS3BVaU96c2JHUmtaU0U5UFIwcEtDaElTRW5EMDZGSElaRElNR1RJRS8vblBmeHI5L2ZYejg4UHAwNmR4NWNvVm5SSVRjcmtjZS9mdXhlN2R1L0hoaHg4Mk9mRTBlL1pzZE9qUW9jNjE5ZXZYSXlBZ1FLa2UxSzFidDdCLy8vNEc0L3Y4ODg4aGtVZ3dZY0lFcldJb0xTM0Z3WU1ISVpGSXNIRGhRc1YxcVZTS1c3ZHU0Y2FORzdoKy9YcWRmMCtOY2Zic1dRQm9WQkg0cHJoeTVRb0F6U3U3NkgrWWVLSTJvN3k4SEZLcHRObFhQRW1sVXNUSHg4UFcxbGJ0NlJsRVJFUkVSTHFvcnE1R1VsSVM1czJiaDQ4KytnamUzdDdOY3Q4RkN4YWdaOCtlT0hyMEtKS1NrbkR2M2oxWVdWa2hJQ0FBRXlkT1ZQbUcrdENoUTBwZjF5WUtMbDY4aUEwYk5zREV4QVFiTm14QSsvYnRzWHIxYWl4ZXZCaG56cHpCQ3krOGdJcUtDcXhhdFFwSlNVbVlPWE1tWG5ycEpTeGJ0Z3pIamgxRFNVa0ozbjMzM1RvMWMwcExTN0Zueng3OCt1dXZzTEt5UWtoSWlNcGFxZzRPRGdnTEMwTklTQWpDd3NMdzAwOC9ZY0tFQ1JneFlnVHM3T3pVZmcrTWpJd1UyN3dDQXdNVjF5VVNDWktTa3BUcUJXbHJ5SkFoMkxwMUswNmZQbzBYWG5oQjYzR2xwYVVBN3A4R0tKRklNR1hLRlBUcjEwK25HQURBMjlzYklTRWg2TjY5dTFJQjl2WHIxOFBkM1YwcDhkUy9mMzhNSERoUTdVb3ZzVmlNelpzMzQvejU4d2dPRGtidjNyM3J0TmNtRCt0dk04ekx5d01BT0RvNjRzOC8vOFMxYTlkdzY5WXRKQ2NuSy9wMjZkSkY2NEwyRDVKS3Bmajk5OS9oNHVLQ25qMTcxbWtyS3l0RFZsWldvKy9aa0RObnpzRGMzUHl4T1oyeXBUSHhSRzFHU3hVV3YzSGpCaW9yS3hFWUdLajJVeG9pSWlJaUlrM1UxWDhhUEhnd05tM2FoT1hMbDJQSmtpVll1M1l0K3ZUcDB5eHpqaG8xcWxGSDE2dUtzYkt5RXQ5ODh3MSsrKzAzT0RzN1k5MjZkWXJUbllWQ0lkYXRXd2REUTBQY3VYTUhHelpzZ0Vna3dtdXZ2WWFwVTZjQ0FOYXVYWXZWcTFjaktpb0tjK2ZPeFlvVksrRG82SWlmZnZvSlI0NGNRWGw1T1o1ODhrbTg4Y1liR2wvSFcxcGE0c01QUDhTSkV5ZitqNzM3am82cTJ0OEcva3hKbmZRQWFZUWtwSkNRMER0U3BRaFNCQUVSeFlZaXY5ZUxJSXFYcGlMWUtOZExVVkJFVVpyU0FrcVJFcHFFRmlBZ0pTU1FUa2dnbGJTWmxHbnZIekZ6RXlhVHpFd21oZVQ1ck9VeWM4NCtlKytaQkpkNTJQdTc4ZE5QUCtINzc3L0hoZzBiMEtkUG4wcXJsb1lORzZiMyt6V1dSQ0xCcUZHakVCb2FpaHMzYm1pRk03b2NQWG9VUU5sN1diQmdRYTIvejdhMnRnYXZ5TEczdDYveW1YdjM3aUVzTEF3SER4NUVZV0VoUm8wYVZlWHFwUEpWZWQ5OTk1Mm1INFZDZ1VPSERnRW9PMVZ3Nzk2OXVIWHJGa0pDUXZENjY2OGpPRGdZQVFFQmxiYldHYklOTURRMEZPbnA2Vld1bWp0MjdCaU9IVHVtMzV2WDA3VnIxNUNRa0lBWFhuaUJ4Y1gxeE9DSm1vMkNnZ0lBcGcyZUNnb0tFQnNiQzI5dmJ6ZzdPNXVzWHlJaUlpS2ljZ0VCQVZpNWNpVSsvUEJEYk4rKzNXVEJreWtJQkFKRVJVV2hiOSsrK09DREQ3UldDVGs0T0VBdWwyUHQyclVvTGk3R3h4OS9qQUVEQm1qdVcxbFo0YXV2dnNLNmRldHc4dVJKT0RvNndzTENBdGV2WDBlYk5tMHdZOFlNclZVczFSaytmRGdHRGh5SW8wZVA0dmp4NDNqdHRkY3ExWSthUFh1MlVlL3p5cFVybXNMWitwZzZkU3BPbmp5SmpSczNZdTNhdFhyOUJYVy9mdjF3OCtaTnpKa3pCL2IyOWtiTnN5NmNQWHNXUzVZc0FWQld2MnIrL1BubzFhdFhsVzFIakJpQlU2ZE9ZZi8rL1pWV3lBRmxSZVU3ZCs0TWYzOS8yTmpZYU5YMXFxaDM3OTRZTkdpUXp2dkxsaTNUZkgzanhnMzQrUGpnbVdlZTBXclh2My8vR3JjRHpwMDd0OXI3RmFsVUttemN1QkZPVGs2YThKUnFKbEJYVmJhZXFBbTZldlVxVWxKUzlONkhySSt6Wjg4aU16TVRJMGVPTkdwWktCRVJFUkdSdnBLVGs5R3laY3RHdDhwQ0twVkNJcEZVMitiQmd3Y1FDQVJ3ZFhYVjJTWXpNMU96WXFhNHVMamEvNzgrZlBnd3Z2bm1HK3pZc1VPdnYxaE9URXhFYkd3c2hnOGZYbU5iVXowZkdSbUpoUXNYNHMwMzM4UUxMN3hnMUxoVjJiNTlPOXExYTRmdTNic2IzY2V3WWNNd2VmSmt2UFhXVzNxMUR3ME5SV0Jnb040bkhlYms1RUF1bDJ0ZVN5UVNyWUx4dXF4WnN3YmR1M2ZIVTA4OVZXMmJuajE3b2srZlBzakx5ME5HUm9iV050UTFhOWFnUzVjdWxZSk9YWDNwMHc0QWZ2dnROL3o4ODgvNDZxdXZLcDNtUjRDZ21uU1Z3Uk0xRzMvOTlSZVVTaVdlZnZwcGsvU1hsWldGVTZkT29VT0hEbHJIZGhJUkVSRVJFWjArZlJwMzc5N0YxS2xURzExZ1NJYVJTcVhZdG0wYkFnSUN0R3BqRVlNbklnREF3WU1INGVMaVlyS1REazZmUG8yQ2dnS01IRG15VXVFOElpSWlJaUlpb3Vha3V1Qko5NlpLb2laRW9WQ2dxS2pJNkpNcEhwZWVubzdNekV3RUJRVXhkQ0lpSWlJaUlpTFNnY0VUTlF2bFI1T2FLbmk2ZWZNbXJLMnQwYlp0VzVQMFIwUkVSRVJFUk5RVU1YaWlacUg4UkR0VEJFK3BxYWw0OU9nUmdvT0RxejJKZ1lpSWlJaUlpS2k1NDIvTjFDeVVCMC82bnFTZ2kxcXR4cTFidDJCcmF3c3ZMeTlUVEkySWlJaUlpSWlveVdMd1JNMUNRVUVCSkJKSnJWY28zYnQzRC9uNStRZ0pDVUUxdGRPSWlJaUlpSWlJQ0F5ZXFKa29LQ2lvOVRZN2xVcUZxS2dvT0RvNndzUER3MFF6SXlJaUlpSWlJbXE2R0R4UnMyQ0s0Q2t4TVJGU3FaU3JuWWlJaUlpSWlJajB4T0NKbXJ6aTRtSW9GSXBhQlU5S3BSSzNiOTlHaXhZdDRPcnFhc0xaRVJFUkVSRVJFVFZkREo2b3lUUEZpWFpKU1Vrb0xpNUdjSEN3cWFaRlJFUkVSRVJFMU9ReGVLSW1yN1luMnFuVmF0eTVjd2ZPenM1bzFhcVZLYWRHUkVSRVJFUkUxS1F4ZUtJbXI2Q2dBQ0tSQ0ZaV1ZrWTluNUtTQXFsVWlzREFRQlBQaklpSWlJaUlpS2hwWS9CRVRWNWhZU0ZzYlcyTkxnZ2VFeE1ET3pzN3VMbTVtWGhtUkVSRVJFUkVSRTBiZ3lkcThnb0tDb3plWnZmZ3dRUGs1ZVVoTURDUUo5a1JFUkVSRVJFUkdZakJFelZwYXJVYVVxblU2T0FwSmlZRzF0Ylc4UFQwTlBITWlJaUlpSWlJaUpvK0JrL1VwQlVYRjBPbFVoa1ZQR1ZsWlNFckt3dnQycldEVU1nL0trUkVSRVJFUkVTRzRtL1QxS1FWRmhZQ0FDUVNpY0hQeHNURXdNTENBajQrUHFhZUZoRVJFUkVSRVZHendPQ0ptalNwVkFvQUJxOTR5c3ZMdzRNSEQrRHY3dytSU0ZRWFV5TWlJaUlpSWlKcThoZzhVWk5XV0ZnSW9WQUlLeXNyZzU2N2MrY094R0l4L1B6ODZtaG1SRVJFUkVSRVJFMGZneWRxMHFSU0theXRyUTA2a2E2NHVCZ3BLU253OGZHQm1abFpIYzZPaUlpSWlJaUlxR2xqOEVSTldtRmhvY0hiN0JJVEU2RlNxYmphaVlpSWlJaUlpS2lXR0R4Umt5YVZTZzBxTEs1U3FSQWZIdzlYVjFlalRzSWpJaUlpSWlJaW92OWg4RVJObGx3dVIwbEppVUhCVTFwYUdvcUtpcmphaVlpSWlJaUlpTWdFR0R4UmsyWE1pWFp4Y1hHUVNDUndkWFd0cTJrUkVSRVJFUkVSTlJzTW5xakpLZytlOUYzeGxKZVhoOHpNVFBqNStSbFVqSnlJaUlpSWlJaUlxc2JnaVpxc3dzSkNBUG9IVC9IeDhSQ0pSUEQyOXE3RFdSRVJFUkVSRVJFMUh3eWVxTW1TU3FXd3NMQ0FtWmxaalczbGNqbVNrcExnNWVVRmMzUHplcGdkRVJFUkVSRVJVZFBINEltYXJNTENRcjFYT3lVbEpVR3BWTUxYMTdlT1owVkVSRVJFUkVUVWZEQjRvaVpMS3BYcVhWZzhQajRlTFZxMGdJT0RReDNQaW9pSWlJaUlpS2o1WVBCRVRaSmFyWVpNSm9PMXRYV05iYk96czFGUVVBQWZINTk2bUJrUkVSRVJFUkZSODhIZ2lacWtrcElTcUZRcXZZS25wS1FraU1WaXRHN2R1aDVtUmtSRVJFUkVSTlI4TUhpaUpra21rd0ZBamNHVFVxbEVTa29LV3JkdURiRllYQjlUSXlJaUlpSWlJbW8yR0R4UmsxUlVWQVFBc0xLeXFyWmRhbW9xNUhJNXZMMjk2MkZXUkVSRVJFUkVSTTBMZ3lkcWt2UmQ4WlNVbEFTSlJJSVdMVnJVeDdTSWlJaUlpSWlJbWhVR1Q5UWt5V1F5aUVRaW1KdWJWOXNtUFQwZDN0N2VFQWdFOVRnN0lpSWlJaUlpb3VhQndSTTFTVVZGUlhxdGRnSUFMeSt2ZXBnUkVSRVJFUkVSVWZQRDRJbWFKSmxNVm0xOUo3VmFqYVNrSkxScTFRb1NpYVFlWjBaRVJFUkVSRVRVZkRCNG9pYXBwaFZQMmRuWmtFcWxMQ3BPUkVSRVJFUkVWSWNZUEZHVG8xYXJhd3llVWxKU0lCS0o0T0hoVVk4ekl5SWlJaUlpSW1wZUdEeFJrMU5jWEF5MVdxMXpxNTFhcmNiOSsvZmg1dVlHc1ZoY3o3TWpJaUlpSWlJaWFqNFlQRkdUSTVQSkFFRG5pcWZNekV3VUZ4ZkQwOU96UHFkRlJFUkVSRVJFMU93d2VLSW1wNmlvQ0FCMHJuaTZmLzgreEdJeDNOemM2bk5hUkVSRVJFUkVSTTBPZ3lkcWNxcGI4VlMremM3ZDNSMGlrYWkrcDBaRVJFUkVSRVRVckRCNG9pWkhKcE5CTEJiRHpNeE02MTVtWmlaS1NrclF1blhyQnBnWkVSRVJFUkVSVWZNaVVLdlY2b2FlUkczSWxLWDQ0LzVsWE1xT3c4UGlYQlFyNVEwOUpTS3FZNVlpTTdoYU9xQ25zeCtlYTkwRDFpTHpocDRTRVJFUkVSRlJzeVVRQ0FRNjd6M0p3ZFAxM0dTc3Uzc1VtU1g1RFQwVkltb2dMUzNzOEsrQVo5REp3YXVocDBKRVJFUkVSTlFzTmNuZzZYcHVNajY5dWJ1aHAwRkVqY1NTRGkrZ28wT2JocDRHRVJFUkVSRlJzMU5kOFBSRTFuaVNLVXV4N3U3UmhwNEdFVFVpMzk0OUFwbXl0S0duUVVSRVJFUkVSQlU4a2NIVEgvY3ZjM3NkRVZXU1daS1BQKzVmYnVocEVCRVJFUkVSVVFWUFpQQjBLVHV1b2FkQVJJMFEvOXRBUkVSRVJFVFV1RHlSd2RQRDR0eUduZ0lSTlVMOGJ3TVJFUkVSRVZIajhrUUdUOFZLZVVOUGdZZ2FJZjYzZ1lpSWlJaUlxSEY1SW9NbklpSWlJaUlpSWlKcS9CZzhFUkVSRVJFUkVSRlJuV0R3UkVSRVJFUkVSRVJFZFlMQkV4RVJFUkVSRVJFUjFRa0dUMFJFUkVSRVJFUkVWQ2NZUEJFUkVSRVJFUkVSVVoxZzhFUkVSRVJFUkVSRVJIV0N3Uk1SRVJFUkVSRVJFZFVKQms5RVJFUkUxQ2pkdkhrVHUzZnZOdXJabUpnWUhEaHdBQXFGd3NTenFqekd1WFBub0ZhcjYyeU14dURpeFl2WXNHRURjbkp5Tk5jVUNnVVNFeE1iY0ZhbWxaU1VoT3pzN0lhZUJoRlJreVJ1NkFrUUVSRVJFVlVsSWlJQ08zZnV4S1JKa3d4KzlzQ0JBNGlJaU1Denp6NnJ1YVpXcXlHVlNwR2ZuNi81SnpjM0Y0OGVQY0tqUjQrUW5aMk41NTU3RGlFaElYcU44Y3N2ditENjllczRmUGl3d2ZPcnJlTGlZcHc3ZDA3bi9ZNGRPeUk4UEZ5dnZrYVBIZzF6YzNNQXdKZGZmZ21CUUlBRkN4Wm83a2RFUk9EZ3dZT1lQSG15NXRyT25UdXhiZHMydlBqaWkzajU1WmNoRnV2L2E4V1ZLMWVRbDVlbmQvc2hRNFpVZXIxMzcxNjluNjNvK2VlZnIvSzZXcTNHVjE5OUJhbFVpczJiTjBNa0V1SGd3WU0xOWhjU0VnSnZiKzhhMjVXVWxDQWpJME92T1RvN084UGEybHF2dGtSRVR3b0dUMFJFUkVUVVlJWU5HMWFyTm5aMmRnZ05EYTEwcmFTa0JHZlBuc1dRSVVOdzY5WXRyRml4QWxLcEZES1pUT2ZxSklGQUFGdGJXM1R0MmxYdjRDay9QeDkyZG5aNnRUVzF2THc4TEZ1MlRPZjk1Y3VYNDd2dnZ0T3JyeUZEaHNEYzNCeVBIajNDWDMvOWhhRkRoMWE2ZisvZVBkamIyOFBCd1VGemJkS2tTY2pPenNhMmJkdHc2ZElsTEZ5NEVCNGVIcHI3bHk1ZDBobTJIRDE2RkRFeE1Yck5yWHgrRmVuN3ZoNm5LM2c2ZS9Zc0VoSVNNSC8rZkloRUlnREFtalZyYXV4djVzeVptdUJwd1lJRnVITGxTcFh0VnExYWhUbHo1dWcxeC9uejUydTlYeUtpSngyREp5SWlJaUpxTUpzMmJkSjViOCtlUGZqenp6K3JiVk1lRkZSMC9QaHh5R1F5REIwNkZDNHVMdWpRb1FPc3JLd2drVWhnYlcwTmEydHJuRHg1RXRIUjBWaTNiaDBjSFIzaDZPaG8wS29kQU1qS3lrS3JWcTBNZXNaVVhGeGNFQllXQmdEWXVIRWo5dTNiaDk5Ly8xMnpjZ2tBd3NMQzhNY2ZmK0RiYjc5RmFHaW9KaVRic21VTHRtN2Rxbm0rM0pFalI2QlNxVEIyN0ZqTk5iVmFqYmk0T0xSdjM3NVNXM056Yzh5YU5RdEJRVUZZdFdvVnpwOC9YMmxsMnY3OSt4RVJFVkhsM0I4ZkZ3QW1UNTRNWjJkbnJGKy9YcS8zNytucFdlM1BSVVhUcGsxRFNrcEtsZmNVQ2dWKy9QRkhkT2pRb1ZMZ1U5VWN5OXN2WExnUXljbko2TnUzYjZYNUR4MDZGRVZGUlZpelpnMUdqUnFGRGgwNlZIcDI3ZHExQ0FvS0FsQzJhdXU3Nzc3VGpKT1RrMU5wUlJrUlVWUEM0SW1JaUlpSUdveW5wNmZPZTdhMnRqVzJlWnhhclVab2FDaTh2YjAxWWNuOCtmTzEyc1hFeENBNk9ob0JBUUVHenJpTVRDYkRvMGVQdEFLWmhoQVZGWVdnb0tCS29WTTVRK3BQSFRwMENPN3U3bENwVklpT2pnWlFGcTdKWkRJNE9EaG9ybFhVdW5WcmZQREJCM0IzZDlmYzkvTHl3dWVmZjY1cE0yellNTHowMGt0NDQ0MDNxaHczTXpNVE9UazVHRHg0c041ek5aWGR1M2NqSXlNRFM1WXNBUURjdUhFRElTRWhFQXExUytHV2xwWmk2ZEtsaUltSndZb1ZLOUN5WlV2TnZjNmRPd01vVzRtMlpzMGF0Ry9mWGhOazNicDFxeDdlQ1JGUjQ4WGdpWWlJaUlnYVZFM2I3WFRkcjJxYjNZVUxGNUNTa29JSkV5YVliSDVWS1Mrc0hSY1haOUorMVdvMUJBS0IzdTJsVWludTNMbURsMTkrdWRaanA2ZW5Bd0JtelpxbGRlLzQ4ZU00ZnZ5NFh2MnNXcldxeHUyS3g0NGQwM3hkL2xrV0Z4ZFh1ZzRBYmR1MmhaK2ZuMTdqR2lvbEpRVmJ0MjdGU3krOUJHOXZiMFJGUldIdTNMbVlQWHMyUm8wYVZhbHRWbFlXbGl4WmdwU1VGQ3hidGd5QmdZRUdqNWVlbmc0Ykd4c0FRRzV1cm1ZT0FBeXFlVVZFOUtSaDhFUkVSRVJFR3JHeHNiaCsvVHJTMHRJZ2w4djFlcVpQbno2VnRoMFpTdGVXcVpxMjJqMit6VTZsVW1uYUdoTGVHS044ZFU5NmVqcVNrNVBoNWVWVjZ6NFhMMTZNYTlldTRZc3Z2dERhcHFYTCtmUG5vVkFvTUdEQWdHcmI2Zk41ckZxMVN1dmFqei8raUxpNE9IejExVmQ2ZjZadDI3YXRzYzNLbFN1MXJoMDZkQWlIRGgycWRPMmxsMTZxTW5pU1NxVmFJWlV1VXFsVTYxcHBhU2srLy94emVIdDdZOHFVS1NndExjV3FWYXZnNit1TGtTTkhWbXA3L1BoeHJGdTNEb1dGaFhCd2NNRHQyN2ZSdG0xYldGcGE2alYrdVMrKytFTHIyclJwMHd6cWc0am9TY1RnaVlpSWlJaFFWRlNFRXlkTzRNNmRPM0IyZG9hZm54L3M3ZTMxQ2hzTTJRcFhVV1ptSmdEby9BVyt2T1pTZGIvZ1oyWm13dHpjSFBiMjlqaDY5Q2lTazVPTm1vdWhybDY5Q3FGUUNETXpNNFNIaDVza2VJcU9qa1pSVVJFU0VoTDBEcDVPbkRnQlcxdGJ4TWZISXo0K0hnRFFvMGNQemNxYWN2cDhIeDlmcFNTWHk1R1ltSWl1WGJ2cVBSOURWTGY5RHFoK0pWeE9UazZWNFpXKzd0Ky9qNFNFQkFpRlFqejc3TE5RcTlVUWlVVDQ1cHR2Tk52c3JseTVnaTFidGlBNk9ob0RCZ3pBakJrenNIZnZYdnowMDAvWXNXTUhKazJhaEhIanhzSEN3a0t2TVZuamlZaWFLd1pQUkVSRVJNMmNTcVZDYUdnbzh2UHpNV2JNR0tQckhobnFwWmRlTWttN3dNQkFMRjI2RkJzM2JvU1hsMWVkaDA5U3FSVFhybDFEY0hBd0hCd2NjUFRvVWJ6ODhzdTFYbVcxZlBseXhNZkhZOUNnUVhxMVQweE1SR1JrSkFEZ3l5Ky8xRnhmdDI2ZHB0NVRWbFlXZ0xLVDZheXRyUUg4YjV0WFVsSVNnTEpDNGU3dTdscjlYN3AwQ1RLWkRDMWF0TURGaXhlcm5ZdFFLRVRQbmozMW1uZFZEaDgrakZPblRtSEZpaFY2dGE5dGNmRzJiZHRpMmJKbHNMVzF4ZDI3ZDdGbXpScTg4TUlMY0hkM3g0NGRPM0RzMkRHa3BLVEEzZDBkUzVZczBhem8rNy8vK3orTUdqVUs2OWF0dzQ4Ly9valEwRkJNblRvVklTRWhTRXhNUkZGUkVRRGc5dTNiRUlsRWtFZ2tXaUVnRVZGencrQ0ppSWlJcUptN2VQRWlNak16OGZMTEw5ZnJLVzM3OSs4M1NUOUNvUkFyVnF4QVlXRWhsaTVkV3Vubyt1M2J0MWY1VEhsZG9hcnU5K2pSbzlydzdkU3BVMUFvRk9qZnZ6K2NuWjBSSGg2T1M1Y3VvVmV2WHJWNkh6NCtQdkR4OGRHNy9XKy8vUVlBK1BERER6RjgrSEFrSlNWaCt2VHBBS0Q1ZDduWnMyZHJQVi9leHR2Ykd4czNidFM2Zi9Ub1VRREFnUU1IY09EQWdXcm5JaFFLTmUyTmtacWFpbXZYcmhuOXZERzZkZXNHbVV5R3BVdVh3dGZYRjYrKytpcUFzdFA5eEdJeDNuLy9mUXdmUGx4clM2ZW5weWVXTFZ1R3NMQXdmUC85OThqTXpNUmZmLzJGWDMvOVZkT21mTnVncDZjbjNuLy9mUUNzOFVSRXpSZURKeUlpSXFKbXJLaW9DQkVSRWVqUm8wZTloazRBWUdWbEJRREl6ODgzNmhkdkp5Y25TQ1FTVFI4VEprelEyaTcyeXkrL1ZOdEhWZmR0Ykd4MEJrOXF0UnEvLy80N3pNek1NR1RJRUZoYlc4UFIwUkhidDIrdmRmQmtpS2lvS0p3NmRVcm4vZVhMbHdNb0MxRk9uVHFGWmN1V2FWWmtoWVdGNGZqeDQ1bzI1ZCtIaXRMUzBuRHg0a1VNSERnUUZ5OWV4T3V2djQ0UkkwWm90U3NwS2NIMDZkT04zbTdaMEZhdFdvWGMzRng4OGNVWG1xMmRxMWV2aG9PRFE0M1BEaHMyREQxNzlvU3RyUzJFUWlIZWVPTU41T1hsWWVMRWlab3dFUGpmcVhhczhVUkV6UldESnlJaUlxSm1MREV4RVNxVnlxQ1ZOcVoyNE1DQkdnT2lxcnovL3Z1YVF0QnZ2UEZHbFdGUmVRMmR4eTFidGd3blRwelFlVitYMDZkUEl6azVHY09IRDRlZG5SMEFZTXlZTWRpeVpRdk9uRGxUWTVGdlU4bkt5a0pJU0lnbTFIaGMxNjVkQVFCbno1NkZoWVVGdW5YcnBybFgva3g1bTZyczNyMGJRTm5uYW1scGljT0hEMlBjdUhHYWNLYmNIMy84Z1lLQ2dscWZxcWRVS2cwK3phODJ4Y1VCWU5ldVhUaDkralNtVHAySzdPeHNYTDkrSFNrcEtYanh4UmN4WWNJRTVPZm4xOWkzUGo4L0Vva0VIVHQyeEt4WnN6UzF3QjZ2OFZSUVVJQlBQLzFVcjhDTGlPaEp3K0NKaUlpSXFCa3JYMm5Vc21YTEJwNko5aS94R1JrWnlNek1SSEJ3Y0tYclZSVmlidCsrZlozUFR5YVRZZVBHalJDSlJKZzZkYXJtK3ZQUFA0KzllL2RpM2JwMTZOcTFhNzNVOUJrNGNDQzZkT21DQ1JNbVZOc3VKU1VGTGk0dUJ2V2RscGFHdzRjUG8xKy9mdkR3OE1BcnI3eUNhZE9tWWNlT0haWGVkMnhzTExadDI0WisvZnJWcXI0VFVCWU9sYTllMDBkdGk0c3JGQXI4L1BQUEFJQnQyN1lCQUt5dHJlSGg0UUVyS3l2TW1ERURwYVdsbXZiaDRlRzRldlZxbFZzV2ErTGo0NE92di82NjJqYTJ0clkxdGlFaWVsSXhlQ0lpSWlKcXh0UnFOUUJvaWxFM0pvY09IY0t1WGJ0dytQRGhocDRLQU9DYmI3NUJabVltSmsyYUJEYzNOODExaVVTQzExOS9IZDkrK3kyV0xWdUd6ejc3ck5hRnh2VlJ2dUpLbDlMU1VrUkhSNk5mdjM0RzlidDI3Vm9JaFVLODlkWmJBQUFYRnhkTW16WU5HelpzZ0llSEJ3WVBIb3lIRHgvaW80OCtnck96TTk1Nzd6MjkraTFmVmVUbjU2ZDFMems1dWRKbldwUGFGaGNYaThWNC9mWFhZV2xwaVRadDJxQk5telp3ZG5iVzNDL2ZKbGN1TlRVVlY2OWV4ZWpSby9XZVk4Vm5ZMkppS2wyN2UvY3VnTEpUQ1I4M1pNZ1FnOGNnSW1yTUdEd1JFUkVSVWFPVW41OFBXMXZiaHA0R0FHRFBuajA0ZnZ3NFdyZHVqZGRlZTAzci90aXhZM0hxMUNsRVJFUmczYnAxbURsenBzRmp5R1F5Wkdkbm02eGUwdG16WjFGU1VvTHUzYnZyL2N5ZmYvNkp5TWhJVEpreXBkSkpkeE1tVEVCY1hCeSsrdW9ySkNZbTR0aXhZMUFxbFZpK2ZEbnM3ZTJyN092aHc0ZWFiWDJob2FHYTR0dno1czJyMUM0N094c3hNVEZHaFRxMThmaXF1WElsSlNXd3NMQXd5Umd5bVF6WHJsM0RtalZycXJ5L2JOa3lyV3NNbm9pb3FXSHdSRVJFUkVTTjB1M2J0eUVVQ25IdTNEbDA3OTdkWkdHQW9RNGVQSWdmZnZnQlZsWlcrUFRUVDZ1Y2gwQWd3S0pGaS9ET08rL2dqei8rUUVsSkNXYlBucTFWRTZrNnMyYk5Rbkp5TWhZdFdvUkJnd2JwL2R6S2xTdTF0cDJwVkNyODl0dHZrRWdrZU9xcHAvVHFKelkyRnV2WHI0ZXZyeTllZWVVVnJmdHo1c3pCblR0M05LZnBMVm15Qk43ZTNsWDI5YTkvL1V1enFzZlMwaExCd2NIbzNMa3pPbmZ1REg5L2YremN1Uk9Pam80QWdJMGJOMEtsVXVISWtTT3dzN1BEaXkrK0NBc0xDM2g3ZTJ2YTFCV1pUSWE3ZCsvaXpwMDd1SDM3TnFLaW92RG1tMjlxYW9jWnFueDczb2tUSi9ESEgzOGdNek1UdThYT0Y2c0FBQ0FBU1VSQlZIYnQwZ3JWSHEveFJFVFVsREY0SWlJaUlxSUc5ZXl6ejZKMzc5NmExMHFsRXIvODhnc1NFaExnNU9Ta0NYdTZkZXVtcVNlMGVmUG1PaS9FckZRcXNXblRKdXphdFF2bTV1WllzbVNKcGpoMFZWcTJiSW5QUC84YzgrYk53NUVqUnhBZkg0OS8vL3ZmT3NPWng1VnZleXovdDc1R2p4Nk5qaDA3YWw2N3U3dmp0OTkrUTFKU0VsNTU1WlVxVDYxN1hGcGFHajc2NkNPSVJDSjgvUEhITURNejA5ekx5OHZEc1dQSHNHL2ZQbVJtWnFKMzc5NklqbzdHMHFWTE1YVG9VRHozM0hQdzkvZXYxRi8vL3YzUnExY3ZkTzNhRllHQmdWb0IzTWFORzZGV3E3Rmh3d2FjT0hFQ3c0Y1BoNDJORFg3OTlWY2NQMzRjNzc3N0xqWnUzS2h6dnZuNStab0M2RFdwcWtoNFNrb0tGaTllalB2MzcwT3RWcU5GaXhZSURnN0dTeSs5Wk5BS3NYS2JObTFDWkdRazR1UGpBWlJ0cGV2Y3ViUFJBUllSVVZQQzRJbUlpSWlJR3BTam95UE16TXp3OTk5LzQrclZxemg1OGlReU1qSXdkZXBVdlBiYWE0aUxpOFA1OCtkeDVzd1pyRml4QWlLUkNGMjZkTUdBQVFQUXYzLy9hb3Q1di9mZWU0aUtpdEo1Zjlpd1lWclh3c0xDa0pTVWhQLys5NytJam82R2pZME5GaTllak02ZE85ZjRYdHExYTRjVksxYmdrMDgrUVd4c0xONSsrMjNNbWpWTHIyMWthOWV1UldabXB0NUJWYm1nb0NBTUhqeFk4L3JjdVhQWXZIa3pQRHc4ZEc0bnEwaXRWbVB4NHNVb0tDakFaNTk5Qmc4UEQrVGs1Q0FpSWdKbno1NUZaR1FrbEVvbE9uZnVqSVVMRnlJa0pBU0ZoWVhZdW5VckRodzRnS05IajhMTHl3dDkrL1pGU0VnSU9uYnNpQmRmZkxIYU1hT2pvN0YrL1hyRXhNVGdxYWVld3B3NWN5QVdpekY4K0hDc1diTUdpeFl0d3RDaFEvR3ZmLzJyeXU5dlhsNGVmdmpoQjRNK3A0cmMzTndRRWhLQ0YxNTRBWjA2ZGFwVVg2cXFuNG5xN28wZE94WlNxUlFDZ1FCVHBreEJ6NTQ5RVJnWUNJRkFnR1BIamxWNStsNTV6YWVxN2dVRkJabHN1eVVSVVdNZ1VCdjZWeXFOd1Bqdy96VDBGSWlva2RyWGYyNURUNEdJNklseS92eDVYTGh3QVI5ODhFRzlqbHRZV0lndnYvd1MyZG5aeU1ySzBxeEtzYkt5UXUvZXZURng0a1FFQkFSb1BaZVVsSVNUSjAvaStQSGp5TXpNaEZnc3h0cTFheXV0dUJrMmJCZ21UcHlJR1RObTRNeVpNOGpLeWpKb2JzOC8venh1Mzc2TnVYUG53c2ZIQndzWExvU0hoNGRCZmVUazVPRHJyNzlHUmtZR1ZxOWViZENKYlliSXpNeUVuWjJkWnZ0ZllXRWhYbjMxVlNpVlNxeGV2Um8rUGo1YXoyelpzZ1ZidDI2dHRNM3IwcVZMa012bGVPcXBwM0Q4K0hFc1g3NGNRTm4zWTlDZ1FSZ3pab3pXcXFieThmZnMyWU1qUjQ1QUpwUEIxOWNYcTFhdDBybks2dVRKa3poMDZCQnUzTGdCS3lzcnZQcnFxNWd3WVVLbFl1eHF0UnE3ZCsvR3p6Ly9ERWRIUjJ6YXRBbVdscGFhKzhPR0RUT3F1TGkrMjlvT0hqeW9WN3R5M3Q3ZUNBNE9ycktnZkhVaGxpNnpaOCt1OTNwWFJFUzFKYWptVkEwR1QwUlBHQ3VST1lULy9KbVdLa29hZURhTkQ0TW5JaUxETkZUd0JBQTdkKzdFalJzMzRPTGlBazlQVC9qNys2TmR1M2FWdG5ucG9sYXJjZm55WlVSRVJHRG16Sm1WZnVuLzczLy9pKzdkdTJQQWdBRzFtbDlzYkN4OGZYMGhGQXFON2tNbWs4SGEycnBXOHpCVVRFd01sRW9sZ29PRHE3ei85OTkvNDlxMWEzampqVGQwOXJGNTgyWjRlWG1oVDU4K2V0WFdLaTR1eHRtelo5R3hZMGUwYXRWS1o3dWZmdm9KaHc4ZnhzaVJJekZod29ScXQwc21KQ1RnMEtGRGVQZmRkeXRkWDdac0daeWRuVEY5K3ZRYTV3V1ViZXZMenM3Ry9Qbno5V3BQUkVTR1kvRFVETm1JTFRHNVRWL042NThTVGxhNmIyZG1oUUJiZDF6SmlhL1hlWmtMeGVqbDdJZnd6SmlhRzllU3MwWFpLVGhLbFJLNWNwbFJmYmhZMmtNc0ZBRUFVbVU1UnM5RkFNQlVmOUMrN1Q0TkhsWk9BT3J1ejRKWUlNSTdBY09SS3N0QmFFcUVVWDBFMm5sZ2xIc1hiRXNLUjNweG5vbG5xQnVESnlJaXd6Ums4RVROajFLcGhGcXROcWpvT2hFUk5YN1ZCVS84TDM0VFpTMjJ3R2lQcnByWEZZTW5DNkVaRmdVL2p3QmJONFJueHVDSHVPTW9WQlRYNlh4RUFpRW1lUGJDS1BldXNET3pncmxRakJQcHQrcDB6Qjk3emdBQXBCYmxZT1lWL1paaVArN2prQW0xRG5uTWhHSXNEcG1BRXc5djRWU0c3aG9UallWUUlNQ25IU1loMkw0MWdMTFFiSStCNFpPNVVJeDNBMGJBM2NvUnZWdjRZMi9LSmZ5V2ZLNE9aa3RFUkVSUEVwRkkxTkJUSUNLaWVzYmdxWUxRZmg5b3RqRFZwL3Bld2RYTnFTMzhiY3NLS1BadkdZajJkaDVZZmVkUDNNcExxYk14bFdvVmZHMWNZV2RXdHQvL1ZaK0JpTWlPcS9QQXF5YldZZ3ZJVExSZHpkbkNGdGtsQlZyWDN3MFlnV0I3VHdUYmU4SlQ0b3l0aVdkTXR2cXBMcWpVYWx6SXVxc0pubDcyN2c5QWdEMHBGL1h1NDJYdmZuQzNLanYrV0NRUTRtN0JnN3FZS2hFUkVSRVJFVFZ5REo2YW9mTlpkL0JGbEJ4ejJvMkNSR3dCWnd0YkxPbndBcllubjhWZUk3ZFY2V05Ud2tsMGNmU0dtVkFFT3pNcnZPemREeHZpanRmWmVOVXhFNG93dVUxZmpIRHJqUGV2YlVGR0xiZUMrVWhhWVdXWHFUaVJmZ3Zia3NKUklDOENVTGJsc2Eza2YzVU94cmZ1Q1ZkTEI2eTY4eWZrS29YbXVvZTFrOTVqaVFYLys1dENRNTdMTFpYcVhSUHFVTnBWT0poYlk2Sm4yZEhXTDN2M1E2bEtqdjJwa1RVK0cyVG5nVEVlM1RTdnR5YUdJekluUWU5NUVoRVJFUkVSVWRQQjRLbUNXWkUvbCswck10QzMzYVlCQUNLeTQ3QTE2WXlKWjFVM0luTVM4TUcxTFpqZmZoeThKUzBoRkFqd2luZC9GTWlMRVBid1JwMk1tVjZjaDBOcFZ6R3VkUThBd0ROdW5YRHN3UTBrU2pQcVpMenFqSFRyZ2dtZXZRQUFNLzJmd2VLYnU0eGVoU1FBOExiZlVJZ0VRZ3gzN1FoZkd4Zk12YllWQUZDb0tNYjg2Ny9pbytEbjBjN09IUURRcDBVQUhNMXQ4T1h0ZlpxQXF2eG55RkNHUFBkOVhCaU9Qcml1ZC92dFNXZmhiR0dMd2EzS0NwTyswWFl3cElxU2FyZElXb3N0TUNkd0ZBVC8vRUU2a1g0VCsrNWYwbnRNSWlJaUlpSWlhbHFNUDZLakNVb3R5a0dxelBCL3lza1VKYlY2dnI2bEYrZGh3ZlZmTlFYRy8zNlVoSk4xWEhkcFQ4cEZ6Zlk2QVFRWTVkR2xUc2ZUNWZDRGEwZ3JlZ1FBNk9EUUJpUGNPaHZkMXlDWFlBVCtFeW9Cd0xhazhFcjNDeFhGV0h4ek42NDlTdFJjQzdSengxY2RwNkNsaFozUjQ5YUhkWGVQNG1idVBRQkFpaXdiTjJ2WWpqbkRkNmptUGQzSXZZZnZZdlU3dHBpSWlJaUlpSWlhSnE1NFF1V1R5MnJEV214aDBOYW54elZFQ0ZXc2xPUExxTjh4dG5VM0hIMXdIVXExcWs3SGt5cEtFSm9TZ2FkZFFyRHIzZ1djeTd4VHArUHBJbGNwOFgxY0dKWjJlQUZBV2MycHE0OFNEVDU5elZwc2dWZTlCMnBlbjg2NGpiOGZKV20xSzFHVmZjN3ZCNDVDbnhZQkFNcTJ5YzBOR29ONWYyODNxTTVYWFp4cXA4OUpjSjdXenRqUVE3OWppd0dnbzBNYjdPbjNmcFgzYWxQd25ZaUlpSWlJaUo0Y0RKNEFmTnBoRWx3dEhXcmRUeTluUC9SeTlqUDYrWW9od2l2ZS9kR3JoYi9SZlZXc0F3U1VoUlUxR2ViYVVlZTk4cERBbEVmVmZ4QTRHaDhFampiNitWUHBVVmg3OTdEUno5L012WWVUNmJmd3RFc0lMRVZtbU9FM0RFdHY3VEdvajJsdEI4UEIzQm9Ba0ZzcXcwL3hKM1cyVmFpVitFL01BY3dNR0lIQnJZSlJxQ2l1MWZ5SmlJaUlpSWlJR2pzR1Q0MlVvN21OWmxXTEtaaXlyOGFtYjR0MjhMVjEwWG5mM3N3YXIvZ00wTHErTmZFTWZrbjhDejJkL1dBanRrUVhSMi8wYnhtSThNd1l2Y2J0NmV5SElTNGhtdGNiNHNOcVBLVlBwVmJqbXp0SElGT1U0RXhHZEtWVmJtS0JDQzVXOWpXT2EyeHhjWDFXMUVrVkpUaXI1L3QveHEwVEFLQlVwY0NwOUNpRG5pRWlJaUlpSXFMbWdjSFRZNHpadWxTK0NzaVlGVGpmOVhqTEpLdXQ2a3Rxa2U3d29tSzRWVjI3bWtoRWxwcFZSS1VxQlRKTDhxdHM5NmkwRUFEUTNha3RCcnNFNit6UFJteUo1MXYzMUxxK05mRU1DdVJGMkhudlBONXMrelFBWUZyYnAzSHRVVktOQVpLOW1UWCs1VDljOC9wTVJqUXVac1ZXLzhiK29ZWWFQMWF4TXNyRnl0N2dJdU9HdE5mblp6dFhMc1gzY2ZyVlpTb1BrV1NLVW9PZklTSWlJaUlpb3VhQndWTWp0ZmJ1NFZwdHcycGxhVitwSG8rcGFnRlZWNWRuZmZlMzRHWlZGcUl0dnJrYjJTVUZSbzN4aW5kL1BQL1BpWFBucys1aXpaMC9qZXBIWDRmVC9zWUkxODd3c0hhQ2c3azF4bmgwdzIvSjU2cDk1aTNmcDJGblZoYU9aWmNVNElmNDR6cmJpZ1VpS05SS2s4NlppSWlJaUlpSTZFbkE0RW1IVDBJbW9vdWpkN1Z0ZElVNXRYbjJTWGFuSUUwVFBMV3pkY041STRNblgxdFh6ZGQzODlOcWJGOVZTQmRrNTRFdk8wMEJVSE1oYTZWYWhVMEpwN0F3ZUR4K3YzOFp1KzlkckhITTdVbG40V3hoaTBBN2Q2eTVleGhTUllsV0d3R0FWM3dHWUVETElHeEtPSVh6V1hlcjdUTlZscVBYejBWZEZCY25JaUlpSWlJaXFndkNocDRBNlcrRVcyZjQydWl1WlZRZFozTWJ2ZHQyY3ZReWFveW92QlROMXlIMm5rYjFJUklJRVdEcnBua2RuWjlxVkQ4OURTenlmdlZSSXQ2Ti9CbmJrc0wxV3AzMHNEZ1hpNjd2d01jM2R1Rm03cjBxMjR4MDc0THhyWHZDMmNJV0h3YU54ZUtRaVhDemNqUm9Ya1JFUkVSRVJFUlBNcTU0QW5BdTh3N3MvOWsyVmM3UTA4Mk1mYmFxc1I4bkZvand0dDlRREhQdGdFSkZNVDYrc1JOSjBreUQ1alRlczJlVmRZVWVOOUd6RjE3MjdvK2pENjVqWS93SktOVXF2Y2VJekVtQUdtVXJmYm83KytLSCtCTUd6UkVBQXUwOFlDVXlCd0RrbEJZYS9EN0xHWE82NElPaVJ3YTFWME5kS1d4NzNKRUhmNk9WaFQyZWE5MGRBTkRaMFJ1cnU3Nkc3VWxuY1NBMUVtcW9BZFR1cEVCRG4xMTIrM2RFWk1mcHZPOWg1V1J3bnc3bTFpWTk3WkNJaUlpSWlJaWFEZ1pQQUxZbGhUZnFzZTNNck5EVnlRZEFXYUhzVHp0TXdxSWJPL1E2cGF6Y2NOZU8ySk1TZ2R4U3FjNDJnMXExeDh2ZS9RR1VGWUYyTUpkZzJlM2Y5UjdqVWFrVThRVVA0V2ZyaXBZV2R2Q3pjVVZjNFVPOW53ZktDb1dYdTVxVGFOQ3o1ZHBZdDlCclpkRU12Nkd3RUpwVjI4YXh3a3F4V1FFamErenpVV2todHY3elBWV3AxZmdsOFRRU3BPbjRsLzh6TUJlS1lTNFU0NDIyZzlDbmhUL1czajJNQjBXNU5mWkpSRVJFUkVSRTlLUmk4S1JEWTZyeGxGTmFpTTl2aGVMTFRsTmdKVEtIdlprMWxuWjRBZlAvL2xYbmlXK1BNeE9LTWM2akIzNUpQRjNsL1U0T1hwZ1pNRUx6dWtRbHg0SFVTTDNuV081MHhtMzQvVk9qNlduWEVNVEY2Ujg4Q1NCQS8xWkJtdGZuc3U0WVBENEFESEVOMGJybUxXa0pjNkVZZHdzZWFLNE5hQmtFYTdHRjN2MVdkM0pldWRTaUhFM3dWTzVNUmpRZUZ1VmlVZkI0VFVGeVh4dFhXSXZLeHA0WnFiditsS25WVlBDOVFGNkVvdyt2NjlYWFJNL2VBSUJpcFJ3SDAvVDdXU2wvaG9pSWlJaUlpSm9IQms5UGlDUnBKbFpHNzhlaTRPY2hFZ2poWkc2RFQwSW1ZTUgxMzFDb0tOYXJqMmZjT3VGQVdxUlcrT0JuNjRwL3QzOE9Ja0ZaeWE4U2xSeWYzOXBiN1RZeVhjNWtSdVAxdGdNaEZvZ3dvR1VRdGlhZVFaR3lWSzluT3p0NmEycFI1WlFXNHZxalpJUEhOeE9LTUtoVjVZREkzc3dhbjNXY0RLRkFpS1czOXVDT0hnWExUZTF1d1FQTXYvNHJQZzZlQ0RjckIyeU1QNDc0d25RQU1HamxXbDNMVnhSaGU5Slp2ZHBXREo0TWZZYUlpSWlJaUlpYUJ3WlBPaGhTcDJsejRsOEFnR1JwbHNIUEd1TGFveVJzaUF2RE8vN1BBQUJhV3p0alFmdHgrUFRXYnNoVk5SZkV0aFNaWWJydmtFcmI1d0x0UFBCeHlBUlkvMU5YcVZncHgrZFJvWWpLdTIvVUhBdmtSZmdySXhwRFhFSWdFVnRncEZ0bjdMMS9TYTlueTJzaEFjQ0poN2MwTlpBTTBkdlpIM1ptVnBXdVNjUVdFRUFBQUZnY01oRkxiKzFCVEg0YVhyN3dqY0g5NjZKUGphTUhSYm1ZZjMwN0JyWnFqN0NITjZ0czA4clMzbVJ6S3FkVUtaRmRXbWp5Zm9tSWlJaUlpSWhxd3VESkJINi9mN25leGdwN2VCTStrbFlZNmQ0RkFORGV2alZtQnp5TC84UWNxUGE1ZkxrTWRtYlc2T1hzaDE3T2Zvaklqa01IaHpaWTJINDhMRVZsZFk1a2loSXNqUXF0OVlxZzMrOWZ4dE11SVJDZ0xFdzY4dkE2WklxU2FwL3hzM1ZGSjRleTAvVGtLaVgrVEx0cTFOaGpQTG9CQUtMeTdpUFl2alVBSUszb0VhN2xKR0cwUjFkWWljeXhPR1FTbHR6YWpaZ0dXUG1VTHkrcWRndmpoaDdUVFQ1bWFsRU9abDZwdisxOFJFUkVSRVJFUk9XYWZmRGtZZTNVMEZPb3BFQmVoSHg1VWJWdGZrbzRoVGFTbGdpMmI0MVNsUUlYczJOcjdIZEg4bm04N1RjVUFERGRkd2pFUWhGbUJZeUV1YkRzUnlCZkxzT1NXM3VRVUpoUjYvZHdYNWFOOEl4b0RHZ1ZCRHN6YTB4dTB4Yy9KNXlxOXBscGJRZHJ2ajZaZmd1NWNwbkI0M1p6YWd0L1d6ZE5IK1hCRXdCc1NqZ0ppZGdDZzEyQ1lTa3l3OGNoRTdINDVpN0VGUmhXL0p5SWlJaUlpSWlJOU5mc2c2ZHZ1MDFyNkNsVXNpZmxZbzMxY3BScUZWWkU3OGUvZzhiaXAvaVRTSlJxaDBXTzVwSktyNDg5dklGbjNidWd0YlV6bkMxc01UZHdqT1plWmtrK2x0emNnOVFpMDlVYTJwNThGbjFhQk1CTUtNSW85eTRJejR6V0dmSU1iaFdNSURzUEFHVmIvWFlrbnpOcXpCZTkrZ0lBaXBTbE9KOTFCKzlXS0phdUJ2QnQ3QkhZbVZtaG0xTmJXSXZNc1Roa0l0Njd1cm5HZ3RzTklhdWtBR3Z1L0ZtclBqN3JPTm5nWnp5c25QVGFObGlSZzdtMXdjOFFFUkVSRVJGUjg5RHNnNmNuVmI1Y2hvOXU3TkM2N21BdXdlUTJmVERNdFdPbDYwcTFDdXRqaitHTFRsUCtxWFpVSmttYWljOXVoU0xIeERXQU1vcnpzUGQrQkNhMzZRdVJRSWc1N1ViaGcydGJVS3lVVjJybmJHR0x0M3lmMXJ3T1RibG8xR3FudmkzYXdjK203RFM5c0ljM3RjWUJBSlZhamYvRUhNQVhIYWZBeDZZVlFsTWk2ajEwR3V2UkhUSDVxWlZPMTZ0S2lVcU9XMFlVZHljaUlpSWlJaUpxVEpwOThEUSsvRDlHUHlzU0NMR3R6N3V3RkpsQnJsSmk2b1Z2VUtwU21IQjIrck1XbVdOYzY1NFk0OUZOVTdQcGNkSDVxVGljZGczUC9sTWZDZ0IyM2J0Zzh0Q3AzSjU3RWVqVElnQnRyRnZBM2NvUnN3T2V4WXJvUHpRbHc4MkVZc3dMR2d0cnNRVUFJRkdhZ1gxRzFNdXlGcG5qVGQreXJYb3F0Um9IcTZtaFZGNDhQY0RXRFJIWmNRYVBWUnRDZ1FDVHZmckNXbVNPZTdJc3JJamVyL05FTzVGQUNHY0wyM3FkSHdCSUZTVTRteG1qVjl0bjNEb0JBRXBWQ3B4S2p6TG9HU0lpSWlJaUltb2VtbjN3VkJ0K3RxNmFrT2R1UVZxRGhFN21RakdlZGUrQzUxdjNoTzFqcDdsVlpVdmlHWVRZZTZLTnBBVUFZRmJBU0dTVkZDQzJoaFU0eGxDb2xWZ2Q4eWVXZDM0SlprSXhlcmZ3eDZzK0E3RTU4UzhJSU1Dc2dCR2Fta3lsS2dYVzNqa01wVnBsOERoVHZmdkR5ZHdHQVBCWHhtMWtsdVJYMi81UnFSUVIyWEhvN3VTTFJjSGpEWDlqUnZLV3ROU2NIdWhwM1FKNXBicFhkcmxhT3VESG5qUHFhMm9hdVhJcHZvOEwwNnR0ZVlna1U1UWEvQXdSRVJFUkVSRTFEd3llS25DeHRJZFlLTks3Zlc5bmY4M1hLYkpzb3d1VjYxcjFVaDJ4UUlSaGJoMHh5Yk8zVmoybkIwV1BFUGJ3Smw3MUdhRDFYSWxLamhYUisvR2ZMcS9BVW1SV1ZtZzcrSGw4ZEdNbjdzbXlqSnAvZFJLbEdmZ3gvaVQrbi85d0FNQzQxajFRcWxLZ2hZVXQrclVNMUxUN1BqWU1TZEpNbzhibzROQUdRTmxwZUw4WldSK3FQZ1RaL2EvWWVaSTBBNFdLNGdhY1RXVzFXZm5YR01jaElpSWlJaUtpeG9IQlV3VWZoMHlBaDVWeDRkRUl0ODRZNGRiWnFHY04rV1ZjSkJEaWFaY1FUR3JUR3kwdDdDcmR5eXpKeDY1N0YzQXFQUXJPRnJaVkJrOEFrRnFVZy8vR0hNVDg5dU1nRkFoZ2EyYUZMenE5aUMraTlpRW1QOVdvOTFDZFl3OXZ3TnVtRlViKzgvbTgwS1pQcGZ0NzcxL0NxUXo5dG1wVjVVVDZMYnptTXhBSDB5SnJYTzFVVVhweExnNm1YalY2M0lwR2UzU3RzVTJnbmJ2bTY1dTUxZGR2U2l0NmhBK3ViYW5Wbkg3ck83dFd6eE1SRVJFUkVSSFZGb09uSjRSSUlNUVFseEJNckNKd3lpMlZZVS9LUlJ4OWNCMEt0Vkt2L2k3bnhPT0grT1A0UDc5aEFBQWJzU1dXZHBpRS85NDVoSXRac1NhZi80L3hKK0JxYVk4dWpqNlZycDlJdjRXdGlXZHExZmZwOUNnTWRlMkFuY2tYREhvdVJaYU5ueEpPMW1yc2N2b0VUK1VuOXdIQXJkeDcxYlpWUTExbGdYUlQrYmE3NlU1enRET3pxblYvUng3OGJiSVFrSWlJaUlpSWlCb1BCazg2NkZxRk5DdGdKQWE3Qk5lNnpiZmRwK20xdXNwTUtNSVFsdzU0M3JPblZ1QWtVNVJnMy8zTE9KZ1dhVlJJY2ZUQmRWaUp6UEdhejhCL3hoTGozMEhQWWQvOVMvZzE2YXhSOVpaMEdkd3FCTzBxQkMvbE9qdDZvNXRUVzBUbUpCamRkNjVjaGs5dTdFS0pxdTZDbXRwcVpXbXZLUmF1aGhwUitmZXJiUzhXaUl6ZXVxa1BZMWYyVlVVb0VOUzZQM3N6YXhQTmhvaUlpSWlJaUJvVEJrK05sSlhJSE0rNGRjSnpIdDNoOEZnTko3bEtnVU5wMXhDYUVsSHJPa0cvMzc4TWxWcUZOOXFXblFvbkFQQjg2NTdvYU44R1g4Y2N4TVBpM0ZyMTd5MXBpZW0rUTlEZXZuV1Y5NTNOYmZCUjhQTzRraE9QTFlsbmtDTExObXFjdWpxWnoxUXFick5MS015QVRGRlNiWHNYUzN0ODI4MTBxNUtJaUlpSWlJaUlHZ0tEcDBiSVFtaUc5ZDNmZ29ONTVWVWdhcWh4S2owS3Z5V2ZRMVpKZ2NuRzI1OGFpVnk1RERQOVI4RHNuK0xxZnJhdVdOM3ROZXhOdVlUZjcxODIrTVErZHl0SFRHN1RGLzFiQlVJQWdlWjZicWtNYSs4ZWhyZWtKVjcyN2dlUlFBZ0E2TzdraTI1T2JYRXU4dzUrdjM4WjhZWHBKbnQvalVGblIyL04xemRyMkdaWEgweFI1SHRmLzdrQXlyNm5iMFNzcjNWL1JFUkVSRVJFMVBRd2VHcUVTbFJ5WE15K1c2bFkrZFZIaWRpYytCZnVTVTEvOGh3QW5NbUlSa1p4UHVZRmpkV3NzTElRbW1HSzExTVk2dG9CLzRrK2dMc0ZEMnJzSjhEV0RjKzE3b0UrTGZ3ckJVNEFjRHJqTmpZbG5FS0J2QWpYSGlYaWVtNFMvdVgvRE5yYXVBQUFCQkNnWDh0QTlHc1ppT2o4VkJ4N2NCM25zKzRhSEhvMU5nSUFYUnorVjlzcUtxLzZiWFpBV1FING1WYzIxV3JjOG1DSWlJaUlpSWlJcUtFd2VHcWtkdDI3Z0tkZFFwQlc5QWkvSkp6RzlkeGtnNTQzRnhyK3JZM0pUOFdjcTV2eFhydFI2T1RvcGJsZXFsTGdmalZiNEt4RTVuaXFaVHVNY09zTTMzOUNwSXJpQzlQeFUveEpSRDkyWWw1Q1lRWSsvSHNiaHJsMnhFdGUvV0JuWnFXNUYyVG5nU0E3RDB6M0hZS0wyYkVJejR6QnpkeDdKcTA3VlY5OGJWdzFxOWZVVUNPNmh2cE9SRVJFUkVSRVJFMEZnNmNHVXI3RlRKZEhwVklzdVA0YkVnc3pvSWJhNFA0ckJrQ0doRFc1Y2htVzNOcU5aOTI3WXFwM2Y0Z0VBcXk0dlI4eVpXbWxkaUtCRUowY3ZOQy9WUkI2Ty92RFVtU20xVmVLTEJzN2tzL2pRdFlkbmU5QXBWYmo2SVByT0pNUmpURWUzVERXb3pza1lndk5mV3V4Qlo1MkNjSFRMaUVvVkJRak1pY0JsN0xqY1QwM0NkSWE2aVJWNXkzZnAyRXJ0cXE1b1FsMGRmcmZhcWZFd3N4YXpWdGZGVU04STM1OGlJaUlpSWlJaUV5Q3dWTTk4TEIyZ2xSUkFwbWlCRXExQ2lFT25taGxZUThBMVlZUUNUWFVPZktXdElTNVVJdzh1UXdGaW1JVUswdGhMaFFqME00RHIzajMxN1F6dEI2VUdzQ2h0S3U0bEIwSFh4c1gzSk9WYmU4ekU0clJ4ZEVMUFozOTBkUEpGN1ptVlFjM2NRVVBFWG8vQWhGWnNYcG5Ia1hLVXV5NmR3RUhVaVB4akZzbmpQYm9CbWR6bTBwdGJNU1dHTmlxUFFhMmFnK1ZXbzAvVWk5alMrSVpnOTVidWQ0dEFyVDZyeXRkSFN0dXMwc3hTWjhpZ1JCV0luUElsQ1ZRcVN0L3l1WkNNYVpXK1A0WFBSWWFFaEVSRVJFUkVkVVhCay8xNEYzL0VXaFg0VlN6aWxKa3h0ZHM2dTdVRmk5WENCaDB1ZllvMGFqK00wdnlrVm1TcjNsdEpUTERXNzVEME5MQ1RxdXRVcTFDUkhZc0RxUmVSY3hqVytvTVVhUXN4ZS8zTCtOQWFpVDZ0QWpBU0xmT1ZaNklsMUdTaDMzM0x4czlUbjJ4RVZzaXdNNU44OXBVd1pPVnlCeGIrOHdFVUhiS1lZbEtBWVZLQ1RYS1ZqdFZYRkVYVy9qUUpHTVNFUkVSMFpPdnNMQVE0OGVQeDg2ZE8rSGs1TlRRMDZsVDkrN2R3NDBiTnpCNjlPZ2EydzRiTmd5ZW5wN1l0S2wyZFZhSlNCdURKd05sbHhab1ZnRHAyeWFoTUwzSzRFbXBWbUZIOG5tajU1SW96YXl4VFU1cElYYmR1MkQwR0JYbHk0dXcvUFlmK0tyVFM1clQ3OUtMODNEODRRMGNUNytGM0ZLcFNjWUJ5ajZiczVreE9Kc1pBdzhySnd4MTdZQUJyWUxnWkc2REVwVWNYMFg5amdKNWtkSDl2eFh4dmNubUN1Z3U1TjNGMFZ0VFpGME40SFl0UXJtS0NoWEZlRmljQzFkTEI1Z0p4VERUVWRPclVGR01QNTZBZ0k2SWlJaW91VXBMUzRPN2U5Vi9TVjBmRkFvRkhqeW9mSWlRbTVzYk1qSXlvRlFxcTN6RzA5TVRSVVZGR0R0MnJFbm1FQllXcHZuNjRzV0xlUFRvRVVhT0hLblZidS9ldlRyN2FOZXVIWUtEZ3l0ZFc3OStQU0lqSTZGUUtEQnUzRGlUekpXSURNZmdxWUxjVWlrc1JlYlZ0dG1lZEJiYms4NGExT2Jhb3lUWW0xdERKQkJCS0JCQXFWTGhZWEV1VG1WRTFlcVV1bnZTTEtqVWFnZ0ZBcTE3MlNVRnVKS1RnQjMzenBzMEVJb3ZUTWZHK0JNSXRIUEhxZlFvUk9XbDFIa0pvZFNpSEd4Ty9BdGJFcytnbzBNYkNBWENHc00vQU1ndUxRUUFrNzUvUTEzS2pzZEhOM1lpd05ZTlR1WTJOWVpsbDdMakFKUjkvMnB5L1ZFeWxBNVYxTzlTQXpKbENXSUxIbUovNmhXa0YrY1pOZmVhcEJibEFDZ0xKSW1JaUloSVAycTFHbmZ1M01INTgrZHg0Y0lGSkNVbFZRcGU2dHVEQnc4d2JkbzBXRnBhQWdDS2k0dXhhZE1tTEZpd0FPbnBWWmYrQ0FzTGc2V2xaWldyZzQ0ZVBZcWRPM2RXdWxmVnRhcW8xV3FFaG9iaSt2WHJLQ2twMFFxTHZ2dnVPNTNQVHA0OFdTdDRtamR2SHQ1OTkxMnNYNzhlNXVibWVQYlpaNnNkbjRqcUJvT25DajY2c2JOTytyMmNFNC9MT2ZFbTd6ZXpKQjhUem40TkFRQ3hVQVFoaEJBSXlrNmhlN3p1anltRlBieUJzSWMzNnF4L1hkUlFHM1M2bjZsWE5WVm5mUGgvcXJ4ZW9wSWpLaTlGN3kxMlg5MytYZTh4djQ5cnVQOUJBWUNaVjdnTW1ZaUlpTWhRTDc3NEluSnljaHA2R2xvT0hEZ0FvR3pMR1FDc1hic1d1Ym01YU51MkxaS1NrakJqeGd3Y1BYcFUwMTRnRU1EVDAxT3JIM3Y3c2xxMkZlOVZkYTBxQW9FQVM1Y3V4WUlGQzdCdTNUb0loVUxOcWlxVnF1d3ZYS2RNbVlKcDA2WlZlcTU4em85emRIVEVGMTk4Z1hmZmZSZXJWNitHdjc4Ly9QMzlxNTBERVprZWc2Y21RQTFBcmxJQ3FIb3BMQkVSRVJFUk5RNDJOalo0OXRsbjBiOS9mOHllUFJ2RnhjWDFNbTVCUVFGeWMzTWhrOGtBbEczeGswcDE3d3c0Y2VJRWJ0NjhpYVZMbDZLa3BBVG01dG83UTZSU3FWYUlscGRYdHRvK0pTV2wybXZsSGcranJLeXM4TmxubjJIZXZIa1FpVVNhNi9mdTNRTUFPRGc0VlBzK0grZmw1WVc1YytjaVB6K2ZvUk5SQTJId1JFUkVSRVJFVkU5Kyt1bW5CaG4zeUpFaitPR0hIelN2NTh5WkF3Q2E3VytQaDBKNWVYbWFsVW9WdjY3bzNMbHpXTGx5WlpYalBiNHFTZGUxcXJZWjJ0cmFZdDI2ZFJEOFUxSkVyVlpqeTVZdEFJRE9CZm1sUWdBQUlBQkpSRUZVblR0cnRSY0lCRWhQVDRkS3BZSlFLTlM2UDJEQWdDcm5TRVQxZzhFVEVSRVJFUkUxYXpLWkRKY3VYVUpjWEp4bWRVNTErdlRwZzc1OSs5YkR6RXhuMHFSSm1EUnBFbzRjT1lLdnYvNWFjNnBkZWVEMGVDaVVuNSt2Q1p2UzA5UGg0dUtpcys5OSsvYkJ4c1lHQUxCNzkyNzg4TU1QbFFLbHFxN3QzYnUzVXMwbW1VeFdhZldYUkNLQmhZVUZwRklwdnZubUc0U0hoMlBnd0lGbzI3YXQxdmp0MnJYRDZkT25jZnIwYVFCQXQyN2RzR0RCQXBTV2xtcmFXRnRiUXlLUjFQZzVFWkhwTVhnaUlpSWlJcUptS3pZMkZtRmhZVkFxbFhCemM0T2ZuMStWMjhvcXFxbFdVV04yOWVyVktxK1hoMExsOVpMeTh2TFF1blZyQUdXZmtaK2ZYNTNPNjVkZmZzRytmZnMwcjk5Ly8zMk1HREVDOCtmUFIweE1ETHAwNllMMzMzKy95bWUvK09JTG5EMTdWck4xME12TEN4OTk5QkZpWW1JMGJjYVBINDkzM25rSE9UazVtRHg1Y3BYOXBLU2s2S3dYMVpBRjRJbWVkQXllaUlpSWlJaW9XWXFOamNYKy9mc1JFQkNBb1VPSHdzcktxcUduVktjVUNnVWlJeU1CQUI5OTlCRm16WnFsY3hWUVhsNGVKQklKU2twS0VCRVJnZG16WjJ0V0VKbVptV20yd1FGQWFtb3FySzJ0TmM4Qk5kZDR5czNOclRUZXlKRWowYWxUSjBpbFVzMzJQWUZBZ0gvLys5KzRkdTBheG93WlUybk1pdXpzN0xST3JKTklKQ2dvS0RzcCt1T1BQNjUwZmZiczJWcDlyRm16Qm82T2puajExVmVySElPSWpNZmdpWWlJaUlpSW1oMlpUSWF3c0RBRUJBUmd6Smd4RFQyZGVuSGx5aFY0ZW5vaUtpb0tRVUZCbURkdkh0NTk5MTBBMmpXZTh2UHpzWHIxYXF4ZXZSb0FzSGp4WXMyOWJkdTJWZHA2TjNQbVRLMng5SzN4Vk03SHh3YytQajVheGNvOVBUMHhiZG8wZlBQTk56Vyt2MEdEQm1IUm9rVUFnT0RnNENyYldGaFlZUFRvMFZyWDE2eFpBeHNibXlydkVWSHRNSGdpSWlJaUlxSm01OUtsUzFBcWxSZzZkR2hEVDZYZUhEcDBDRDE3OWtSVVZCUmVldWtsMk5qWW9GV3JWZ0MwUTZIbHk1ZERwVkxoekpreitPR0hIN0Jod3diTjZxZ1dMVm9BQU5xMGFZT3hZOGZpN2JmZmhvV0ZCUURnNHNXTDJMeDVNOTU3N3oyMGE5ZE81MXl1WDcrT00yZk82RFh2aFFzWFl2djI3U2dvS01ELy9kLy9hZDJQaUlqQWlSTW4wTEpsUzczNkk2TDZ4ZUNKaUlpSWlJaWFuYmk0T0xpNXVUWDU3WFhsSGp4NGdDdFhybUQ2OU9uNCtlZWZJUkFJOE1ZYmIyaFdPcFhYTUZxL2ZqMXNiVzNoNE9BQUFFaEtTb0pBSUlDM3QzZWxFK05TVWxJZ2tVZ3didHc0WkdSa0FBQ1VTaVcrK2VZYktCUUttSm1aYWEyaXFzakp5UW5qeG8xRFNrb0tuSnljcWkzOFBYandZQlFXRm1MdDJyVndkWFZGVUZDUTVwNUtwY0xXclZ0aFlXR0JpUk1uR3Y4QkVWR2RZZkJFUkVSRVJFVE5UbDVlWHAwWHpHNU1kdS9lalU2ZE9zSEp5VWxubTNQbnpxRlhyMTZhMEttMHRCVG56NStIV3ExR1dscWFwdGc0VVAyMk9RQ1lNV09HM25ONy8vMzNNWExreUdyYlBQUE1NOWl4WXdmV3IxK1B0V3ZYYXVvOTdkMjdGeWtwS1pnK2ZYcTE3NDJJR2c2REp5SWlJaUlpYXBacU9yMnVLWEZ3Y0VDUEhqMnFiWFAzN2wyRWg0ZGo0OGFORUlsRU9IYnNHR1F5R1FCQXJWWlhhdnY0S1c4SER4N0VtalZyc0dqUklnd2FORWlyNzVpWUdNeVpNd2ZCd2NGWXVYS2x6a0xoanlzcEtZRzV1VG5NemMzeHpqdnY0Tk5QUDhXV0xWdncybXV2NGZidDI5aTBhUk02ZE9oZzhHb250VnF0OXh5SXFIYUVOVGNoSWlJaUlpS2lKOW5vMGFQUnUzZHZuZmZWYWpYVWFqVlNVbEp3NU1nUkZCVVZZZXZXclZyRnRuTnpjM0hyMXExSzF4SVNFdkQ5OTkvRHlja0pabVptS0M0dXJuUS9OallXSDMzMEVlenM3REJ2M2p5OUE1L282R2pNbURFRCtmbjVBSUNubm5vSzQ4ZVB4N1p0MjdCaHd3WXNXclFJclZxMXd1TEZpeXR0QTZ4T1hsNGVWcXhZZ1lzWEwrclZub2hxanl1ZWlJaUlpSWlJNmtuRjA5a1VDb1hXTlFDYWsrYXVYcjJLTFZ1MllOR2lSYlV1bksxckcxcDVxRE52M2p6Y3ZuMGJnWUdCMkw5L1AySmlZaUFRQ1BEYWE2OWgvLzc5bXZZNU9UbVlPM2N1amh3NW9ybm02T2lJdDk5K0crSGg0Vmk2ZENsRUloRTZkdXlJWHIxNlFhRlFZUFBtelpCSUpGaStmSG1ONzBNdWx3TUFEaHc0Z0xpNE9FM3g4M0xUcDAvSGxTdFhzR2ZQSGxoWldXSDU4dVd3dDdmWDZ6UDQ4ODgvOGROUFA2RzR1QmpEaHcvWDZ4a2lxajBHVDBSRVJFUkVSUFdrWW9pajYxcDU4Q1NYeXhFZkg0K1pNMmZpODg4L2g3Ky92MG5ub2xRcXNYbnpaZ0JBZW5vNjFxNWRDMXRiVy96NTU1L1lzV01IVnE1Y0NUczd1MHJQWkdabWFvVllqbzZPR0R0MkxNYU9IWXZjM0Z5RWhZVmg4K2JOaUl5TTFMVHAxNjhmQ2dvS29GS3BxbDJkVkw0U0tUWTJGcU5IajhiYmI3OE5LeXNyeU9WeW5EeDVFci8rK2l2UzB0TFFvVU1IUkVWRjRZTVBQc0NVS1ZNd2RPaFF6Y2w2RmVYazVBQW9DN0lVQ2dXNmRldUdXYk5td2QzZDNiZ1BqWWdNeHVDSmlJaUlpSWlvbmp4ZUc2azZ2WHIxd3RkZmY0MkZDeGRpN3R5NVdMcDBLVHAxNm1TeXVZaEVJdlR2M3g5eXVSeWZmLzQ1SkJJSjl1L2ZqNTA3ZCtLVFR6NUJTRWdJQUVBaWtlRFNwVXRRS3BYWXYzKy9WZ0FtbDh1Um5KeU02T2hvWEx0MkRaY3ZYMFpKU1FrQ0F3UFJ2MzkvWEwxNkZhZFBuOGFKRXlkZ1kyT0RIajE2b0hmdjN1alpzeWRzYkd3cTlXVmxaUVY3ZTN0OCtPR0g2Tm16SjI3ZnZvM1RwMC9qMUtsVHlNdkxnNysvUDFhc1dJRXVYYm9nSmlZR2E5ZXV4ZXJWcTdGeDQwYjA3dDBiUFhyMFFIQndNRnhkWFFGQXN6TEx5c29LNzd6ekRvWU9IV3F5ejQrSTlNUGdpWWlJaUlpSXFKRUtDQWpBeXBVcjhlR0hIMkw3OXUwbURaNEFZTXlZTVJnOWVqUUVBZ0hDdzhPeFpjc1dmUG5sbCtqY3ViT216WlFwVS9Eenp6L2orKysvUjRzV0xiQjA2VktVbHBiaWswOCtRVnBhR2pJeU1xQlVLZ0VBclZ1M3h1alJvL0gwMDA5ckFxb1hYbmdCK2ZuNU9IZnVIUDc2NnkrY09YTUdwMDZkZ29XRkJiWnMyVkpwQmRYdzRjUFJwMDhmV0ZwYTRzMDMzMFJLU2dvRUFnRjY5T2lCNTU1N0RqMTc5dFMwRFF3TXhMcDE2M0R1M0RtRWhvYml4SWtUT0hIaUJHYlBucTJwVFRWaXhBaWtwcWJpcmJmZWdxT2pvMGsvT3lMU2owRDkrUEVFVDREeDRmOXA2Q2tRVVNPMXIvL2NocDRDRWRFVDVmejU4N2h3NFFJKytPQ0RocDRLVWIzNit1dXYwYWRQSC9UdDI3ZWhwNktYNU9Sa3RHelpFdGJXMXJYcVI2VlNJVEV4RWQ3ZTNoQ0pSRnIzQ3dvS1lHdHJxMWRmMzM3N0xiS3lzdENtVFJ2NCtmbWhmZnYyYU5HaVJZM1A1ZVhsSVR3OEhISzVIT1BIajlmWkxqSXlFb21KaVJnNGNLQmVOYTdTMHRJUUhSMk5JVU9HNkRYL3g1OFZpOFZhTmFXSVNEK0NhazRONElvbklpSWlJaUtpUnM3THk4c2svUWlGUXZqNit1cThyMi9vQkFBelo4NDBhZzcyOXZaYXArVlZwVnUzYnVqV3JadmUvYnE3dXh0ZHU0azFuNGpxam41blRoSVJFUkVSRVJFUkVSbUl3Uk1SRVJFUkVSRVJFZFVKQms5RVJFUkU5UC9adSsrd3BzNytmK0R2REVKQ0V2WkdCTUZWRUtXaTFGbFh0VnAzVzJ1clBtcXRkZFpkdGE2NmZSeDFvSFhVOXVFcmJtc2RqN05xRlVSdEZiY2lJcWpzUFFOaFoveis0SmZ6RUpKQVFDQktQcS9yeWxWeXpuM091YU9XSk85ejM1K2JFRUlJSWFSZVVQQkVDQ0dFRUVJSUlZUVFRdW9GQlUrRUVFSUlJWVFRUWdnaHBGNjhrNnZhOFRrbUtKYVhHYm9iaEpDM0RKOWpZdWd1a0FZa2s4a1FGeGVIakl3TUZCVVZRUzZYRzdwTGhOUVloOE9CUUNDQW5aMGQzTnpjd09XK2t4L05DQ0dFRUVKMGVpYy8zVGp5TFJGYmtHSG9iaEJDM2pLT2ZFdERkNEUwa096c2JFUkVSTURHeGdidnZmY2VSQ0lST0J5T29idEZTSTNKNVhKSXBWSWtKeWZqOXUzYjhQTHlnclcxdGFHN1JRZ2hoQkJTWjk3SjRNbmZwamtGVDRRUURmNDJ6UTNkQmRJQXNyT3o4ZXpaTTdScDB3WldWbGFHN2c0aGI0VEQ0Y0RDd2dJV0ZoYkl5Y2xCZUhnNHZMMjlLWHdpaEJCQ1NLUHhUdFo0R3Rxa0kreE16UTNkRFVMSVc4VE8xQnpEbW5RMGREZElQWlBKWklpSWlLRFFpVFJLVmxaV2FOT21EU0lpSWlDVHlRemRIVUlJSVlTUU92Rk9CazltSEI2bXQvelkwTjBnaEx4RnZtdlpId0lPejlEZElQVXNMaTRPTmpZMkZEcVJSc3ZLeWdvMk5qYUlpNHN6ZEZjSUlZUVFRdXJFT3hrOEFVQTdTemVzOEJsQkk1OElNWEoycHVaWTZmTUYybG8yTlhSWFNBUEl5TWlBczdPem9idEJTTDF5ZG5aR1ptYW1vYnRCQ0NHRUVGSW4zc2thVHlydExOMnd6Vzg4L3B0NEYyRlpMNUZhbkV1cjNSRmlCUGdjRXpqeUxlRnYweHhEbTNTRUdZMTBNaHBGUlVVUWlVU0c3Z1loOVVva0VxR3dzTkRRM1NDRUVFSUlxUlB2ZFBBRWxFKzcrOHF0Szc1eTYycm9ycEMzeEtWTGwyQnVibzUyN2RyaC9QbnphTisrUFR3OVBRM2RyUnBUS3BWSVNVbkJpeGN2a0ptWkNSNlBCMDlQVHpSdjNoeDhQdC9RM1NQRUlPUnlPYTFlUnhvOURvY0R1Vnh1Nkc0UVFnZ2hoTlNKZHo1NElxUXlnVUNBd3NKQ21KbVpnY2ZqSVRjMzE5QmRxaFVXaXdWbloyYzRPenNqT3pzYkwxNjhRR1JrSkNJakkrSGk0Z0pQVDAvWTJkbUJ4V0ladXF1RUVFSUlJWVFRUW9oV0ZEeVJSc2ZNekF5cHFha0F5b3UwNXVUa0dMaEhiODdhMmhxZE8zZEdRVUVCWHI5K2paaVlHQ1FtSmtJa0VzSER3d1B1N3U0d05UVTFkRGNKSVlRUVFnZ2hoQkExRkR5UlJrY2dFS0M0dUJoS3BSS1dscGFJam82R1FxRUFtLzNPMXRKbkNJVkMrUGo0d052YkcwbEpTWGoxNmhXZVBIbUM4UEJ3TkduU0JKNmVuckMxdFRWME53a2hoQkJDQ0NHRUVBQVVQSkZHeU16TURFcWxFa1ZGUmJDeXNvSkNvVUJlWGg0c0xTME4zYlU2dzJhejRlcnFDbGRYVitUbDVlSDE2OWVJalkxRmZIdzh6TTNOMGF4Wk03aTZ1a0lnRUJpNnE0UVFRZ2doaEJCQ2pCZ0ZUNlRSVVlVdHF1QUpBSEp6Y3h0VjhGU1J1Yms1ZkgxOTRlUGpnNFNFQkx4Ky9ScVBIei9HNDhlUFlXOXZEemMzTjdpNHVNREV4TVRRWFNXRUVFSUlJWVFRWW1Rb2VDS05qcG1aR1FDZ3NMQVExdGJXNEhLNXlNbkpnYnU3dTJFN1ZzODRIQTdjM2QzaDd1NE9xVlNLK1BoNHhNWEY0ZTdkdTNqdzRBR2NuWjNSdEdsVE9EbzZOb3BwaDRRUVFnZ2hoQkJDM240VVBKRkdwMkx3eEdLeFlHVmxoZXpzYkFQM3FtR0pSQ0o0ZVhuQnk4c0wyZG5aaUkrUFIzeDhQQklTRXNEajhlRHE2b3FtVFp2Q3hzYUdWc1VqaEJCQ0NDR0VFRkp2S0hnaWpRNlh5NFdKaVFtS2lvb0FBRFkyTm9pS2lvSmNMZ2VId3pGdzd4cWV0YlUxcksydDBhNWRPNlNscFRFam9WNjllZ1dCUUFCbloyZTR1TGpBenM2T1JrSVJRZ2doaEJCQ0NLbFRGRHlSUmtrZ0VLQ3dzQkJBZWZDa1VDaVFtNXNMR3hzYkEvZk1jRmdzRmh3ZEhlSG82QWlaVElhVWxCUWtKU1V4SVpTSmlRbWNuSnpnNHVJQ1IwZEhjTG4wNjRFUVFnZ2hoQkJDeUp1aGI1YWtVVEl6TTJOR1BGbGJXd01Bc3JLeWpEcDRxb2pMNVRLcjRzbmxjcVNucHlNcEtRbkp5Y21JajQ4SGg4T0JnNE1EWEZ4YzRPVGtCRk5UVTBOM21SQkNDQ0dFRUVMSU80aUNKOUlvbVptWklUYzNGd0RBNS9NaEZBcU5yczZUdmpnY0RweWNuT0RrNUFTbFVvbXNyQ3drSlNVeFFSU0x4WUtOalEweldzclMwcExxUWhGQ0NDR0VFRUlJMFFzRlQ2UlJFZ2dFS0M0dWhrS2hBSnZOaG8yTkRUSXpNdzNkcmJjZWk4V0NyYTB0YkcxdDBhNWRPMGdrRWlRbEpTRWxKUVhoNGVFSUR3OEhqOGVEZzRNRDgxQVZjeWVFRUVJSUlZUVFRaXFqNElrMFNxb3dwS2lvQ0VLaEVEWTJOb2lQajBkUlVSRUVBb0dCZS9mdXNMQ3dnSVdGQmJ5OHZGQmFXb3EwdERTa3BhVWhOVFVWQ1FrSkFBQnpjM01taExLenM2UGFVSVFRUWdnaGhCQkNHUFFOa1RSS3FuQkpGVHlwNmp4bFoyZkR4Y1hGa0YxN1ovRjRQS1l1RkFEazVlVXhJZFRyMTY4UkhSME5OcHNOVzF0YjJOdmJ3OWJXRnRiVzFrYTVraUFoaEJCQ0NDR0VrSElVUEpGR1NUWGlTYld5bmFXbEpkaHNOckt5c2loNHFpUG01dVl3TnpkSGl4WXRvRkFva0ptWmlkVFVWS1NscFNFOFBCd0F3R2F6WVdWbHhVemZzN1cxQlkvSE0zRFBDU0dFRUVJSUlZUTBGQXFlU0tOVWNjUVQ4TDhBSkNzcnk1RGRhclRZYkRiczdlMWhiMjhQQUNnckswTldWaFl5TWpLUW1abUo2T2hvdkhqeEFrQjVZS1VLb2V6czdLaEdGQ0dFRUVJSUlZUTBZaFE4a1VhSnkrV0N4K09ob0tDQTJXWmpZNE5YcjE0eEJjZEovVEV4TVdGV3dRTUF1VnlPbkp3Y1pHWm1Jak16RXdrSkNYajkraldBOHBCUU5TM1B5c29LVmxaV1ZDZUtFRUlJSVlRUVFob0orblpIR2kyaFVLZ1JQRVZGUlNFM041ZXArVVFhQm9mRFlVWTVBWUJTcVVSZVhoNFRSS25DS0JXeFdNeUVVTmJXMXJDMHRLUXdpaEJDQ0NHRUVFTGVRZlJOampSYUlwRUlPVGs1ekhOVjZKR1ptVW5CazRHeFdDeG14VHhQVDA4QVFFbEpDWEp5Y3BoSFptWW00dVBqbVdQTXpjMlpNTXJLeW9yQ0tFSUlJWVFRUWdoNUI5QzNOdEpvQ1lWQ0pDVWxRYWxVZ3NWaWdjL25ReXdXSXlNakF5MWJ0alIwOTBnbHBxYW1hdFB6QU0wd0tpTWpBM0Z4Y1FES3d5dVJTQVJ6YzNOWVdGZ3cveFdKUkRTVmt1anRrMDgrZ2F1ckszNzU1UmREZCtXZEVCc2JDMU5UVXpnNU9lbDlqRlFxeGJmZmZnc0ErUFhYWHlFU2llcXJlMUFxbFNnb0tBQ1h5d1dmejYrMzZ4QkNDQ0dFRVAxUjhFUWFMWkZJQklWQ2dhS2lJcWFBdFoyZEhSSVRFNWt3aXJ6ZHFndWpKQklKSkJJSmtwT1RvVlFxQVpRSFVtS3htQW1qS2daUzlIZE9LaXNySzBOWldWbWRuemNuSndmejVzMnI4L09xVEpvMENaMDZkVkxiVmxKU2dxU2tKSGg0ZU5UTE5aOC9mNDdGaXhmRHpNd01XN1pzZ1lPRGcxN0h5ZVZ5WkdabU1qL1hwME9IRGlFb0tBaWZmZllacGt5WlVxTmpDd3NMSVpWS2taZVhCNGxFZ3R6Y1hCUVZGV0hRb0VIMTFGdENDREdzUjQ4ZTRlKy8vOGEwYWRNQVFPUHo4Zjc5K3lHWHkvSDExMTlYZVo3RXhFUkVSMGVqVjY5ZTlkcmYwTkJRM0x0M0Q3Tm16UUtIdzZuWGEya1RIeCtQSjArZTZQVyswTGR2WDdpNnVpSXdNTEFCZWtiSTI0K0NKOUpvQ1lWQ0FFQkJRWUZhOFBUNjlXdElKQkpZV2xvYXNudWtsclNGVVFxRkFsS3BGQktKUk8xTG95cGtCTXBYM3FzWVNJbEVJdVpoWW1KaXFKZEQzaklUSmt4UXF6ZFcwWlVyVnpCczJEQzEybkc2MnNsa01wM25xUXVWK3lDVlNyRm8wU0xFeDhkajNicDE4UGIyMW5wYzM3NTlxejIzaVlrSkxseTRvTEhkM3Q0ZUFvRUE2ZW5wbUQ5L1BqWnYzZ3c3Tzd2YXZZQnFWTlhQZGV2V29XUEhqaHJiWTJOamNlalFJUURBelpzM01YYnMyR3BYelp3N2R5N2k0dUpRVUZDZ014VHIwcVVMcksydDhjVVhYNmhOMzlibXlwVXJWZTRuaEJCRGlvMk54Ylp0MjdCbzBTSTRPRGdnT2pvYXAwNmR3clJwMDZCVUtyRmt5UkkwYmRxVUNlN1BueitQRmkxYVZIdmVzTEF3N042OW13bWVaRElaVWxKUzlPNlhpNHVMWHFQVlg3MTZoWXNYTDBJdWwyUCsvUGw2bmZ2Mjdkdkl5Y25CZ0FFRE5QYWRQSGxTNTNHdFdyWFNlQy9kdFdzWDd0Ky9ENWxNaG1IRGh1bDFmVUpJT1FxZVNLT2xtczRobFVxWkwwZXFPazhaR1JrVVBEVWliRGFiR2QxVWtWd3VSMzUrUHZMeThwaEFLanM3VzYxMkZBRHdlRHkxSUVvb0ZESS8wM1FkNHpSa3lCRG01NGNQSHpJaFV1L2V2VkZTVXNMc3UzbnpKb3FLaWpTQ0Vqczd1eXBEaURGanhpQXRMVTFybTc1OSs4TEJ3UUVIRHg3VXU3OW1abWF3dDdkSFpHUWtGaTllakEwYk5xQjE2OVk2MitzYXJaU1dscWJ6R0JzYkc2eGJ0dzV6NXN4QlNrb0tGaXhZZ0sxYnQ5YmI3MUlPaHdObloyZm1lV3BxS3NyS3lyUitPU2tySzhOUFAvMEVtVXdHT3pzN3BLV2xZYytlUFpnN2QyNlYxMGhQVDBkZVhoNTRQQjVUZDg3Q3dvS3BKV2RyYTh1RTF5cXVycTRhNTBsS1NvSkNvYWpsS3lXRUdKdUVoQVNjT0hFQzkrL2ZSMlptSnZoOFB0cTBhWU94WThmcUZmVFVscTJ0TFRJeU1yQjgrWElFQkFTbzdUdHg0Z1R1M3IyTER6LzhFRUQ1Nzl6czdHejQrdnJXK0RvcEtTbVlNR0dDM3UyUEhUc0dhMnRyS0pWSzNMaHhRMmM3VDA5UE9EazU0ZlhyMTdoKy9ick9rZXcrUGo2d3NyS0NVcW5FaVJNbjhQanhZNVNVbEdpRVJidDM3OVo1clpFalIyb0VUd3NYTHNTTUdUT3dhOWN1OEhnOGZQTEpKM3EvUmtLTUhRVlBwTkVTQ0FSZ3M5bHFJd1BNek13Z0ZBcVJtWmxacjIvczVPM0E0WEJnYVdtcDhjVllMcGVqb0tBQVVxbVUrYTlVS2tWMmRqWVNFaExVdm1oeXVWeTFJRW9WVEFrRUFnZ0VBaG90MVVqTm1ER0QrWG5UcGsxTThEUnk1RWpjdlhzWEgzendBZXpzN1BEczJUTVVGeGZyZmVlMXZyRFpiQ3hhdEFnbEpTVzRjK2NPRmk5ZWpDMWJ0c0RkM1oxcG8vcDNiV3BxcWpQVXFtNUVsTHU3TzVZdFc0WkZpeFloTVRFUkN4Y3V4TTgvLzF3di94L1kydG95VXhSS1NrcncyV2Vmd2NURUJLMWF0ZEpvdTNuelpyeDQ4UUllSGg3WXZIa3pacytlallzWEw2Sk5temJvMTY5ZnRkYzZmLzY4M3YzU05tMUNuOUZRaEJBQ0FDOWZ2c1NNR1RQQTRYRHcvdnZ2dzgvUEQ3R3hzYmg5K3pidTM3K1BMVnUyVkhuajRFMklSQ0lzWExnUWE5YXNVUnVWVzFKU2d0OS8veDJmZi80NSt2ZnZENkQ4eGdwUVB1cXp0b0tDZ3RSdUlGUjI2OVl0ckZpeGdubXVVQ2l3ZXZWcXZjNjlaczBhbmZ0VUkyTlpMQlpXclZxRlJZc1dZZWZPbldDejJjeU5KZFhOZ3ErKytrb2pKTlAxWG1obFpZVzFhOWRpeG93WjJMWnRHMXEwYUVIZkp3alJFd1ZQcE5GaXNWZ3dNek9EVkNwVjIyNW5aMWVqNGIrazhlRndPRnBIU0FIbFg4NVZ0VjRxUDFKVFV6V200M0M1WEppWm1URkJsTGFmZVR4ZVE3MDBVcy9DdzhNUkVCQ0E3ZHUzdzg3TzdxMnFGOGZsY3JGMDZWTE1uVHNYMGRIUnVIRGhBbE8zQXdCVFowazFEYm0yMnJkdmo2Ky8vaG9IRHg3RXlKRWpHeVI4RFFzTFEwbEpDYnAzNzY1Um5Iei8vdjI0ZXZVcXpNek1zSFRwVW9oRUlpeGV2Qmd6Wjg3RTVzMmJJUmFMMGJsejV6ZnVRMkZoSVV4TlRkLzRQSVFRNDVhWGw0Y2VQWHBnNnRTcHNMQ3dZTFlmUEhnUVFVRkJDQXdNeE1hTkcrdnQrbTNidHNXQkF3ZGdhbXFLaHc4ZkFpaS9JYkZqeHc3WTI5c3o3YTVmdnc0QUdEZHVuTmJ6bkQ5L0hnTUhEbFRicGdwczNyU3UwWkFoUXpCMjdGaTFiZEhSMGJoMTZ4WSsrdWdqTkduU3BNcmpLNzdQQ1FRQ3JGNjlHZ3NYTGxTckM2VWEvVjdUVWJ0dWJtNzQvdnZ2a1plWFI2RVRJVFZBd1JOcDFFUWlrVVl0RkRzN084VEd4aUl2TDA5cjhFQ01HNHZGZ2xBb2hGQW8xRG9kcWFpb0NJV0ZoU2dzTEVSUlVSSHp2S2lvQ09ucDZTZ3FLdEtZbXNQaGNEUkNLVDZmRDFOVFU0MEhyY2hYdnlRU0NUNy8vSE8xYlFrSkNjeUhaVzNUcUNyS3k4c0RBT2JMZ2x3dXJ6SjQrdXFycjVqQVJ4dGRkMVhUMHRKMDdxdHFDaCtmejhmcTFhdHg2OVl0dGVtQ3dQKytSTlJGOGZHUkkwZml3dzgvclBKT2RsMVNUYjM0NktPUDFMWUhCZ2JpeUpFak1ERXh3Y3FWSzVtL1B3OFBEeXhkdWhRclZxekFtalZyTUdmT0hJMWphMElxbGFLa3BLVEJYaThocFBIeTl2WkcrL2J0TmJaLy92bm4yTDkvUDU0L2YxNXYxOWIxdmxKeGU1Y3VYVEJ5NUVoRVJrYmltMisrUWRldVhabDlQL3p3QSt6dDdURjM3bHh3dVZ6TW1qVUxRUG1VOU5EUVVPYTVpcTdRcWpxcTZjOFYvZlhYWDdoNjlTb0dEQmlnc2E4NllyRVlPM2Z1Wk42dmxVb2w5dS9mRHdCYXB4S3lXQ3lrcGFWQm9WQm8vVnltbW81SUNORWZCVStrVVJNS2hjak96bGJicHFyM2xKR1JRY0VUcVRGVmNHUmpZNk4xdjFLcFJIRnhzVm9nVmZIbmpJd01yZUdVaW9tSmlkWkFTdGZERUt1NnZNdE1UVTJaUUNZOVBSMjNiOStHU0NSQzc5NjlBWUM1KzZ2cnczbHViaTZBLzkwaGxjdmxldjBkVko3dUZSb2FpdUxpWXEzVHdDNWZ2Z3crbjYveHdWWjFUSFZzYkd3MFFxZjQrSGdjT0hBQUFOQ3paMCtkeDNLNVhKU1ZsU0U2T3JyS083a3NGcXZCUXBqUzBsTGN1WE1IRmhZVzhQZjNCMUJldUhicjFxMjRmUGt5dUZ3dWxpeFpvdkhsb1ZPblRsaTRjQ0UyYk5pQURSczI0UG56NTVnMGFaTFdVVXU2YXBHTUhqMGFmZnIwd2QyN2R3R1UzK2ttaERST2hZV0ZDQXNMdzh1WEx5R1JTS3B0MzdsejUxcE5ROU0xY2xMMW5xN3I4MEZkcURnUzZjcVZLemh5NUFnQVlQMzY5Y3hvSjRGQWdLMWJ0d0lBek0zTjFXN0lTQ1FTK1ByNk10dFVxN3VWbHBZaU5EU1VlYTZheGxmeHZObzhmUGdRTzNiczBMcnY1czJiekh1dVhDN0g5ZXZYWVdOamc2aW9LRVJGUmVrOHA2b1BoWVdGYXUrWlFxRVFwcWFtS0Nnb3dJNGRPM0RqeGczMDZORkQ2ODJZVnExYUlTUWtCQ0VoSVFBQVB6OC9MRnEwQ0tXbHBVd2JWZmtPUW9oK0tIZ2lqWnBJSkVKcGFTbkt5c3FZNlNDcStqd1pHUm53OVBRMGNBOUpZOE5pc1pod3l0cmFXbXNicFZLSnNySXlsSlNVVlBrb0xDeEVUazRPU2twS2RCWXU1bkE0NEhLNU1ERXhxZmFocXgyWGF6eHZCWHcrbjZuZmRPalFJZHkrZlJ0V1ZsYk1ObFVBb2F1NGVGNWVIa3hNVEpqVjBrcExTL1dhYWxhNUJ0VGp4NDkxMW9hNmZQa3lMQ3dzZEI1VFU0OGVQY0xhdFd0UldGZ0lEdytQS2tmK2VIaDRJQ29xU20yS25yKy9QOWF1WFZ2ajY5YVZzTEF3RkJZVzR0TlBQd1dYeThYTGx5K3hZY01HeE1iR1FpZ1VZdVhLbFdqWHJwM1dZM3YxNmdVckt5dXNYTGtTWjg2Y3djMmJOekY2OUdoODhza25hdi91ZGExQUtKVktJWlBKOE1jZmZ3QUErdlRwbzdXZFFDQkFUazRPWHI5K3pYeUplZE5wbUJrWkdUaDI3Rml0ajYrSnhNVEVCcmtPSVcrcjZPaG9YTGx5QlhLNUhFNU9UbWpldkhtMTArU3JHeUZiVXpFeE1aREpaUFZXM3drbzczTkpTUW4yN3QyTGMrZk93ZHZiRzgrZVBjT2FOV3ZRdFd0WHpKZ3hBL2Z2MzBkWVdCaUE4Z0xqS2hLSnBNWWpQNTJjbk5UYVg3eDRFYnQyN2NMWnMyY0JsSWR0ZkQ1ZmE0QnorUEJoUkVkSHEyM0x5c3JTS0lwZW1TcDQycmR2SDA2ZE9zVnNuenQzTHZyMzc0OGZmdmdCa1pHUmVQLzk5M1V1UUxGMjdWcmN2SG1UbVRYaDV1YUdwVXVYSWpJeWtta3pmUGh3VEpzMkRkbloyUmc1Y3FUVzgxUWNVVjBacllKS2pJM3hmTnNnUmtuMVJsWlFVS0EyaDl2T3pnN3A2ZW1HNmhZeGNpd1dDendlRHp3ZUQyS3hXSzlqZEFWVlpXVmxHZytwVktyMlhKLytjTGxjY0xsY2NEZ2M1c0ZtczlXZVY3VmQxellXaTZYMW9icHVUUjkxNmNHREJ6cjM2U291bnB1YnEvYTdwS1NrUktQbVVFTjYvdnc1WnM2Y3FiWk5LQlRpOU9uVEtDMHR4YVpObTVnN3RuWjJkbGkrZkhtVkk3VG16WnVIWDM3NUJjbkp5Y3hkZHc4UEQyelpzZ1VYTDE3VWFILysvSG53ZUR3b0ZBcE1uRGhSNnprcjFrV2JPWE5tbGRmWFZoZEVOVVd3VzdkdXlNakl3Snc1YzFCY1hBdzNOemNzVzdhczJsRkl2cjYrMkxWckY3WnMyWUpIang3aHpwMDdHblZKZEgwQktDMHR4ZGF0V3hFVkZZVVdMVnFvVFRtcHFGV3JWa2hPVHNhVUtWUEE0L0ZRV2xxS2d3Y1BWbm1udnpyOU4xZUpBQUFnQUVsRVFWUVNpVVJqcWpnaHBPNWxaMmZqbjMvK1FjdVdMZkhSUng5QklCQVlwQitxb0xueTc2ZTZkTy9lUGV6WXNRT1ptWmxZc21RSjB0TFM4T3paTXl4ZnZod3JWcXpBeTVjdjBicDFhMWhiVzhQR3hnYXZYcjFpam8ySmlRSHdaaU0vNVhLNTJnMFVlM3Q3blF0QTdOcTFDd0R3NnRVclRKOCtIYjE3OThhQ0JRdjB2dGFBQVFQUXJsMDdGQlFVWU5PbVRRREtQM2NzV0xBQUR4OCt4T0RCZzNWK3JqQTNOOWRZc1U0b0ZDSS9QeDhBc0d6Wk1yWHRsYWNZQWtCQVFBQ3NyS3cwYWxVUllxd29lQ0tObXVvTG9iYmdLVDQrSHZuNStYcC84U2ZFa0ZTamsyb2FjaWlWU3Noa01zaGtNcTBoVmNXSFRDYURRcUdBWEM1bkhxckFxK0kyMWFNK3B3UG9ZbVZsVlNmbmtVcWxpSWlJQUFEazUrZGovZnIxV0xod1liWEhTU1FTcHJhRVRDWkRTVW5KRzRVTGI4clUxRlR0cm52RmtUczhIZytlbnA0SUNRbUJyNjh2Rml4WXdFdzExc1hEd3dNYk5telEyTDV2M3o2ZDF3SEsvNTNwR2pWVVVYSnljclZ0S3ZQMjlrWklTQWgrLy8xM3JGNjlHdlBtemNQang0OHhaY29VbUpxYTR1T1BQNFpJSk1LSkV5YzBqdjM0NDQ5aFlXR0IzMy8vSFpzMmJVSndjREErK09BRHZhZW9ob1NFNFBMbHk3QzJ0c2FTSlV0MGpnNmNOR2tTaW91TEVSVVZCYmxjRGtkSHh6ZitkOUc4ZWZNM3FrdFZFMy8vL1RmKytlZWZCcmtXSVcrYlY2OWVvV1hMbGhnOGVMREIrbkQxNmxWY3UzWU52cjYrT2tkVzFzVTExcTlmRDJkbloyWkZ0dVBIandNb0QraTNidDJLOWV2WFk4U0lFUmcrZkRqT25UdUhhOWV1TWFNM1ZhT1B0RTNEVm8zSzNySmxDOUxUMHpGMTZsUUF1bXM4YVJzRnRIWHJWcnozM25zQXdBUkNjcmtjVzdac2dWQW94T1RKazVtMnUzYnR3cWxUcDZvY05kU3NXVE0wYTlaTW8rU0dxNnNySmt5WW9IT0tYMFU5ZS9iRWtpVkxBSlMvRjJsamFtcktqTEtxS0NBZ0FDS1JTT3MrUW93UkJVK2tVVk9OZUtxOHNwM3FDMEY2ZWpvRlQ2UlJZN0ZZVEdoVjEzZHhsVW9sRTBKVkRxeFUyNVJLcGRhSDZ2aWFQQUFnS1NtcFR2cCs2OVl0T0RvNklqRXhFVXFsRXYvODh3OHo5TDhxRW9rRVVxa1Vtelp0WWthVDVlYm1NbmRUQWVDYmI3N1JtR2FwVDBIWGlxb3FMbDZSaDRlSDJpaWh5c2Q4K2VXWDhQTHlRdHUyYmFzOVYxWEdqeCtQOGVQSDY3d09oOFBSK1FXZ1lrSDNQLzc0bzhaRllZY09IWW9iTjI3Zzl1M2J1SFhyRm5yMjdLbFdwMHIxYjArYnl2dDY5ZXBWbzJ2MzY5Y1BLU2twR0R4NHNNNnBzd0JnYTJ1TFZhdFcxZWpjaEpDM2cxS3BiTENRVjVzblQ1NWc4K2JOY0hSMHhKSWxTK3B0cGRUZXZYdERLcFdpZi8vK01EVTF4ZTdkdXlHUlNIRDU4bVVBNVVITm5qMTdtT3Q3ZTN2ajlPblRpSXlNeEh2dnZZZTdkKy9DenM2T1dYaEZJcEhnN05tenVIdjNMbE1RL2U3ZHV4ZzRjQ0R6L3JodDJ6YTFlcW9oSVNIWXYzKy8xdEd0OXZiMnpIdTk2dVpBVUZBUW9xS2lzSGp4NGhxL2QxUmw4ZUxGT0hUb0VQTHo4ekZseWhTTi9YZnUzTUhWcTFlcnZWbERDTkVmQlUra1VlTnl1VEExTmRVSW5rUWlFWVJDSVZKVFU2bk9FeUcxVkhHS1hrT3BxK0FwT0RnWTdkdTNSMkppSXN6TnpURjgrSEFFQlFVeFlYWEZPNkVWVnhpU1NDUnFIOVNCOGhGVEZaOS8rZVdYR2lGRjVha0U2ZW5wek9xSit0SzN1SGhsMjdadDAyczBVbVZ2Uy8wSkZvdUZLVk9tWU5xMGFkaTNiNS9PNlc3MTVmbno1OHgwUDMyODZUTGloSkNHSlJhTERUYTlMakl5RXN1V0xZTllMTWI2OWV2VlJ1Zlh0Y0xDUXJSdjM1NVpnZmY4K2ZQbzBLR0RSbzAzMWVoV1B6OC9jRGdjWEw5K0hVMmFOTUhUcDAvUnYzOS9wbDFXVmhhQ2dvSmdhbXFLSmsyYUlDRWhBWWNQSHdhTHhXS21zcmRzMlZLdERxSnExTEt1K2xpRmhZVUF3Qnh6N2RvMUFNQzZkZXV3YnQwNmpmYmFidERvODk3VnExY3ZTS1ZTYk4rK0hZNk9qc3hJSzZEOGhzV0JBd2RnYW1xcXNRb3VJYVQyS0hnaWpaNUlKTklJbmdEQTBkRVJjWEZ4T3BkS0pZUTBUcW1wcVhqdzRBR0dEUnVHTTJmT0FDZ3ZSbXB1Ym82Z29DQUFZTFpYcGlveURaVGZpVDE0OENCKytPRUhuVk1qQmd3WUFLbFVxbGFzVzZsVVl1Yk1tWGorL0RsbXpacWwxOGdtb0x4SWExNWVubDV0S3g4bms4bVFrcElDRm91RkprMmE2R3hic2QzYnBFV0xGdkR5OGtKRVJBUmV2WHBWNXpjTWRQMGRMRjY4R0NrcEtiV2FJa2dJZVRjWUtuU0tqbzdHb2tXTHdPZnpzWEhqUnJpNHVOVHI5VzdkdXFVMk9sZTE3ZGF0VzJyYlZNR05XQ3hHeDQ0ZGNlblNKZkQ1Zk1oa01yVlJvNDZPanBnL2Z6NjZkKytPaXhjdll2ZnUzY3g3aDJybGFJVkNvVGJWVFZXM3J1STJGb3ZGQkZLcUdrcXEyUWhmZi8wMWlvcUtORjdMOWV2WDhlalJJNjIxbGZUMThjY2Y0K2pSbzlpMWF4ZTJiOS9POVAza3laTklTRWpBdDk5K1crVklWMEpJelZEd1JCbzlzVmlNdExRMGplME9EZzU0OWVvVnNyT3pZV3RyYTRDZUVVSU00ZHk1Y3hBSUJQRHo4Mk8yc1ZnczlPalJnd21lS3Q0eFBYRGdnTmI2TjQ4ZVBRS0x4WUt2cjYvT2Eya3JLbnJ4NGtWRVJrYkN4Y1dsUnFOM3hvd1pvM2ZiaXRhdVhRdUZRb0V4WThZZ0l5TURpeFl0MGxxakF5Z1AzSGJzMkZHckpjTHJtNCtQRHlJaUloQVZGY1VFVHpLWkRBRGVlTlNkcnJ2dlFxRVFRVUZCMkxGakI4NmNPWU9WSzFkcS9iUEp6czdHMkxGakRWcnZpeEJTTy9yV2ZLdExNVEV4K09HSEg4RGo4ZkRUVHovVitRcDUydlRyMXcvOSt2VkRXRmdZbGl4WmdtWExsdUhERHo5azlxOWZ2MTVqVlBHd1ljTncrL1p0SEQ1OEdPN3U3bXJUdHMzTXpIUVdCbytKaVlHenN6T3VYTG1pZFJXNmlxdkFzZGxzWExwMENVQjVZQVVBTmpZMkFIU3ZKQm9mSDQ5SGp4N1ZxbjVTU1VrSnM4REx0R25Uc0dMRkN1emZ2eC9qeG8xRFJFUUVBZ01ENGVQalUrUFJUbSs2a2lraGpSMEZUNlRSRTR2RmlJMk5oVXdtVS90eVltOXZEeGFMaGJTME5BcWVDREVTQlFVRk9IdjJMRHAzN3F3Mi9MOHFRNFlNd2IvKzlTKzFiWm1abVhqMjdCbk16TXdRSEJ5czhRRlZuMUZNU1VsSkdEcDBxUDZkcjJUNzl1MXEwd09xd21hejhja25ueUFvS0FoSGpoekJqei8rcU5HbXBLUUVSNDhlQlFDTUhqMjYxdjJxTDZvdklybTV1Y3cyMWQxelBwLy9SdWV1Ym5wY2p4NDljT2JNR1p3NWMwWnI4SFQ0OEdHVWxKUmcrUERoYjlRUFFrampGeDhmandVTEZvREg0MkhUcGsxVmprS3RhNldscGRpMmJSdEVJcEZhemFTd3NEQmN1M1pOWXpxYm41OGZIQndja0phV1ZxUDNxeWRQbnFCVnExYk04MU9uVG1sdGQrSENCZnpuUC85aG5zZkd4Z0lvSDZsNzd0dzVuZWRYcmJDbnEwMlhMbDIwamxaNi92dzVObXpZZ0lDQUFGaFlXS0JyMTY0WVBudzREaDQ4aU9MaVl2ejU1NSt3dDdmSDh1WEw5WjROSVpGSThNc3Z2NkI3OSs3bzNMbXpYc2NRWW93b2VDS05ubXE0cmxRcVZaczdiMkppQWhzYkc2U21wdXBjcVlJUTByamN1WE1IaFlXRkdEQmdnRjd0MTYxYmh6dDM3aUFvS0VqdDk4Zmx5NWVoVkNwUlVGQ0FDeGN1YUFSUHV1NWVwNmFtb3F5c0RIWjJkdFdHSmFyQzU3cmFtcHFhNnZVYVZJWVBINDdUcDAvanhvMGJlUFRva2NaSXJRTUhEaUFqSXdPOWUvZldPU0xLa0ZTQlU4VWJDS3JScktwUXFyNzQrUGpBM2QwZDkrL2Z4OU9uVCtIajQ4UHNpNHlNeEprelorRGc0S0JXLzRRUVFyU1pQMzgrY25OejRlL3Zyek9RbVRGakJnRGd3WU1IMkw5L1A1WXNXVkluaGE1NVBCNVdyVnFGdzRjUFkvNzgrV2pSb2dYNjlPbUQvZnYzbzMvLy91alFvWU5hKzBPSERqRy9aMy8vL1hkMDY5YXQyanBVS1NrcGlJNk94b2dSSTVpYkE3cFc1SzM4UGhZZUhnNGVqd2NYRnhlMUtlcTZhQnROQlFEdTd1NU04S1FxZEg3MjdGbThmUGxTWTJUcXQ5OStpM3YzN3VHUFAvNkFRQ0RBaGcwYjlDNWtyZ3JPaW91TGRZNytJb1NVbytDSk5IcXE0Q2svUDEvanpkTEJ3UUVSRVJFb0xTMEZqOGN6UlBjSUlRMm9YYnQyOFBEdzBIdVZOMjl2YndRSEIrUEFnUVBNRjRHU2toS2NQbjBhWEM2WG1lcFZtYllSTkM5ZXZNRE1tVFBoN095TXZYdjNWaGtjblR0M0RnRUJBWEJ4Y2NFdnYveFM0NUJKRzZGUWlQSGp4eU1nSUFBYk4yN0VuajE3bU5XR0hqeDRnT1BIajJzc1dXMW8xNjVkZzVtWkdTUVNDWE5uMjhQRGc5a2ZGUlVGQVBWZUc0WEZZdUdycjc3Q3YvLzlid1FFQkdEWHJsM2c4WGlRU0NSWXMyWU5sRW9sSmsyYXBQY29Pa0tJOFZMVk53b0xDOVBaUnZWK1UxWldobGV2WHVHNzc3N0RtalZyNnVTbVFQUG16Zkhqano4aU1qSVNpeGN2Wm1vemVYbDVxZFU5UFhMa0NQYnQyNGNXTFZxZ1g3OSsyTGx6SitiTm00ZC8vL3ZmVlU0clBubnlKTGhjTHZ6OS9SRWNIS3gzdjBwTFMzSG56aDM0K1BqQXpNeXN5aUxodTNidHdxbFRwL1FxSkg3NzltMEE1VFcxQmcwYWhFbVRKa0VnRUtDc3JBelhybDNENGNPSGtaeWNEQjhmSHp4Nzlneno1czNEVjE5OWhZOCsra2pyZTYvcTcrL3MyYk9ReVdUdzgvTmozdHNKSWJwUjhFUWFQZFdxVWFxQ2hSVTVPanJpMmJOblNFOVBiOUNoem9RUXc3Q3hzY0dpUll2MHJzUGc2T2dJTnB1TkN4Y3U0SXN2dm9DRGd3T09IajJLbkp3Y0RCOCtYT051ZFZ4Y0hGeGRYVFdHNkplV2x1S25uMzZDUXFIQWwxOStXV1dRRkJvYWlwOS8vaGxzTmhzTEZpeDRvOUFwTmpZV0JRVUZ6S2pPUVlNRzRjNmRPN2g5K3paV3IxNk50V3ZYSWpFeEVhdFhyNFpDb2NEMzMzOWY2MktxZVhsNU9ISGlCTDcrK3V0YTk3ZXlHemR1NE9iTm04eHpMeTh2dEcvZm5ubCs3OTQ5QUVEcjFxM2Y2RHE1dWJsSVQwOW5IcW1wcVVoTFMwTnFhaW9tVEppQUR6NzRBTDE2OWNLWk0yZnc3Tmt6N05peEExT25Uc1d5WmN1UWxwYUdEei84VUsxV0NpR0U2RktURlVNLytPQURiTjY4R1lzWEw4YjMzMytQVmF0V29WMjdkbTkwL2JTME5GeTVjZ1ZuejU1RlVWRVJQdi84YzBSSFIyUHo1czI0ZGVzV2xpMWJodTNidCtQU3BVdHdkM2ZIMnJWcllXVmxoWUtDQXV6YnR3L1RwazNEbkRsejBLVkxGK1RuNTBNb0ZDSTJOaFpjTGhldlg3L0d1WFBuMEtOSEQ3VlZXNnVhZnE1NnY3eDgrVEtrVWlsNjlPanhScSt2TW9GQUFBc0xDOHlmUHgvKy92NklpSWhBU0VnSWdvT0RJWkZJMEtKRkMyemN1Qkh2di84K0lpTWpzWDM3ZG16YnRnMi8vdm9yT25YcWhJNGRPOExiMnh1T2pvNEFnRC8vL0pNNTc3UnAwL0RSUngvVmFYOEphYXdvZUNLTkhvZkRnVkFvMUJvOFdWbFpnY2ZqSVMwdGpZSW5Rb3lFdTd1N3puMEtoUUpBZVdEejY2Ky9JaXdzREN3V0N6S1pESWNPSGNLbm4zNkszMy8vSFNLUkNHUEdqTkVJbm9LQ2d2RHMyVE1jUFhwVUxkd0tEdzluZmdkdDJiSUZodzhmaHIrL1AvejkvZUhyNnd0VFUxTW9GQW9jT1hJRVFVRkJVQ3FWbUQ1OU9yeTh2R3IxR3BWS0pZNGZQNDU5Ky9iaDIyKy9WWnRPdkdEQkFzeVpNd2VQSGozQ0R6LzhnSmlZR0VpbFVvd2FOUXJkdW5XcjFmVXVYNzZNdlh2M29yUzB0RTZEcDQ4Ly9oaW1wcWJnOFhqdzlQUkUvLzc5bVQ5WGlVU0NPM2Z1QUFEOC9mMXJkTjU5Ky9iaDhlUEh5TXJLQWdDTUdERkNhenN1bDh0Y2o4VmlZZjc4K1pnK2ZUcisvUE5QaElXRklUczdHNjZ1cnBnelowNXRYeUloaEZTcFpjdVcyTFJwRStiUG40OURodzdWT25nS0RRM0Z3WU1IRVJNVEF5NlhpNTQ5ZTJMMDZOSE01OThiTjI2QXpXWmo2dFNwaUkrUFI3dDI3YkI4K1hKbTVzRG8wYU1oRm91eGE5Y3ViTnEwQ1lHQmdSZ3paZ3d6bGExOSsvWUlEZzZHVXFuVXFCT29xNDdlMWF0WGNlVElFY2hrTXV6ZnZ4OFdGaGJvMmJObnJWNmZMdjM2OVVQbnpwM0I1L1B4elRmZklDRWhBU3dXQ3gwN2RzVFFvVVBWM2o5YXQyNk5uVHQzNHRhdFd6aHg0Z1N1WHIyS3ExZXZZdGFzV1V3aDgvNzkreU1wS1FrVEowNWtWdU1qaEZTUGdpZGlGTVJpTWFSU3FjWjJGb3NGZTN0N3BLYW1HcUJYaEpDM2plcjN4S1JKazZCVUt0R2lSUXZNbkRrVGUvYnNnVmdzeHBvMWExQmFXb3BGaXhZeDA5UXFLaWtwUVhGeHNjYUlxdmJ0MitQSWtTTjQvUGd4UWtKQ0VCb2F5aFNyNXZGNGFOZXVIWEp6Y3hFZEhRMFdpNFdaTTJkaThPREJ0ZXE3VENiRDdObXpFUkVSQVRhYnJWR3JRaXdXWTlXcVZmajIyMi94OU9sVEFPVXJCK2tiR0NtVlN1Ym5tSmdZL1BMTEw4eDVldlhxVmFjciszVHExQW1kT25YU3V1L28wYU9ReVdScWQ2TDFWVlJVaFBEd2NPYjUrKysvRDBkSFJ6ZzVPY0hSMFJIMjl2YXd0N2VIcmEydDJtdHhjWEhCb0VHRGNPellNV2E2eGV6WnMzWFdMeUdFa0xyUXJGa3piTjY4K1kzcVBIbDVlY0hXMWhhZmZQSUpldlhxcGZIZTBMMTdkd0JBY25JeTh2UHpNWGJzV0kwVlE0Y01HWUlXTFZvZ096c2IxdGJXbURCaEFuSnpjMkZoWVlIKy9mdUR4K1BCMmRtWnFYUFl0R2xUREJnd1FHZmRRMTlmWCtUbTVvTEw1V0xvMEtFUWk4VVFDQVRWdmhZT2g2TjM4Vy9nZjJVM3BrK2ZqcGlZR1BUbzBVUG5ueVdMeFVLM2J0M1FyVnMzSkNjbjQvbno1MnFyNjFsYlcyUCsvUG5WWGpNb0tPaU5WMXdscERHaC94dUlVVkN0YktlTm82TWpFaE1Ua1orZno3d3hFVUtNVDM1K1BpUVNDWUR5VmRMR2pSdUg0Y09IZzgxbVk5MjZkVmk1Y2lYaTR1THc2YWVmNmh3WmxKbVpxYlB3S292RmdxK3ZMM3g5ZmZIZGQ5L2h4bzBiMkxsekp5UVNDZTdldmN1MEV3Z0VTRWhJd0tOSGorRGo0NlAzVXQ4UkVSRUF5c092aUlnSU5HM2FGUFBuejFlYmhsWldWb1lyVjY3Z3dJRURLQzB0WmJaZnYzNGR0cmEyK1BMTEw2c05VVkpTVXBpZlo4NmNDWVZDQVdkblo4eWNPUk4rZm41NjlmVk5SVWRINC9UcDB3RFVsK1hXMThpUkl6RjA2RkRNbno4ZjZlbnAyTGh4WTdYSDVPWGw0ZGRmZjJXbVdiRFpiQ2dVQ2l4YnRnemp4NC9Id0lFRHFWWWdJYVRldUxtNXZkSHh0cmEyR3F2V2FhTnJCS2hLeGRWVUt5K3NBVUJ0OFk2MmJkdFdXVk5SOVo0SUFLTkdqYXEyYnlxVEowK3VWVDFDUHorL0dyMVBPVHM3MTdwMkU5VjhJa1FkQlUvRUtJaEVJcFNWbGFHNHVGaGpkU2dIQndjQTVYUGVLWGdpeEhpSnhXSjA3ZG9WV1ZsWldMcDBLZk83b2JpNEdLdFdyY0tEQncvUXQyOWZUSmt5aFRuRzFOUVVXVmxaa0Vna3lNM05SVXhNRExwMjdhcnpHaGtaR1hqNDhDSHUzYnVIZi83NUI4WEZ4UURLdnhCMDZOQUI5Ky9mUjBaR0JrNmRPb1ZUcDA1QkxCYkQzOThmM2JwMVE0Y09IYXBjQ2UvOCtmTUF5Z091WWNPR1llTEVpVXdRa3BhV2hzdVhMK1BzMmJQSXlja0JBSFRvMEFHVEowOUdTRWdJamh3NWdtUEhqdUhNbVRQbzM3OC8rdlhyaCtiTm0ydTl6c21USjVtZlZVVzN4NHdaMDJDaFMzWjJObGF1WE1rVWRhM044dFdxT2xiNmpNd3FLaXJDMmJObmNlVElFVWlsVXJCWUxIejU1WmNZTkdnUU5tM2FoRWVQSG1IWHJsMDRldlFvK3Zmdmp6NTkrcUJwMDZZMTdoTWhoQml6dWhvcFN3aDVPMUh3Ukl4Q3haWHRLbjl4TXpNemcxZ3NSbXBxcXM0dldvUVE0ekJ6NWt3SWhVS21vSGR5Y2pKV3JseUoxNjlmbzMvLy9wZ3paNDdhaDJOUFQwOUVSRVNvM2ZYdDFLa1RTa3BLOFBEaFE2WkFkV3hzTEY2L2ZzMU16d0xLUDJTM2Jkc1dBd1lNUU0rZVBjSGxjcUZVS2hFZUhvNlFrQkRjdUhFRE9UazVUSTBKSG84SFB6OC9USm8wU1d0TnVva1RKeUk2T2hxelo4K0d2Nzgva3BLU0VCWVdodERRVUR4NzlveVpJdWZqNDRQUm8wY3pkMzNIangrUHJsMjdZdmZ1M1hqNjlDa1Rlams3TzZOOSsvYm8zTG16V2cwTVZVMExUMDlQZlAvOTl3MzZlek03T3h2ejVzMURXbG9hTEMwdE1XL2V2SHE3Vm5KeU1pNWN1SUNMRnk4aUx5OFBRUGxybmpWckZuUEhmK1BHalFnT0RrWmdZQ0RTMHRKdytQQmhIRDU4R0E0T0R0aStmWHV0QzdVVFFnZ2hoRFFtRkR3Um8xQXhlTkkycDl2SnlRa3ZYNzZFVENhaitkaUVHTEhLUVVGT1RnN0t5c293ZmZwMERCczJUS1A5ckZtenNIZnZYcVNucDRQTlpxTjkrL2JvMTY4ZkFPQzMzMzVEWEZ5Y1duczdPenQ0ZTN2RDE5Y1hYYnQyMVppV3gyS3g0T1BqQXg4ZkgweWZQaDJQSGoxQ2NIQXdidDY4Q2FsVWl0allXR1lrVm1XdXJxN1l2MzgvdUZ3dUhqMTZwRmFEZ3Nmam9YdjM3aGc4ZUxCYW9YR1ZGaTFhWU11V0xRZ0xDOFB4NDhmeDZORWpKQ2NuSXlVbFJXT0ZvVkdqUnNIUzBoSWZmL3h4Zy8rK3RMS3l3c0NCQTNIMDZGR3NXYk9tMm5vbkRnNE90UjdKR2hjWGgyUEhqZ0VvLzdNZFBYbzBldlhxcFZaWGhNVmlvWGZ2M3VqWnN5ZHUzTGlCQ3hjdTROR2pSK2pidHkrRlRvUVFRZ2doL3g5TFdiRktLQ0dObEZLcHhLbFRwK0RwNmFsMU5aQ01qQXlFaElTZ1M1Y3VjSEZ4TVVBUENTSDYrT3V2dnhwODZlTGFGc3NPQ3d2RDlldlgwYlJwVXpSdDJoUWVIaDQ2UTZQcWxKV1ZJU3dzRE9ibTV2RHg4ZEhybUlDQUFDWTQ2dDY5ZTQwS1lDY2tKT0RhdFdzUWk4WDQ5Tk5QYTlYbitsUmFXbG9uVS91T0hUdUcvUHg4VEp3NFVlditQLzc0QSs3dTd2RHo4OVA3MzRCRUlvR1ptUmxNVEV6ZXFHOE4rVy85NzcvL3hqLy8vRk92SThnSWVSdHQzcndaVFpvMHFWV3RPRUlJSWVwWVZYeFlvcUVkeENpd1dDeUlSQ0t0SzlzQjVmVlZlRHdla3BPVEtYZ2loS2lwYmQwSmYzOS90U2xxYjhMRXhLVEsybEhhekpvMXE5YlhjM1YxeGJoeDQycDlmSDJycTNwUzFYM1oxRlk0dHpxVlY0b2loQkJDQ0RGMitxOURTY2c3VGl3V0l6OC9YK3MrRm9zRloyZG5KQ2NuZ3dZQkVrSUlJWVFRUWdnaGRZT0NKMkkweEdJeHBGSXBGQXFGMXYzT3pzNG9MUzFGVmxaV0EvZU1FRUlJTVR4RDNYZ0pEQXpFaVJNbnFtd1RHaHFLMmJOblkrM2F0Vy9VejB1WEx1SDQ4ZU8xUHI2aWpJd01CQVlHb3Fpb3FFN09WOWRldjM2TkkwZU8xT3BZdVZ4ZTdaOXphV21wenM5VWhCQkNTRVUwMVk0WURiRllES1ZTaVlLQ0FxM0ZaaDBjSE1CbXM1R1VsQVJiVzFzRDlKQVFRZ2hwZUtxcGl4S0pSS1BnZlVPNGQrOGUzbi8vZlozN2s1T1RzWG56WmhRV0ZvTE5adU96eno1RDY5YXRhM1d0WThlT0lTRWhBU05HaktodGR4azNiOTdFa1NOSGtKZVhoOW16WjFmYnZxaW9DRU9HREhuajZ3TEFsU3RYcW0xejRzUUpYTDU4R2E2dXJ1aldyWnZlNXk0dExjWEFnUVB4M1hmZlllalFvVHJiRFJ3NEVPUEhqOGZvMGFPWmJiV3RpVWNJSWFSeG8rQ0pHQTFWMkpTWGw2YzFlT0p5dVhCd2NFQnljckxXQXVTRUVFSklZK1RzN0F3QVNFOVBiL0RnU2FGUUlENCtIcDk5OXBuVy9mbjUrVmkrZkRua2NqbVdMVnVHdlh2M1lzMmFOZmo1NTU5MTl2V25uMzVDZW5vNk5tN2NXS08rMVBTNG9VT0g0dEtsU3poLy9qeDY5KzZOdG0zYlZ0bWV6K2NqTURCUVkvdWxTNWR3N05neHRYM2F0dFhVTjk5OGc5RFFVT3pac3djZE8zYUVxYWxwcmM2VG5aMk5wVXVYWXVMRWlXamZ2bjJWYmRldFd3YytuNDg1Yythb3JRQkpDQ0hFdUZId1JJeUd1Yms1Z1BMZ1NWY0JjV2RuWjl5L2Z4OTVlWGxNZTBJSUlhUXhjM0p5Z3AyZEhlN2N1UU5QVDA5d09Kd0d1VzVpWWlMUzB0SlFVbElDUHArUGhJUUVacCtycXlzS0N3dXhlUEZpSkNjblk4V0tGZWpZc1NPYU5XdUdlZlBtWWRHaVJkaTRjYVBXRzBrUkVSRnE1OUpYNWVQa2Nybk9SVWxVL3ZXdmYrSGF0V3NRQ29XUVNDUmEyNGhFSW5BNEhMQllMTGk2dW1yc1Z4V2tyN2hQMjdiS1hyMTZWVzMvT25Ub0FEYWJqZkR3Y0hDNXVqLzJWM1hEemNyS0NnS0JBT3ZYcjhlZVBYdGdiVzJ0dGQyOWUvY1FFaEtDd1lNSFUraEVDQ0ZFRFFWUHhHaHd1VndJaFVMazVlWHBiS01LbnBLVGt5bDRJb1FRWWhSWUxCWUdEQmlBZ3djUElqZzRHTDE2OVdxUThHbnExS2tvTGk0R0FLeFlzVUp0MytIRGg3Rmt5UkprWkdSZ3c0WU5hTk9tRFlEeUlHYkhqaDFZdW5RcFpzNmNpZVhMbDhQZDNiMWUraGNWRllXWk0yZnExVFkwTkZUbnZwMDdkNkpseTVZQWdJS0NBbVJuWjZ2dFZ3VldGVU12YmR0VVZHSFVybDI3OE9USmt6ZnVIMUErZFU5MXJiS3lNZ0JBVGs0T3MyMzI3Tm1ZUG4wNk5tL2VqTFZyMTJvY1gxaFlpSzFidDhMRnhRV1RKazNTcTArRUVFS01Cd1ZQeEtpWW01dnJ2Q01KbEErRHQ3YTJSbkp5Y3EzclJ4QkNDQ0h2R2pzN08vVHAwd2RYcjE1RmNuSXlQdmpnQXpnNE9NREN3cUxlYXZhY1BYc1c2OWF0QXdBc1hyeVkyUjRXRm9icDA2ZWpwS1FFSmlZbW1ETm5qdGJqMjdWcmgyblRwbUhFaUJINDhzc3ZJUkFJNnJSL1RrNU9tRFZyVnBWdEFnSUNZR1ZsaGJGangrcHM0K0Rnd1B4ODY5WXRiTnEwU1d1N0NSTW02TFZOVmQ5cDNyeDVUR0Z6aFVLQldiTm1vWFBuemhnMWFwVE92b1NGaFNFd01CRFRwazNUbUJwWStWcUhEaDNDb1VPSEFKUVhnQjgzYmh6MjdObURDeGN1NEpOUFBsRnJHeEFRZ096c2JBUUVCSURQNSt1OFBpR0VFT05Fd1JNeEtoWVdGa2hMUzZ1eStLV3pzelBDdzhOUlhGeE1INTRJSVlRWWpiWnQyOExKeVFrWEwxN0V1WFBuYW5SczU4NmQwYVZMbHhvZG8xUXE4ZkRoUTB5ZVBCbXZYcjFDMDZaTkVSOGZqMy8vKzk5bzE2NGRwaytmRHFWU2laS1NFcTNITjJuU0JDZFBuc1NyVjY5Z1ltSlNvMnZydzlMU0VvTUdEYXF5VFVCQUFFUWlVYlh0S2p0MTZoUkVJaEVBNFBqeDQ5aTdkNjlhd1hCdDIwNmVQSW5kdTNjenoxVzF1VlJhdDI2TmxKUVVlSHA2NnJ6dVgzLzlCUURvMGFPSHhwUTUxYlVpSXlNeFk4WU1qZUxpTGk0dWtNdmw2Tm16cDhaNUJ3MGFCRDgvUDJaa1YyMXQzcno1alk2dmpZeU1qQWEvSmlHRUdCc0tub2hSTVRjM2gwS2hnRlFxMVZvWEF2aGY4SlNTa29KbXpabzFjQThKSVlRUXc3R3pzOE8vL3ZVdnBLU2tJRGs1R2FXbHBYb2RWMVV0SWwyaW82TWhrVWpRc1dOSGZQNzU1d2dNRElTbnB5ZU9IVHZHckxSWG5ZS0NBa3llUExuSytrWEd3dC9mSDRHQmdjakl5SUNkblozV05tRmhZZkQwOU5SWnB3a0FidCsrcmJIdHhvMGJrTWxrVEMwd2xaaVlHQVFIQndNQVRFeE1FQndjREE4UEQ3aTV1ZFhxTmRTMkFIcHRsWlNVMVBsSU9VSUlJWnJvWFpvWUZWV3hUb2xFb2pONHNyQ3dnRkFvUkZKU0VnVlBoQkJDakE2THhZS3pzN1BHaUpxNmR1dldMYnozM252TWU3TUtqOGREMzc1OU5kb0hCZ2JDMWRVVkdSa1pzTGEyQm9mRHdZRURCOUNyVnkrTmN3RFFlZzU5OWpXRXBLUWttSm1aQWRDL3hsTnVibTZWNSt6ZHV6Y0NBd054NmRJbGpCa3pSbVAveTVjdkVSOGZqMisrK2FiSzg2anFRWVdGaGNIZTNoNmRPM2ZHeG8wYm1YcGNGVjIvZmgzWHIxOVgyelorL1BoYUIwL2ZmZmRkclk2cnJjMmJOek1qendnaGhOUWZDcDZJVVJHTHhXQ3hXRlVXR0FmS2g1Ty9mUGtTWldWbDlUSjhueEJDQ0RGMm9hR2g2Tisvdjg3OWE5ZXVoWk9URXdEMStrT2pSbzFpUWlodFB2MzBVNTMxSEUrZE9nV0pSSUx4NDhmcjNGZFpjbkp5VlM4RE1wbE1aeHNXaThXOGhvcTBCU3o2MW5qU3hkN2VIbDI2ZE1IcDA2ZngyV2VmYVl6a09YSGlCTGhjTHZyMTY2ZnpITStlUFVOYVdocUE4aWwzang4L3hzYU5HM0g4K0hFb2xjcHErekJreUJDOSswc0lJY1I0VVBCRWpBcUh3NmwyWlR1Z2ZNcEFWRlFVa3BLUzZtMjFIRHpuS0xRQUFDQUFTVVJCVkVJSUljU1lKU1ltNHJmZmZzTnZ2LzBHNEg4aGk2cmd1Sk9UVTYybThGVlZiK25xMWF1UVNDUVlQWHEweGo1dDJ3QmczTGh4VlY0dkpTVkZaeHNURXhOY3VIQ0JlZDYwYVZNTUdUSUVreVpOWXFhVjNiNTlHMEZCUVpnOWV6WmF0V3FsOHpxUEh6K3Vkblc2c1dQSFlzcVVLVGgwNkJBbVRwekliSStPanNiVnExY3hhTkNnS3FmWkhUOStIRjI2ZEVGSVNBaEdqaHlKcTFldjRzY2ZmOFNPSFR1MEJtaUVFRUtJUGloNElrYkh3c0tpeXBYdEFNRGEyaHBDb1JBSkNRa1VQQkZDQ0NIMUlEQXdrUGw1d29RSnpBZ25WWDJpbW96MnFXamV2SG13dDdmSHdvVUxhM1dzbjUrZjJzcHdGVmZjcTJ6ZHVuV3dzYkhCNU1tVHRlN25jRGpNendrSkNSQUtoUmcyYkJqUzA5TUJBSEs1SER0MjdJQk1Kb09KaVluYTFMcktySzJ0TVd6WU1DUWtKRENmVXlyejhQREE0TUdEY2Z6NGNmajcrNk50MjdZb0tTbkJ4bzBiSVJhTHExeDlMelkyRm4vLy9UYzJidHlJa0pBUW1KcWFZdG15WlpnNmRTcnUzTG1EWWNPRzZUeVdFRUlJcVFvRlQ4VG9tSnViSXlVbEJRcUZBbXcyVzJjN1YxZFh2SGp4QWlVbEpRMWU3SklRb2gySHc0RmNMbGY3TWtkSVkyTXMvOFlyajJhcVBNSnA2OWF0VEoycGtTTkg2bjNlSjArZTFHcWtsT3JZeW9XNWUvWHFwYlA5dW5YcllHWm1WbVVibGVxQ05GM2hsVFp6NTg3RmdBRUR0TzZiT0hFaUhqNThpRldyVm1IanhvM1l2MzgvWW1OanNXelpNbGhhV3VvODU4NmRPOUdxVlN0NGVYa3gyNW8wYVlLZmYvNFpSVVZGVEJGeFFnZ2hwS1lvZUNKR3g4TENnbG5aenR6Y1hHYzdWMWRYUkVaR0lpa3BDUjRlSGczWVEwS0lMZ0tCQUZLcFZHc2hZVUlhQzZsVXloU2VOaWJ4OGZGSVRFeGszcHN0TEN5cW5CYjJycmx5NVlyYTgzUG56aUVnSUFCTGxpeEJ6NTQ5TmRwSFJrWml6cHc1OFBiMnhxWk5tOEJpc2ZTNmprQWd3SW9WS3pCcjFpeE1uVG9WQ29VQ28wZVB4b2NmZnFqekdJbEVncWRQbjJMdDJyVWErOXpjM0xCcDB5WmN2bnhacitzVFFnZ2hsVkh3Ukl5TzZnTnRYbDVlbGNHVHBhVWx4R0l4RWhJU0tIZ2k1QzFoWjJlSDVPUmtDcDVJbzVhY25BeGJXMXREZDZQZXJWKy9IcW1wcVVoSlNRRUFyRml4QWl3V0M3Tm16UUpRKzZsMjc0TFhyMTlqejU0OXNMYTJob21KQ1lxTGk4SG44NW45MGRIUldMcDBLY3pOemJGdzRVSzlReWNWcVZRS2tVZ0VxVlFLRm9zRmtVaFU1VWc2Q3dzTHpKOC9IMzUrZmlndExkWFlQMy8rZk15ZlA3L2E2eHA2dFVCQ0NDRnZKd3FlaU5GUnJXd25rVWpRcEVtVEt0dTZ1cnJpK2ZQbkdoOElDU0dHNGVibWh0dTNieU1uSndkV1ZsYUc3ZzRoZFM0bkp3ZFpXVm5vM0xtem9idFM3NEtEZytIbTVvYU9IVHZpMHFWTFdMdDJMWHg5ZmNIajhiQnQyN1phVDdWN0YxaFpXV0hTcEVtNGNlTUdWcTFhQlE2SGc3WnQyK0tERHo2QVRDWkRVRkFRaEVJaE5tellvREgxcnlvSkNRazRlUEFnZ29PRHdlZnpNWEhpUkZ5NmRBbS8vUElMenAwN2g2KysrZ3E5ZS9mV3VtSnZuejU5NnZJbEVrSUlJUXdLbm9qUlliUFpFSXZGMWE1c0I1UUhUeEVSRVVoTVRFVHo1czBib0hlRWtLcHd1Vng0ZVhraFBEd2NiZHEwb2ZDSk5DbzVPVGtJRHcrSHQ3ZTNVZFI0K3U5Ly84dmMxTGwwNlJLY25KekE0L0dZL2JxbTJsV2VzbFpmaW9xSzlHcW5WQ3FyYlNzUUNOU2VXMWxaWWNpUUlSZ3laQWh5YzNOeDVjb1ZCQVVGNGY3OSsweWJidDI2SVQ4L3Y5cWFsQXFGQXZmdTNjUFpzMmR4NTg0ZEFNQ0hIMzZJeVpNbnc4N09Ec09IRDhmUm8wZngrKysvNDZlZmZzTGV2WHZSdTNkdjlPelpFMTVlWGpVZVRVVUlJWVRVRkFWUHhDaVptNXZyRlR5Wm01dkR3c0lDQ1FrSkZEd1I4cGF3dHJhR3Q3YzNuajE3QmhzYkd6ZzdPME1rRWhuRkYzWFMrTWpsY2tpbFVpUW5KeU1yS3d2ZTN0Nk5xcTVSVmZRWlNTeVR5ZFRlcitWeU9hS2pvOEhuOHhFWEZ3ZEFNOVFCeWtmK1ZEWHRTNThwWVVPR0RLbTJEUUFrSmlaVzIvYlVxVk1RaVVUTTg3S3lNc1RGeGVINTgrZDQrUEFoN3Q2OWk1S1NFclJ1M1JyZHUzZkhnd2NQRUJJU2dxdFhyMElrRXFGang0N28xS2tUL1AzOW1mTThmZm9Vb2FHaENBME5SWFoyTmxnc0ZycDE2NGF2dnZvS0xWcTBZSzdGNC9Fd2R1eFlEQjQ4R0gvODhRZk9uVHVIMDZkUDQvVHAwN0MydGthWExsM3czWGZmNmZ3ZGV2VG9VZnpuUC8vUjY4K0NFRUlJMFlhQ0oyS1VMQ3dza0pTVVZPMWRSS0I4MUZONGVEZ0tDd3VOc3RncklXOGphMnRyZE9yVUNYRnhjWWlNakVSaFlTSGtjcm1odTBWSWpYRTRISmlabWNIVzFoYWRPblVDbDBzZnpWUVVDZ1dHRHgrTzR1SmlBT1ZUNVRrY0RwWXNXY0tFVWUzYnQ5ZW9oelYrL1BoYVgzUGZ2bjNNejZwYVUzV0J6K2VqdExRVVAvNzRJNUtUazVHZW5zNzh6bXJTcEFrR0RScUUzcjE3TTRIUkYxOThnYnk4UE55NmRRdlhyMTlIYUdnb2dvT0RZV3BxaXYzNzk4UGEyaG9SRVJFNGZmbzBMQ3dzOE1VWFgyRHc0TUZ3ZEhUVTJRY3JLeXQ4KysyM0dETm1ESzVkdTRZLy8vd1RrWkdSZU8rOTk2b003djM5L2ZXdXE3ZGx5NVlhL0trUVFnZ3hGdlRwaGhnbGMzTnpLSlZLNU9mblYvdGhTaFU4SlNZbW9tWExsZzNVUTBKSWRiaGNManc5UGVIcDZXbm9yaEJDNnBpSmlRazRIQTU2OWVxRitQaDRkT2pRQVphV2xnQ0FQWHYyb0xDd0VCd09CeTR1TGhySGpoNDl1dGJYclhqc29FR0RhbjBlWFpvMGFRSStuNCtlUFh1aWVmUG04UEx5MGxsSTN0emNIQU1HRE1DQUFRTWdrVWh3NDhZTmxKV1ZNU1BpdnZqaUM3UnMyUkkrUGo0MUNpd0ZBZ0VHRGh5SWdRTUhJaU1qUTZPR0ZJdkZnbEFvWk9wQWVYaDQ2TDNJQ2dWUGhCQkN0R0VwbFVxbG9UdEJTRU9UU3FXNGVQRWkvUDM5NGVibVZtMzd2Lzc2Q3l3V2l3cHZFa0lJSVlRMEVwczNiMGFUSmswYVhmRjZRZ2d4QkZZVlJRT3JubU5FU0NNbEZBckI1WEtSbTV1clYzdFhWMWRrWjJlam9LQ2dubnRHQ0NHRUVFSUlJWVEwSGhROEVhUEVZckZnYVdsWm8rQUpBT0xqNCt1elc0UVFRZ2doaEJCQ1NLTkN3Uk14V2pVSm5zek16R0JuWjRmWTJOajY3UlFoaEJCQ0NDR0VFTktJVVBCRWpKYWxwU1ZLUzB0UldGaW9WL3RtelpwQktwVWlJeU9qbm50R0NDR0VFRUlJSVlRMERoUThFYU9sV2gxSDMxRlBMaTR1NEhLNU5PcUpFRUlJSVlRUVFnalJFd1ZQeEdpWm01dUR4V0xwSFR4eHVWdzBiZG9VQ1FrSmtNbGs5ZHc3UWdnaGhCQkNDQ0hrM1VmQkV6RmFIQTRINXVibWVnZFBBT0R1N2c2NVhJNkVoSVI2N0JraGhCQkNDQ0ZFWDRjUEg4YTRjZU8wN2xNcWxiaDQ4U0pLUzB2ci9Mb1pHUm1JaW9yU3VpOHFLdXFOUzNUODl0dHZDQWtKZWFOekVQSTI0QnE2QTRRWWtxV2xKVEl6TS9WdWIyTmpBN0ZZakppWUdEUnIxcXdlZTBZSUlZUVFRdXBiY1hHeG9idndWcmgzN3g0a0VvbmU3ZnYwNmFQMi9PVEprN1c2N3FlZmZscXI0eXJMemMxRmNuS3kxbjBSRVJIWXVuVXJybDI3aHRXclY0UFA1eU10TFEyUEh6L1crL3o5K3ZYVHV2MzQ4ZU00ZGVvVXJseTVvckZ2K3ZUcEdENThPS1pObTZiM2RTbzdkdXdZK3ZUcGc1NDllOWI2SElTOERTaDRJa2JOMHRJU2NYRnhLQzB0QlkvSDArdVlaczJhNGNtVEo4alB6NGRZTEs3bkhoSkNDQ0dFa1BwU1VGRFE0TmU4ZGVzVy92enpUMFJHUmlJL1B4OW1abVo0NzczM01HTEVDUGo2K3RiYmRjUEN3cENlbnE1MTM2VkxseEFaR2FuM3VTb0hUN3QzNzY1Vm55b0hUMzM3OXRYYTd2UFBQOGZreVpOcmRRMXZiMjhzV3JRSTY5ZXZ4OUtsUzdGMjdWcThlUEVDbXpadDB2c2N1b0tuaHBDV2xvYmc0T0FxMjNoNWVjSEJ3YUdCZWtSSXpWSHdSSXlhcXNDNFJDS0JuWjJkWHNlNHVibmg2ZE9uaUkyTmhZK1BUMzEyanhCQ0NDR0UxS09pb2lKRVJVV2haY3VXRFhiTm4zLytHVHdlRDM1K2Z1RHorWWlQajBkWVdCanUzcjJMcFV1WDRzTVBQNnlYNjU0NWN3WjM3dHpSdWsvYmlKMlJJMGZDeHNZR3UzYnQwdXY4cnE2dUNBd00xS3Z0aEFrVGRKYXVhTnUyTFRwMTZzUTgzN3QzcjE3bnJFcXZYcjFRVmxhR216ZHZvcmk0R0YyNmRNRWZmL3hSN1hHSERoM0NxVk9uQU9nT3hhcmFkK3JVS2ViNGl2YnMyUU5QVDArOStoNGVIbzd3OFBBcTIvend3dzhVUEpHM0dnVlB4S2hWWE5sTzMrQ0p6K2ZEeWNrSnNiR3hhTk9tRFZnc1ZuMTJrUkJDQ0NHRTFCTWJHeHY4OWRkZnNMUzBoTDI5ZllOY2MrblNwZkQyOWxiYmR2SGlSV3pac2dVSERoeW90K0JwelpvMXpNOTkrL2JGcUZHajhQWFhYMnR0bTVHUmdlenNiUFRxMWF0ZStsS1ZsaTFiWXNTSUVjeHpWZkNVbTV1TFo4K2VhVDBtSlNVRlFQbG9NcFd1WGJ2aS8vN3YvM0Q0OEdGY3VYSUYvZnIxVXh1NVpHRmhVVzFmS3M2SW1EcDFxc2IrbXpkdjR1blRwMXIzN2Q2OUd6NCtQdWpXclp2R1BsdGIyMnF2cmRLalJ3L01uajI3eWpaOFBsL3Y4eEZpQ0JROEVhUEc0L0ZnWm1hR25KeWNHaDNuN3U2TzVPUmtwS2Ftd3NuSnFaNTZSd2doaEJCQzZwT0hod2ZpNCtOeDZOQWhkT2pRQVI0ZUhyQ3pzOU83QkVOdFZBNmRnUEtwYTF1MmJFRldWbGE5WGJjNmx5OWZabjZPaVlrQlVGNERxK0oyb1B6UHJIbno1ZzNhTndDSWpvN0dpaFVycW14VGNiKzJVVndBTkY1UFplM2J0OWNhREdtclI1V2Ftb3FuVDU5cTNiZDc5MjQwYjk3OGpldFljYmxjaUVTaU56b0hJWVpHd1JNeGVwYVdsalZhMlE0QW5KeWNZR3BxaXBpWUdBcWVDQ0dFRUVMZVVWd3VGNk5HamNLZE8zZHcrL1p0aElXRjZYVmM1ODZkMGFWTGx6cnJSMUpTRWdDZ1ZhdFdkWGJPbXRKVzgrajgrZk00Zi82ODJyWlJvMFpwRFo0S0NncXFEWFVxdHEycHRtM2I0dURCZzFyM0hUaHdBSmN1WGRLNXY2THFhanV0VzdkTzd4RkpYQzRYSmlZbWVyV3R5cmx6NTNUdVMwcEswcm5memMyTlNuK1Fkd0lGVDhUb1dWbFpJU1VsQlFxRkFtdzJXNjlqMkd3MjNOemNFQjBkalpLU0VwaWFtdFp6THdraGhCQkNTSDFnczlubzNMa3pmSDE5RVJNVEE0bEVBcVZTV2VVeHJxNnViM3hkcFZLSnZMdzhQSG55QkwvOTloc3NMQ3hxWFVDN3JsUTEvUTZvdXM1UmRuWjJqUXAyMTVTcHFhbk9Pa1ptWm1ZQW9IZWRvMW16Wm1IUW9FRnEyOUxTMGpCbXpCaWR4eWlWU2lRbUpxcHRHekJnQUFZTUdLQzFYcFdxM2xYRmZTNHVMbHEvYndRRUJPaThibVJrcE03Qzc0TUdEYUxnaWJ3VEtIZ2lScy9TMGhKS3BSSVNpUVJXVmxaNkg5ZXNXVE5FUlVVaExpNnVRUXRTRWtJSUlZU1F1aWNRQ09EbDVkVWcxeG8yYkJnejZvZkZZcUY3OSs2WU1XTUdVMy8wYlhEeDRrVUVCd2RqNDhhTmVyV3ZxK0xpTVRFeHVIanhvdFo5TDErK1JFQkFBSll1WGRyZ3hiVEx5c293WWNLRU56ckg2ZE9uSVJRS3RlNGJNR0FBNXM2ZHEvZTVxZ29CQ1huYlVQQkVqRjdGQXVNMUNaN016YzFoYlcyTjE2OWZVL0JFQ0NHRUVFTDBObkRnUUJRWEY2T2dvQUR4OGZHNGNlTUd3c1BETVhIaXhMY21VRWo2Zit6ZGVWelZWZjQvOE5kZFdDNWMxbnZaOXgwRUVUVVgzQTF4eW16NVpvdHBPWk96MVB3cW01YVpHcTFwdEUxdEhNY2FiU2JMeXJSRzA2azBjOE1kRlhCRjJYZGtFYmpzd21XN2wvdjd3eS8zSzdGNGdYdjVBTDZlandlUDVMT2M4NzVLeW4xeHp2dFRVb0pMbHk0Tityd1hMbHpBaFFzWHVqMG5sOHVSbloyTnJWdTM0bzkvL0dPLzV5Z3NMTVM1YytjNkhidGR6MWN6TXpPODk5NTdYWTR2WDc0YzQ4YU53eU9QUE5ManZmdjI3Y1BwMDZjaGs4bjZWekRSTU1mZ2llNTRWbFpXTURjMzczT2ZKd0FJREF4RVVsSVN5c3ZMK1FoVElpSWlJakxJYjMvNzIwNmZGeGNYWStYS2xWaTdkaTBrRWdudXZ2dHVnU29UM2lPUFBJTGYvT1kzK3MvdnVlY2UvYTlkWFYxeDk5MTNJeTR1RGs4ODhRUThQVDM3TmNmMzMzK1A3Ny8vdmsvM2lFUWlUSmd3b2R0elNxV3l4M01BY09yVUtWaGFXaHJjMW9Ob3BHSHdSSVNicTU3NittUTc0T2FTNHVUa1pPVGs1REI0SWlJaUlxSis4ZlQweEt1dnZvcm5uMzhlTzNic0dCTEJrMWFyaFVna012aDZZellYbDBna1BaNTc3TEhIY1Bqd1lXemZ2aDJ2dmZhYXdmWGQ2dGUvL2pWaVltSTZIYXVzck1TeVpjdjZOZDd0TkRZMjlyakZya05aV1JsT25qeHBrdm1KaE1iZ2lRZzNHNHpuNU9UMHFjRTRjTE1acGIrL1A5TFQwdzM2QjRXSWlJaUlxRHNCQVFFQWJnWWdRMEZmdjdjMWRYUHhEcjYrdmhnL2Zqd0tDd3VoMFdnZ2xmYjlMYTFjTG9lVGsxT25ZKzN0N2NZcXNZdWFtaHJZMk5qMGVzMmxTNWNFMmRwSU5CZ1lQQkVCY0hSMGhGYXJSWDE5ZlorYk9nWUVCQ0FqSXdPNXVibUlqSXcwVVlWRVJFUkVOSklWRmhZQ0FOemMzQVp0enFxcUtpUW5KeU13TUxEYmV2cFNpN0dhaXh2aTlkZGZoNTJkWFo5V1pOMnFvYUVCS3BXcTA3SHE2dXArMTNNNzVlWGxjSFYxN2ZXYW1KZ1kvUDczdnpkNHpONTZTaEVOTlF5ZWlIQXplQUp1L29QVDErQkpKcFBCdzhNRCtmbjVDQThQNzNWcE1CRVJFUkhkdVU2ZVBBbUZRb0h3OFBCT3g2dXJxN0Z1M1RvQU54dVBtMHBaV1JsU1VsSUFBTHQzNzhiWFgzOE5BRjIyckZWVlZTRWpJd1B6NTg4M1dTMERNZENuLzMzMjJXZjQ3TFBQakZSTjc0cUxpMUZSVVlIUm8wZDNlMTZuMDJIVHBrM3c5dmFHaFlVRm1wcWFrSk9Ubzc5ZXA5UGg4dVhMa01sa0NBME4xZCszZHUzYTI0WlpSRU1GZ3ljaTNHd3dibWxwaWVycWF2ajcrL2Y1L3FDZ0lCUVhGK1BhdFd2dzgvTXpRWVZFUkVSRU5Od1ZGQlRnN2JmZmhwZVhGNEtEZ3lHVHlWQlJVWUhMbHkranRiVVZEenp3UUtkbTJoY3ZYc1RXclZ1eFlzV0tMbHZEK3VxNTU1NURWbFlXQU1EUzBoTGg0ZUdJaW9wQ1ZGUVVnb0tDc0dQSER2MFRuamR2M296MjluWWNPSEFBdHJhMldMaHdJU3dzTE9EcjY5dW5wMEQzeDY1ZHU3QnIxeTZUenZFLy8vTS9tRHg1Y3JmbnVsdjlaU2lOUm9NMzMzd1RTcVVTMXRiV2FHMXRSWHg4UEFCZzJyUnAzZDZ6Yjk4K2JOeTRFUjk4OEFFaUlpTHcrZWVmWS8vKy9kaXhZd2Vzckt5ZzFXcngvdnZ2dzhQREErdlhyd2R3TTZoY3ZudzVwa3laZ2pmZmZMUGY5UklORmdaUFJQL0wwZEd4MzB0c2xVb2w3TzN0a1oyZHplQ0ppSWlJaUxvMWE5WXNWRlJVNE9yVnF6aDU4aVRhMjl0aGIyK1BpUk1uWXY3OCtSZy9mbnluNjl2YTJwQ2JtNHZubjM4ZTc3enpEb0tDZ3ZvOTkvVHAwekZwMGlTTUd6Y09vYUdoWFhvamJkNjhHVHFkRHYvKzk3OXg1TWdSekowN0YzSzVIRjkvL1RYaTR1THd3Z3N2WVBQbXpUMk9YMTlmajIrLy9kYWdXdXJyNjNzOEZ4VVZoZWpvYVAzbkgzLzg4VzNIYTJob01IamIzVk5QUFlYSmt5Y2pPRGo0dHRmMnRlK1RWQ3BGZlgwOWtwT1RvZEZvSUJLSjRPcnFpc1dMRjNjYlBOWFcxdUt6eno2RHU3czd3c0xDQUFBelo4N0VkOTk5aDZOSGoyTCsvUG1RU3FXNDc3NzdzRzNiTm1SbFpTRTRPQmlPam82WU4yOGU5dXpaZzRzWEwyTGN1SEY5cXBOb3NERjRJdnBmam82T3VINzllcitiRkFZR0J1TDgrZk9vckt5RVVxazBRWVZFUkVSRU5KeDVlM3ZqMVZkZk5majZTWk1tWWQyNmRWaStmRGxlZmZWVnJGcTFDbVBHak9uWDNBc1hMdXoxZkhwNk9qWnQyb1NNakF4TW5Ub1ZMNzMwRXFSU0tlYk9uWXNOR3paZ3hZb1ZtRE5uRHA1Nzdqbkk1Zkl1OTlmVjFlR1RUejdwVjIyM0Nnd014TU1QUDZ6L2ZQdjI3YkMwdE94MHpjYU5HeUVTaVdCcGFZa2JOMjdnMkxGajhQVDBOR2o4SlV1V2RIdGNwOVBoeG8wYmtNbGtrRXFscUttcHdZVUxGeUNUeWZwVS84YU5HdzIrOXNNUFAwUkRRd1BlZXVzdGZidU9VYU5HUWFGUTRQang0L3F0anZmY2N3KzJiOStPZmZ2MjZRT3pKVXVXSUM0dURoOS8vREUrK2VTVGZ2ZTdJaG9NREo2SS9wZWpveU4wT2gxcWEydjdGUng1ZTN2anlwVXJ5TTdPWnZCRVJFUkVSRVlSSEJ5TUR6NzRBSC84NHgreGZmdjJmZ2RQUFRsNjlDajI3ZHVISzFldVFDYVQ0WmxubnNHQ0JRdjBRVVpBUUFBMmJOaUFiNy85RnA5Ly9qbVNrNU94WmN1V0xtR1FNWnFMYjlteUJiYTJ0cDJPN2Q2OXU4dDFlWGw1dUhyMUtuUTZIWUNiRGRtWExWdG0wTnc5YVc5dng2SkZpOURTMHRMcCtBTVBQRENnY1h0eStmSmxuRHAxQ25QbnprVlVWSlQrdUVna3dzU0pFeEVmSDQrV2xoWllXRmpBeGNVRlk4ZU8xYjllQUxDenM4UEREeitNYmR1MklURXhzY2V0ZzBSREFZTW5vdi9Wc1YrOXVycTZYOEdSUkNLQm41OGZzckt5ME5UVTFPZWZqaEFSRVJFUmRjZlB6dy9yMXEwYmNKK243dVRuNTZPd3NCQUxGeTdFZ2dVTHVtM2NMUktKOE5oamorR3V1KzdDdm4zN3VvUk9NVEV4VUNnVUJzOFpIUjNkN1ZZM0x5OHZnKzd2YU1UZUVjVDB0Tm9uSmliR29DMTF3TTN2NVgvLys5K2pwcVlHT3AwT0Vva0VBUUVCbURoeFlxLzMzWHZ2dlYyYXhSc2lLaW9LcjcvK2VxZHRoUjJlZnZwcHZQRENDekF6TTlNZlc3MTZkWmZYK2Vpamp5SW9LSWloRXcxNUl0MnRzU25SSFc3Ly92MXdjSERvOTEvZWFyVWFQLzMwRTBKRFF4RVJFV0hrNm9pSWlJaklXTmF0VzRmbzZHaE1tVEpGNkZJRXBkVnFvZFBwK3RWcWdvaW9nNmlYL1o3aXdTeUVhS2diU0lOeDRPYlQ4ZHpkM1pHWGw5Zm5ab1JFUkVSRVJJTk5JcEV3ZENJaWsyTHdSSFFMUjBkSE5EWTJkdG5iM1JlQmdZRm9hV25wZHQ4NkVSRVJFUkVSMFoyRXdSUFJMUndkSFFGZ1FLdWVuSjJkWVdkbmg4ek1UR09WUlVSRVJFUkVSRFFzTVhnaXVvVzl2VDFFSXRHQWdpY0FDQWtKUVYxZEhhNWZ2MjZreW9pSWlJaUlpSWlHSHdaUFJMZVFTQ1N3dDdjZmNQRGs3ZTBOYTJ0cnBLZW5HNmt5SWlJaUlpSWlvdUdId1JQUnp3eTB3VGh3ODVHdUlTRWhxS3FxZ2txbE1sSmxSRVJFUkVSRVJNTUxneWVpbjNGMGRFUnJheXNhR3hzSE5JNnZyeThzTFMyNTZvbUlpSWlJaUlqdVdBeWVpSDdHR0EzR2dadmI5b0tEZzFGZVhvNmFtaHBqbEVaRVJFUkVSRVEwckRCNEl2b1pHeHNiU0tYU0FRZFBBQkFRRUFBek16TmtaR1FZb1RJaUlpSWlJaUtpNFlYQkU5SFBpRVFpT0RnNG9LcXFhc0JqU2FWU0JBVUZvYmk0R1BYMTlVYW9qb2lJaUlpSWlHajRZUEJFMUEyRlFvR2FtaHBvdGRvQmp4VVlHQWlKUklMTXpFd2pWRVpFUkVSRVJFUTBmREI0SXVxR1VxbEVlM3U3VVhveldWaFl3Ti9mSDRXRmhRTnVXRTVFUkVSRVJFUTBuREI0SXVxR1FxRUFBRlJXVmhwbHZKQ1FFSWhFSW1SbFpSbGxQQ0lpSWlJaUlxTGhnTUVUVVRmTXpjMWhaMmRudE9CSkpwUEJ4OGNIK2ZuNWFHNXVOc3FZUkVSRVJFUkVSRU1kZ3llaUhpaVZTbFJXVmtLbjB4bGx2TkRRVUxTM3R5TTdPOXNvNHhFUkVSRVJFUkVOZFF5ZWlIcWdWQ3JSMXRabXRLZlJ5ZVZ5ZUhwNklpY25CNjJ0clVZWms0aUlpSWlJaUdnb1kvQkUxQU9sVWduQWVIMmVnSnVybmpRYURaOXdSMFJFUkVSRVJIY0VCazlFUGJDeXNvS1ZsWlZSZ3lkN2UzdDRlWGtoT3p1YnZaNklpSWlJaUlob3hHUHdSTlNMamo1UHhoUVJFWUgyOW5ha3BhVVpkVndpSWlJaUlpS2lvWWJCRTFFdmxFb2wxR28xMUdxMTBjYVV5K1h3OS9kSFhsNGVHaG9hakRZdUVSRVJFUkVSMFZERDRJbW9GNmJvOHdRQW8wYU5nbGdzUmtwS2lsSEhKU0lpSWlJaUlocEtHRHdSOWNMVzFoYm01dVpHRDU0c0xTMFJIQnlNb3FJaTFOVFVHSFZzSWlJaUlpSWlvcUdDd1JOUkwwUWlFUlFLaGRHREp3QUlDUW1CdWJrNVZ6MFJFUkVSRVJIUmlNWGdpZWcybEVvbDZ1cnEwTmJXWnRSeHpjek1FQm9haXJLeU1sUlVWQmgxYkNJaUlpSWlJcUtoZ01FVDBXMTA5SG1xcXFveSt0aUJnWUdReVdTNGV2V3EwY2NtSWlJaUlpSWlFaHFESjZMYmNIUjBoRmdzTnNsMk80bEVndkR3Y0ZSWFY2T2twTVRvNHhNUkVSRVJFUkVKaWNFVDBXMkl4V0k0T2pxYUpIZ0NBRjlmWDlqWTJDQWxKUVU2bmM0a2N4QVJFUkVSRVJFSmdjRVRrUUdVU2lXcXE2dlIzdDV1OUxGRkloRkdqeDZOK3ZwNkZCWVdHbjE4SWlJaUlpSWlJcUV3ZUNJeWdGS3BoRmFyUlUxTmpVbkc5L0R3Z0tPakkxSlRVNkhWYWsweUJ4RVJFUkVSRWRGZ1kvQkVaSUNPQnVNcWxjcGtjMFJHUmtLdFZpTW5KOGRrY3hBUkVSRVJFUkVOSmdaUFJBWXdNek9EZzRNREtpb3FURGFIazVNVDNOemNrSmFXaHVibVpwUE5RMFJFUkVSRVJEUllHRHdSR2NqWjJSbVZsWlVtM1FvWEZSV0Y5dloySkNjbm0yd09JaUlpSWlJaW9zSEM0SW5JUUM0dUx0QnF0YWlxcWpMWkhISzVIQ0VoSWJoMjdacEp0L1VSRVJFUkVSRVJEUVlHVDBRR1VpcVZFSXZGSnQxdUJ3Q2hvYUd3c3JMQ3BVdVhvTlBwVERvWEVSRVIwWjJNMzJzUkVaa2VneWNpQTBra0VpZ1VDcFNYbDV0MEhxbFVpakZqeHFDdXJnNjV1Ymttbll1SWlJam9UbVZtWm9hNnVqcWh5eUFpR3ZHa1FoZEFOSnk0dUxnZ05UVVZiVzF0TURNek05azhucDZlY0hGeFFVcEtDanc5UFdGcGFXbXl1WWlJaUlqdVJPN3U3aVpmeVc2b045OThFd2tKQ2JDMHRNVGV2WHROUGw5c2JPeHQ1N3IvL3Z2UjNOeU13NGNQZDdtM043ZGUvL05ycFZJcDdPenNFQlFVaEtsVHAyTE9uRG1RU3ZtV2xHaWs0Ly9sUkgzZzdPeU1sSlFVcUZRcXVMdTdtM1N1c1dQSDR0Q2hRN2g2OVNvbVRKaGcwcm1JaUlpSTdqUmp4b3pCbmoxN2tKV1ZoZURnWU1IcU9IRGdBSktTa2dTYnZ6K2tVaW5telp2WDUyczFHZzJxcXFxUW1wcUtoSVFFYk51MkRYLys4NThSSGg1dXluS0pTR0FNbm9qNndOSFJFVktwRkJVVkZTWVBubXhzYkJBVUZJVE16RXo0Ky90RG9WQ1lkRDRpSWlLaU8wbFFVQkJDUWtJUUZ4Y0hlM3Q3T0RzN0Qzb05GUlVWK1Bqamp6Rjc5bXdjT1hKazBPZnZMNmxVaWhkZWVLSGYxMm8wR2h3NGNBQ2JOMi9HcTYrK2lsV3JWdkVIclVRakdIczhFZldCU0NTQ3M3T3p5ZnM4ZFJnMWFoUmtNaGtialJNUkVSR1pRRXhNREd4dGJiRjkrM2FjT25VS0pTVWxhRzF0SFpTNWRUb2QvdmEzdjBFcWxlS1paNTRabERtSENxbFVpdm56NTJQdDJyV1FTQ1I0Ly8zMzJXK0xhQVRqaWllaVBuSjJka1pwYVNtYW01dE4zbnVwbzlGNFFrSUM4dkx5RUJBUVlOTDVpSWlJaU80a01wa01peFl0UW1KaUloSVNFZ3plOGhZZEhZMHBVNllNYU80OWUvYmcwcVZMV0xGaUJSd2NIQVkwMW5BVkVoS0NoeDU2Q0R0MjdNQ2VQWHZ3MUZOUENWMFNFWmtBZ3llaVB1cFlobDFSVVFGdmIyK1R6K2ZsNVlXOHZEeDlvM0VMQ3d1VHowbEVSRVIwcHhDTHhZaU9qa1pVVkJUeTgvTlJWMWQzMjVYbVhsNWVBNXF6dExRVW16ZHZ4c3laTXpGcjFxd0JqVFhjelo0OUd6dDI3TURaczJjWlBCR05VQXllaVBySXpzNE9scGFXZ3hZOEFmL1hhRHdsSlFYang0OGZsRG1KaUlpSTdpUXltUXlqUm8weStUdzZuUTVyMTY2RmxaVVZsaTFiWnZMNVRFR2owZUNqano3cWNuelNwRW1ZT0hGaW44Ynk4ZkVCQUJRWEZ4dWxOaUlhZWhnOEVmWERZUFo1QWdCYlcxc0VCUVVoS3lzTGZuNStjSFIwSExTNWlZaUlpTWg0ZHU3Y2lkVFVWS3hhdFFxMnRyWkNsOU12R28wR2UvYnM2WExjenM2dXo4R1RWQ3FGVkNwRlMwdUxzY29qb2lHR3dSTlJQemc3TytQYXRXdG9hR2lBWEM0ZjIrMTVFZ0FBSUFCSlJFRlVsRGxIalJxRmE5ZXU0Y0tGQzRpSmlZRll6R2NERUJFUkVRMG5CUVVGK1BMTEx4RWJHNHZvNkdpaHkrazNTMHRMN04yNzF5aGpOVGMzUTZQUndNN096aWpqRWRIUXcrQ0pxQjljWEZ3QTNPenpORmpCazVtWkdjYU5HNGN6Wjg0Z1BUMGQ0ZUhoZ3pJdkVSRVJFUm5IMnJWcjBkYldCcmxjanExYnQzWTVyOUZvOU1lWExGbGlzanJNek16UTF0Ylc2elVhamNia0Q5SUJnS3lzTEFEZ1EzU0lSakFHVDBUOVlHVmxCYmxjanZMeWN2ajcrdy9hdkI0ZUh2RDI5a1o2ZWpyYzNkM3YyQ2VnRUJFUkVRMUgyZG5aQUlEdnZ2dXUyL01halFaZmZmVVZBTk1HVC9iMjlsQ3BWQ2d2TDlmL1FQVldWVlZWMEdnMGNITnpNMWtOSFE0ZVBBZ0FtRDU5dXNubklpSmhNSGdpNmlkbloyY1VGeGREcDlOQkpCSU4ycnhqeDQ1RlJVVUZrcEtTRUJzYnl5MTNSRVJFUk1QRTRjT0hlendYR3h0cjFDMXN2UWtORFlWS3BjTHg0OGZ4K09PUGR6a2ZIeDhQQUNaZllaK1VsSVREaHcvRHpjME5jK2ZPTmVsY1JDUWN2bU1sNmljWEZ4ZTB0cmFpcnE1dVVPYzFOemZIWFhmZGhmcjZlcVNtcGc3cTNFUkVSRVEwL04xenp6MEFnRzNidHVIY3VYT2R6bDI5ZWhWZmZQRUZSQ0lSNXMrZmI1TDVXMXRic1d2WExyejExbHVReVdSNDg4MDNZVzV1YnBLNWlFaDRYUEZFMUU5T1RrNEFidlo1c3JlM0g5UzUzZHpjNE92cmk4ek1USGg0ZVBBcGQwUkVSRVFqMU1XTEY3RjE2MWFzV0xGQy8vM25RRTJjT0JIejU4L0hqei8raU9YTGw4UER3d05PVGs2b3FhbEJZV0VoQUdEcDBxVUlDUW5wOW42TlJvT1BQdnFvMjNNdnZQQkNqOWUydGJXaHFxb0txYW1wYUd4c2hJK1BENVl2WHo2b3JTdUlhUEF4ZUNMcUp3c0xDOWpiMjZPc3JBekJ3Y0dEUG45VVZCVEt5OHYxVys0a0VzbWcxMEJFUkVSRXB0WFcxb2JjM0Z3OC8venplT2VkZHhBVUZHU1VjVjk4OFVWRVJFUmcvLzc5eU0zTlJWbFpHV3h0YlJFZEhZMkhIbm9JNDhhTjYvRmVqVWFEUFh2MmRIdXV1K0NwNDFxSlJBSUhCd2RFUmtaaTVzeVptRFZyRnIrSEpib0RpSFE2blU3b0lvaUdxNnRYcnlJckt3c1BQdmdncE5MQnozSEx5c3B3NnRRcEJBY0hZOHlZTVlNK1B4RVJFUkdaWGxaV0ZwWXZYNDYydGphc1dyV0szL2NSMFpBajZxWHhNWHM4RVEyQW01c2IydHZiVVZGUkljajhycTZ1OFBmM1IxWldGaW9yS3dXcGdZaUlpSWhNS3pnNEdCOTg4QUhNek15d2ZmdDJvY3NoSXVvVHJuZ2lHZ0NkVG9jOWUvYkEwOU1UNDhlUEY2UUdqVWFEZ3djUFFpd1dJelkyVnBDVlYwUkVSRVJrZW9XRmhYQnljb0tWbFpYUXBSQVJkY0lWVDBRbUloS0o0T3JxaXV2WHJ3dFdnMVFxeFlRSkU5RFEwSUNVbEJUQjZpQWlJaUlpMC9MeDhXSG9SRVRERG9Nbm9nRnljM05EVTFNVDZ1cnFCS3ZCMmRrWmdZR0J5TTdPaGtxbEVxd09JaUlpSWlJaW9sc3hlQ0lhSUZkWFY0aEVJa0ZYUFFIQTZOR2pJWmZMY2U3Y09XZzBHa0ZySVNJaUlpSWlJZ0lZUEJFTm1MbTVPUlFLaGVEQlU4ZVd1OGJHUmx5NmRFblFXb2lJaUlpSWlJZ0FCazlFUnVIbTVvYXFxaXEwdHJZS1dvZFNxVVJvYUNnS0NncFFVRkFnYUMxRVJFUkVSRVJFREo2SWpNRE56UTA2blE1bFpXVkNsNEtJaUFnb2xVcGN2SGhSMEw1VFJFUkVSRVJFUkF5ZWlJekF6czRPTXBsc1NBUlBJcEVJa3lkUGhsUXF4ZG16WjlIVzFpWjBTVVJFUkVSRVJIU0hZdkJFWkNSdWJtNjRmdjA2ZERxZDBLVkFKcE5oOHVUSnVISGpCaTVjdUNCME9VUkVSRVJFUkhTSFl2QkVaQ1J1Ym01b2JXMUZkWFcxMEtVQUFKeWRuUkVlSG82aW9pTGs1T1FJWFE0UkVSRVJFUkhkZ1JnOEVSbUpzN016eEdLeDRFKzN1MVZZV0JoY1hWMlJuSnc4WkFJeElpSWlJaUlpdW5Nd2VDSXlFcWxVQ21kbjV5RVZQSWxFSWt5Y09CRVdGaFk0ZS9hczRFL2RJeUlpSWlJaW9qc0xneWNpSTNKemMwTnRiUzJhbXBxRUxrWFB3c0lDMGRIUmFHcHFRbEpTMHBEb1FVVkVSRVJFUkVSM0JnWlBSRWJrNXVZR0FFUGk2WGEzVWlnVWlJeU14UFhyMTVHWm1TbDBPVVJFUkVSRVJIU0hZUEJFWkVUVzF0YXd0YlVkVXR2dE9nUUhCOFBEd3dNcEtTbFFxVlJDbDBORVJFUkVSRVIzQUFaUFJFYm01dWFHOHZKeXRMZTNDMTFLRnhNbVRJQzF0VFVTRWhMUTNOd3NkRGxFUkVSRVJFUTB3akY0SWpJeU56YzNhRFNhSWJtcXlNek1ETkhSMFdodGJVVmlZaUw3UFJFUkVSRVJFWkZKTVhnaU1qS0ZRZ0V6TTdNaHVkME9BT3p0N1RGMjdGaFVWRlRneXBVclFwZERSRVJFUkVSRUl4aURKeUlqRTR2RmNIVjFSWEZ4OFpCZFVlVHY3dzkvZjM5a1pXVWhQejlmNkhLSWlJaUlpSWhvaEdMd1JHUUNucDZlYUdwcVFrMU5qZENsOUdqczJMRndkbmJHaFFzWGh1UzJRQ0lpSWlJaUlocitHRHdSbVlDYm14c2tFZ21LaTR1RkxxVkhZckVZMGRIUnNMYTJ4cGt6WjlEUTBDQjBTVVJFUkVSRVJEVENNSGdpTWdHSlJBSTNON2NoSFR3QmdMbTVPYVpObXdZQWlJK1BSMXRibThBVkVSRVJFUkVSMFVqQzRJbklSRHc5UGRIWTJEaWt0OXNCZ0kyTkRhS2pvOUhRMElDelo4OE8yYjVVUkVSRVJFUkVOUHd3ZUNJeUVUYzNONGpGWXBTVWxBaGR5bTA1T3p0ajNMaHhLQzh2eDhXTEY0VXVoNGlJaUlpSWlFWUlCazlFSmlLVlN2VlB0eHNPL1AzOUVSSVNncnk4UEtTbHBRbGREaEVSRVJFUkVZMEFESjZJVE1qVDB4TTNidHhBWFYyZDBLVVlaUFRvMGZEMjlrWnFhaXJ5OHZLRUxvZUlpSWlJaUlpR09RWlBSQ2JrN3U0T3NWZzhiRlk5aVVRaVRKZ3dBUzR1THJoNDhTSktTMHVGTG9tSWlJaUlpSWlHTVFaUFJDWmtabVlHRnhlWFlSTThBWUJZTEVaMGREVHM3T3lRa0pDQXFxb3FvVXNpSWlJaUlpS2lZWXJCRTVHSmVYcDZvcjYrSGpkdTNCQzZGSU9abVpsaCt2VHBzTFMwUkh4OC9MQ3FuWWlJaUlpSWlJWU9CazlFSnVidTdnNlJTRFNzVmowQmdLV2xKV2JNbUFHUlNJU1RKMDlDclZZTFhSSVJFUkVSRVJFTk13eWVpRXpNM053Y3pzN093eTU0QWdDNVhJNXAwNmFodGJVVkowNmNRSE56czlBbEVSRVJFUkVSMFREQzRJbG9FSGg2ZXFLMnRoWU5EUTFDbDlKbmpvNk9tRFp0R3BxYW1uRGl4QW0wdExRSVhSSVJFUkVSRVJFTkV3eWVpQWFCaDRjSFJDSVJTa3BLaEM2bFg1eWNuREIxNmxRME5EVGc1TW1UYUd0ckU3b2tJaUlpSWlJaUdnWVlQQkVOQWdzTEN6ZzVPUTNMN1hZZFhGeGNNR1hLRk5UVjFlSFVxVlBRYURSQ2wwUkVSRVJFUkVSREhJTW5va0hpNmVtSjZ1cnFZZDJrMjgzTkRaTW5UMFoxZFRWT256NE5yVllyZEVsRVJFUkVSRVEwaERGNElob2tIaDRlQURDc1Z6MEJOd08waVJNbm9xS2lndUVURVJFUkVSRVI5WXJCRTlFZ3NiUzBoRktwSExaOW5tN2w3ZTJOQ1JNbW9MeThuTnZ1aUlpSWlJaUlxRWNNbm9nR2thZW5KeW9ySzlIVTFDUjBLUVBtNit1TFNaTW1vYkt5a2czSGlZaUlpSWlJcUZzTW5vZ0drYWVuSndEZzJyVnJBbGRpSE43ZTN2cWVUeWRPbkVCcmE2dlFKUkVSRVJFUkVkRVF3dUNKYUJESlpESTRPenVqc0xCUTZGS014dFBUVS8rMHV4TW5UcUNscFVYb2tvaUlpSWlJaUdpSVlQQkVOTWg4Zkh4UVYxZUgydHBhb1VzeEduZDNkMHlkT2hVM2J0ekE4ZVBIMGR6Y0xIUkpSRVJFUkVSRU5BUXdlQ0lhWko2ZW5wQklKQ05xMVJNQXVMcTZZdHEwYVdoc2JNVFJvMGZSME5BZ2RFbEVSRVJFUkVRa01BWlBSSU5NS3BYQ3c4TUQxNjVkZzA2bkU3b2NvM0oyZHNiTW1UUFIxdGFHbzBlUG9ycTZXdWlTaUlpSWlJaUlTRUFNbm9nRTRPdnJpK2JtWnBTWGx3dGRpdEVwRkFyTW5qMGJFb2tFSjA2Y1FGbFptZEFsRVJFUkVSRVJrVUFZUEJFSndOblpHWmFXbGlnb0tCQzZGSk93dGJYRjNYZmZEV3RyYThUSHg0KzRiWVZFUkVSRVJFUmtHQVpQUkFJUWlVVHc4ZkZCYVdrcDJ0cmFoQzdISkdReUdXYlBuZzJsVW9ta3BDUmtabVlLWFJJUkVSRVJFUkVOTWdaUFJBTHg4ZkdCVnF0RmNYR3gwS1dZakptWkdhWlBudzRQRHc5Y3VYSUZseTlmSG5GOXJZaUlpSWlJaUtobkRKNklCR0puWndkN2Uvc1J2dzFOSXBFZ09qb2FnWUdCeU03T1JueDgvSWhkNVVWRVJFUkVSRVNkTVhnaUVwQ1BqdzlVS2hYVWFyWFFwWmlVU0NUQzJMRmpNWGJzV0pTWGwrUG8wYU5vYUdnUXVpd2lJaUlpSWlJeU1RWlBSQUx5OXZhR1NDUWE4YXVlT2dRR0JtTDY5T2xvYW1yQ2tTTkhvRktwaEM2SmlJaUlpSWlJVElqQkU1R0FMQzB0NGVMaWNzY0VUd0RnNHVLQ21KZ1ltSnViNDhTSkU4akx5eE82SkNJaUlpSWlJaklSQms5RUF2UDE5Y1dOR3pkUVhWMHRkQ21EeHNiR0JqRXhNVkFxbGJodzRRS2JqaE1SRVJFUkVZMVFESjZJQk9idTdnNnBWSHBIclhvQ0FITnpjOHlZTVFQKy92N0l6czdHaVJNbjBOemNMSFJaUkVSRVJFUkVaRVFNbm9nRUpwRkk0T1hsaFd2WHJxRzl2VjNvY2dhVldDekcrUEhqTVg3OGVGUlZWZUh3NGNQcyswUkVSRVJFUkRTQ01IZ2lHZ0o4Zkh6UTJ0cUtzckl5b1VzUmhMKy9QKzYrKzI1SUpCS2NPSEVDbVptWlFwZEVSRVJFUkVSRVJzRGdpV2dJVUNxVnNMS3lRa0ZCZ2RDbENNYkJ3UUZ6NXN5QnE2c3JybHk1Z2pObnpxQ3RyVTNvc29pSWlJaUlpR2dBR0R3UkRRRWlrUWcrUGo2NGZ2MDZXbHRiaFM1SE1PYm01cGc2ZFNwR2p4Nk4wdEpTeE1YRm9iYTJWdWl5aUlpSWlJaUlxSjhZUEJFTkVUNCtQbWh2YjBkUlVaSFFwUWhLSkJJaE5EUVVNMmJNUUZ0Ykc0NGNPWUtzckN3KzlZNklpSWlJaUdnWVl2QkVORVRZMk5oQW9WQWdOemRYNkZLR0JHZG5aOFRHeHNMSnlRbkp5Y2s0ZGVvVW1wcWFoQzZMaUlpSWlJaUkrb0RCRTlFUTR1L3ZqN3E2T2xSVlZRbGR5cEFnazhrd2ZmcDBSRVZGUWFWUzRkQ2hReWdwS1JHNkxDSWlJaUlpSWpJUWd5ZWlJY1RMeXd2bTV1WmM5WFFMa1VpRW9LQWd6Smt6QnpLWkRHZk9uTUg1OCtlaDBXaUVMbzJJaUlpSWlJaHVRNlJqNHhTaUlTVTVPUms1T1RtWVAzOCtMQ3dzaEM1blNORnF0VWhKU1VGV1ZoYmtjamttVFpvRVIwZEhvY3NpZ1dnMEdoUVdGa0tsVXFHcHFRbGFyVmJva21nUVNDUVN5R1F5T0RrNXdjZkhCMUtwVk9pU2lJaUlpTzU0SXBGSTFPTTVCazlFUTB0RFF3UDI3OStQeU1oSWhJU0VDRjNPa0ZSZVhvNXo1ODZodWJrWlFVRkJpSWlJZ0VRaUVib3NHa1RWMWRWSVMwdURRcUdBdTdzNzVISTV2d2J1RUZxdEZnME5EU2d0TFVWVlZSVkdqUnJGQVBvV1Y2OWVSVVpHQmg1OTlORSszNXVSa1lIczdHemNlKys5Smd2ME1qSXlVRlZWaFNsVHBxQ1g3MCtIdllTRUJDUW5KK1BSUngvVmYzMXFOQm9VRlJYQno4OVA0T3FNbzZDZ1FOK2Zrb2lJcUxmZ2lUOG1KQnBpNUhJNVhGeGNrSmVYaCtEZzRCSDlqWGwvdWJpNFlPN2N1VWhPVGtaV1ZoWktTa3B3MTExM3dkblpXZWpTYUJCVVYxY2pOVFVWRVJFUmNIQndFTG9jR21RU2lRUjJkbmF3czdORFRVME5VbEpTRUI0ZXp2RHBmeVVtSm1MSGpoMzlDcDcyN3QyTHhNUkV6SnMzVDM5TXA5T2hzYkVSOWZYMStvL2EybHJVMU5TZ3BxWUdWVlZWZVBEQkJ4RVJFV0hRSEY5ODhRV1NrNU94Zi8vK1B0YzNVTTNOelRoOStuU1A1eU1qSTNIcTFDbUR4cG8vZno3TXpjMEJBTys5OXg1RUloSCsvT2MvNjg4bkppYml4eDkveE9PUFA2NC90bVBIRG16YnRnMExGeTdFNHNXTCt4VHVuVDkvSG5WMWRRWmZIeE1UMCtuei8vNzN2d2JmZTZ1SEgzNjQyK002blE3dnYvOCtHaHNiOGVXWFgwSWlrZURISDMrODdYZ1JFUkh3OWZXOTdYVXRMUzJvcUtnd3FFYUZRZ0VyS3l1RHJpVWlJbUV3ZUNJYWdnSUNBbkRtekJtVWw1ZkQxZFZWNkhLR0pITnpjMHlZTUFIZTN0NjRjT0VDVHB3NEFYOS9mMFJHUnNMTXpFem84c2hFTkJvTjB0TFNHRG9SQU1EQndRRVJFUkZJVFUzRjVNbVQ3NWh0ZDdHeHNRTzZ4dGJXRnJ0MzcrNTByS1dsQmZIeDhZaUppVUZLU2dyV3JsMkx4c1pHcU5WcTlMUTRYaVFTd2NiR0J1UEdqVE00ZUtxdnI0ZXRyYTFCMXhwYlhWMGRWcTllM2VQNU5Xdlc0T09QUHpab3JKaVlHSmlibTZPbXBnWW5UcHpBbkRsek9wMi9kdTBhN096c1lHOXZyei8yNktPUG9xcXFDdHUyYlVOU1VoS1dMMThPRHc4UC9mbWtwS1FldzVhREJ3OGlJeVBEb05vNjZydVZvYS9yNTNvS251TGo0NUdYbDRmWFgzOWR2OXAwdzRZTnR4M3YrZWVmMXdkUGYvN3puM0grL1BsdXIxdS9majFlZXVrbGcycDgvZlhYdTd4ZUlpSWFXdTZNNzlDSWhobDNkM2ZJWkRMazV1WXllTHFOanRWUEtTa3B5TTdPeHZYcjF6RnUzRGk0dTdzTFhScVpRR0ZoSVJRS0JVTW4wbk53Y0lCQ29VQmhZU0VDQWdLRUxtZFFiTm15cGNkenUzYnR3azgvL2RUck5kMXRTNDJMaTROYXJjYWNPWFBnNHVLQzBhTkhReWFUd2RyYUdsWldWckN5c3NMUm8wZVJucDZPalJzM3dzSEJBUTRPRG4wTyt5b3JLd1ZibmVyaTRvTERodzhEQURadjNvenZ2dnNPMzMvL3ZYN2xFZ0FjUG53WVAvendBLzc1ejM5aTkrN2QrcEJzNjlhdCtPcXJyL1QzZHpodzRBRGEyOXZ4d0FNUDZJL3BkRHJrNU9SZzFLaFJuYTQxTnpmSHNtWExFQllXaHZYcjErUE1tVE9kVnFidDJiTUhpWW1KM2RiKzgza0I0UEhISDRkQ29jQ21UWnNNZXYxZVhsNjlmbDNjYXVuU3BTZ3FLdXIybkVhandhZWZmb3JSbzBkM0NueTZxN0hqK3VYTGw2T3dzQkJUcGt6cFZQK2NPWFBRMU5TRURSczI0TDc3N3NQbzBhTTczZnZoaHg4aUxDd013TTFWV3g5Ly9MRitudXJxNms0cnlvaUlhT2hpOEVRMEJJbEVJdmo3K3lNdExRMXF0WnBMeUc5REtwVWlLaW9LWGw1ZU9ILytQRTZmUGcxUFQwK01HVE9HdjNjampFcWwwcjhKSWVyZzd1Nk9qSXlNT3laNDh2THk2dkdjalkzTmJhLzVPWjFPaDkyN2Q4UFgxMWNmbHJ6Kyt1dGRyc3ZJeUVCNmVqcUNnNFA3V1BGTmFyVWFOVFUxWFFJWklhU21waUlzTEt4VDZOU2hMKzFQOSszYkIzZDNkN1MzdHlNOVBSM0F6WEJOclZiRDN0NWVmK3hXbnA2ZWVPV1ZWK0R1N3E0LzcrUGpnM2ZlZVVkL1RXeHNMQll0V29Tbm4zNjYyM2xWS2hXcXE2c3hlL1pzZzJzMWxtKy8vUllWRlJWWXVYSWxBT0RLbFN1SWlJaUFXTnoxWWRtdHJhMVl0V29WTWpJeXNIYnRXamc1T2VuUFJVVkZBYmk1RW0zRGhnMFlOV3FVUHNoS1NVa1poRmRDUkVTRGhjRVQwUkRsNStlSHRMUTA1T1hsR2J5RjRVNm5VQ2dRR3h1TDlQUjBaR1JrNFByMTZ3Z0xDME53Y0RBYlQ0OFFUVTFOa012bFFwZEJRNHhjTG9kYXJSYTZqRUYxdSsxMlBaM3ZicHZkMmJOblVWUlVoQVVMRmhpdHZ1N2s1K2NEQUhKeWNvdzZyazZuNjFNL3hNYkdSbVJtWm1MeDRzVURucnU4dkJ3QXNHelpzaTduNHVMaUVCY1haOUE0NjlldnYrMi85WWNPSGRML3V1UDNzcm01dWROeEFQRDM5MGRnWUtCQjgvWlZVVkVSdnZycUt5eGF0QWkrdnI1SVRVM0ZxNisraWhkZmZCSDMzWGRmcDJzckt5dXhjdVZLRkJVVllmWHExUWdORGUzemZPWGw1ZnEvODJ0cmEvVTFBT2hUenlzaUloSVdneWVpSVVvbWs4SER3d1A1K2ZrWU5XcFV0ejlKcEs3RVlqSEN3OFBoNCtPRDVPUmtwS1NrSUQ4L0gxRlJVZHgrTndKb3RWcUdpTlNGUkNLQlZxc1Z0SWJzN0d3a0p5ZWp0TFFVYlcxdHQ3MCtPanE2MDdhanZ1cHB5OVR0dHRyOS9QK2Y5dloyL2JXbWZwaEZ4K3FlOHZKeUZCWVd3c2ZIWjhCanZ2WFdXN2gwNlJMZWZmZmRMdHUwZW5MbXpCbG9OQnJNbURHajErc00rZjFZdjM1OWwyT2Zmdm9wY25KeThQNzc3eHY4ZStydjczL2Jhejc0NElNdXgvYnQyNGQ5Ky9aMU9yWm8wYUp1ZzZmR3hzWXVJVlZQR2hzYnV4eHJiVzNGTysrOEExOWZYenp4eEJOb2JXM0YrdlhyRVJBUWdIdnZ2YmZUdFhGeGNkaTRjU01hR2hwZ2IyK1B0TFEwK1B2N3c5TFMwcUQ1Tzd6NzdydGRqaTFkdXJSUFl4QVJrZkFZUEJFTllRRUJBU2d1TGtacGFTazhQVDJGTG1kWWtjdmxtRHAxS3NyS3luRHAwaVdjUG4wYXJxNnVpSXFLMG05RklTSWFxS2FtSmh3NWNnU1ptWmxRS0JRSURBeUVuWjNkYlFPSHZteUZ1NVZLcFFLQUh0L0FkL1JjNnUwTnZrcWxncm01T2V6czdIRHc0RUVVRmhiMnE1YSt1bmp4SXNSaU1jek16SERxMUNtakJFL3A2ZWxvYW1wQ1hsNmV3Y0hUa1NOSFlHTmpnOXpjWE9UbTVnSUFKa3lZMEdVMXBTR2gwYzlYS2JXMXRTRS9QeC9qeG8wenVKNis2RzM3SGREN1NyanE2dXB1d3l0REZSY1hJeTh2RDJLeEdQUG16WU5PcDRORUlzRkhIMzJrLytIWStmUG5zWFhyVnFTbnAyUEdqQmw0NXBsbjhOLy8vaGVmZmZZWi92T2YvK0RSUngvRlF3ODlCQXNMQzRQbVpJOG5JcUtSZ2NFVDBSRG03T3lzLythWXdWUC91THE2NGhlLytBV3lzcktRbnA2T1E0Y09JU2dvQ0dGaFlYejZIUkVOU0h0N08zYnYzbzM2K25yY2YvLzkvZTU5MUJlTEZpMHl5bldob2FGWXRXb1ZObS9lREI4Zkg1T0hUNDJOamJoMDZSTEN3OE5oYjIrUGd3Y1BZdkhpeFFOZVpiVm16UnJrNXVaaTFxeFpCbDJmbjUrUEN4Y3VBQURlZSs4OS9mR05HemZxK3oxVlZsWUN1UGxrdW80K2dSM2J2QW9LQ2dEY2JCVGUzU3JhcEtRa3FOVnFLSlZLSkNRazlGcUxXQ3pHeElrVERhcTdPL3YzNzhleFk4ZXdkdTFhZzY0ZmFITnhmMzkvckY2OUdqWTJOc2pLeXNLR0RSdncyR09Qd2QzZEhmLzV6Mzl3Nk5BaEZCVVZ3ZDNkSFN0WHJ0U3Y2SHYyMldkeDMzMzNZZVBHamZqMDAwK3hlL2R1UFBua2s0aUlpRUIrZmo2YW1wb0FBR2xwYVpCSUpMQzJ0dWFXYWlLaUVZYkJFOUVRRnhBUWdNdVhMK1BHalJ0Y3FkTlBZckVZb2FHaDhQSHh3WlVyVjVDWm1ZbjgvSHlFaG9ZaU1EQ1FXN2VJcUY4U0VoS2dVcW13ZVBIaVFYdFMyNTQ5ZTR3eWpsZ3N4dHExYTlIUTBJQlZxMVoxZW5UOTl1M2J1NzJubzY5UWQrY25USmpRYS9CMjdOZ3hhRFFhVEo4K0hRcUZBcWRPblVKU1VoSW1UWm8wb05maDUrY0hQejgvZzYvLzVwdHZBQUIvL09NZk1YZnVYQlFVRk9DM3YvMHRBT2ovMitIRkYxL3Njbi9ITmI2K3Z0aThlWE9YOHdjUEhnUUE3TjI3RjN2Mzd1MjFGckZZckwrK1AwcEtTbkRwMHFWKzM5OGY0OGVQaDFxdHhxcFZxeEFRRUlBbFM1WUF1UGwwUDZsVWlwZGZmaGx6NTg3dDh1K3FsNWNYVnE5ZWpjT0hEK05mLy9vWFZDb1ZUcHc0Z2ErLy9scC9UY2UyUVM4dkw3ejg4c3NBMk9PSmlHaWtZUEJFTk1UNSt2cmk2dFdyeU0zTjFUOEJodnBISnBOaDBxUkpDQXdNeE5XclYzSGx5aFZrWjJjalBEd2N2cjYrSnU5dlFrUWpSMU5URXhJVEV6Rmh3b1JCQzUyQW0zK1BBVUI5ZlgyLzNuZzdPanJDMnRwYVA4YUNCUXU2YkJmNzRvc3ZlaDJqdS9OeXViekg0RW1uMCtINzc3K0htWmtaWW1KaVlHVmxCUWNIQjJ6ZnZuM0F3Vk5mcEthbTR0aXhZejJlWDdObURZQ2JJY3F4WThld2V2VnEvYjhMaHc4ZlJseGNuUDZhamorSFc1V1dsaUloSVFFelo4NUVRa0lDZnZXclgrR2VlKzdwY2wxTFN3dCsrOXZmOW51N3BkRFdyMStQMnRwYXZQdnV1L3F0bmYvNHh6OWdiMjkvMjN0alkyTXhjZUpFMk5qWVFDd1c0K21ubjBaZFhSMGVlZVFSZlJnSS9OOVQ3ZGpqaVlob1pHRHdSRFRFbVptWndkdmJHd1VGQlJnOWVqUlg1eGlCUXFIQXJGbXpVRlpXaHF0WHIrTDgrZlBJeXNwQ1JFUUVQRHc4aEM2UGlJYUIvUHg4dExlMzkybTFqVEh0M2J2M3RnRlJkMTUrK1dWOUkraW5uMzY2MjdDb280Zk96NjFldlJwSGpoenA4WHhQamg4L2pzTENRc3lkT3hlMnRyWUFnUHZ2dng5YnQyN0Z5Wk1uYjl2azIxZ3FLeXNSRVJHaER6VitidHk0Y1FDQStQaDRXRmhZWVB6NDhmcHpIZmQwWE5PZGI3LzlGc0ROMzFkTFMwdnMzNzhmRHozMGtENmM2ZkRERHovZ3hvMGJBMzZxbmxhcjdmUFQvQWJTWEJ3QWR1N2NpZVBIaitQSko1OUVWVlVWa3BPVFVWUlVoSVVMRjJMQmdnV29yNisvN2RpR2ZQMVlXMXNqTWpJU3k1WXQwL2NDKzNtUHB4czNidUN2Zi8yclFZRVhFUkVKaThFVDBUQVFFQkNBL1B4OFhMdDJUYkEzT1NPUnE2c3JYRnhjVUZSVWhKU1VGSnc1Y3dZS2hRS2pSNCtHazVPVDBPVVIwUkRXc2RwSTZMOHJmdjRtdnFLaUFpcVZDdUhoNFoyT2Q5ZUllZFNvVVNhdlQ2MVdZL1BtelpCSUpIanl5U2YxeHg5KytHSDg5Ny8veGNhTkd6RnUzTGhCNmVremMrWk1qQjA3RmdzV0xPajF1cUtpSXJpNHVQUnA3TkxTVXV6ZnZ4L1RwazJEaDRjSG5ucnFLU3hkdWhULytjOS9PcjN1N094c2JOdTJEZE9tVFJ0UWZ5ZmdaampVc1hyTkVBTnRMcTdSYVBENTU1OERBTFp0MndZQXNMS3lnb2VIQjJReUdaNTU1aG0wdHJicXJ6OTE2aFF1WHJ6WTdaYkYyL0h6ODhPNmRldDZ2Y2JHeHVhMjF4QVIwZERBNElsb0dIQndjSUNqb3lOeWMzTVpQQm1aU0NTQ3Q3YzNQRDA5a1orZmo3UzBOQncvZmh4S3BSSmhZV0Z3ZFhVVnVrUWlHb0owT2gwQTZCdFNEeFg3OXUzRHpwMDdzWC8vZnFGTEFRQjg5TkZIVUtsVWVQVFJSK0htNXFZL2JtMXRqVi85NmxmNDV6Ly9pZFdyVitQdHQ5OGVsTzNPSFN1dWV0TGEyb3IwOUhSTW16YXRUK04rK09HSEVJdkYrTTF2ZmdNQWNIRnh3ZEtsUy9IdmYvOGJIaDRlbUQxN05zckt5dkRHRzI5QW9WRGdEMy80ZzBIamRxd3FDZ3dNN0hLdXNMQ3cwKy9wN1F5MHViaFVLc1d2ZnZVcldGcGF3dHZiRzk3ZTNsQW9GUHJ6SGR2a09wU1VsT0RpeFl1WVAzKyt3VFhlZW05R1JrYW5ZMWxaV1FCdVBwWHc1MkppWXZvOEJ4RVJEUjRHVDBURFJFQkFBTTZkTzRlYW1obzRPRGdJWGM2SUl4YUxFUkFRQUI4ZkgrVGw1U0V6TXhPblRwMkNnNE1Ed3NMQzRPN3V6aDVRUkRUazFkZlhENWtIVWV6YXRRdHhjWEh3OVBURUwzLzV5eTduSDNqZ0FSdzdkZ3lKaVluWXVIRWpubi8rK1Q3UG9WYXJVVlZWWmJSK1NmSHg4V2hwYWNGZGQ5MWw4RDAvL2ZRVExseTRnQ2VlZUtMVGsrNFdMRmlBbkp3Y3ZQLysrOGpQejhlaFE0ZWcxV3F4WnMwYTJOblpkVHRXV1ZtWmZsdmY3dDI3OWMyM1gzdnR0VTdYVlZWVklTTWpvMStoemtEOGZOVmNoNWFXRmxoWVdCaGxEclZhalV1WExtSERoZzNkbmwrOWVuV1hZd3llaUlpR05nWlBSTU9FbDVjWGtwT1RrWjJkUGVEbCtkUXpxVlNLNE9CZ0JBUUVvS0NnQUptWm1UaHo1Z3hzYlcwUkZoWUdMeTh2QmxCRU5HU2xwYVZCTEJiajlPblR1T3V1dTR3V0J2VFZqei8raUU4KytRUXltUXgvL2V0ZnU2MURKQkpoeFlvVitILy83Ly9oaHg5K1FFdExDMTU4OGNVdVBaRjZzMnpaTWhRV0ZtTEZpaFdZTld1V3dmZDk4TUVIWGJhZHRiZTM0NXR2dm9HMXRUV21UcDFxMERqWjJkbll0R2tUQWdJQzhOUlRUM1U1LzlKTEx5RXpNMVAvTkwyVksxZkMxOWUzMjdHZWUrNDUvYW9lUzB0TGhJZUhJeW9xQ2xGUlVRZ0tDc0tPSFR2MFAzamF2SGt6MnR2YmNlREFBZGphMm1MaHdvV3dzTENBcjYrdnlYODRwVmFya1pXVmhjek1US1NscFNFMU5SVy8vdld2OWIzRCtxcGplOTZSSTBmd3d3OC9RS1ZTWWVmT25WMUN0Wi8zZUNJaW91R0R3UlBSTUNHUlNPRG41NGVzckN5TUhqMjYyeWZxa1BGSUpCSUVCQVRBejg4UFJVVkZTRTlQUjJKaUlsSlNVaEFTRWdJZkg1OCt2VGtpSWpLbWVmUG1ZZkxreWZyUHRWb3R2dmo5VWlUcEFBQWdBRWxFUVZUaUMrVGw1Y0hSMFZFZjlvd2ZQMTdmVCtqTEw3ODBlU05tclZhTExWdTJZT2ZPblRBM044ZktsU3YxemFHNzQrVGtoSGZlZVFldnZmWWFEaHc0Z056Y1hQenBUMy9xTVp6NXVZNHRqeDMvTmRUOCtmTVJHUm1wLzl6ZDNSM2ZmUE1OQ2dvSzhOUlRUeG4wYjJ4cGFTbmVlT01OU0NRU3ZQbm1tekF6TTlPZnE2dXJ3NkZEaC9EZGQ5OUJwVkpoOHVUSlNFOVB4NnBWcXpCbnpodzgrT0NEQ0FvSzZqVGU5T25UTVduU0pJd2JOdzZob2FGZC9vM1p2SGt6ZERvZC92M3ZmK1BJa1NPWU8zY3U1SEk1dnY3NmE4VEZ4ZUdGRjE3QTVzMmJlNnkzdnI1ZTN3RDlkcnByRWw1VVZJUzMzbm9MeGNYRjBPbDBVQ3FWQ0E4UHg2SkZpL3EwUXF6RGxpMWJjT0hDQmVUbTVnSzR1WlV1S2lxcTN3RVdFUkVOWFh6WFJEU01CQVVGSVRzN0cxbFpXUmd6Wm96UTVkd1J4R0l4Zkh4ODRPM3RqWktTRXFTbnArUGl4WXU0ZXZVcS9QejhFQmdZMktmbXJrUkV4dURnNEFBek16TmN2bndaRnk5ZXhOR2pSMUZSVVlFbm4zd1N2L3psTDVHVGs0TXpaODdnNU1tVFdMdDJMU1FTQ2NhT0hZc1pNMlpnK3ZUcHZUYnovc01mL29EVTFOUWV6OGZHeG5ZNWR2andZUlFVRk9EdmYvODcwdFBUSVpmTDhkWmJieUVxS3VxMnJ5VWtKQVJyMTY3RlgvN3lGMlJuWitOM3Yvc2RsaTFiWnRBMnNnOC8vQkFxbGNyZ29LcERXRmdZWnMrZXJmLzg5T25UK1BMTEwrSGg0ZEhqZHJKYjZYUTZ2UFhXVzdoeDR3YmVmdnR0ZUhoNG9McTZHb21KaVlpUGo4ZUZDeGVnMVdvUkZSV0Y1Y3VYSXlJaUFnME5EZmpxcTYrd2QrOWVIRHg0RUQ0K1BwZ3laUW9pSWlJUUdSbUpoUXNYOWpwbmVubzZObTNhaEl5TURFeWRPaFV2dmZRU3BGSXA1czZkaXcwYk5tREZpaFdZTTJjT25udnV1VzcvZk92cTZ2REpKNS8wNmZmcFZtNXVib2lJaU1Camp6MkdNV1BHZE9vdjFkM1hSRy9uSG5qZ0FUUTJOa0lrRXVHSko1N0F4SWtURVJvYUNwRkloRU9IRG5YNzlMMk9uay9kbmV0WWtVeEVSRU9UU05mWEh4RVJrYURPbnorUG9xSWl6SjgvdjlOUFYybndxRlFxWkdkbm83UzBGRHFkRG01dWJnZ0tDdXJ6VTVDbzcrTGk0akJuemh5aHk2QWhhTEMvTnM2Y09ZT3paOC9pbFZkZUdiUTVHeG9hOE41Nzc2R3FxZ3FWbFpYNlZTa3ltUXlUSjAvR0k0ODhndURnNEM3M0ZSUVU0T2pSbzRpTGk0TktwWUpVS3NXSEgzN1lhY1ZOYkd3c0hubmtFVHp6ekRNNGVmSWtLaXNyKzFUYnd3OC9qTFMwTkx6NjZxdnc4L1BEOHVYTDRlSGgwYWN4cXF1cnNXN2RPbFJVVk9BZi8vaUh5VUo5bFVvRlcxdGIvZmEvaG9ZR0xGbXlCRnF0RnYvNHh6KzZmWWpIMXExYjhkVlhYM1hhNXBXVWxJUzJ0alpNblRvVmNYRnhXTE5tRFlDYmZ4NnpaczNDL2ZmZjMyVlZVOGY4dTNidHdvRURCNkJXcXhFUUVJRDE2OWYzdU1ycTZOR2oyTGR2SDY1Y3VRS1pUSVlsUzVaZ3dZSUZuYlo5NjNRNmZQdnR0L2o4ODgvaDRPQ0FMVnUyd05MU1VuOCtOamEyWDgzRkRkM1c5dU9QUHhwMFhRZGZYMStFaDRkM3UzVzl0eENySnkrKytPS2c5N3NpSXFMT1JMMzBJK0dLSjZKaEpqZzRHUG41K2NqTnpVVm9hS2pRNWR5Um5KeWM0T1RrQkxWYWpaeWNIT1RuNStQNjlldXdzYkZCWUdBZ2ZIMTl1UTJQaUl4T0xwZGp6Smd4dUhMbENzTER3K0hsNVlXZ29DQ0VoSVQwK29NSVgxOWZMRjI2RkU4Ly9UVE9uVHVIeE1URUxrOUp1L2ZlZXhFV0ZnWUFtREZqUnIvcUd6VnFGRFpzMklDQWdBQ0l4ZUkrMysvbzZJaDMzMzBYYXJVYVZsWlcvYXJCRUU1T1RwMCtsOHZsZU8rOTk2RFZhbnQ4Y214a1pDUVdMVnJVNmRpdC9SYm56Sm1Ea3BJUytQajRJRG82dXRmZVdrNU9Udmo5NzMrUHA1OStHdkh4OFlpTWpPeDFhMTkrZmo0S0N3dXhjT0ZDTEZpd29OdnRraUtSQ0k4OTloanV1dXN1N051M3IxUG9CTnhzdm4zckUraHVKem82dXRzUXN5ZkdESDNZdzRtSWFPVGhpaWVpWWVqMDZkT29ycTdHdkhueklKRkloQzduanFmVmFuSHQyalZrWjJlanJxNE9VcWtVWGw1ZThQWDFoVktwRkxxOEVZVXJucWduZDhLS0o3b3phYlZhNkhRNi9rQ0RpSWlHTks1NElocGhRa05EY2ZUb1VSUVdGc0xmMzEvb2N1NTRIWTNmL2Z6OG9GS3BrSnViaThMQ1F1VG41ME11bDhQWDF4ZSt2cjVzQ0U5RVJIM0dIekFSRWRGd3grQ0phQmhTS0JSUUtwWEl5c3FDbjU5ZnR6MFNTQmdkMi9EYTJ0cFFWRlNFZ29JQ3BLU2tJQ1VsQlM0dUx2RHo4NE83dXp2ZlNCQVJFUkVSMFIyQndSUFJNQlVhR29yNCtIaVVscGIydVlFcm1aNlptUm44L2YzaDcrK1BHemR1b0tDZ0FJV0ZoVWhJU0lDWm1SazhQVDNoNmVrSloyZm5mdlZDSVNJaUlpSWlHZzRZUEJFTlU2NnVyckMxdFVWR1JnYURweUhPeHNZR28wZVBSa1JFQkNvcUtsQlFVSUNpb2lMazUrZkR6TXdNSGg0ZThQRHdnSXVMQzFkQ0VSRVJFUkhSaU1MZ2lXaVlFb2xFQ0EwTlJWSlNFbFFxVlplbjlORFFJeEtKNE9MaUFoY1hGMmkxV3BTVmxhR2twQVFsSlNVb0tDaUFWQ3FGdTdzN1BEMDk0ZXJxeWhDS2lJaUlpSWlHUFFaUFJNT1lsNWNYVWxKU2tKbVp5ZUJwbUpGSUpQcVZUdTN0N1NndkwwZHhjVEZLU2twdzdkbzFTS1ZTT0RzN3c5WFZGYTZ1cnJDMnRoYTZaREtCczJmUDRzcVZLNGlNakVSMGRIU25jNVdWbGJDM3R6ZnBrNngwT2gwYUd4c2hsVXE3UEg2ZGlJaUlpTWdZR0R3UkRXTmlzUmpCd2NHNGZQa3k2dXJxWUdkbkozUkoxQTlpc1JodWJtNXdjM1BEK1BIalVWRlJnWktTRXBTVmxhRzB0QlFBSUpmTDlTR1VrNU1USDZzOWpCUVVGT0NISDM3QWhBa1RNR1hLbEU3bnpwNDlpLzM3OTZPMXRiVlQ4S1JXcS9HblAvMEpFb2tFcjd6eUNrSkRRMDFTMi9idDIvSGxsMTlpd1lJRmVQYlpaL3QwcjFxdFJrTkRBK3JyNjFGWFY0ZmEybG8wTlRWaC92ejVKcW1WaUlpSWlJWW52bk1oR3ViOC9QeVFscGFHek14TVRKdzRVZWh5YUlERVlyRStZQUtBK3ZwNmxKV1ZvYnk4SFBuNStjakp5WUZZTElaU3FZU3JxeXVjbloxaGIyL1BKeHYyVVd4c3JFbkdEUTBOeFVjZmZkVHAyRTgvL1lRZmYvd1JOVFUxWFlLbmE5ZXVBUUI4ZlgwN0hXOXZiNGVIaHdjU0VoTHc0b3N2NHZISEg4ZVNKVXQ2REJ4N2V6M3Z2ZmNlSmt5WTBPVjRRVUVCdG0vZkRnQ0lqNC9Ia2lWTFlHVmwxZXZyZS9ubGwxRllXSWpHeGtab3RkcHVyNWt5WlFvY0hSM3gyR09Qb2FhbXB0ZnhEaDgrM090NUlpSWlJaHIrR0R3UkRYTlNxUlFCQVFISXlNaEFSRVRFYmQ4NDB2QmlhMnNMVzF0YkJBY0hRNnZWUXFWU29ieThIR1ZsWmJoeTVRcUFtMThEam82T1VDcVZVQ3FWVUNnVVhCRTFSR2cwR2h3OWVoUUFjUC85OTNjNVgxaFlDQUR3OS9mdmRGd3VsK1B0dDkvRzd0Mjc4ZW1ubitLYmI3N0J4WXNYc1h6NWNyaTd1M2M3bDBRaTZYU3VyS3dNYlcxdDNUNDFzYTJ0RFgvNzI5K2cwV2pnNU9TRTh2SnkvT3RmLzhMTEw3L2M2K3VwcUtoQWZYMDl6TTNOWVdkbnAvOXdjSENBZzRNRGxFb2xkRHBkcDN1OHZMeTZqRk5TVW9MMjl2WmU1eUlpSWlLaWtZSHZUSWhHZ0tDZ0lHUmxaU0U3T3h0anhvd1J1aHd5RVlsRW9sOE5OV2JNR0tqVmFsUldWdW8vMHRMU0FOeHNZbTVuWjljcGlHSWcyVmwzSzIyMFdpM3V1ZWNlQU1CMzMzMEh1VnplN2IxMWRYVjQ1SkZIZWh6blZ2SHg4YWlycTRPWGx4ZkdqUnZYNlZ4cGFTa2FHaG9nRm9zUkdCalk3ZjBMRml4QWNIQXdWcTVjaWRMUzBpNmh6cTJVU2lXMmJOa0NBR2hwYWNHQ0JRdGdabWFHa0pDUUx0ZXVXN2NPbVptWjhQZjN4N3AxNi9DSFAvd0IrL2Z2UjBSRUJPYk9uZHZyYXdLQWZmdjIzZmFhRGgwMTNjcVExVkJFUkVSRU5ESXdlQ0lhQVN3c0xPRHI2NHU4dkR5RWhZWEIzTnhjNkpKb0VGaFpXY0hiMnh2ZTN0NEFicTVpcWFxcVFtVmxKYXFxcXZSYjh3REEzTndjOXZiMm5UNXNiR3k2WFExRHhyTm56eDRBd0lNUFB0aGxPMlJtWmlhQW05dnNMQ3dzZWh4ajlPalIyTFJwRTFRcUZUdzhQQXlhTnlrcENTMHRMWmcrZlhxWEFHM3IxcTA0Y3VRSXJLeXM4TVliYjBBdWwyUDU4dVZZdG13WjFxMWJCeHNibXk2Tnp2dERyVmIzK3JxSWlJaUk2TTdBNElsb2hBZ0pDVUZlWGg1eWMzTVJGaFltZERra0FETXpzMDc5b2RyYjIxRmJXNHZxNm1yVTF0YWl0cllXT1RrNStpMU9ZckVZZG5aMitpREsxdFlXY3JrY01wbU1QYU9NNU9yVnF3Q0FiNzc1QnQ5KysyMm5jNDJOalFCdWJqdDc4c2tuK3p4MlpHUWsvdlNuUDNWNzd0U3BVd0NBT1hQbWREcStaY3NXZlBQTk56QXpNOFBLbFN2MTIrRDgvZjN4eGh0djRLOS8vU3ZlZWVjZHZQVFNTMTN1N1l1R2hnYTB0TFQwdUMyUWlJaUlpTzRjREo2SVJnaHJhMnQ0ZW5vaU96c2J3Y0hCa0Vna1FwZEVBaE9MeFhCMGRJU2pvNlArbUU2blEzMTl2VDZJcXEydFJVbEpDZkx6OC9YWFNDUVN5T1Z5L1llTmpZMysxektaVElpWE11eFZWVlgxZUs2bHBRWGw1ZVY5SHJPbnJXcXRyYTFJVEV5RW5aMmQvb0VER28wRzY5ZXZ4NkZEaHlDVlNyRml4UXBFUlVWMXVtL3k1TWw0N2JYWHNHYk5HcXhac3dicDZlbjQzZTkrMSsycXBhVkxsM1k3OStMRml4RVRFNE56NTg0QkFIeDhmUHI4dW9pSWlJaG9aR0h3UkRTQ2hJYUdvcWlvQ0FVRkJRZ0lDQkM2SEJxQ092by8yZG5aZFFvRm1wcWFVRjlmajRhR0J2MUhmWDA5cmwrLzNxa0p0RlFxaFpXVkZTd3RMU0dUeVNDVHlicjlOYmZ3M2RSVER5aVZTb1ZGaXhaQkxCWmo5KzdkUGZhVDZvK2twQ1NvMVdvOC9QRERrRXFseU1uSndabzFhMUJRVUFCcmEydXNYTG15eDE1d3MyZlBob09EQTFhdVhJazllL1lnUGo0ZWl4Y3Z4cng1OHpvMXJDOHFLdXIyL29hR0JtZzBHdXphdFFzQUVCTVQwKzExTXBrTU5UVTF5TXZMMHpkVzErbDBBMTVwZCtIQ0JmMzJVbE1yTGk0ZWxIbUlpSWlJaGpzR1QwUWppTDI5UFZ4Y1hKQ1JrUUUvUHorKytTZURkUVJITGk0dW5ZN3JkRHFvMWVwT2daUmFyVVpUVXhNcUt5dlIxTlRVN2RQSnpNM05ZV2xwQ1RNek00TStKQklKeEdJeHhHSXhSQ0pSdDc4ZVNWL1BaODZjQVFDRWg0Y2JOWFFDZ0JNblRnQUFwazJiQnBWS2haZGVlZ25OemMzdzhmSEJtMisrZWR0VlNGRlJVZGkwYVJQKy92ZS80L0xseTBoTVRNUjk5OTNYNlpxZUFyWFcxbGFzWDc4ZVdWbFpDQW9Ld3RTcFU3dTlMaVFrQktXbHBYajIyV2RoYm02TzF0WldiTnUyRGM3T3p2MTR4ZjhuSnllSGdSQVJFUkhSRU1QZ2lXaUVDUThQeDlHalI1R2ZuODlWVHpSZ0lwRUkxdGJXc0xhMjdoSktkV2h0YlVWVFV4T2FtNXZSMU5Tay8zVnpjelBhMnRyUTJ0cUt4c1pHdExXMW9hMnREVnF0dHQvMU9EZzQ5UHZlb2FTakI5UE1tVE9OUG5aNGVEaU9IeitPblR0MzR1MjMzOFlycjd5QzVPUmtQUHZzczdDd3NNQXZmdkVMeU9WeTdONjl1OHU5di9qRkwyQm5aNGVkTzNmaWd3OCt3TEZqeHpCcDBpU0R0KzRlUDM0Y2h3NGRncU9qSTFhc1dORnBsZFN0ZnZlNzM2RzV1UmxaV1ZuUWFyVndkWFVkY09nRUFJOC8vdmlBeHpEVW1UTm5jUGJzMlVHYmo0aUlpR2k0WXZCRU5NSW9GQXE0dXJvaVBUMGR2cjYrN1BWRUptZHViZzV6YzNQWTJka1pkSDE3ZTdzK2hPb0lwdHJiMi9VZk9wMnUyMSszdDdlanBLUmt3UFgyRkh6ZHVuS3J2YjNkb091NnU2WmpsVlpQeXN2TGNlWEtGUURBenAwNzhjTVBQeGhVTjNEekNYaC8rY3RmZXIzbXdRY2Z4S2xUcDVDUWtJRFRwMDlqMXF4Wm1EVnJWcWY2ZTN0dHQ1NmJQWHUyd2JVQndOeTVjM0g5K25YOGYvYnVQQzZxc3U4ZitHZVlZZDhFWkZXVVhXUlJYQkNVWEJITHRkVFMzQ3A5dXJOSFM4dHVzMXNyMDF2TEpTc3F0Y0pNTFMxeVMzTlhORUZaREJFUVdWUzIwRkZBVmxrRVpwamZIejdNejVFQkJoZ2NrTS83OWZLVmM4NTF6dmtlaHRUNWNGM2ZNM0hpUklYZVlvL3IyclVyVnE5ZTNheHpFeEVSRVZISHhPQ0o2Q25rNmVtSnNMQXdaR1ptd3NYRlJkUGxFQ25RMHRLQ3JxNnUwcWJWVFZGSDhQVGNjODgxT1dicTFLa3RQcGVXbGhaT25qelo0REVuVDU2RVRDWURBT1RsNWFsMG5UcDZlbnBOamhFSUJIanp6VGV4WU1FQzdOaXhvOEhsYm0wbEpTVkZ2dHhQRmR1M2IyL0Rhb2lJaUloSTB4ZzhFVDJGek0zTllXdHJpNVNVRkRnNk9uTFdFMUU3VVZOVGd6Ly8vQlBBdzVsSmh3NGR3cVJKay9EMjIyODNldHdubjN5Q2l4Y3Z3dHZiVzZYcnVMcTZ3c1BEQThuSnlVaFBUMWY3c3R1Z29DQ2wyNWN2WDQ0N2QrNUFMQmFyOVhwRVJFUkUxSEV4ZUNKNlNubDZldUxNbVROSVQwK0htNXVicHNzaGFqY2Fhb3hkVmxhR3laTW5Bd0JPbkRqUllHQmJVbEtDRjE5OHNkRnpOWGJ0NHVKaWRPdldEUXNXTEVCc2JDek9uRG1EdVhQbk50aGtQRDA5SFpHUmtSQ0pSSGpwcFpkVXZwYTN0emVTazVOeC9mcDFlZkFra1VnQW9NSGVTNnF5dDdkWHV0M1EwQkE3ZCs3RU45OThnOE9IRDJQVnFsVVlNbVJJdlhHRmhZVjQ1WlZYMU5MWGlZaUlpSWphTndaUFJFOHBNek16Mk5uWklUVTFGVTVPVHEzK29FbjB0Q3N2THdmd2NEbGJXOHdTckttcHdlN2R1d0VBTDc3NElyUzB0REI5K25SODhjVVgrUEhISDdGNDhlSjZ4MGlsVW16YXRBa3ltUXd2dnZnaXVuYnRxdkwxTEN3c0FBREZ4Y1h5YlkvZVkyczB0VHh1K1BEaE9IejRNQTRmUHF3MGVOcXpadytxcXFya1FSOFJFUkVSUGIyZW5tZFRFMUU5bnA2ZXFLcXFRbnA2dXFaTElXcjNjbk56QWZ6L3dFYmREaDA2aEx5OFBGaGFXc3FYcWozMzNITndjbkxDMGFOSEVSTVRVKytZYmR1MjRjYU5HN0N6czhPY09YT2FkYjI2d09uUjBMbXQ3N0dPdDdjM0hCd2NjUG55WlZ5OWVsVmhYMnBxS2c0ZlBneHJhMnVWK20wUkVSRVJVY2ZHNElub0tkYWxTeGQwNjlZTnFhbXA4aVUyUktSY1hVRGIwREt5MXNqUHo4ZXVYYnNBQVAvNjE3L2tqZFVGQWdIZWYvOTlhR3RyWTgyYU5VaE5UWlVmODhjZmYyRGZ2bjNRMDlQRHlwVXJvYU9qMCtSMXpwNDlpK2pvYUp3OGVSSkhqaHdCQURnNU9jbjNYNzkrSFFEUXJWczN0ZDJiTWdLQkFETm16QUFBQkFjSG83cTZHc0REWllwcjFxeUJUQ2JERzIrOEFXMXQ3VGF0ZzRpSWlJZzBqMnR2aUo1eW5wNmVPSFhxRks1ZnZ3NFBEdzlObDBQVWJrVkdSZ0tBeWcyOFZTV1R5ZkRWVjEraHNySVMzdDdlR0RseXBNSitaMmRuTEZxMENKOS8vam1XTGwyS0ZTdFdJQ3NyQ3ovKytDT0VRaUgrODUvL0tJUkhqWW1JaU1DRkN4ZmtyejA4UE5DL2YzLzU2OWpZV0FDQXU3dDdxKzZwdUxnWWVYbDU4bDkzNzk1RmJtNHU3dDY5aTNuejVzSFB6dzhqUjQ3RTRjT0hjZTNhTlh6enpUZjQzLy85WDN6MDBVZkl6YzNGc0dIRE1HellzRmJWUUVSRVJFUWRBNE1ub3FlY3Fha3BldlRvZ2JTME5EZzdPN2ZvRWZaRVQ3dUVoQVRFeDhkRElCRGdtV2VlVWV1NTkrL2ZqMHVYTGtGSFJ3ZUxGaTFTT3ViWlo1L0Znd2NQOE8yMzMrTGpqeitHVENhRHRyWTJQdnp3UTZVOWtocnk3TFBQUWxkWEZ6bzZPbkIyZHNaenp6MEhnVUFBNE9Gc283cmxmSU1HRFdyV1BlellzUU1KQ1Frb0tDZ0FnQWFibkl0RUl2bjFCQUlCbGk1ZGlvVUxGK0xFaVJPNGRPa1NDZ3NMWVc5dmozZmZmYmRaMXljaUlpS2lqb3ZCRTFFbjRPWGxoVnUzYmlFbEpRVStQajZhTG9lb1hSR0x4Vmk3ZGkwQVlOU29VYkN6czFQYnVTOWZ2b3h0MjdZQkFCWXNXQUFIQndlbDQ2UlNLWFIwZEdCb2FDaHZBRzVxYWdxcFZOcXM2L243KzhQZjMxL3B2dDkrK3cwU2lRU2VucDZ3c2JGcDFua3JLeXVSbEpRa2Y5MnZYei9ZMk5qQTF0WVdOalkyc0xLeWdwV1ZGYnAyN1NvUG5vQ0hTL29tVEppQTBOQlFGQllXQWdEZWVlZWRCcC9nUjBSRVJFUlBId1pQUkoyQW9hRWhuSjJka1o2ZURsZFhWeGdhR21xNkpLSjJJUzR1RG12WHJrVnBhU2xzYlczeDFsdHZxZTNjYVdscFdMMTZOYVJTS1VhT0hJbng0OGZYRzFOY1hJd1RKMDdneUpFajhzYmZ3NFlOUTJscEtlTGo0N0Y2OVdxNHVycmloUmRld0lnUkkxVHE4NlRNalJzMzhNY2Zmd0FBcGsrZjN1empwMCtmanVlZmZ4NUxseTVGWGw0ZU5telkwT1F4cGFXbENBa0p3WWtUSndBQVdscGFxSzJ0eFVjZmZZVFhYbnNONDhlUGIvSDlFQkVSRVZISHdlQ0pxSlBvM2JzM3NyS3lrSlNVQkQ4L1AwMlhRNlJSUlVWRjJMNTl1endVY1hCd3dHZWZmYWEybVRoMzd0ekJzbVhMVUZGUkFROFBEeXhac2tTK3I2U2tCSkdSa1RoLy9qemk0K1BsczVvOFBUMHhkKzVjOU8zYkZ3QVFIaDR1ZjZyZHhvMGJzV1hMRnZqNysyUElrQ0h3OXZhR21abVpTclVVRmhaaTFhcFZrRWdrR0RCZ0FBWVBIdHpzK3pFM053Y0FoZGxNRGFtc3JNU2ZmLzZKWDMvOUZXVmxaUkFJQkhqNTVaY3hZY0lFYk55NEVmSHg4ZGl5WlF0KysrMDNQUGZjY3dnTURFU1BIajJhWFJNUkVSRVJkUXdNbm9nNkNWMWRYYmk3dStQcTFhdm8xYXNYdW5UcG91bVNpRFRpOE9IRCtPR0hIMUJWVlFVQW1EQmhBdWJQbnc4OVBUMjFYY1BHeGdhZW5wNG9LQ2pBMnJWcm9hZW5oOURRVUVSRVJPRDY5ZXVReVdRQUhzNENHang0TUtaT25Tb1BuT29NR3pZTVE0WU13WWtUSi9EYmI3OGhOemNYWVdGaENBc0xBd0RNbkRrVGMrZk9iYlNPd3NKQ3ZQZmVlOGpOelVXWExsM3czbnZ2cWUwZUh5Y1dpM0hzMkRFY1AzNGNwYVdsQUI0MlRsKzhlREY2OSs0TkFOaXdZUVBPblR1SDdkdTNJemMzRjN2MjdNR2VQWHRnYlcyTnI3LytXaDV3RVJFUkVkSFRnOEVUVVNmaTZ1cUttemR2SWpFeGtVK1VvazVyMEtCQjJMRmpCM3IwNklFMzMzd1RmZnIwYWRieEFvRUFXbHBhVFk1WnRtd1paREtaZkJaVno1NDk4ZU9QUDBJbWs2RkhqeDRZTldvVW5uMzJXWFR0MnJYQjg0aEVJa3lZTUFIanhvM0RoUXNYOE9lZmZ5SWhJUUVlSGg2WU0yZE9rN1dhbVpsaC9QangrTzIzMzdCbXpScFlXbG8yT3Q3YTJockd4c1pObmxlWjdPeHNoSWFHQWdEczdlMHhhOVlzakJ3NVV1RnJKUkFJTUdyVUtJd1lNUUlSRVJFNGR1d1k0dVBqRVJRVXhOQ0ppSWlJNkNrbGtOWDkySldJT29YTXpFekV4c1ppMkxCaHNMYTIxblE1Uk0xeTVzd1pqQjQ5dXRYbnljdkxnNldscFVwTHg5VHA0c1dMc0xPemc2T2pZNHZQa1p1YkMxMWQzV2JOV3F5dXJsWkxQNlhRMEZEY3YzOGZyNy8rdXRMOSsvYnRnNE9EQXdZTUdLRHkxN2FrcEFRR0JnYlExdFp1VlczcSt0NVFWV1JrSktLaW90cDBGaGtSRVJGUlJ5Rm81QjkvblBGRTFNazRPRGpnK3ZYcnVIcjFLcXlzcko3NEIyK2k5c0RLeWtvajF3MElDR2oxT1ZvU0dLdXJpWGRUamNsZmZQSEZacC9UMU5TMHBlVVFFUkVSVVFmUStGb0JJbnJxQ0FRQ2VIdDdvNmlvQ0RrNU9ab3VoNGlJaUlpSWlKNWlESjZJT2lFN096dFlXbG9pTVRFUkVvbEUwK1VRRVhWWTdhbGpRWDUrUHJadjM0N0t5a3BObDlJbUVoSVNjTzNhTllXditmbno1M0hxMUNrTlZnWEV4TVJnNDhhTjliYlgxdFppMjdadFNFMU5CZkR3L1FrUEQyL3lmTFcxdFVxM1oyUmtLRDArUER3Y0dSa1p6YXk2L1hpUzl5dVZTbkhpeEFsRVJrYTI2SGdpSW1vWkxyVWo2cVI4Zkh4dyt2UnBwS1dsd2RQVFU5UGxFQkYxS0hYTEYwdEtTdHJOVTBJdlhMaUFYMy85RmFXbHBYam5uWGVhSEY5WldZbEpreWFwNWRxblQ1OVd5M2thOC8zMzMrUHUzYnY0L2ZmZklSS0pJSlBKc0hYclZsaGFXbUxNbURGdGZ2MkdaR1ptNHRTcFUxaTZkS25DOXIvKytndWhvYUd3dDdlSHU3czdkdS9lalJNblRzRGEyaHE5ZXZWU2VxN3Z2LzhlNmVucFdMOStmYjJsOENkT25NREJnd2ZyZmEzLys5Ly9ZdkxreVZpd1lJSEtOY2ZHeHFLa3BFVGw4WUdCZ1FxdkR4dzRvUEt4ajVveVpZckM2eWQxdjNWa01obENRME5SVVZHQi92MzdxL1ZwcGtSRTFEQUdUMFNkVkpjdVhlRGs1SVMwdERRNE9qckN3TUJBMHlVUkVYVVlkbloyQUI0MnFtOHZ3ZFB6enorUGt5ZFA0dWpSb3hnMWFsU1RUMnpVMDlQRDl1M2I2MjAvZWZJa1FrTkRGZllwMjZiTXVuWHJFQllXMXJJYitEL0tRcXk4dkR6Y3VIRUQ0OGFOZzBqMDhKK3ZLU2twS0Nnb2FMTDNtQ2JVMXRaaTkrN2RzTE96a3plOWYvMzExeEVWRllVTkd6YmdoeDkrZ0ZBb3JIZWNpNHNMOXUzYmg1OS8vaG12dlBKS3EycTRkT2tTOHZMeWxPNDdlZktrZkNhV0toNFBuclp1M2RxaW1oNFBudFI1djNWdTNyelo2SXlvWHIxNklTd3NETjkrKzIyRC80LzQrL3ZEeE1SRUxmVVFFUkdESjZKT3pjdkxDems1T1VoTVRJUy92NytteXlFaTZqQnNiVzFoYVdtSm1KZ1lPRHM3S3cwUjFFMHFsYUtzckt6Uk1YUG16TUhaczJkaGFHalk0SXdXSXlNakNJVkNDQVFDMk52YjE5dGYxL0Q5MFgzS3Rpbmo2K3ZiNkFmMmd3Y1B3c2pJQ0VGQlFZMmU1M0YvL2ZVWEFDZzh1ZkRvMGFNQUhzNWlhU3Jzc3JHeGVhS3plNDhkTzRaLy92a0hDeGN1VkhnZjVzeVpBMjF0N1hydmpabVpHUVFDQVFJREF4RVhGNGZkdTNmRDE5Y1h2WHYzUm1GaElRQ2dxcW9LQU9TdkgxVlZWU1hmYm1Sa0JCMGRIUncrZkJneE1URks2MU1XN2syZlBoMFdGaGJZc21XTFN2ZG9iMi9mWkJCWlo5NjhlVXI3U3FyemZ1dEVSRVJnejU0OVRkWjA4dVJKbkR4NVV1bSt6WnMzTTNnaUlsSWpCazlFblppdXJpNDhQRHlRa0pBQVoyZG5XRnBhYXJva0lxSU9RU0FRWU96WXNmamxsMTl3N3R3NWpCdzVzczNEcCt2WHIyUFJva1Vxalcyc2w5RG16WnZoNXVZR0FDZ3ZMNi8zd2I0dUZIazBLRkMycmM2allWUmdZR0M5MlRHUE9uandJTXpNekpxOVRPcjQ4ZU93dDdlSHQ3YzNBS0MwdEZRZVJxa3kreVl3TUZEdHdkUGo0Vm5kNnkxYnRtREhqaDBBSG42dE4yL2UzT1M1OXV6WkkvODcrSC8vOTM4Ukd4dUxpeGN2b25mdjN2Vm1kQ21iNFhYczJERWNPM1lNQUxCOCtYS01IRGtTYTlhc1VhaHQ1c3labUR0M3J0THI1K2ZubzdDd0VDTkhqbXl5Vm5WVDEvMCs3dEZ3TFNJaUF1Zk9uY1BISDM5Y2IxeDRlRGpDd3NLd2F0V3ExdDRLRVJFMWdNRVRVU2ZuNHVLQ2pJd014TWZIWS9UbzBmVjZMQkFSa1hLV2xwWUlEQXhFV0ZnWXhHSXgvUHo4WUcxdERWTlQwemI1czlUVzFoYUxGeTl1ZEV4d2NERE16TXdhWGJaa2JXMHQvLzNGaXhlVk5zWUdIczVTVVdWYlcvZDNTa2hJd0sxYnQvRGlpeS9LdDRXR2hxS21wZ1loSVNGd2NIQkFVRkFRcGsrZmp0ZGZmNzNWMTVQSlpDcTlmM1U5bldKaVloQWVIaTUvdlh2M2JwU1VsR0RtekpsNDZhV1g1T1BQbnorUHI3NzZDdDkvL3oyc3JLd1V6bVZvYUNqL3ZaR1JFWUtEZzJGall3TUErT1NUVHdBODdIa1VIUjB0ZjEzbmswOCtnYisvUDU1Nzdqa0FhTEIvMU9NZWJjcWVtWmtKQUhqdzRFRzladTFPVGs1d2NYRlI2Wnd0OFNUdTk1OS8va0ZFUklUU2ZUazVPV3cyVGtUVXhoZzhFWFZ5V2xwYTZOdTNMeTVjdUlETXpFdzRPVGxwdWlRaW9nNmpUNTgrc0xXMXhmSGp4M0hreUJHVmp4czhlRENHREJuU3JHdDE2ZElGRXlaTWFIUk1jSEF3akl5TW1oejN1TG9sY0FDd2QrOWUvUERERHdxQmtySnRCdzRjYUhHdm4rYjQ3YmZmQUVBK28remV2WHM0ZE9nUWhnNGRDZ2NIQjdWZWErWEtsYmh5NVFyV3JsMHJuMTNWa0xxRzVvV0ZoUWdQRDhlWU1kZFY5cmNBQUNBQVNVUkJWR053N3R3NVhMeDRFY0REQnZSMVgxTUE4a2JXaG9hR0N0dVZxUXRoQUNBZ0lBREF3d0JPSUJESVh6L0sxdFpXNmZiR0tBc2NqeDQ5S2wvQ1dHZm16SmxLZzZmeThuS1ZueWhZWGw3ZTZQNjJ1TitKRXlmaXdZTUhDdHNhVytMNTZMNG4wU3lmaUtnellmQkVSTEMxdFlXTmpRMlNrcEpnYjI4UGJXMXRUWmRFUk5SaFdGcGFZczZjT2JoejV3N0VZakdxcTZ1YlBLYXBYa24wVUdwcUttSmpZeFcyZmZQTk42aXBxY0djT1hQVWZyMlVsQlJVVmxZaUl5T2p5ZUJKbVFNSERtRDQ4T0U0Zi81OHM0ODlkZXFVUXUrblIyZExBUTluWXFsYlk4dnZnTWFEbXNMQ3dnWm55Nm1pcmU5MzY5YXQ4blA4K2VlZk9IandvTktlVkkzdEl5SWk5V0R3UkVRQWdMNTkrK0xVcVZPNGR1MGFmSHg4TkYwT0VWR0hJaEFJWUdkbkozL2FYVWR6Ky9adCtkTk5WZTN4VkZ4YzNPWjEvZmpqajlEVzFrWk5UUTBBSUNNakE1R1JrWmc4ZVhLOTJVN1oyZGxLbTR6cjYrdXJQTHRzL2ZyMVNFOVB4NGdSSTFwVTc2cFZxeUFVQ25IKy9IbnMyTEZEM3V2cFViTm56MVo0UFhic1dDeFpzZ1I3OSs1RlZsYVdmUHZqUVV4dGJXMmJMb2MvZnZ3NHpwMDdodzBiTnFnMHZyWE54ZHY2ZnJ0Mzd5Ny9mV1BOOFZWdG5FOUVSQzNINEltSUFBQW1KaVp3ZFhYRmpSczM0T0RnMEc0ZUQwNUVSSXJFWW5Hait5VVNTWU5qQkFJQmJHMXQ2MjEvNjYyMzZtMVR0Y2RUVy9ucnI3OFFIeCtQdVhQbjRxZWZmZ0x3c04vUTh1WEw0ZWZuVjI5OGRIUTBvcU9qNjIyM3M3TlRPWGh5ZEhTRW82TmppK29ORGc1R1pHUWtQdi84Y3dEQTVNbVRNWEhpUlBuK3FLZ29oSVNFWU1PR0RlamF0YXQ4ZTExL3A1Q1FFQURBcmwyNzhQUFBQd09Bd3ZMTnVqNU15cFowWm1abUttd2ZOMjRjdExTMG1sWC83ZHUzY2VYS2xXWWQweHFhdU4vbVBrMlJpSWpVZzhFVEVjbDVlbm9pSnljSGx5OWZ4cWhSbzlob25JaW9IWHIxMVZjYjNYL256cDBHeDJocmE4dWZCZ1lBUFhyMHdLUkprL0RHRzI5QVYxY1h3TU1BWitmT25Yam5uWGNhYmR5Y2tKRFE2TlB6V2lzaUlnS3VycTZZTm0yYVBIZ0MwT0NUMTlUVlhGd1ZFb2tFcDArZlJteHNySHdwNEpFalI5QzFhMWY1MzUybXBxWUtzMml1WDc4TzRHRVE5bWlEOThZRUJ3ZXJ0QzArUGg3eDhmSHkxMlBHaklHT2pvN3FOOVJPcU9OK2EycHFJQklwLzRqVDJGSTdJaUpxT3d5ZWlFaE9KQktoWDc5K2lJeU1SRVpHQnB5ZG5UVmRFaEVSUFdiNTh1VU43dnYwMDA5aFlXR0IrZlBuSzkxZjE2QWJlTGhzenREUUVDKzg4QUx5OHZJQUFGS3BGTjk4OHcwa0VnbTB0YlhyTFk5NmxMbTVPVjU0NFFYazVPVEEzTnhjNGNsczZqQmp4Z3dZR0JnMEdDSm9VbFZWRmI3NDRndUZiWjk5OWhrR0RCaWcxaC9hUE5ya2V1Yk1tYkN5c3NKWFgzMmxNQ1lvS0FpVEowL0dnZ1VMV25VdHFWVGFyTnJWMlZ5OGpqcnV0N0t5VWg1Q1NhVlNBTUMwYWRNd1pjb1VwV0hjL1Buek1YLytmRWlsVW1ocGFmR0hia1JFYmFEOS9VMU9SQnJWclZzMzJOcmE0dXJWcStqV3JadjhLVHhFN1lGUUtJUlVLbFg0OEV6VTJiNG5HcHJ4QXp3TW5nd01EQm9kVTZlcFpYTU5oVmZLTEZteUJHUEhqbFY1dkNxVVBVbXR2VEEwTkVSZ1lDQ2VlZVlaWkdSazRPZWZmOGJBZ1FNVnhwU1VsQ2dFZHdVRkJRQlFyd0c5b2FFaHpNM05HNzFlVmxZVzh2UHpNV3JVS0RYZWhhTHk4dkptaFlldGJTN2VtTmJjYjNGeHNieHYwM1BQUGRlc1l6Ly8vSFAwN2R1MzJkY2tJcUxHTVhnaW9ucjY5ZXVIa3lkUElpRWhRV2tmRFNKTjBkZlhSMWxabWZ4REJSRUFsSldWeVJ0amsrb2VmMlQ4a1NOSEVCd2NqQlVyVmlodHJwMmFtb3AzMzMwWG5wNmUyTGh4WTd1YkdSSWFHb3JRMEZDbCsvYnMyUU5MUzB1MVh1K0REejRBQU55NmRVdnAvb01IRHlwZHd2WCsrKzhydks1ckx0Nll1dnNhUG54NFMwcVZLeWdvUUVKQ2d0SlFMenM3VzJuL3I0YTB0cmw0WTFwenYyS3hHRlpXVmdDQW5UdDM0c0dEQi9qd3d3K2hyNitQRlN0VzFQdUIydTNidC9IcHA1L0N5c3FLTTcySmlOb0lneWNpcXNmUTBCQ2VucDVJVEV5RW82T2ovQjl3UkpwbWFXa0pzVmpNNElrVWlNVmloV2JOMUh3WkdSbjQ3cnZ2WUc1dURtMXRiVHg0OEVEaEEvcU5HemZ3NFljZndzVEVCTXVXTFd0M29STUErUHY3Ti9nME9oTVRFNVhPVVZGUmdZS0NBclU4NGV5MTExN0RyRm16NUsvRHdzS3didDA2L1BMTEx5cjNlQUtBQ3hjdTRNeVpNeGc0Y0NCY1hWMmJWY1BkdTNlUmxKUUVBTmkvZnovMjdOa0RBRmkyYkpuQ3VJS0NBcVNtcG1MQ2hBbk5PbjliYU0zOTF0VFU0SjkvL3NHNGNlTUFRUDZVeVRWcjF1RGYvLzQzUHYvOGM2eGN1VkwrOVE4UEQ4ZVhYMzRKZTN0N3JGbXpCa1pHUnVxOUdTSWlBc0RnaVlnYTRPcnFpdXpzYkZ5K2ZCbGp4b3pwVk10WXFQM3EyYk1ub3FPalVWUlVCRE16TTAyWFErMUFVVkVSQ2dvS01IandZRTJYMHFHWm1abmhqVGZlUUVSRUJGYXZYZzJoVUlnK2ZmckF6ODhQRW9rRU8zZnVoS0doSWRhdlg2LzJtVVBxMHJOblR3UUdCcmJxSElzV0xVSjJkbmFEczc2ZWhMdDM3d0lBYW10cjhkZGZmMkhqeG8wd05qYkdPKys4MDZ6ekxGeTRVTjdRWEU5UEQ1NmVudkR4OFlHUGp3OWNYVjBSR2hvcS8zTTBKQ1FFdGJXMU9ISGlCRXhNVFBEeXl5OURWMWNYRGc0T2JmNW5yYnJ1RndBU0V4TWhrVWpnNGVHaHNOM0p5UW5Cd2NINDZLT1A4TVliYjJER2pCbElUazVHVkZRVXhvOGZqNFVMRjBKYlcxc3Q5ME5FUlBVeGVDSWlwYlMwdERCZ3dBQ2NQWHNXYVdscDlmNFJSNlFKSXBFSUhoNGVTRXBLZ3BlWEY4T25UcTZvcUFoSlNVbnc5UFRzRk9GNFpXV2xTdU5rTWxtVFkvWDE5UlZlbTVtWllkS2tTWmcwYVJLS2k0dHgrdlJwN055NUU1Y3ZYNWFQZWVhWlozRC8vbjNVMXRZcWZYVDkvdjM3VVZwYTJtUjlKU1VsQ2srcFUyYnUzTGxObnFjdHlHUXloZjgrU2JXMXRRZ09Ec2JwMDZjaEVBancrZWVmWTlxMGFYQnpjOE5iYjczVnJGbFNBREIwNkZENCtmbWhmLy8rY0hkM3I5ZWtQU1FrQkRLWkROOS8vejNDd3NJd1pzd1lHQmtaWWMrZVBUaHo1Z3plZnZ0dGhJU0VOSGorMHRKUzdOMjdWNlZhbEgxZnFQdCtnWWZMUjRWQ0lYeDlmZXZ0czdXMXhadzVjN0JwMHliOCtPT1BBQUFmSHgvTW1ER0RvUk1SVVJzVHlEVHhOeXNSZFJpWEwxOUdWbFlXZ29LQ1ZGNnFRTlRXQ2dzTGtaeWNEQXNMQzlqWjJjSEl5S2hUQkEvMHNKRjRXVmtaeEdJeENnb0s0T0hoMFdSajVxZEZVRkNRMnM1MThPQkJoV1ZGTlRVMXlNN09Sa3BLQ3E1Y3VZSy8vLzRiRHg0OGdMdTdPNFlPSFlxNHVEakV4OGRES3BYQ3lNZ0l2cjYrOFBmM3g2QkJnK1RuZWZYVlZ5RVdpOVZTMytQOXA0S0NnakI5K25TOC92cnJTc2MzdFY5VjVlWGx5TS9QaDRPRFE1TmpjM0p5SUJLSnNIUG5Ub1NIaCtQWXNXTUs5VFRIZDk5OWgxMjdkaUV5TWhJelpzeUFvNk1qMXE5ZkQxTlRVenp6ekRQbzFxMGI5UFgxSVJLSklCS0pJQlFLSVJRS0laRklVRk5USS85VjkzckNoQWxOTmdwUFNVbkJsaTFia0pxYWlvQ0FBSHo0NFljUWlVUklUMDlIY0hBd1VsSlNNSHIwYUN4Y3VMRGVFclNXZmk4KytyNnVYTGxTcmZkYlVGQ0FOOTU0QXdFQkFmam9vNDlRVzF1TDdPeHNYTHQyRFZldVhFRnNiQ3dxS2lyZzR1S0NzV1BISWlrcENlZlBuMGR0YlMyY25aM2g0K01ETnpjM2RPL2VIVDE3OW9TdXJtNkw3cEdJcUxNU05MSU9uek9laUtoUjN0N2VFSXZGK1B2dnZ6RnExS2gyMmRlRE9oOXpjM1A0Ky9zak96c2JxYW1wcUtpb2tEODJtNTV1UXFFUUJnWUc2TnExSy96OS9ldk40bmlhTFY2OFdHM24wdFBUUTNWMU5UNysrR09JeFdMazVlWEoveC9xM3IwN0preVlnRkdqUnNsNzdFeWJOZzJscGFXNGVQRWl6cDgvai9Ed2NKdzdkdzY2dXJyWXRXc1h6TTNOc1hQblRyWFZweW1HaG9ZcVA5bnRzODgrdzQwYk53QUFBd1lNcUxkLzh1VEptRGh4b2tybnNyR3hnWW1KQ1Y1ODhVWDUwd1lkSEJ5d2YvOSt4TWJHNHVUSms2aXFxbExwWEZaV1ZwZytmWHFEKzgrZVBZdWpSNDhpTVRFUit2cjZtRDkvUHFaT25Tci8rOTNaMlJuQndjSFl1M2N2ZnZycEp5UWtKR0Q3OXUzMW1uSzN0cm00dXUvM3lKRWprTWxrbURWckZnNGVQSWh0MjdiSm54N1lvMGNQVEp3NEVTTkdqSkEzVnA4MGFSTG16NStQYytmT0lTb3FDb2NPSFlKRUlvRklKTUxQUC8vTTRJbUlTSTA0NDRtSW1pUVdpM0h4NGtYMDZkTUh2WHIxMG5RNVJFU2tKdDkrK3kzdTNidUhIajE2d01YRkJSNGVIaW8xYWk4cEtVRkVSQVJxYW1vd2VmTGtOcTl6NDhhTjhQUHp3N0JodzFxMHZ5M0V4TVFnTHk4UEppWW1HRFJva01MeXhkV3JWMlBreUpFWU9uU295dWU3Zi84K2pJeU1HdjBCajBRaWtmK3FyYTJWYjY4N1JpQVFRQ1FTMVF1Skh2WGpqei9pK1BIakdEdDJMS1pPbllvdVhibzBPRFlqSXdOSGp4N0YyMisvcmJCOTNicDFzTEN3d0wvKzlTK1Y3aTBrSkFRRkJRWHlKd0VDNnI5Zm1VeUd5TWhJQkFRRW9LaW9DUHYyN1lPYm14czhQVDFWK3A2dXFxcENabVlteXNyS01IRGdRSlh1aTRpSS9yL0daand4ZUNJaWxjVEV4T0QyN2RzSUNncUNzYkd4cHNzaElpS2lGcEJLcFpESlpKMXF0aUFSRWJXOXhvS24rcDBoaVlpVThQSHhnVWdrUW14c3JFYWFyaElSRVZIckNZVkNoazVFUlBSRU1YZ2lJcFhvNnVxaWYvLyt1SGZ2SG03ZXZLbnBjb2lJaUlpSWlLZ0RZUEJFUkNycjNyMDd1bmZ2anF0WHI2S3NyRXpUNVJBUkVSRVJFVkU3eCtDSmlKcWxYNzkrRUFxRlhISkhSRVJFUkVSRVRXTHdSRVROb3FlbmgzNzkraUUvUHgvcDZlbWFMb2VJaUlpSWlJamFNUVpQUk5Sc1BYcjBnSjJkSFJJVEUxRmFXcXJwY29pSWlJaUlpS2lkWXZCRVJDMHljT0JBYUd0ckl5WW1CclcxdFpvdWg0aUlpSWlJaU5vaEJrOUUxQ0s2dXJydzlmVkZjWEV4a3BLU05GME9FUkVSRVJFUnRVTU1ub2lveFd4c2JPRHE2b3EwdERUazUrZHJ1aHdpSWlJaUlpSnFaeGc4RVZHcmVIdDd3OVRVRkRFeE1haXVydFowT1VSRVJFUkVSTlNPTUhnaW9sWVJDb1h3OC9ORFZWVVY0dUxpTkYwT0VSRVJFUkVSdFNNTW5vaW8xVXhOVGRHblR4L2s1T1FnT3p0YjArVVFFUkVSRVJGUk84SGdpWWpVd3NYRkJUWTJOb2lMaTBONWVibW15eUVpSWlJaUlxSjJnTUVURWFtRlFDQ0FyNjh2aEVJaG9xT2pVVnRicSttU2lJaUlpSWlJU01NWVBCR1IydWpwNldIUW9FRW9MQ3hFUWtLQ3Bzc2hJaUlpSWlJaURXUHdSRVJxWldOamc5NjllK1Btelp2SXljblJkRGxFUkVSRVJFU2tRUXllaUVqdFBEMDlZV1ZsaGRqWVdOeS9mMS9UNVJBUkVSRVJFWkdHTUhnaUlyVVRDQVR3OS9lSHRyWTJvcUtpSUpWS05WMFNFUkVSRVJFUmFRQ0RKeUpxRTdxNnV2RDM5MGRwYVNuaTR1STBYUTRSRVJFUkVSRnBBSU1uSW1velhidDJSWjgrZlpDVmxZWE16RXhObDBORVJFUkVSRVJQR0lNbkltcFRibTV1Nk5hdEcrTGk0bEJjWEt6cGNvaUlpSWlJaU9nSll2QkVSRzNPMTljWEJnWUd1SGp4SXFxcXFqUmREaEVSRVJFUkVUMGhESjZJcU0xcGEydGp5SkFocUs2dVJtUmtKR3ByYXpWZEVoRVJFUkVSRVQwQkRKNkk2SWt3TlRYRm9FR0RjTy9lUFZ5NWNrWFQ1UkFSRVJFUkVkRVR3T0NKaUo2WWJ0MjZ3Y3ZMQ3hrWkdiaDU4NmFteXlFaUlpSWlJcUkySnRKMEFVVFV1ZlR1M1JzbEpTV0lqNCtIc2JFeHJLMnROVjBTRVJFUkVSRVJ0UkhPZUNLaUo4N1gxeGRkdW5SQlZGUVV5c3JLTkYwT0VSRVJFUkVSdFJFR1QwVDB4QW1GUWdRRUJFQW9GT0xDaFF1b3FhblJkRWxFUkVSRVJFVFVCaGc4RVpGRzZPdnJJeUFnQU9YbDVZaU9qb1pNSnROMFNVUkVSRVJFUktSbURKNklTR1BNemMweGNPQkEzTDE3RjVjdlg5WjBPVVJFUkVSRVJLUm1iQzVPUkJyVnMyZFBsSmVYNDlxMWE5RFgxNGVucDZlbVN5SWlJaUlpSWlJMVlmQkVSQnJuNGVHQnlzcEtKQ2NuUTE5ZkgwNU9UcG91aVlpSWlJaUlpTlNBd1JNUnRRdjkrL2ZIZ3djUEVCY1hCejA5UGRqWjJXbTZKQ0lpSWlJaUltb2w5bmdpb25aQklCREEzOThmNXVibWlJNk9Sa0ZCZ2FaTElpSWlJaUlpb2xaaThFUkU3WVpRS01Renp6d0RBd01EWExod0FmZnYzOWQwU1VSRVJFUkVSTlFLREo2SXFGM1IwZEhCc0dIRElCUUtFUkVSZ1FjUEhtaTZKQ0lpSWlJaUltb2hCazlFMU80WUdCaGc2TkNocUs2dVJuaDRPS3FycXpWZEVoRVJFUkVSRWJVQWd5Y2lhcGRNVFUwUkVCQ0Fzckl5aEllSG82YW1SdE1sRVJFUkVSRVJVVE14ZUNLaWRzdlMwaElCQVFFb0tTbEJlSGc0SkJLSnBrc2lJaUlpSWlLaVptRHdSRVR0bXJXMU5ZWU1HWUxpNG1KRVJFUXdmQ0lpSWlJaUl1cEFHRHdSVWJ0bmEyc0xmMzkvRkJRVTRPTEZpNUJLcFpvdWlZaUlpSWlJaUZUQTRJbUlPb1J1M2JyQno4OFArZm41aUl5TVJHMXRyYVpMSWlJaUlpSWlvaVl3ZUNLaURzUGUzaDYrdnI2NGUvY3VvcUtpR0Q0UkVSRVJFUkcxY3d5ZWlLaEQ2ZG16SndZT0hBaXhXTXp3aVlpSWlJaUlxSjBUeUdReW1hYUxJQ0pxcm95TURGeStmRm5lZkZ3a0VtbTZKQ0lpSWlJaW9rNUpJQkFJR3R6SDRJbUlPcXJzN0d6OC9mZmZNRGMzeDlDaFE2R3RyYTNwa29pSWlJaUlpRG9kQms5RTlOU3FXM0puWW1LQ1ljT0dRVmRYVjlNbEVSRVJFUkVSZFNvTW5vam9xWmFYbDRlTEZ5OUNYMThmdzRZTmc0R0JnYVpMSWlJaUlpSWk2alFZUEJIUlU2K3dzQkFSRVJFUWlVUVlQbnc0akl5TU5GMFNFUkVSRVJGUnA4RGdpWWc2aFpLU0VvU0hod01BaGcwYkJsTlRVdzFYUkVSRVJFUkU5UFJqOEVSRW5VWlpXUm5PbnorUG1wb2FEQjQ4R05iVzFwb3VpWWlJaUlpSTZLbkc0SW1JT3BYS3lrcGN1SEFCSlNVbEdEQmdBQndkSFRWZEVoRVJFUkVSMFZPTHdSTVJkVG9TaVFUUjBkRzRjK2NPM04zZDRlWGxoVWIrTENRaUlpSWlJcUlXWXZCRVJKMlNUQ1pEZkh3OGJ0NjhDWHQ3ZS9qNitrSW9GR3E2TENJaUlpSWlvcWNLZ3ljaTZ0UnUzTGlCaElRRW1KdWJJeUFnQUxxNnVwb3VpWWlJaUlpSTZLbkI0SW1JT2oyeFdJeVltQmpvNnVwaTZOQ2hNRFkyMW5SSlJFUkVSRVJFVHdVR1QwUkVBSXFMaTNIaHdnVklwVkw0K2ZuQnhzWkcweVVSRVJFUkVSRjFlQXllaUlqK1QyVmxKUzVldklpaW9pSjRlSGpBdzhPRFRjZUppSWlJaUloYWdjRVRFZEVqcEZJcHJseTVnc3pNVE5qWTJNRFB6dzg2T2pxYUxvdUlpSWlJaUtoRFl2QkVSS1JFWm1ZbTR1TGlvS2VuaHlGRGhzRE16RXpUSlZFelNDUVNaR2RuSXo4L0g1V1ZsWkJLcFpvdWlhalpoRUloOVBYMVlXbHBpWjQ5ZTBJa0VtbTZKQ0lpSXFKbVkvQkVSTlNBb3FJaVJFVkZvYkt5RXYzNzk0ZWpvNk9tU3lJVkZCWVdJams1R1JZV0ZyQ3pzNE9Sa1JHRVFxR215eUpxTnFsVWlyS3lNb2pGWWhRVUZNRER3d1BtNXVhYUxxdmR1SHIxS2xKVFUvSFNTeTgxKzlqVTFGVGN1SEVEWThlT2JiTkFMelUxRlFVRkJSZ3laRWk3VzdaZFcxdUxjK2ZPUVY5ZkgwT0dETkYwT2NqS3lvS3hzVEVzTEN3MFhRcUI3d2NScVIrREp5S2lSbFJYVitQU3BVdTRjK2NPSEIwZDBhOWZQNFlZN1ZoaFlTR3VYYnNHTHk4dnpsS2pwMHBSVVJHU2twTGc2ZW5KOE9uL2JOdTJEYUdob1RoOStuU3pqOTI0Y1NOaVltSVFHaG9xL3pOZEpwT2h2THdjcGFXbDhsL0Z4Y1VvS2lwQ1VWRVJDZ29LOFB6eno4UEx5MHVsYTN6d3dRZElTRWpBOGVQSG0xMWZXNnVxcXNLOGVmTlFXMXVMblR0M05tdEorWll0VzNEdzRNRm1YN09oOTBrbWsrSE5OOTlFZVhrNWR1N2NDYUZRaUNOSGpqUjVQaTh2THpnNE9EUTVycXFxQ25sNWVTclZhR0ZoQVFNREE1WEdxa3RzYkN4S1NrcFVIaDhZR0tqdytzQ0JBeTI2N3BRcFU1UnU3K3p2QnhHMWpjYUNKODduSnFKT1QwZEhCd0VCQVVoSlNjRzFhOWRRVkZRRVB6OC9tSmlZYUxvMGVveEVJa0Z5Y2pKREozb3FtWm1ad2N2TEM5ZXVYWU8vdjMrbldYWVhGQlRVcWpFbUppYll2Mysvd3JhcXFpcGN1SEFCZ1lHQlNFcEt3b1lORzFCZVhvNktpZ28wOUROWGdVQUFZMk5qOU8vZlgrWGdxYlMwVktOL1Y0U0ZoVFc2Mzh2TEMyZlBuc1hXclZzYnZTZERRMFA0Ky92WDIvN0JCeCtvVk1lWk0yY1FHeHZiNFA0TEZ5NGdJeU1ESDN6d2dUd0VEQTRPYnZLOGI3MzFsanpvK005Ly90UGdOYjc4OGt1OCsrNjdLdFg2d1FjZjFBdDIxT0hTcFVzTmhpMG5UNTVFYW1xcXl1ZDZ2TDZ0VzdlMnFLYUdncWZPOEg0UVVmdlNPZjVGUTBUVUJJRkFJRi9pY3VuU0padytmUnA5K3ZTQmk0dEx1MXMrMFpsbFoyZkR3c0tDb1JNOXRjek16R0JoWVlIczdHdzRPenRydXB3bll2djI3UTN1Mjdkdkg0NGRPOWJvR0dVelZNK2NPWU9LaWdxTUhqMGExdGJXOFBiMmhyNitQZ3dORFdGZ1lBQURBd09jUFhzV0tTa3AyTHg1TTh6TXpHQm1adGJzc08vZXZYdXdzckpxMWpIcXRHN2RPcFhHSFRseXBORVpMUTRPRGtxREoxVURnYlMwdEFaRENJbEVnbTNidHNIYjIxdmhmQTNOanBKSUpGaStmRG15czdNVmxnaE9uejRkbzBlUFJtVmxKWUtEZ3pGKy9IaDRlM3NySFB2MTExK2pkKy9lQUI3T0V0cTZkYXY4T29XRmhaZytmYnBLOTlNU2h3OGZSa3hNak5KOXl1NTErdlRwc0xDd3dKWXRXMVE2djcyOWZhUC9IenhxM3J4NXlNbkpVYnF2czd3ZlJOUytNSGdpSW5xRWpZME5ubjMyV2NUR3hpSStQaDVpc1JpREJnMkN2cjYrcGtzakFQbjUrZkoveEJJOXJlenM3SkNhbXRwcGdpZDdlL3NHOXhrYkd6YzU1bkV5bVF6NzkrK0hnNE1EUER3OEFDaWZ1Wk9hbW9xVWxCUzR1YmsxcytLSEtpb3FVRlJVSkwrR0pwdzRjVUxoZFZSVUZDb3FLaG9NakhKemN4RWZINDh4WThZby9GQ2xMWC9Bc25mdlh1VGw1V0hWcWxVQWdNVEVSSGg1ZVVGTFM2dmUyT3JxYXF4ZXZScXBxYW5Zc0dFRExDMHQ1ZnQ4Zkh3QUFDVWxKUWdPRG9hSGg0ZjhQcE9Ta3Rxc2ZsV3RXYk5HL3Z1Z29DRE1uRGtUYytmT1ZUbzJQejhmaFlXRkdEbHk1Sk1xVDY2enZCOUUxTDR3ZUNJaWVveXVyaTRDQWdLUW1abUorUGg0bkR4NUVnTUdER2pXQng5cUc1V1ZsVEF5TXRKMEdVUnR5c2pJQ0JVVkZab3U0NGxxYXJsZFEvdVZMYk9MaW9wQ1RrNE9wazZkcXJiNmxNbk16QVFBM0x4NVU2M25sY2xrS2dkQmo4NzJrc2xrT0hqd0lKS1RrOUd0V3pkNGVucldHNzkxNjFaRVIwZkQxdFlXL2ZyMVUxdk5EY25KeWNIUFAvK01tVE5ud3NIQkFkZXVYY08vLy8xdkxGNjhHT1BIajFjWWUrL2VQYXhhdFFvNU9UbFl0MjRkM04zZG0zMjkzTnhjK2Q4UnhjWEY4aG9BTkt2SFVsczRkZXFVL1BkMTN6c1BIanhRMkE0QVRrNU9jSEZ4YVpNYStINFFrYVl3ZUNJaWFvQ2pveU1zTFMxeDZkSWxSRWRIUXl3V28zLy8vdERXMXRaMGFaMldWQ3BsNDNkNjZnbUZRa2lsVW8xZC84YU5HMGhJU0lCWUxFWk5UWTFLeHd3ZVBMaFZUMDVyYUFsUlUwdnRIdi96b0xhMlZqNjJyWmRKcDZTa0FIajQ0VG83T3hzOWUvWnM5VGxYcmx5SksxZXVZTzNhdGZXV0xUVkZJQkJneFlvVm1EOS9QdGF1WFl1dFc3ZkMxTlJVdmo4OFBCelIwZEdZT25XcXlxRlRkWFcxU3VOcWEydVZIcnRtelJvNE9EaGd4b3dacUs2dXhwZGZmZ2xuWjJlTUhUdFdZZXlaTTJld2VmTm1sSldWb1V1WExraE9Ub2FUa3hQMDlQUlV1bjZkdFd2WDF0czJiOTY4WnAyanJXemN1TEhldHFOSGorTG8wYU1LMjJiT25LazBlQ292TDY4WFVqV2t2THk4M2phK0gwU2tTUXllaUlnYVlXUmtoSkVqUnlJMU5SWFhybDNEdlh2MzRPdnJxOUdlSGtSRWJhR3lzaEpoWVdGSVMwdURoWVVGWEZ4Y1lHcHFxbEtBMDlJWm9mbjUrUURRNEFmYXVwNUxqWDNnemMvUGg0Nk9Ea3hOVFhIeTVFbGtaMmUzcUpibWlvdUxnNWFXRnJTMXRSRVJFYUdXNENrbEpRV1ZsWlhJeU1ob2R2QUVBT2JtNW5qbm5YZVFsSlNrOERVckxpN0cxMTkvRFI4ZkgvenJYLzlTK1h5UHo0SnBqbHUzYmlFakl3TmFXbG9ZTjI0Y1pESVpoRUlodnZubUcvbXlydGpZV096YXRRc3BLU2tZTm13WTVzK2Zqd01IRHVESEgzL0ViNy85aHBkZWVna3Z2UEFDZEhWMVZicG1lKzhwMU5qeU82RHhtWCtGaFlWS3d5dFY4ZjBnSWsxaThFUkUxQVNCUUlEZXZYdkR4c1lHTVRFeE9ILytQSHIyN0ltK2ZmdXEvSTh2SXFMMnJMYTJGdnYzNzBkcGFTa21UcHpZNHI1SHpUVno1a3kxakhOM2Q4ZnExYXNSRWhLQ25qMTd0bm40VkY1ZWppdFhyc0RUMHhOZHVuVEJ5Wk1uTVd2V3JGYlBzbHEvZmozUzA5TXhZc1FJbFkvNTVwdHZjUGp3NFhyYjkrM2JWMjliZkh3OG5udnV1WHJiZCs3Y0NUczdPL2xyZTN0NzlPdlhyOTVNbUlha3BLUWdLeXRMWVp1VGt4UFdyVnNIWTJOalhMOStIY0hCd1pnMmJScnM3T3p3MjIrLzRkU3BVOGpKeVlHZG5SMVdyVm9sbnpIMzVwdHZZdno0OGRpOGVUTzJiZHVHL2Z2M1kvYnMyZkR5OGtKbVppWXFLeXNCQU1uSnlSQUtoVEEwTk95UVM3Q1BIeitPYytmT1ljT0dEU3FOYjIxemNiNGZSS1JKREo2SWlGUmtabWFHb0tBZ0pDY25JeTB0RFhmdTNFR2ZQbjNnNk9pbzZkS0lpRm9sT2pvYStmbjVtRFZyMWhPZDBha3NNR2tKTFMwdGJOaXdBV1ZsWlZpOWVyWENvOXgzNzk2dDlKaTZQanZLOXZ2NitqWWF2cDA3ZHc0U2lRUkRodzZGaFlVRklpSWljT25TSmZqNStiWHFQaHdkSFZ2OGQ4clNwVXRiZk4wdVhib292SjQ0Y1NJbVRweW84dkVOTmNrZU1HQUFLaW9xc0hyMWFqZzdPK09WVjE0QjhMQXB1a2drd3BJbFN6Qm16Smg2U3lidDdlMnhidDA2bkQ1OUd0OTk5eDN5OC9OeC92eDU3Tm16Uno2bWJwbWF2YjA5bGl4WkFxQmo5UlM2ZmZzMnJseTU4a1N2eWZlRGlEU0Z3Uk1SVVRNSWhVSjRlM3VqUjQ4ZWlJdUxRMnhzTExLenM5Ry9mMytZbUpob3Vqd2lvbWFyckt4RVRFeU1ScFlSMXoweHRMUzB0RVVmUk0zTnpXRm9hQ2cveDlTcFUrSGw1YVV3WnNlT0hZMmVROWwrSXlPakJvTW5tVXlHUC83NEE5cmEyZ2dNRElTQmdRSE16TXl3ZS9mdVZnZFByVEZtekpoV255TWpJNlBSWnVsMTExQjFIQUI4K2VXWEtDNHV4dHExYStWTEo3LzY2cXQ2WVpjeVFVRkJHRFJvRUl5TmphR2xwWVc1YytlaXBLUUVMNzc0SXBZdVhTcS9UdDFUMU5oVHFHbDhQNGhJRXhnOEVSRzFnS21wS1VhTUdJR3NyQ3drSmliaTlPblQ2TldyRjNyMzdzM20xMFRVb1dSbVpxSzJ0bGFqc3pmLy9QUFBKZ01pWlpZc1dTSmZEalozN2x5bFlWRmRUNW5IclZ1M0RtRmhZUTN1YjhoZmYvMkY3T3hzakJrelJ2NERoNGtUSjJMWHJsMElEdy9Ic0dIRG1ua1hyVk5iVzZ1MnYzZWlvcUlhZlIvcWdnVlZ4LzMrKysvNDY2Ky9NSHYyYkJRVUZDQWhJUUU1T1RsNCtlV1hNWFhxVkpTV2xqWlpreXJ2ajZHaElmcjA2WU5GaXhiSmUyMDkzbFBvL3YzNytPU1RUMVFLV0o0RXFWVGFyS1daclcwdUR2RDlJQ0xOWWZCRVJOUkNBb0VBam82T3NMT3pRMkppSWxKU1VwQ1RrNFArL2Z2RDJ0cGEwK1VSRWFta2JxYVJwYVdsaGl1cC82RTJMeThQK2ZuNThQVDBWTml1ckRHeGg0ZEhtOWRYVVZHQmtKQVFDSVZDeko0OVc3NTl5cFFwSHA1UmRBQUFJQUJKUkVGVU9IRGdBRFp2M296Ky9mcy8wUjQzVlZWVjBOSFJVZXM1SDM4ZmR1L2VyVFJvYW15Y1JDTEJUei85QkFENDVaZGZBQUFHQmdibzFxMGI5UFgxTVgvK2ZJV241a1ZFUkNBdUxnNkxGeTl1ZHIyT2pvN1l0R2xUbzJPTWpZMmJIUE1rbFplWHkyZnJxYUsxemNYNWZoQ1JKakY0SWlKcUpWMWRYZmo2K3NMQndRR1hMMTlHZUhnNGJHeHMwS2RQSDRWSFdSTVJ0VWN5bVF3QTFCNWVxTVBSbzBmeCsrKy80L2p4NDVvdUJjRERSdDc1K2ZsNDZhV1hZR3RySzk5dWFHaUkxMTU3RGQ5Kyt5M1dyVnVILy83M3Y2MXVOSzZxa3BLU2R0bk1XU1FTNGJYWFhvT2VuaDU2OU9pQkhqMTZ3TUxDUXI3LzhhV0J0Mi9mUmx4Y0hDWk1tTkRzYTkyK2ZSdXBxYWtLMjY1ZnZ3NEFDQXNMcXpjK01EQ3cyZGRvaWJwWlJTNHVMdlgyWldkbkszd1BOYVcxemNYNWZoQ1JKakY0SWlKU0UwdExTNHdaTXdZM2J0eEFTa29LVHA4K0RRY0hCM2g2ZXNyN21CQVJrZXBLUzB0aGJHeXM2VElBUEh4SzNKa3paOUM5ZTNlOCt1cXI5ZlpQbWpRSjU4NmRRMHhNRERadjNveTMzbnFyMmRlb3FLaEFRVUVCN08zdFZUN216cDA3VDd3M2w2b2VuNVZXcDZxcVNtMVBoYTJvcU1DVksxY1FIQnlzZFArNmRldnFiV3Vyb09QdTNidnkva2I3OSsrWE45OWV0bXlad3JpQ2dnS2twcWEyS05ScGpjNzJmaEJSKzhIZ2lZaElqYlMwdE5DclZ5ODRPam9pSlNVRk4yL2V4RC8vL0FNM056ZjA2dFVMMnRyYW1pNlJpS2pEU0U1T2hwYVdGaTVldklpQkF3ZXE3Y054Y3gwNWNnUS8vUEFEOVBYMThja25ueWl0UXlBUVlNV0tGVml3WUFFT0hUcUVxcW9xTEY2OFdON0FXUldMRmkxQ2RuWTJWcXhZZ1JFalJqUTV2cVNrQkxkdTNjTHp6ei9mbk50NW9pb3FLbkQ5K25Xa3BhVWhPVGtaMTY1ZHcvLzh6Ly9JZTNNMVY5MXlzTEN3TUJ3NmRBajUrZm40L2ZmZjY0VTRqL2NVVWlZdUxnNjdkdTNDaWhVcldyM1VkT0hDaGZKWlBYcDZldkQwOUlTUGp3OThmSHpnNnVxSzBOQlFtSm1aQVFCQ1FrSlFXMXVMRXlkT3dNVEVCQysvL0RKMGRYWGg0T0FnSDlOVzJ2UDdRVVJQTHdaUFJFUnRRRWRIQjMzNzlvV0xpd3VTa3BLUWtwS0NqSXdNZUhwNnd0SFJFVnBhV3BvdWtZaW8zUmczYmh6OC9mM2xyNlZTS1hiczJJR01qQXlZbTV2THc1NEJBd2JnbVdlZXdhQkJnN0J6NTg0MmIwd3NsVXF4ZmZ0Mi9QNzc3OURSMGNHcVZhdmt6WktWc2JTMHhKbzFhN0JzMlRLY09IRUM2ZW5wZVAvOTkrSGc0S0RTOWVxV1BkYjl0eW1uVDUrR1RDWlQrTnFwdzZPOWZvQ0hYNGZteXNuSndjcVZLM0hyMWkzSVpESjA3ZG9WbnA2ZW1EbHpKZ1lPSE5qczgyM2Z2aDJYTDE5R2VubzZnSWRMdDN4OGZGb2NtQUJBVFUwTjB0UFQ4ZFpiYjJITm1qVndkWFZ0OGJtR0RoMEtQejgvOU8vZkgrN3U3dlVDeDVDUUVNaGtNbnovL2ZjSUN3dkRtREZqWUdSa2hEMTc5dURNbVRONCsrMjNFUklTMHVENVMwdExzWGZ2WHBWcVVkWWt2Q084SDBUMDlHTHdSRVRVaGd3TkRlSG41d2MzTnpja0ppWWlMaTRPMTY5Zmg2ZW5KK3p0N1o5WUR4QWlvdmJNek13TTJ0cmFpSStQUjF4Y0hNNmVQWXU4dkR6TW5qMGJyNzc2S203ZXZJbkl5RWlFaDRkanc0WU5FQXFGNk5ldkg0WU5HNGFoUTRjMjJ1UG9uWGZld2JWcjF4cmNIeFFVVkcvYjZkT25rWldWaFMrKytBSXBLU2t3TWpMQ3lwVXI0ZVBqMCtTOTlPclZDeHMyYk1ESEgzK01HemR1NEkwMzNzQ2lSWXRVV2xiMTlkZGZJejgvWDZXZ3FxaW9DTC8rK2lzY0hCelF2My8vSnNjM3gvang0MVVhcCt4clY4ZlcxaFplWGw2WU5tMGErdmJ0cTlEUHFMSGpsTzJiTkdrU3lzdkxJUkFJTUdQR0RBd2FOQWp1N3U0UUNBUTRkZXFVMHFlOTFmVVlVcmF2ZCsvZXNMZTNoNStmSHpadDJvVGx5NWZqMy8vK04xYXZYbzIrZmZzMmVzOE5lZm5sbHh2ZG41S1NnaTFidGlBMU5SVUJBUUY0OTkxM0lSS0pNR2JNR0FRSEIyUEZpaFVZUFhvMEZpNWNxUFQ3dWFTa0JELzg4RU9MYWdNNnh2dEJSRTh2Qms5RVJFK0FtWmtaaGc4ZmpydDM3eUl4TVJFeE1URzRkdTBhZXZYcUJRY0hCODZBSXFKT3A2eXNESjkrK2lrS0NncHc3OTQ5K1N3TmZYMTkrUHY3NCtPUFA0YWJteHNBd01YRkJTNHVMbmpsbFZlUWxaV0ZzMmZQNHN5Wk0vamlpeS93OWRkZjQrdXZ2MjV3dHNxVUtWTXdiTml3WnRkWFVWR0JtemR2d3MzTkRjdVhMMGUzYnQxVVB0Yk56UTFidG16QnBrMmJrSmVYaDVFalI2cDBuS0dob2NwUE9zdlB6MGRsWlNYZWZ2dHR0ZjhRNC9HWk4wZVBIc1VmZi94UmI5emp6YTcvL1BOUEhEeDRFTUREWnRaTGxpeFJldjdtUGltdHJsK2lzdnRzNmtsdnl2WXZYcnhZSG5TNHVibGg0OGFOV0xwMEtYYnYzdDNpNEtraFo4K2V4ZEdqUjVHWW1DaC9ldHpVcVZQbDkrTHM3SXpnNEdEczNic1hQLzMwRXhJU0VyQjkrM2JvNmVrcG5FY2R6Y1U3d3Z0QlJFOG5CazlFUkUrUWpZME5ySzJ0SVJhTGtaS1Nnc3VYTHlNNU9WbmVGNm81dlVDSWlEb3lJeU1qOU8zYkY0bUppZkpab0s2dXJrMzJ3M053Y01DOGVmTXdkKzVjL1AzMzM0aUppYW4zMUxDeFk4ZWlkKy9lQU5DaTBBa0FQRHc4RUJ3Y0RHZG41eGI5Y01EYzNCeHIxNjVGUlVVRkRBd01XbFJEWTl6YzNQRDk5OStyOVFPN2c0TURSb3dZVVcvR2xZK1BENHFMaSt1TmUvemFmZnYyUlZGUlVaUFhVV2RUYlhYMERISjBkTVNtVFp0YTNlZEptY3pNVEdSblorUGxsMS9HMUtsVGxTNFBGUWdFbURadEdnWU9ISWlqUjQvV0M1MENBd01WbmtEWGxNR0RCOHREVzFXMHQvZURpSjQrQXBtcWk4aUppRWp0Y25OemtacWFpcnk4UE9qbzZNRE56UTNPenM3dDhySG03Y0daTTJjd2V2Um9UWmRCMU9hZTVQZDZaR1Frb3FLaThONTc3ejJSNnhGMUpsS3BGREtaakQ5WUlxS25ucUNSNmJmOEU1Q0lTSU9zcmExaGJXMHRmN1J5VWxJU1VsTlQ0ZUxpQW1kbjV6YjVLVGtSRVJFOUdVS2hVTk1sRUJGcEhJTW5JcUoyd01MQ0FnRUJBU2dwS1VGcWFpclMwdEtRbHBZR1cxdGJPRHM3dzlyYW1vM0lpWWlJaUlpb3cySHdSRVRVanBpYW1zTFB6dzllWGw3SXlNaEFabVlteEdJeERBME40ZVRrQkFjSGgzcTlINGlJaUlpSWlOb3JCazlFUk8yUW9hRWh2TDI5NGVucENiRllqUFQwZEZ5OWVoVkpTVW5vM3IwN25KeWNZR1ZscGVreWlZaUlpSWlJR3NYZ2lZaW9IZFBTMGtMMzd0M1J2WHQzM0w5L0h4a1pHY2pLeWtKT1RnNk1qWTNSczJkUDJOdmJ3OGpJU05PbEVoRVJFUkVSMWNQZ2lZaW9nekEyTmtiZnZuM2g1ZVdGMjdkdkl5TWpBMGxKU1VoS1NvS1ptUm5zN2UzUnZYdDNHQm9hYXJyVURpOHFLZ3FKaVlubzA2Y1BCZzhlckxEdjNyMTc2TktsaTFxZVVCUVpHWW1xcWlvTUh6NjhSWTlyMXhTSlJJTFBQdnNNUTRjT3hkQ2hRNVUyejcxLy96NDJiOTRNYlcxdCtkUFNzckt5VUZOVEExZFgxemFwU3lhVG9ieThIQ0tSaUV0U2lZaUlpTm9KQms5RVJCMk1VQ2hFang0OTBLTkhEMVJVVk9EV3JWdkl5Y2xCWW1JaUVoTVRZVzV1TGcraCtGUzhobVZsWmVIUW9VUHc5ZlhGa0NGREZQWkZSVVhoK1BIanFLNnVWZ2llS2lvcThQNzc3ME1vRk9LOTk5NkR1N3Q3cTJyNC9mZmZjZTNhTlppYm02TnYzNzZ0T2xkVGdvS0NBQURidDIrSHZiMTlxODUxN3R3NWhJZUhJejA5SFVPSERsVTZSaXFWSWl3c0RDS1JDTys5OXg0a0VnbFdybHlKM054Y3pKZ3hBN05uejFiNzA1NTI3OTZOblR0M1l1clVxWGp6elRlYmRXeEZSUVhLeXNwUVdscUtrcElTRkJjWG83S3lFaE1tVEZCcmpVUkVSRVNkRFlNbklxSU96TURBQUc1dWJuQnpjME41ZWJrOGhFcElTRUJDUWdJc0xDelF2WHQzMk5qWXdNVEVSTlBsdGl2SGpoM0RrU05IVUZSVVZDOTQrdWVmZndBQURnNE9DdHRyYTJ2UnJWczNSRWRIWS9IaXhaZytmVHBlZWVXVkZzMStFb3ZGU0U1T2hyVzFOZnIwNmRQaSs5Q0VmZnYyQVFCZWVlV1ZCc01qWFYxZEFBOW5Sd0dBU0NUQ2YvN3pINnhac3dhLy9QSUxybHk1Z2hVclZzRFMwckxlc1hVaG1US2Zmdm9wZkgxOTYyM1B5c3JDN3QyN0FRQVhMbHpBSzYrODBtVHd1bVRKRW1Sblo2Tzh2QnhTcVZUcG1DRkRoc0RjM0J6VHBrMURVVkZSbytjN2ZmcDBvL3VKaUlpSU9pTUdUMFJFVHdsRFEwUDA2dFVMdlhyMVFsbFpXYjBRU2w5Zkg5YlcxckN4c1lHVmxaVThHT2lNSkJJSnpwNDlDd0NZT0hGaXZmM1oyZGtBQUNjbko0WHRSa1pHK085Ly80djkrL2RqMjdadCtQWFhYeEVYRjRmbHk1ZkR6czZ1V1RVY08zWU1NcGtNNDhhTmcwQWdhT0dkUEhuUjBkSEl5TWlBbzZNalJvNGMyZUM0UjcrL0pCSUpSQ0lSM04zZHNXWExGcXhldlJvSkNRazRjZUlFNXN5Wm8vUjRvVkNvOERXOWUvY3VhbXBxbEM1SnJLbXB3ZWVmZnc2SlJBSkxTMHZrNXViaXUrKyt3NUlsU3hxOWw3eThQSlNXbGtKSFJ3ZW1wcWJ5WDJabVpqQXpNMFBYcmwwaGs4a1VqbEUyVyt6MjdkdW9yYTF0OUZwRVJFUkVuUldESnlLaXA1Q1JrUkhjM2QzaDd1Nk9pb29LNU9ibUlqYzNGMkt4R0ZsWldRQUFNek16ZVJCbFlXSFJvWG9NdGRhRkN4ZFFVbElDZTN0NzlPL2ZYMkdmV0N4R1dWa1p0TFMwNE9MaW92VDRxVk9ud3MzTkRhdFdyWUpZTEs0WFRnQ056OXA1MUU4Ly9ZU2ZmdnFwMmZjd2FkSWt2UDMyMjgwK3JyVjI3ZG9GQUhqOTlkY2JEY3kwdExTZ3JhMk5tcG9hVkZkWHkyZUZtWmlZWU4yNmRUaCsvSGlqeTlpNmR1Mks3ZHUzQXdDcXFxb3dkZXBVYUd0cm8xZXZYdlhHYnRxMENXbHBhWEJ5Y3NLbVRadnd6anZ2NFBqeDQvRHk4c0tZTVdPYXZLZWpSNDgyT2FaT1hVMlBVbVUyRkJFUkVWRm54ZUNKaU9ncFoyQmdBRWRIUnpnNk9rSW1rNkdvcUVnZVJLV2xwU0UxTlJVaWtRam01dVlLdi9UMTlUVmRlcHM1ZlBnd0FPRDU1NSt2RjU2a3BhVUJlTGpNcnJGWllkN2UzdGl5WlF2eTgvUFJyVnUzZXZzYjY2TlVXRmlJOHZKeWRPblNCY2JHeGkyNUJaaWJtN2ZvdU5hNGVQRWlidHk0Z2I1OSsyTFFvRUVBSG42OTdPM3RsUzVyMDlmWGx3ZFBCZ1lHS0MwdFJWNWVIdkx5OGlDVlNoRVNFb0s4dkR5TUhEa1NBUUVCRFY3MzBxVkxxS3Fxd3RDaFErczl3WEhYcmwwSUN3dURnWUVCUHZ6d1F4Z1pHV0g1OHVWWXRHZ1JObTNhQkdOajQzb040bHVpb3FLaVU4OFNKQ0lpSW1vcEJrOUVSSjJJUUNDUUIwdTllL2VHUkNKQlhsNGVjbk56VVZCUWdMUzBOUG5zSFQwOVBZVWd5c3pNRERvNk9ocStBL1c0ZXZVcUFPRFhYMy9GM3IxN0ZmYVZsNWNEZUxoOGF2YnMyYzArZDU4K2ZmRCsrKzhyblJsVGQvNTU4K2Foc3JJU1gzMzFsZExRcWoyU1NDVDQ0WWNmSUJBSTVJMjdIeng0Z0k4KytnaFNxUlNyVjYrR3NiRXg4dlB6Y2UvZVBlVG41Nk9tcGdZQXNHalJJaFFXRnFLcXFrcnB1VzFzYkJvTm5pSWlJZ0FBbzBlUFZ0aStmZnQyL1BycnI5RFcxc2FxVmF2a1laK1RreE0rL1BCRGZQTEpKMWl6WmczZWZmZmRlc2MyUjFsWkdhcXFxcHE5bkpLSWlJaUlHRHdSRVhWcUlwRUlkbloyOGcvVVVxa1V4Y1hGS0NvcVFtRmhJUW9MQ3lFV2krWGpqWXlNWUdwcUNtTmpZeGdiRzhQSXlBakd4c1lkZGlaSVFVRkJnL3VxcXFxUW01dmI3SE0ydGVScXg0NGRLQ3dzeEpneFl4UkNwN3FsZVVlUEhtMlhBZCsrZmZzZ0Zvc3hkdXhZK1JMRUF3Y09vS2lvQ0U1T1RqaDkrblNEUzlieTgvUFJ0V3RYV0ZwYXdzcktTdjZyN3JXMXRYV0QxNjJ1cmtaTVRBeE1UVTNsczZ3a0VnbSsvUEpMbkRwMUNpS1JDQ3RXcklDUGo0L0NjZjcrL2xpMmJCbldyMStQOWV2WEl5VWxCVys4OFliUzc5VjU4K1lwdmZhc1diTVFHQmlJdi8vK0d3RFFzMmZQcHI5UVJFUkVSS1NBd1JNUkVja0poVUpZV0ZqQXdzSkN2cTJtcGtZaGlDb3RMY1dkTzNjVW1pbHJhMnNyQkZIR3hzWXdORFNFcnE0dTlQVDBHbnp5bWFZMDlQU3gvUHg4ekp3NUUxcGFXdGkvZjMrOVpWMnRkZVBHRFJ3K2ZCZ2lrYWhGczZuVW9XN3BXMU9FUXFIOGZmdm5uMyt3YTljdW1KaVk0UFhYWDBkdGJTMEtDZ29RR2hvS0FGaXdZQUdLaW9wUVVGQWdENUtzckt6dzZhZWZRa3RMQzhlT0hXdHhBL1ZMbHk2aG9xSUNVNlpNZ1Vna3dzMmJON0YrL1hwa1pXWEIwTkFRcTFhdFF0KytmWlVlTzNMa1NKaVptV0hWcWxVNGZQZ3dMbHk0Z0ZtelptSGN1SEVLVHlMTXljbFJlbnhaV1Jra0VvbjhLWDZCZ1lGS3grbnI2Nk9vcUFnWkdSbnlodlF5bWF4VlRlUHo4L1BsWDkrMmR1dldyU2R5SFNJaUl1cWNHRHdSRVZHanRMVzE1VE5VNnNoa01wU1hsNk9zckF6Mzc5L0gvZnYzVVZaV2hudjM3dUdmZi82cGR3NlJTQ1FQb1hSMWRSVityNmVuQjVGSUJDMHRMUWlGUW1ocGFTbjgvdEgvdHJYSXlFZ0FnS2VucDlwRHA2cXFLbnoyMldlb3JhM0ZsQ2xUWUd0cnE5YnpxMnIrL1BrcWpac3dZUUlXTDE0TUFEaDc5aXhxYW1vZ2xVb3hmZnAwU0NRUytiamh3NGZMZzU4UkkwWW9uQ000T0JobFpXV29ycTV1OGF5NDgrZlBBd0NlZWVZWjVPZm40OTEzMzhXREJ3L1FzMmRQZlBUUlIwM09Rdkx4OGNHV0xWdnd4UmRmSUQ0K0hqRXhNUmcvZnJ6Q21JYUN5T3JxYW56NTVaZTRmdjA2WEYxZEcxd08yS3RYTDRqRllyejU1cHZRMGRGQmRYVTFmdm5sRjRYL1o1cXJwS1JFdnV5VGlJaUlxQ05qOEVSRVJNMG1FQWhnWkdRRUl5TWoyTmpZS095VFNxVW9LeXREZVhrNXFxcXE4UC9hdS9lNG5PLytEK0N2cTY1MFFnZWlJbWR6U0loN0NuUEllYzdITll3dDk0WXhiS1k1WmFPR2FIT0lzYzNobGsycDJ6R1NDVVVLemFHbXFNaXBsRXJuVkZkMWRmMys2TmYzZHRWMVhWM1JaYWJYOC9Id21PdjcvWHdQVjExMTM5K1h6L3Y5a1Vna0tDb3FFdjcrL1Bsem9kK1BvdFhnVkRFeE1hbk50MUZGUlMraEFRTUcxUHE1Zi83NVp5UW1Kc0xJeUFqVHAwK3Y5Zk5yVXBjdVhRQ1VONnB2MkxBaFpESVpVbEpTWUdCZ2dNOC8vMXpwY1EwYk5rUitmajV5YzNOaFptYW1jRXhPVGc2U2s1UFJzV05IaFRPRXJLMnRFUklTQWo4L1A3aTV1ZUhycjc5R1ZGUVU1czZkQzExZFhRd2ZQaHoxNjlmSDRjT0hxeHc3ZlBod0dCa1p3Yy9QRHg0ZUhnZ09Eb2FkblozYUlXWklTQWpPbkRrRFUxTlRyRnk1VW02VzFJdG16NTZOb3FJaXhNZkhReXFWd3R6Yy9KVkNKd0JvMTY3ZEsvV2xxb253OEhCY3ZuejV0VnlMaUlpSTZoNEdUMFJFVkt1MHRiVmhaR1FFSXlNamxlTmtNaG1LaTRzaGtVaFFXbHFLc3JJeVNLVlNsSldWeWYzOXhmOXFzaVFvTlRVVmYvMzFGd0RBejg4UHg0OGZWL3ZZVnExYTRkdHZ2MVc2UHlRa0JDZFBuZ1JRSHJSTW1EQkI2ZGpLczNFcVV6WTdSMTE3OSs1VnVlS2VJajE3OWtSZ1lLQVF2Q3hidGd3cEtTbVlPWE9tWEZsbVpZMGFOVUp5Y2pJZVBueUk5UFIwSkNjbjQ4bVRKOEtmNU9SazVPZm5Bd0M4dmIwVmhsUGp4bzFEYUdnb3JseTVnckN3TUF3Y09GQnVabFhGWjBPUnl2c2NIQnhxOUw2SERSdUdsSlFVakJrelJ1VXFnbzBiTjRhcnEydU56azFFUkVSVVZ6QjRJaUtpdjRWSUpCTEs3dFNseWVEcGp6LytFR1pncGFXbDFlaFlQVDA5cGZ2dTNidUhIMzc0UVc2Ym91Q25vczlROCtiTkZjNzhVZGFINkhVUWlVUkM2SFR1M0RsY3YzNGRIVHAwa0F2UXNyS3lrSlNVSlB4SlRFekVnd2NQQUFBclZxeFFlRjRqSXlOMDZ0Uko1V3B4RmF2b3paczNEL3YyN1ZPNStwMG0zTGx6UnlqM1U0ZXkxUXlKaUlpSTZpb0dUMFJFVk9lVmxKVGd4SWtUQU1wbjJCdy9maHhqeDQ3RmdnVUxWQjYzZXZWcWhJV0Z3Y2JHUnVIK3JLd3NmUGZkZDVCSUpMQzB0QlJXQ0ZRVVRsU3NhdmZMTDc4b1hOV3VZdi9mS1NNakE5dTNiNGRZTE1iaXhZdWhwYVVsN0Z1OGVMSFNZTkRDd2dJMk5qYkNDb3JObXplSHBhVWw5UFgxNWM2aFRQdjI3ZEc1YzJmY3ZuMGJDUWtKYU51MmJhMjlKMEQ1MTNiRmloVklTVW1SVzltUmlJaUlpR3FHd1JNUkVkVjVRVUZCeU03T1JyTm16VEJ2M2p4Y3UzWU5aOCtlaFpPVGs5SW00d2tKQ1FnUEQ0ZFlMTWFVS1ZPcTdILysvRG1XTDErT3RMUTBHQmdZd00zTkRmLys5NzgxL1ZZMHBxeXNET3ZYcjBkK2ZqNCsvdmhqWWZVMm9MeXZWNzkrL1pDV2xvWm16WnFoV2JObXNMUzBSRnBhR3R6YzNHQnRiUTFuWjJlNTg1MDZkUW9uVHB5QWk0c0xtalZyVnUzMWJXeHNjUHYyYmNUSHh3dkJVMFdUYzJXOWw5U2xyUFRRME5BUVhsNWUyTFp0Ry96OS9iRm16UnIwNmRPbnlyak16RXpNbkRuemxmczZFUkVSRWIyTkdEd1JFVkdkVmxKU2dnTUhEZ0FBSmsrZURDMHRMVGc2T21MVHBrM1lzMmVQc0xMYmk2UlNLWDc4OFVmSVpESk1uandaalJzM2x0c3ZrVWpnNHVLQ2hJUUVhR2xwWWVYS2xXalJvc1ZyZVQrYXNtdlhMa1JGUmNIVTFCUVdGaGI0N2JmZjhQanhZeng4K0JCU3FWVGhMSzZLUUNrdUxrNXUrNTkvL2dsUFQwOUlwVkpjdTNaTnJlQ3BvcGRVZG5hMnNLMWkxVGRWcFk3cXFLNDhic0NBQWZEMzk0ZS92Ny9DNE1uYjJ4c1NpVVJsN3k0aUlpS2l1cXI2K2UxRVJFUnZzZVBIanlNdExRMW1abVpDeWRXSUVTUFFwazBiQkFRRTRPclZxMVdPMmIxN04rN2V2UXRMUzB2TW1ER2p5djZuVDUvaTRjT0hBSUF2di93U3ZYcjEwdWg3MExTaW9pSmgxYmpNekV5NHU3dGovLzc5Q0FrSndjT0hENVgyYUdyUW9BRXNMQ3lRbEpTRXJLd3NBTUMxYTlmZzV1WUdxVlNLbVRObll0eTRjV3JkUTBYZzlPTHNwdFRVVkFCUTJlQzhOdGpZMktCVnExYTRmdjA2YnQyNkpiY3ZOallXL3Y3K2FOcTBLVWFNR0tIUit5QWlJaUw2SitLTUp5SWlxclBTMDlPeGYvOStBTUJubjMwbU5Eb1hpVVQ0NXB0dnNIRGhRbnovL2ZmdzhQQkF4NDRkQVFESGpoM0RvVU9Ib0tlbmgrKysrMDVoUDZhV0xWdmkyMisvUld4c0xONS8vLzNYOTRZMFJFOVBEMVpXVnBCSUpHalJvZ1ZhdG15SkZpMWFDSDhhTkdpZzlOanUzYnNqTURBUWx5OWZoa3dtdzdadDJ5Q1ZTakZseWhTRm9kMkx6cDgvRHdNREErVGs1QWlyQXI1WTRoY2ZIdzhBYXMyWWVoVWlrUWhUcDA3Rit2WHJzWFhyVnV6WXNRUDE2dFZEVGs0T3Z2LytlOGhrTXN5ZVBSczZPam9hdlE4aUlpS2lmeUlHVDBSRVZDZkpaREpzMmJJRmhZV0ZzTEd4Z1lPRGc5eit0bTNiWXVIQ2hmamhoeC9nN095TWxTdFg0dUhEaDlpelp3KzB0Yld4ZlBseXVSQ2tNbHRiVzlqYTJtcjZiYncydi83Nks3UzF0V3Q4WE8vZXZSRVlHSWk5ZS9jaUp5Y0hXbHBhbURkdm5sQ1dkdXJVS1JRWEY4UEJ3UUZHUmtaeXg0YUdodUxTcFV2QzY4NmRPNk5Iang3QzYydlhyZ0dBRUFxK3JPenNiS1NscFFsL25qNTlpdFRVVkR4OStoU3paczJDblowZEhCd2M0Ty92ajVpWUdHemJ0ZzJmZi80NVZxMWFoZFRVVlBUdjN4LzkrL2QvcFhzZ0lpSWllbHN4ZUNJaW9qcnA4T0hEaUlpSVFMMTY5YkJ3NFVLRlk0WVBINDZpb2lKczM3NGQzMzc3TFdReUdYUjBkT0RpNHFLdzE0K21WRFRSL2pzcEM1MUtTMHNSRnhlSEJnMGFLT3hqWldCZ0FBREl5Y21Cb2FFaFZxMWFoWjQ5ZXdyN0l5TWpFUndjalByMTYyUElrQ0Z5eHc0ZlBoeTZ1cnFvVjY4ZTJyWnRpeEVqUmtBa0Vnbm5xeWlEckdrcDQ3NTkreEFWRllXTWpBd0FVTmdjSGlndjY2dTRua2drZ3JPek0rYlBuNC9UcDA4aklpSUNtWm1ac0xLeXdsZGZmVldqNnhNUkVSSFZKUXllaUlpb3pybCsvVHAyNzk0TkFKZzNieDVhdFdxbGNKeFVLa1c5ZXZWZ2FHZ29OTEkyTWpLQ1ZDclY2UDBWRkJSQVQwOFBXbHJsclJqUG5qMExBRXBYMkh1ZENnb0tFQnNiaTF1M2J1SFdyVnVJalkyRlJDTEJOOTk4SXhjOFpXZG53OHZMQ3dFQkFjSzJObTNheU0xWUFvQW5UNTRBQUZxM2JsM2xXdmIyOXJDM3QxZDRId2NQSGtScGFTbXNyYTFoYm01ZW8vZFFXRmlJNk9obzRiV3RyUzNNemMxaFlXRUJjM056TkduU0JFMmFORUhqeG8yRjRBa29MK2tiUFhvMGZIMTlrWm1aQ2FDOGg5ZWI4SDBoSWlJaWVsTXhlQ0lpb2pvbExpNE9ycTZ1a0VxbGNIQnd3S2hSbzZxTXljN094dW5UcDNIeTVFbWhnWFgvL3YyUm01dUx5TWhJdUxxNm9uMzc5aGcvZmp3R0RoeW9zTS9UcTFpOWVqVnUzcndKWFYxZHlHUXlGQmNYQXdDc3JhMnJqSzNZcDY2U2twSWFIYU9scFlXNHVEaWNQWHNXdDIvZnhvTUhEeUNUeVlUOVJrWkdlUGZkZDlHdVhUc0FRRzV1TG80Y09ZTERodytqcUtnSUJnWUcrT0NERDNEbzBDSGN1blVMZm41K2NIUjBCQUNVbFpYaDBhTkhxRmV2SGxxMmJLbjJQZDI5ZXhmSGpoMERBT0ZjTmVIbzZJaHg0OGJCMmRrWmFXbHAyTGh4WTdYSDVPYm1ZdGV1WFRoOStqU0E4cTlMV1ZrWlZxMWFoVTgrK1FTalJvMnE5YzhCRVJFUjBkdUF3Uk1SRWRVWktTa3BXTHAwS1FvS0N0QzVjMmNzWHJ4WTJKZVRrNFB3OEhCY3VIQUJrWkdSd3F3bWEydHJPRGs1b1Z1M2JnQ0FpeGN2Q3F2YWVYaDRZTWVPSGJDM3QwZWZQbjFnWTJNREV4T1RWNzdQVHAwNjRkYXRXMEtKblo2ZUhqcDA2SUQ1OCtkWEdhc29PRk5senB3NU5ScHZaMmVIL3YzN0M4MjlqWTJOMGExYk4zVHYzaDFkdTNZVlpqazlmdndZMjdkdngrblRweUdSU0NBU2lUQjgrSEQ4KzkvL2hvbUpDY3pOemVIdTdvN2R1M2VqcEtRRUgzNzRJUzVldkFpSlJBSWJHeHU1MWVwVXljek14Sm8xYTFCYVdvcWVQWHVpZCsvZU5Yby9BR0JxYWdvQWNyT1psQ2tzTE1TSkV5Zmc0K09EL1B4OGlFUWlmUGpoaHhnOWVqUThQRHdRR1JtSkhUdDI0T0RCZ3hneFlnUUdEeDZzc09TUWlJaUlxSzVpOEVSRVJIV0d1Yms1cksydGtaR1JnYlZyMTBKUFR3Kyt2cjRJRFExRmZIeThNSk5IUzBzTHZYdjN4cVJKazRUQXFVTC8vdjNScDA4Zm5ENTlHZ2NQSGtScWFpck9uVHVIYytmT0FRQ21UWnNHSnljbmhkZi8vUFBQMWJwUEp5Y25wZWY0TzlqWjJXSGV2SG5vM3IwN1dyVnFWU1d3Y1hOenc4V0xGd0dVaHpsOSt2VEI5T25UOGM0Nzd3aGpCZzhlak9Ua1pPemZ2eDllWGw3dzgvTkRVVkVSQUZUcDdhUk1abVltdnY3NmE2U21wc0xZMkJoZmYvMTFMYjNEcXBLVGszSHExQ2tFQmdZaU56Y1hRSG5EK1VXTEZxRlRwMDRBZ0kwYk55STRPQmg3OSs1RmFtb3F2TDI5NGUzdGphWk5tOExUMDFNSXVJaUlpSWpxTWdaUFJFUlVaNGhFSWl4ZHVoUXltVXpveTlPeVpVdnMyYk1ITXBrTUxWcTB3S0JCZ3pCOCtIQTBidHhZNlhuRVlqRkdqeDZOa1NOSDR0S2xTemh4NGdTaW9xTFF1WE5uekpneFErbHhFeWRPclBYM0ZCUVVWT3ZuVktSaUZUcEZ4b3daZzRpSUNBd1pNZ1NUSmsxQzgrYk5GWTZiTVdNR21qZHZqajE3OWdnbGpPKzk5eDZHRHgrdTFqMlltSmhnMUtoUk9IandJTDcvL251WW1abXBITiswYVZNMGFOQkFyWE5YOXVqUkkvajYrZ0lBckt5c01IMzZkRGc0T0FoOXQ0RHl6OU9nUVlNd2NPQkFoSWFHNHRTcFU0aU1qTVRRb1VNWk9oRVJFUkg5UDVIc3hVWU5SRVJFYjdDelo4K3FQVHVtSnNMQ3dtQnBhYW13d2JXNlVsTlRvYXVyQzJOajQ1YzZQaW9xQ2dEUXRXdFh0VXJBM2pSRlJVWFEwOU5UYTZ4TUprTktTZ3BFSWhFc0xDeHFmSzNpNHVKYTZhZms2K3VMdkx3OGZQcnBwd3IzSHpwMENLMWF0VUxQbmozVi9wNkhaMmpuQUFBZ0FFbEVRVlRrNU9UQXdNQUFPam82cjNSdm12cXNLeEllSG83TGx5OXJkQVlaRVJFUnZkMUVLdjdQRW1jOEVSRlJuZGUzYjk5WFBrZlRwazFmNmZqS0pYMy9OT3FHVGtENVRDRkxTOHVYdmxadE5mR3Vyakg1NU1tVGEzeE9JeU9qbDcwZElpSWlvcmVTVnZWRGlJaUlpSWlJaUlpSWFvN0JFeEVSRVJIaFRldStrSjZlanIxNzk2S3dzUER2dmhXTmlJcUtRa3hNak56WC9jS0ZDemh6NXN6ZmVGZnFPMzM2Tkh4OGZHcjB1WkZJSk1qSnlaSGJWbHhjWEdYYnl5Z3JLOE81YytjUUhoNyt5dWQ2VlptWm1aZzBhWkt3NklJeXQyN2R3cVJKazNELy92Mlh1czd1M2JzeGRPalFsenBXbWJDd01HemJ0ZzFsWldWcUh5T1R5YkJ0MnphbG45MWJ0MjVoLy83OXdtcXhyMHR4Y1RFS0NncFVqcmw3OXk2V0xsMkt0TFMwbDdwR2VucDZqYjVXUkhVVlMrMklpSWlJNnJDSzBzV2NuSnlYN2xHbUNaY3VYWUtQanc5eWMzUHg1WmRmVmp1K3NMQVFZOGVPclpWcnY0Nm0vYi84OGd1ZVBuMEtQejgvaU1WaXlHUXk3Tnk1RTJabVpoZzJiSmpHcjEvWjgrZlBrWm1aV1dWN3c0WU5xNVNRUG56NEVKczJiVUxqeG8weFpjb1VpTVhxUFZJY09uUUkrL2J0ay92NmhvYUdZc09HRGZqcHA1L1F2bjM3bDc3L2twSVM3TjI3RjJWbFpmalh2LzVWbzVMY0hUdDI0T2pSb3pXK3ByTFBpVlFxUlc1dUxrcEtTbFFlWDFKU2d0emNYSlNXbHRiNDJwcnkxMTkvd2QvZkgvUG56MWY3bU1EQVFQajcreXZ0bC9mWFgzL2h0OTkrdzRjZmZnaHRiVzFoZTJSa0pKNDhlWUpSbzBhOThuMHJzbjc5ZWlRbEpjSE56UTNtNXVZS3g0akZZc1RFeE1EVjFSVmJ0bXhSK2xtK2NlTUdrcE9Ua1pHUmdXZlBuaUV4TVJFUEh6N0U4K2ZQc1dYTEZyVitSd0d2YjBFUW9qY05neWNpSWlLaU9xeWkzMVphV3RvYkZUeU5HemNPZi96eEJ3SUNBakJvMENCMDdkcFY1WGc5UFQzczNidTN5dlkvL3ZnRHZyNitjdnNVYlZQRTNkMGQ1ODZkZTdrMzhQOFVQV2ltcGFYaDd0MjdHRGx5cFBDZ2UrZk9IV1JrWkZUYmUweFRMbDY4aUUyYk5sWFpQbXZXTEV5ZE9sVnUyNzU5KzJCZ1lJQ2NuQndjT0hBQUgzLzg4VXRmTnlRa0JLMWJ0MVlyZEtydWU5R2xTeGVjUDM4ZU8zZnVSSmN1WFpTT016UTBoTDI5ZlpYdHk1WXRxLzZHVWQ3OC85cTFhMVcySnlZbUFnQ3lzcklBQUJrWkdjSTJSZExUMHdHVUwwNmhyNjhQQU5EVzFuNmxIbmpLSER0MlRMZ3ZSWnljbkFDVXp4d1RpVVJ5SzNpcWtweWNqRjkrK1FXOWV2WENCeDk4Z0p5Y0hPelpzd2VPam81bzFxeVp3bU5pWW1Ld2YvOSszTGh4QThiR3hoZ3dZSUN3MG14dGNuUjBoSXVMQzc3NDRndTR1Ym1oVFpzMnlNN09saHRqWUdDQWNlUEdJVHc4SFBIeDhXalVxRkdWOHpScDBnU0JnWUc0Y09FQ0xDd3NrSnljREh0N2V5eFlzQUJ0MjdaRml4WXRBSlN2L2pwbXpCaUY5M0xpeEltWENqZUozaFlNbm9pSWlJanFNQXNMQzVpWm1lSHExYXRvMjdhdDNJd0VUWkpLcGNqUHoxYzVac2FNR1RoLy9qd01EUTJWbG1QVnIxOGYydHJhRUlsRXNMS3lxcksvWXJiT2kvc1ViVlBrM1hmZlJjT0dEWlh1UDNyMEtPclhyMS9qY3FlUWtCQUFrRnU1TUNBZ0FFQjUyVkoxQVl1NXVUbXNyYTFyZE0zcXZQLysrM2ovL2ZlRjEyVmxaUmd4WWdRYU5HZ2dOeTQ0T0JoaFlXRllzbVFKOHZMeXNIdjNidlRvMFFNMk5qWlZ6aGtRRUlCang0NWgxNjVkQ3ErWm5wNk9pSWdJTEZteVJLMTdkSGQzVjJ2Y3laTW5jZkxrU2FYN1c3VnFwVEI0R2p4NHNGcm5qNHVMVXhnOHpabzFTKzcxcmwyN2xMNzNGN202dWdwL2I5cTBLWDcvL1hjQTVUUExWTW5OelZWcm5MR3hNUUlDQWxTT3F3aWVTa3RMMWY0ZElKRklzSGJ0V2hnYkcyUHAwcVhDNnA5WHIxN0YzYnQzNGVucEtiZkNaMGhJQ0U2Y09JSFkyRmdZR3h2ajAwOC94Wmd4WTJCZ1lLRFc5V3FxWThlTzJMeDVNNXlkbmVIcTZvclpzMmRqM2JwMVNzY3ZXclJJNGZhQWdBQXNXclFJUzVjdWhWZ3N4dENoUTJGbloxZmw4MkprWktUMGR3b1hucUM2anNFVEVSRVJVUjBtRW9udy92dnY0L2ZmZjBkd2NEQWNIQnhlUy9nVUh4K1BoUXNYcWpWV1ZhK2NuMzc2Q2UrODh3NEF4ZVZpRllIVml6TlBGRzJyOE9LRDQrREJnMVdHRVVlUEhvV0ppUW5telp1bnhydjRuOERBUUZoWldRbGhUVzV1cmhCRzdkeTVzOXJqQnc4ZVhPdkJFMURlNytiU3BVdHdjbkpDWGw0ZVpES1ozQU56U2tvS1BEMDkwYnQzYnd3ZlBod3ltUXczYnR6QW1qVnJzSG56NWlvUDNkbloyU3JEamhNblRxQ3NyQXdiTjI3RXhvMGJsWTdyMDZjUDFxeFpnOU9uVDh0dHYzejVNZ29LQ3BSK2oxSlRVeEVaR1lsaHc0Ymh4VlcrVmF6NC9Vb3FacmVscDZkajJyUnBXTFpzbWNyUHo0MGJON0IwNlZLNXovQ0xQdnZzTTdXdVc5MjRhZE9teVFWZ1E0Y094ZGl4WTdGZ3dRSUF3UFhyMS9HZi8vd0hRUG5NT3dEQzY4cUdEQmtDS3lzcjVPZm53OVhWRlVsSlNmRDA5QlFDV2gwZEhYejAwVWZ3OVBURXJsMjc1SDQyUER3ODBMcDFhM3oxMVZjWVBIZ3dkSFYxRVJ3Y0RGdGJXNDNOdHJTeXNzS21UWnRRVkZTRVJvMGE0WWNmZmhEMlhiNThHU0VoSVhCMGRFU2JObTJVbmtOSFI2ZldWbE1scXFzWVBCRVJFUkhWY1dabVpoZzhlRERPblR1SDVPUmsyTm5ab1duVHBqQXlNdExZUTdxRmhZWFNHUVlWdG03ZENoTVRFOHljT1ZQcG1LWk5td3AvRHdzTGc0ZUhoOEp4bFdlaktOdW02UjRzVVZGUlNFcEt3dVRKazRWdHZyNitLQ2twd2E1ZHU5Q3FWU3NNSFRvVWpvNk9TbnZtMUlSTUpsUDdleGdWRllXQWdBQTRPVGtKczJrcUFvV3NyQ3dzVzdZTXBxYW1Ra21hU0NTQ2k0c0xGaTFhaENWTGxtRDkrdlVxSCtCZmxKK2ZEMzkvZjdSdDI3WktUNnZvNkdpRWhvWmkrdlRwYU5pd29WQjY5bUlnS3BQSmNQVG9VZHkrZlJ2Tm1qVlRHTVR0M0xrVFY2NWNnWVdGQld4dGJkVzZyOXJrN3U2dTlpd3RSVFpzMktCMFgxUlVGTHk5dlFHVWh5dGZmUEdGMHJISytodFZ1SG56Sm54OWZlVzJWWnk3c2k1ZHVzREt5Z3FuVDUvR3paczNZV1JraERWcjFpQXZMdy81K2ZseS9hcU9IVHVHZnYzNkNhL2QzZDNSczJkUHVmUDkvUFBQNk42OU81WXZYNjd5SGw5R2RuWTJqSTJONVVvWHUzWHJCZ0M0Zi84K0FnTUQwYVJKRXpnNE9BakJWMkZoSVk0ZE80WkpreWJWT0d3cUxTMVZ1aGpDbTlUSGkranZ3T0NKaUlpSWlOQzFhMWRZV0ZnZ01EQlFaWm1TSXIxNzkwYWZQbjFxZEl5eHNURkdqeDZ0Y3N6V3JWdFJ2Mzc5YXNkVlZsRUNCd0QvL2U5LzhldXZ2OG9GU29xMkhUbHlSSzNaUnEvcTRNR0RBUDRYb2p4NzlnekhqeDlIdjM3OTBLcFZxMXE5MW5mZmZZZWJOMjlpN2RxMUNrdmhLc3ZLeWhJZXdDdUNKeU1qSXp4OStoUXVMaTZReVdSd2QzZVhLNDB5TUREQWhnMGJzSFRwVWl4YXRBano1OC9IaUJFanFyM1dvVU9IOFB6NWN6UnMyQkFUSjA2VTIxZFFVSURRMEZCTW5EaFJhYW1qU0NUQ3lwVXJNV2ZPSEt4ZHV4WTdkKzZVbTUxMThlSkZYTGx5QlpNbVRWSTdkQ291TGxacm5McXJtSDMyMldmbzNidTMwdjIzYjkrV200RlRXWThlUFJSdUx5a3B3ZmJ0MjlHZ1FRUGs1ZVVoT3pzYnhjWEZDc3NIMWZIcHA1OEtJV2R3Y0REV3JWdUhiZHUyb1dQSGpzS1kwTkJRdUxxNkNxVnpnd1lOUW1Sa0pFeE1UR0JrWkFSalkyTTBiTmdReHNiR2FOQ2dBWFIwZE9EczdJd0RCdzRJL2RrcTk5MHFMUzFGVmxZV0xDd3NYdXErVlRsKy9EajI3dDJMaFFzWFZwbDFscFNVaE9YTGw2TlpzMlpZdjM2OTNPY21OallXLy9uUGYvRGd3UU9zV0xGQzJGNjVuSGJyMXEzWXVuVXJBQWl6eVg3Ly9YZWhUSktJNURGNElpSWlJaUlBNVRPZlpzeVlnWlNVRkNRbko2djlJRjVkcnlRcUZ4c2JXNlUzMExadDIxQlNVb0laTTJiVSt2WHUzTG1Ed3NKQzNMOS9YNjNnS1NNalEzZ0l6OHZMQTFBZXhpeFpzZ1JHUmthWU1HRUM0dVBqRVI4ZlgrWFlpUk1uNHZUcDAvanh4eDloWkdTa01uQkpUMC9Ib1VPSG9LMnRqYWRQbjFiWm41bVpDVjFkWFpYOXRRREExTlFVWDM3NUphS2pvNkducHlkc3o4N09ocWVuSjdwMzc2NTJ1Um9BamEydVZ0dTh2THdna1Vnd1pNZ1FIRDE2Rk5PbVRZT25weWRzYkd4Z2FHajRTdWV1bUxIejR0Y1QrTitNbllyZ3lkVFVGS3RXclVKUlVaSFNjNjFhdFFyVzF0WTRmLzQ4Z1BJZVR4Vmhta3dtUTNCd01HUXltZHF6NUdxaVQ1OCtPSFBtRE56ZDNSRWRIWTM1OCtkRExCWWpPam9hcTFldlJvY09IZURpNGdKOWZYMlVsSlNndUxnWXhjWEZzTFMweEpBaFF4QVVGSVMyYmRzS3pmNHJGaUlJQ2dxQ2o0OFBaczZjaVlFREJ3SW9uNzNwNk9pSVRwMDZLU3laQk1wTGl5dktHSW5xSWdaUFJFUkVSQ1FRaVVTd3RMVFV5TXBhcjh1VEowK0VXVG5xOW5pcXZOcVZKdXpac3djNk9qb29LU2tCVUY3dUV4NGVqZ2tUSmxTWjdmVG8wU09GVGNiMTlmWFZubDIyWWNNR0pDUWtDQS9JMVZFMDQ2bDE2OVlZTm13WXBrK2ZqdkhqeDZzOC91alJvN2g2OWFySzBLbGluRlFxeGRTcFUzSGd3QUVVRkJUSXphSjY5T2lSMGhYUnRtM2JCbjkvL3lyYkR4MDZWR1ZiWkdTa3d0bFhYbDVlY3A5dkt5c3IyTnJheWpWWFYrWE9uVHZWTnZRRzFHOHVYaFBYcmwyRG41OGZWcTllamR1M2J3TUF4bzhmajFPblRtSFRwazFZdFdyVks1Mi9JbkNzdk1xY1ZDb0ZBTG55TTI5dmI2VWxlVUI1YjZrZVBYcGd3SUFCT0h2MmJKWFpYVnBhV3VqZnYzK05aMHVxdzh6TURKczJiY0xHalJzUkVCQ0EvdjM3dzhqSUNJc1hMNFpNSmtOMGREU21USm1DNHVKaXlHUXloZWZZdTNjdk9uVG9nTzdkdXd2aGVrSkNBZ0RBeE1SRUxuQ3ZyaXpXek13TWZmdjJyYVYzUi9UUHcrQ0ppSWlJaVA0MnljbkpLdmVYbHBZcUhTTVNpUlNXNlNqcWQ2TnVqeWROQ1FrSlFXUmtKSnljbklUR3pXM2F0TUdLRlN0Z1oyZFhaZnlWSzFkdzVjcVZLdHN0TFMzVmZsQnYzYm8xV3JkdXJmWTlabVptb21IRGhraE1URVJTVWhKMGRYWHg5T2xUekpvMUMyS3hXR0hnOHlKOWZYMjFWb1p6ZEhTRWtaRVIvdld2ZitIMzMzL0hyVnUzaEsrQlRDYkQzYnQzNVhvREtlTHM3S3oyKzZxc2NpUHJNV1BHWU15WU1Xb2Y3K0Rnb05ZNGRadUxxK3ZKa3lkWXQyNGRIQndjMEtkUEh5RjRFb3ZGK1BycnI3RjQ4V0w0K3ZvS3MzUmVSa1pHQmtRaUVVeE1UT1MyVjRTbEw2NVNWNkZ5MDNjQWNvR2Z2cjQrTm03Y0tNd3FBc3AvZGcwTURDQVdhKzV4VkZkWEZ5NHVMb2lKaVVHWExsMGdrOGt3ZE9oUTZPcnF3dERRRUFZR0J0RFQwNE8rdnI3YzMvWDA5Q0NWU3ZIZGQ5L0J4OGNIM2J0M0IxQWV5dDI4ZVJOQWVTUCtvMGVQWXNLRUNRZ01ETVNtVFp2VXZpOU45NUVqZWhNeGVDSWlJaUtpdjgzSEgzK3NjbjlLU29yU01UbzZPamgxNnBUd3VrV0xGaGc3ZGl4bXo1NE5YVjFkQU9VQmpwZVhGNzc4OGt0MDZOQkI2WFdpb3FKVXJwNzNxa0pEUTlHK2ZYdDg4TUVIY2l1R0tRc3hhcXU1ZUUxa1ptYmk0Y09Id2dwN1FIazQ5OXR2dndsTjNQWDE5WEgyN0ZrRUJ3ZGo3ZHExd3JqZzRHRGs1K2VyRmVBWUdSbkIwZEVSTXBrTUppWW1DQXNMRTRLbjJOaFlGQllXQ2syZ2xhbmNrUHhsM0w5L0gvZnUzYXYyR3VxTXE5d0RDRkMvdWZqOCtmUGxYZ2NFQkZScGJKMlZsWVVWSzFhZ1FZTUdDbGVEdExhMnhyUnAwN0Jueng0MGF0UUlRNFlNcWZhNmlqeDQ4QUJObWpTcHNySmxSZkJVOFhOVkUzdjI3SUd2cnkrQ2dvS2dyNjh2YkpmSlpBZ0xDMFB2M3IyaHBhWDFVdmRiSFpGSUpQU1dFb2xFV0xKa0NWYXNXSUZodzRZSlAzdkxseS9IeUpFajBhdFhMMXk1Y2dVN2QrNkV1N3M3ZnZycEp6UnExRWc0MS9uejUyRnVibzdFeEVURXhzYmkxS2xUS0MwdHhjaVJJNnYwci9MeDhVRlFVSkJRb2tkVTF6RjRJaUlpSXFLL3pZc05mQ3RidDI0ZEdqVnFoRGx6NWlqYy8rTERjV0ppSWd3TkRURisvSGlrcGFVQktDOFAyclp0RzBwTFM2R2pveU5YV2xlWnFha3B4bzhmajhURVJKaWFtcjV5cjV6S3BrNmRxdkVaSHEvcThPSERjcSt2WExtQ1ZhdFdvVjY5ZXBnN2R5NDZkKzZNUllzV1FWdGJHeEVSRVVoT1RoWksxbng5ZmFHbnAxZWptVU1pa1FoOSsvYkYrZlBuTVhmdVhCZ1lHT0RjdVhQUTB0SlNPQXNNS0cvc1hUa1VlVm1YTDEvR3ZuMzdsTzZ2Q0o3VUdWYzVZS2pvQlRSOStuUU1IandZeGNYRmVQcjBLWm8yYlFwZFhWMGNPM1lNSjA2Y3dOeTVjL0h1dSsvS0hWdDVWbEZPVGc2V0xWdUc3T3hzYk5teVJlbG5jK2JNbVlpUGo0ZUhoNGN3dTZjbVNrcEtFQmNYVitWK0FBaTluQlFGVCtvMGszOVJXVmtaTGx5NEFHOXZieng4K0JBTEZpekEyTEZqYTNRT2RUMSsvQmorL3Y2WU5Ha1NMQ3dzSUpWS2NlM2FOV0VXRTFCZXZsalJleW8zTnhkMzc5NUZhV2twR2pkdUxIZlBSNDRjd1pBaFE3Qi8vMzZNR1RNR0R4NDh3SysvL29yR2pSdFhDWkFyU2hYWi80Nm8zSnY3djN4RVJFU1ZhR3RyUXlxVjF0cERCOUdicUs1OXhsV1ZMYTFidHc0R0JnWnFsVFpWVnphbkxMeFNaUEhpeFdyMysxRlh1M2J0YXZWOG1pYVZTb1d5S0QwOVBYVHUzQm1YTGwzQ3dvVUwwYU5IRDRoRUl0eTRjUU9XbHBaSVRVMUZRa0lDNXMyYnAvQmNFb2tFUjQ0Y2daK2ZYNVY5WThhTXdjbVRKK0h2NzQvUm8wZmozTGx6c0xlM2wxdHByUEs1YXJyTWZYVXFsejRkT0hCQVlkQ2thdHlMQVlPL3Z6OE9IanlJSVVPRzRKTlBQZ0ZRM2hkcTllclYyTHg1TTlxMWE0ZDU4K2JoOGVQSDJMVnJGL1QwOURCeTVFaUY5NWFabVltbFM1Y2lNVEVScnE2dUtrc25SU0lSWEZ4Y3NHVEpFbmg0ZUNBMU5SWFRwMCtIU0NSU09QNzU4K2VJam83RzdkdTM0ZVRraE11WEw2T3dzRkJoOENTUlNBQkE0ZGZleTh1cnlqWkZzeFR6OHZKdzVzd1pIRHQyREUrZlBvV1ZsUldjblozVktzOThXWC85OVJlT0h6K09YcjE2d2NMQ0FnVUZCUUNxTmsrdnp2bno1L0gwNlZPTUdERUMrL2Z2QjFBK1UwMGtFc0hhMnJyVzc1dm9iY1BnaVlpSS9qSDA5ZldSbjUrdjlJR0U2RzJRbjU4djEyaVoxRk01RkRoNThpUzJidDJLbFN0WEtteXVIUnNiaTYrKytnclcxdGJ3OFBCUStuRCtkL0gxOVlXdnI2L0NmZDdlM2pBek02dlY2K1hrNUNBdUxnNTM3dHhCVEV3TTd0eTVnNWt6WndJb24rWHkzbnZ2NGVUSms0aU9qb2FOalExYXQyNk5temR2WXZUbzBRZ1BENGRJSkVMLy92M2x6bG14UXRvbm4zeUNaOCtlS2Z6ZDNhWk5HOWpiMjhQSHh3ZUppWW5JejgvSGxDbFRWTjVuNWNiWGJ3cUpSSUtkTzNjaUlDQUEvZnIxdzVJbFM1U08xZGJXaHF1cks1WXZYNDdObXpjaklpSUNuMy8rdVZEU0NKUTNXVis1Y2lYUzA5T3hiTmt5OU9yVnE5cDcwTmZYeDRZTkcvRE5OOS9BeThzTGQrN2N3WklsUzJCaVlvTHM3R3pFeE1RQUFNNmVQWXNUSjA1QUpwTkJXMXNiSDMzMEVmejgvSVR2dGFMM0JpZ09iTlJkaU1EUjBSR2xwYVhvM3IwNzVzeVpnNzU5KzJyODV5NG1KZ2JhMnRwQ0tWeG1aaVlBVkx0aTRvc0tDd3V4ZS9kdURCZ3dRTzduVGt0TEMxOTg4UVVTRWhJd2ZmcDBoY2RXbm5XMmVmUG1LbVY1UkhVQmd5Y2lJdnJITURNelEzSnlNb01uZXFzbEp5ZkxsWGhRemQyL2Z4OC8vL3d6VEUxTm9hT2pnNktpSXJrSDVydDM3OExGeFFVTkd6YkUwcVZMMzdqUUNRRHM3ZTJWcmthbjdrTnpRVUVCTWpJeTFDcjNjWEZ4UVd4c0xJeU1qR0J0YlkwWk0yWkFMQlpETEJaRFcxc2IzYnAxZzY2dUxzTER3MkZqWXdOcmEydWhKOWFGQ3hkZ1kyTWoxdzlISnBNaE5EUVVRUGxNSERjM055UWtKQ2ljU1RSLy9ueDgrdW1uT0hQbURQcjI3YXZ5d1R3bEpRVk5talJSNi8yL1R0ZXVYY1AyN2R2eDVNa1RUSjQ4R1ljT0hWSllndmJWVjEvSnZUWXpNOFBVcVZOeDZOQWgvUG5ubnhnOGVEQm16NTZOek14TUxGeTRFQktKQkV1WExvV0RnNFBTMHJuSzI0Y05HNFlmZnZnQmJtNXVpSWlJZ0xlM042NWZ2eTZVbWxZMDViZTF0WVd0clMyNmRPbUNzMmZQSWk0dURsT21URkVZN0JVVUZFQmJXMXRocWFpNkpYMFRKMDdFeUpFajVZS3E3ZHUzdzliV1ZtTXJ2a1ZGUmFGOSsvWkNtUC9nd1FNQWdMbTV1VnJIQndjSFExOWZIeEtKUkFoaUsydlJva1dWVWt0bFBaN2V4TTh1MGV2QTRJbUlpUDR4V3Jac2lTdFhyaUFySzZ2S2lqdEViNE9zckN4a1pHUlV1eHc5cVdaaVlvTFpzMmNqTkRRVXJxNnUwTmJXUnRldVhXRm5aNGZTMGxKNGVYbkIwTkFRR3pac3FQV1pRN1dsWmN1V3IxeUN0SERoUW1IV2pMSVFxOEtzV2JOUXYzNTl0R3ZYVGdqaWpodzVJZ1IyWXJFWTNicDF3N1ZyMXpCbnpod01HalFJNzd6ekRoNC9mb3lZbUJnc1hyeFk3bndpa1FpREJnMUNRa0lDbGk5ZkRuMTlmV0VwK3NvS0NncWdwNmNIaVVTQ3ZMdzg1T1RrS1B3SGhweWNIQ1FsSldIY3VIRXY4ZFhRbkpLU0V2ajcrNk93c0JCcjFxeEJuejU5cXBUT0pTUWtZTzNhdFZpK2ZEbmF0Mjh2YkJlTHhiQ3dzTUNvVWFQZzUrZUhSNDhld2REUUVQWHIxNGVqbzZNd0l3eW91cExmaFFzWEVCRVJVV1c3cGFVbERBd01zSGJ0V2dRRkJXSG8wS0ZZdTNZdHVuVHBncDQ5ZTZKNzkrNXlYOSs0dURqODlOTlBNRE16VXpwenArSjdwSWlpQnRxS1NsOFZOY3NQRHc5SGJtNHUrdmJ0aXhzM2JtRC8vdjFZdVhKbHJmeGNQbm55Qk9ucDZSZzBhSkN3N2ZMbHl4Q0x4V3F2OW5qMTZsVWtKQ1RBM2QwZHpaczNWemhHUjBlblNyakxIazlFOGhnOEVSSFJQNFpZTEVibnpwMFJIUjJOTGwyNk1IeWl0MHBXVmhhaW82TmhiVzFkSjNvOFZaUmhWVWNtazFVNzlzV1Zzb0R5NEduczJMRVlPM1lzc3JPekVSUVVCQzh2TDF5L2ZsMFk4OTU3N3lFdkx3OWxaV1VLVjlRNmZQZ3djbk56cTcyL25Kd2N1VlhxRkhGeWNxcjJQSm9nazhuay9xdUtyYTF0bFczWjJkbHlqYXpuenAwci9ON3QwcVVMdW5UcGduMzc5cUZldlhwVnl1eUE4bWJYMVRVRER3OFB4OGFOR3dFQW8wZVB4c21USi9IWlo1OEo0ZGFMczlHQ2dvSWdrOG1FSUthMlZQU3lxaUNWU210MHZJNk9EbGF2WG8zQ3drTGg2MVU1Y01qUHp3ZFFQdU5GVVJqUnRHbFRMRml3UUc3YnRHblQ1RjVYWHNudjhlUEhpSWlJVUxyQ241YVdGb1lQSHc0QVdMVnFsY0l4VVZGUldMMTZOV1F5R1Zhc1dLR3djYmxNSmtOY1hKemNqTFlYVlJldVZId1BLLytzbFpXVklTc3JTeWd2TENrcFFVSkNBcjc0NGd0OC8vMzNjZ0hkeTRpSWlBQUFkTzNhRlVCNWVlMkZDeGZRdDI5ZnRYczhaV2RubzFHalJpcFh4Q1NpNmpGNElpS2lmeFJUVTFOWVcxc2pKaVlHalJvMWdxV2xKZXJYcjE4bkh0VHA3U09WU3BHZm40L2s1R1JrWkdUQTJ0b2FwcWFtZi9kdHZSYnFybUtWbEpSVTdkaWpSNC9LbFFlVmxKVGcwYU5IdUhQbkRtN2V2SWsvLy93VEVva0VIVHQyUkw5Ky9YRGp4ZzJFaElUZzNMbHpxRisvUHQ1OTkxM1kyOXVqVjY5ZXdubjgvZjJSbkp4YzdmM2w1dWJDMjl0YjVaaS9LM2p5OVBSRWVubzZXclZxcGRiNHJLd3NQSHYyREdLeEdGbFpXUWdLQ2tMTGxpMFJIQnlzOUppZ29DQTBhOVpNZU1nSGdJRURCMElrRWtFa0VpbjkzZno4K1hQODhzc3ZDQXdNaEptWkdkemMzTkMyYlZ0MDdkb1ZXN1pzZ2J1N08zeDlmVEYxNmxUMDY5Y1BlWGw1OFBIeFFhdFdyWVFWeUdyTHFGR2oxQnFucXFSTVMwc0xhOWFzd2MyYk4xV2VvM0twWFdXVmU1VnBTbkZ4TVh4OGZPRGo0d094V0l4VnExWUpKWTZiTm0xQ1hsNmVzQXJqdlh2M2tKU1VoTW1USjZzODU3MTc5NkNucDRmNzkrOEQrTi9xZkJXLzAvNzczLytpWThlT3d2aWJOMitpdExSVUNKanM3T3p3NDQ4L1lzV0tGVml5WkFsY1hWM1JyVnUzbDM2UFY2NWNFWnAvMzdwMUMydldyRUc5ZXZWVS9qeFdsT1JGUmthaWVmUG1pSXVMcTdhVVVOVitSZnRzYlcyRnNKV29ybUR3UkVSRS96aW1wcWF3dDdmSG8wZVBFQnNiaTRLQ2doci9DelhSbTBCYld4c0dCZ1pvM0xneDdPM3RGZlpQZVZzdFdyU28xczZscDZlSDR1SmlmUHZ0dDBoT1RrWmFXcHJ3TzZGNTgrWVlQWG8wQmcwYUpEemdmdkRCQjhqTnpVVllXQmd1WExpQWl4Y3ZJamc0R0xxNnV0aS9mejlNVFUwVnJ0VDFUMk5vYUtod0Jvc3k5KzdkdzRvVks0VFhCZ1lHK09pamo2b05TNER5RlFncjlPM2JWK1hLY3hjdlhvU25weWR5Y25KZ2IyK1BKVXVXQ0tWZkRnNE82Tnk1TTNiczJJSHc4SENzVzdjTzdkdTN4NkpGaTFCWVdJZ0ZDeGJVZWsrdVhidDJ5YjBPQ0FqQXNXUEhxb3lyWEZKMjRzUUpIRDE2VkhqdDdPeU1vcUtpV3IwM1RZbUxpNE92cnkvTXpjMnhjdVhLS3VWL1lXRmh3a3c1YlcxdHZQZmVlNWd4WTRiS2M3cTV1UWxoclVna0VnTENvVU9ISWp3OEhIdjI3SkdiZmFlbnA0ZGh3NGFoVDU4K3dyWjMzbmtISGg0ZWNIWjJ4b0VEQjE0NmVDb3VMa1pzYkN6YXRtMkxnb0lDTEZ1MkRDS1JDTjkrKzYzS0dWcTJ0cll3TXpQRCt2WHJBWlEzMWg4eVpJaktheWtxTlZTbHBpdnFFYjBOUkRKMTV0NFNFUkVSRWIzaHRtL2ZqbWZQbnFGRml4Wm8xNjRkT25mdXJGYWo5cHljSElTR2hxS2twQVFUSmt6UStIMTZlSGpBenM1T1lYbWFPdnMxUlNLUklDRWhBVktwRkZwYVdtamR1bld0cnJCNDRNQUI3TnUzRDl1M2I4ZWFOV3N3YTlZc2xRLzF0Mjdkd29FREJ6QjkrblRZMk5nZ01UR3hWbnZtaElXRklTUWtCQ3RYcmxTNVhkMXhyOXVqUjQrUWxKVDAwbzI1WTJOajBhWk5HNlVob1ZRcVJWbFpHY1Jpc2NLdzc4OC8vOFNOR3pjd1o4NGNBT1dsYlJrWkdSQ0x4V2pmdm4yVm1YWXltUXhsWldYQ2ExVXpsUjg5ZWdRek03Tlgrdnc5Zi80Y2p4OC9ScWRPblhEMjdGbTBiOThlTFZ1MnJQWTRpVVNDaHc4ZlFpYVR3ZExTc2tvei8vajRlRFJ0MnBRTG5SQlZJbEx4cndJTW5vaUlpSWlJNkxXU1NxVXNrU1lpZW9zd2VDSWlJaUlpSWlJaUlvMVFGVHhWWGNLRGlJaUlpSWlJaUlpb0ZqQjRJaUlpSWlJaUlpSWlqV0R3UkVSRVJFUkVSRVJFR3NIZ2lZaUlpSWlJaUlpSU5JTEJFeEVSRVJFUkVSRVJhUVNESnlJaUlpSWlJaUlpMGdnR1QwUkVSRVJFUkVSRXBCRU1ub2lJaUlpSWlJaUlTQ01ZUEJFUkVSRVJFUkVSa1VZd2VDSWlJaUlpSWlJaUlvMWc4RVJFUkVSRVJFUkVSQnJCNEltSWlJaUlpSWlJaURTQ3dSTVJFUkVSRVJFUkVXa0VneWNpSWlJaUlpSWlJdElJQms5RVJFUkVSRVJFUktRUkRKNklpSWlJaUlpSWlFZ2pHRHdSRVJFUkVSRVJFWkZHTUhnaUlpSWlJaUlpSWlLTllQQkVSRVJFUkVSRVJFUWF3ZUNKaUlpSWlJaUlpSWcwZ3NFVEVSRVJFUkVSRVJGcEJJTW5JaUlpSWlJaUlpTFNDQVpQUkVSRVJFUkVSRVNrRVF5ZWlJaUlpSWlJaUloSUl4ZzhFUkVSRVJFUkVSR1JSakI0SWlJaUlpSWlJaUlpaldEd1JFUkVSRVJFUkVSRUdzSGdpWWlJaUlpSWlJaUlOSUxCRXhFUkVSRVJFUkVSYVFTREp5SWlJaUlpSWlJaTBnZ0dUMFJFUkVSRVJFUkVwQkVNbm9pSWlJaUlpSWlJU0NNWVBCRVJFUkVSRVJFUmtVWXdlQ0lpSWlJaUlpSWlJbzFnOEVSRVJFUkVSRVJFUkJyQjRJbUlpSWlJaUlpSWlEU0N3Uk1SRVJFUkVSRVJFV2tFZ3ljaUlpSWlJaUlpSXRJSUJrOUVSRVJFUlBZd0FnY0FBQUQxU1VSQlZFUkVSS1FSREo2SWlJaUlpSWlJaUVnakdEd1JFUkVSRVJFUkVaRkdNSGdpSWlJaUlpSWlJaUtOWVBCRVJFUkVSRVJFUkVRYXdlQ0ppSWlJaUlpSWlJZzBnc0VURVJFUkVSRVJFUkZwQklNbklpSWlJaUlpSWlMU0NBWlBSRVJFUkVSRVJFU2tFUXllaUlpSWlJaUlpSWhJSXhnOEVSRVJFUkVSRVJHUlJqQjRJaUlpSWlJaUlpSWlqV0R3UkVSRVJFUkVSRVJFR3NIZ2lZaUlpSWlJaUlpSU5JTEJFeEVSRVJFUkVSRVJFUkVSRVJFUkVSRVJFUkVSRVJFUkVSRVJFUkVSRVJFUkVSRVJFUkVSRVJFUkVSRVJFUkVSRVJFUkVSRVJFUkVSRVJFUkVSRVJFUkVSRVJFUkVSRVJFZjBUL0IvbFF3THpSR0tXbndBQUFBQkpSVTVFcmtKZ2dnPT0iLAoJIlRoZW1lIiA6ICIiLAoJIlR5cGUiIDogIm1pbmQiLAoJIlZlcnNpb24iIDogIiIKfQo="/>
    </extobj>
    <extobj name="ECB019B1-382A-4266-B25C-5B523AA43C14-2">
      <extobjdata type="ECB019B1-382A-4266-B25C-5B523AA43C14" data="ewoJIkZpbGVJZCIgOiAiMTg2NDc2NjE1NTYwIiwKCSJHcm91cElkIiA6ICI0MDI4MDQwNDYiLAoJIkltYWdlIiA6ICJpVkJPUncwS0dnb0FBQUFOU1VoRVVnQUFCQkVBQUFSSkNBWUFBQUNmSnByeEFBQUFDWEJJV1hNQUFBc1RBQUFMRXdFQW1wd1lBQUFnQUVsRVFWUjRuT3pkZjN6TmRmL0g4ZWZaempiYjJsclRFc3FQRkpVcjRrUVg4bXN6bFFqOVVBcjlwSlQwdzZaRVZ4Z1ZLa1ZLRWFVaDVTcUZYRW0wcEJFalVlenFoNVZtTFV5TWplM3NuTzhmKys1Y2pvMCt0cDN6T2Vmc2NiL2RydHR0NTNNKzUvTjVIVjN2OXpsNzd2TjV2eXhPcDlNcEFBQUFBQUNBdnhGa2RnRUFBQUFBQU1BL0VDSUFBQUFBQUFCRENCRUFBQUFBQUlBaGhBZ0FBQUFBQU1BUVFnUUFBQUFBQUdBSUlRSUFBQUFBQURDRUVBRUFBQUFBQUJoQ2lBQUFBQUFBQUF3aFJBQUFBQUFBQUlZUUlnQUFBQUFBQUVNSUVRQUFBQUFBZ0NHRUNBQUFBQUFBd0JCQ0JBQUFBQUFBWUFnaEFnQUFBQUFBTUlRUUFRQUFBQUFBR0VLSUFBQUFBQUFBRENGRUFBQUFBQUFBaGhBaUFBQUFBQUFBUXdnUkFBQUFBQUNBSVlRSUFBQUFBQURBRUVJRUFBQUFBQUJnQ0NFQ0FBQUFBQUF3aEJBQkFBQUFBQUFZUW9nQUFBQUFBQUFNSVVRQUFBQUFBQUNHRUNJQUFBQUFBQUJEQ0JFQUFBQUFBSUFoaEFnQUFBQUFBTUFRUWdRQUFBQUFBR0FJSVFJQUFBQUFBRENFRUFFQUFBQUFBQmhDaUFBQUFBQUFBQXdoUkFBQUFBQUFBSVlRSWdBQUFBQUFBRU1JRVFBQUFBQUFnQ0dFQ0FBQUFBQUF3QkJDQkFBQUFBQUFZQWdoQWdBQUFBQUFNSVFRQVFBQUFBQUFHRUtJQUFBQUFBQUFEQ0ZFQUFBQUFBQUFoaEFpQUFBQUFBQUFRd2dSQUFBQUFBQ0FJWVFJQUFBQUFBREFFRUlFQUFBQUFBQmdDQ0VDQUFBQUFBQXd4R3AyQVFBQW5NclJvMGYxOWRkZkt5TWpRMXUzYnRXZmYvNnBnd2NQeW02M20xMmFUd2dPRGxaMGRMVGk0dUxVc21WTDJXdzJ0Vy9mWHBHUmtXYVhCZ0FBQXBERjZYUTZ6UzRDQUlBVEhUcDBTTys4ODQ0V0xWcWtJMGVPbUYyT1g2bFZxNVp1dU9FRzNYWFhYWXFOalRXN0hBQUFFRUFJRVFBQVBtZlZxbFdhTUdHQzh2UHpaYkZZZFBubGw2dERodzVxM2JxMTZ0ZXZyNWlZR0ZtdFhFd25TWGE3WFFjUEhsUk9UbzQyYjk2c3I3LytXcHMyYlpMVDZWUmtaS1NTazVQVnExY3ZzOHNFQUFBQmdoQUJBT0F6U2twS05IWHFWQzFjdUZDUzFMbHpaejM4OE1OcTJMQ2h5Wlg1bHoxNzltamF0R242N0xQUEpFbTllL2ZXazA4K1NmQUNBQUNxakJBQkFPQVQ3SGE3Smt5WW9LVkxseW9xS2twUFBmV1VFaElTekM3THI2MWZ2MTVqeG96UmdRTUgxS1ZMRjAyYU5Ja2dBUUFBVkFraEFnREFKMHlkT2xXcHFhbUtpNHZUekprejFhaFJJN05MQ2dnNU9UbTY3Nzc3bEoyZHJldXZ2MTVQUC8yMDJTVUJBQUEvUm90SEFJRHBWcXhZb2RUVVZNWEV4R2pXckZrRUNOV29idDI2bWpWcmx1TGk0dlR4eHg5cjBhSkZacGNFQUFEOEdGY2lBQUJNdFhmdlh0MTQ0NDA2ZXZTb3BrK2ZyaXV2dk5Mc2tnTFM5dTNiZGM4OTk4aHF0V3JSb2tVNjc3enp6QzRKQUFENElhNUVBQUNZNnZubm45ZVJJMGQwNjYyM0VpQjQwRC8rOFEvZGYvLzlPbnIwcUNaTW1HQjJPUUFBd0U4UklnQUFUTE50MnphdFdyVktkZXZXMWJCaHc4d3VKK0FOR0RCQWpSbzEwc2FORzVXZW5tNTJPUUFBd0E4UklnQUFURE56NWt4SjB1REJneFVhR21weU5ZRXZKQ1JFdzRjUGx5UzkvdnJySmxjREFBRDhFU0VDQU1BVVAvLzhzOWF2WDYvNjlldnIrdXV2Tjd1Y0dxTlRwMDY2NElJTHRHM2JObTNmdnQzc2NnQUFnSjhoUkFBQW1HTEpraVdTcEQ1OStzaGlzWmhjVGMxaHNWZzBjT0JBU2RMOCtmTk5yZ1lBQVBnYlFnUUFnTmNWRnhkcjJiSmxzbHF0dXVHR0c4d3VwOGFKajQ5WFNFaUl2djc2YXgwN2RzenNjZ0FBZ0I4aFJBQUFlTjNtelp0MTZOQWh0V3JWU2pFeE1XYVhVK09jY2NZWjZ0eTVzdzRmUHF5MHREU3p5d0VBQUg2RUVBRUE0SFhyMTYrWEpIWG8wTUhrU21xdXJsMjdTcExXcmwxcmNpVUFBTUNmRUNJQUFMenV5eSsvbEZTNnlCL00wYkpsUzBuU2xpMWJUSzRFQUFENEUwSUVBSUJYSFR4NFVGbFpXWXFOalZYRGhnM05McWZHcWx1M3J1clVxYU9jbkJ6bDVlV1pYUTRBQVBBVGhBZ0FBSy82OGNjZkpVa1hYbmloeVpXZ1JZc1drcVJ2di8zVzVFb0FBSUMvSUVRQUFIaFZWbGFXSktseDQ4Ym1GZ0pkY3NrbGtxUWRPM2FZWEFrQUFQQVhoQWdBQUs4cUN4RzhjU3ZEM3IxN05XclVxQXFmY3pxZHlzM04xZnIxNjJXMzIwOTVuQ0ZEaGxTNDNlRnc2TlZYWDlYZXZYdkxQVmRTVXFKRGh3NXA5KzdkMnJadG05YXNXYU5mZnZubGxPZHhPQnhLU1VtUncrRTQ1WDdWcFg3OStwS2szYnQzZStWOEFBREEvMW5OTGdBQVVMUDgrdXV2a3FRR0RScDQvRnh4Y1hIS3pNelUzcjE3RlJjWEowa2FOR2lRc3JPelZWQlFJTHZkTHFmVHFYbno1dW5ERHo5MCs0dDhhbXFxUm84ZXJWOS8vVldabVprYU1HQ0EyM05sTEJhTCt2ZnZyNGtUSjJyWHJsMTYvZlhYVlZ4Y0xJdkZvb0tDQWpWcDBrVFIwZEdLaVluUnRkZGVxNWlZR1BYdDI3ZGNyV2xwYVhJNEhGcXlaSWxHang3dHdYK1YvNmxUcDQ0azZZOC8vdkRLK1FBQWdQOGpSQUFBZU5XK2Zmc2tTV2VmZmJaSHp6Tm8wQ0FWRmhiS2FyWHF3UWNmbE1QaFVGQlFrQTRjT0tBVksxWW9ORFRVYmYrNmRldXFxS2hJQ3hZczBHKy8vU1pKbWpoeG9pU3BjK2ZPcnVBZ01USFI5WnFnb0NBTkhUcFVGMTEwa1k0ZVBhb2JiN3hSdlh2M1ZuaDR1SXFLaXRTdVhUdTk5OTU3NVdwTFMwdXJzR2FId3lHTHhhS2dJTzljS0hqbW1XZEtLbDNzRWdBQXdBaENCQUNBViszZnYxK1NkTlpaWjNuMFBHUEhqdFg3Nzcrdnh4OS9YRjk4OFlYZWZQTk5UWmt5UlFNSERpd1hJSlRWczNYclZxV2xwV25ldkhucTM3Ky82N21DZ2dMWDQ0TUhENnAvLy83cTI3ZXZPblRvb09EZ1lIWHIxczIxYjBoSXlHblh1blBuVHQxMTExMlNTbSt6YU5ldW5TU3BxS2hJbjN6eWlldUtnZW9XSFIwdGlSQUJBQUFZUjRnQUFQQ3F3c0pDU1ZKRVJJVEh6akZseWhSdDNMaFJoWVdGMnJScGszYnQycVY2OWVwcCtQRGhKMzNOZ1FNSDlOUlRUK25aWjU5VmRIUzBGaTVjNkhxdWMrZk9yc2VKaVltdW41Y3NXYUtYWG5wSnc0WU5VNnRXcmR4dWVTaFRGZ2lVU1U5UEw3ZlB4UmRmclBUMGRPWG41NnRIang1YXUzYXRKQ2srUHI1U29ZUlJ0V3JWa2lRZE8zYk1ZK2NBQUFDQmhSQUJBT0JWWmIrd1ZuUTFRSFZKVGs1Mi9aeVNrcUwzMzMvZjlUZ3hNVkc5ZS9lV0pCVVhGeXNrSkVRSkNRbUtpSWhRZm42K1huNzVaVW5TRzIrODRWb1RvYUNnd0JVUUhQOVgrejU5K3FoeDQ4YWFOR21TRWhJUzNBS0NzdHNaVGd3Tk9uZnU3SHJlNlhRcUxDeE1rclJvMFNKWkxCYlhML2FTWkxmYlpiVjY3cU82TEtBb0xpNzIyRGtBQUVCZ0lVUUFBSmpDWXJGNDVUeGZmdm1sMjJPbjA2bVBQdnBJVXVrdjlHWHJFK3pkdTFkZHUzWlZjSEN3N3I3N2Jra1ZyNGxRZHBWQW1aWXRXMnJCZ2dXRzZ5azczNUFoUTNUenpUZTdyYkd3ZmZ0MnhjYkd1aDRYRnhlN1FnWlBjanFkSGo4SEFBQUlESVFJQUFDdkNnME5WV0Zob1k0ZE8rYlJXeHI2OWVzbnFmVEtnYktmSloyMGZlS2NPWFBVcGswYk5XellVSTBhTlpJazE5VUh4MStKSUVsejU4N1ZuRGx6WEk5ZmUrMDE5ZXZYVDdWcjEzWUxCU1QzaFJnLysrd3pTZEtXTFZ1VW01dXIrUGg0VFo0OFdTTkdqRkJ3Y0xBeU16TjF3UVVYU0NyOXhkNXV0M3YwZG9heUt4QThlVlVJQUFBSUxJUUlBQUN2Q2c4UFYyRmhvUW9MQ3owYUlpUW5KeXM2T2xyRGhnM1Q1TW1UdFhYclZuWHAwc1V0VURoZXQyN2ROSC8rZkxWdTNWcHQyclNSOUw5V2pzZGZpWENpM054Y3paa3p4M1hjdkx3OFpXUmtsTnV2N0pnT2gwTlRwMDdWM1hmZnJlRGdZQjA3ZGt6cjFxMVRwMDZkOU9XWFg2cExseTZTU3RlT0NBa0o4V2luQm0vY1dnSUFBQUlMSVFJQXdLdHExNjZ0dkx3OEhUaHdRTFZyMS9iSU9Rb0tDalJod2dTOTl0cHJrcVRZMkZpbHBxYnE4ODgvVi8zNjlTdDhqYzFtMDR3Wk16UnYzanpObWpWTGQ5OTl0NHFLaWx6SE8zSFJ4TEpRSVQwOVhjMmJOemY4WGxKU1V2VDc3NzhyTmpaV3k1Y3ZsOVZxMVlvVkszVCsrZWRyeTVZdFNrbEpjWjNUa3lHTEpCMDZkRWpTLzFvOUFnQUEvQjFDQkFDQVY1MTk5dG42OGNjZnRXL2ZQbDE0NFlVZU9jZFhYMzJsVHAwNnFWNjllaW9wS1ZGMGRMU21UWnVtbEpRVVhYTEpKU2Q5M1VVWFhhVE16RXd0VzdaTUkwZU8xQVVYWEtEUTBOQlRYb213Y3VWS2RlM2ExWEJ0VFpzMmxkMXUxNVl0V3hRYkc2dkxMNzljdWJtNVNrbEowVzIzM2Fhd3NEQVZGeGRyeDQ0ZGJ1c2plRUxaSXBFeE1URWVQUThBQUFnY2hBZ0FBSzlxMEtDQjB0UFR0WHYzYnYzem4vLzB5RG02ZCsrdTJyVnJxMXUzYnE2Z29tN2R1c3JLeXRJZGQ5eFI0V3NtVDU2c1hidDI2ZU9QUDliSEgzK3N5Wk1uYS9mdTNTb3BLVkZvYUtpNmQrL3VXcWZBYnJmcndRY2ZWR0ppb2padTNLakhIMy9jN1ZnbnJvc2cvVzh0aHY3OSs1ZDdidnIwNlhJNEhMcm5ubnUwYnQwNmpSZ3hRbGFyVlVsSlNWWDlwemlsM054Y1NWS2RPblU4ZWg0QUFCQTRDQkVBQUY1VnRtaGhWbGFXUjg5anM5bTBhdFVxdDIzUFB2dXNXclJvNFhwOHpUWFh1SDd1MWF1WExycm9JbG10VnQxMTExMjY2NjY3S2p4dVdSZ1FGQlNra3BJU3ZmcnFxMnJZc0tIcitRRURCdWpSUng4dDk3cHAwNmFkdE5iYmI3OWRkOXh4aDBKQ1F0U2xTeGR0MkxCQlFVRkJIbDBQUVpMMjdOa2pTVHJ2dlBNOGVoNEFBQkE0Q0JFQUFGN2xyUkNoSWkxYnRuUjdQR3JVS05mUHA3ck40WGpILzJJZkhCenNXakN4VEVVQmdpUU5Iejc4cE1jODhiWUZxOVU3SDg4N2QrNlVKRFZyMXN3cjV3TUFBUDdQczMvaUFBRGdCRTJiTnBVay9mVFRUeVpYZ3ExYnQwcVNXclZxWlhJbEFBREFYeEFpQUFDOEtpWW1SdWVmZjc3MjdkdW4zMy8vM2V4eWFxdy8vL3hUT1RrNXFsT25qdUxpNHN3dUJ3QUErQWxDQkFDQTEzWHExRW1TdEhidFdwTXJxYm5LcmtLNC9QTExUYTRFQUFENEUwSUVBSURYbFhWbFdMZHVuY21WMUZ4cGFXbVNwS3V1dXNya1NnQUFnRDhoUkFBQWVKM05abE5rWktRMmJkcWsvUHg4czh1cGNRb0tDclI2OVdyVnFsVkw4Zkh4WnBjREFBRDhDQ0VDQU1EcndzTEMxS05IRHhVWEYrdWpqejR5dTV3YUp5MHRUY2VPSFZQNzl1MVZxMVl0czhzQkFBQitoQkFCQUdDS1BuMzZTSkkrK09BRE9aMU9rNnVwT1p4T3AxSlRVeVZKdDk1NnE4blZBQUFBZjBPSUFBQXd4Y1VYWDZ6V3JWdnIxMTkvMWFlZmZtcDJPVFhHK3ZYcnRYUG5UbDE4OGNXeTJXeG1sd01BQVB3TUlRSUF3RFJEaHc2VkpMMysrdXNxTGk0MnVackFaN2ZiTlgzNmRFblM0TUdEVGE0R0FBRDRJMElFQUlCcFdyZHVyYXV1dWtxLy9mYWJaczJhWlhZNUFlLzk5OTlYWm1hbVdyWnNxUzVkdXBoZERnQUE4RU1XSnplaUFnQk1sSjJkclZ0dXVVWEZ4Y1dhUFh1MkxydnNNck5MQ2tnLy9mU1RCZzRjS0l2Rm9uZmVlVWRObWpReHV5UUFBT0NIdUJJQkFHQ3ErdlhyYThTSUViTGI3VXBPVGxadWJxN1pKUVdjdkx3OFBmYllZeW9xS3RLOTk5NUxnQUFBQUNxTkVBRUFZTHErZmZ1cWI5KysycnQzcndZUEhxeWNuQnl6U3dvWSsvYnQwLzMzMzYvczdHeDE2OVpOZDk5OXQ5a2xBUUFBUDBhSUFBRHdDVTg4OFlTNmRPbWk3T3hzRFJ3NFVCczNialM3SkwrM2JkczJEUnc0VUQvLy9MUGF0bTJybEpRVXMwc0NBQUIrampVUkFBQSt3MjYzYS96NDhWcStmTGtrNmZycnI5ZVFJVU5VdDI1ZGt5dnpML3YyN2RPYmI3NnA5OTkvWDA2blUxMjdkdFZ6enowbnE5VnFkbWtBQU1EUEVTSUFBSHpPdi8vOWI3Mzg4c3M2Y3VTSUxCYUxPbmJzcUlTRUJEVnIxa3h4Y1hFNjQ0d3orSVg0LzVXVWxPanc0Y1BhdDIrZk1qTXpsWmFXcHRXclY4dmhjQ2c4UEZ6MzNYZWZCZzRjYUhhWkFBQWdRQkFpQUFCOFVsNWVubDU1NVJWOSt1bW5PbnIwcU5ubCtKV3dzRERGeDhmcm9ZY2VVcDA2ZGN3dUJ3QUFCQkJDQkFDQVR6dHk1SWcrK2VRVFpXUms2TWNmZjlTQkF3ZDArUEJobFpTVW1GMmFUd2dLQ3RJWlo1eWhNODg4VXhkZGRKRmF0V3FsbmoxN0tqbzYydXpTQUFCQUFDSkVBQUNnRW13Mm15UXBJeVBENUVvQUFBQzhoKzRNQUFBQUFBREFFRUlFQUFBQUFBQmdDQ0VDQUFBQUFBQXdoQkFCQUFBQUFBQVlRb2dBQUFBQUFBQU1JVVFBQUFBQUFBQ0dFQ0lBQUFBQUFBQkRDQkVBQUFBQUFJQWhoQWdBQUFBQUFNQVFRZ1FBQUFBQUFHQ0kxZXdDQUFEd0I5OTg4NDNXclZ0WGJ2dlVxVk5kUDdkbzBVSUpDUW5lTEFzQUFNQ3JDQkVBQURBZ09EaFlxYW1wNWJZZnYyM0tsQ25lTEFrQUFNRHJ1SjBCQUFBRFdyWnNxZWpvNkpNK0h4a1pxWTRkTzNxeElnQUFBTzhqUkFBQXdBQ3IxYXJ1M2J1ZjlQa3JyN3hTSVNFaFhxd0lBQURBK3dnUkFBQXdLRDQrL3FUUGRldld6WXVWQUFBQW1JTVFBUUFBZzFxMWFxWEl5TWh5MjJ2VnFxVXVYYnA0dnlBQUFBQXZJMFFBQU1DZzBORFFDcnN2dEczYlZtRmhZU1pVQkFBQTRGMkVDQUFBbklhS1FvUlQzZVlBQUFBUVNBZ1JBQUE0RFRhYlRlSGg0YTdIWVdGaEZRWUxBQUFBZ1lnUUFRQ0EweEFlSHU2Mi9vSE5abE5FUklSNUJRRUFBSGdSSVFJQUFLZnArQ3NQV0ZBUkFBRFVKRmF6Q3dBQXdOKzBiZHRXb2FHaGNqZ2NTa3hNTkxzY0FBQUFyeUZFQUFEZ05FVkdScXBqeDQ0NmRPaVFvcU9qelM0SEFBREFhd2dSQUFDb2hNVEVSTzNmdjkvc01nQUFBTHlLRUFFQWdOT1VrNU9qZWZQbWFjK2VQV3JYcnAwYU5teG9ka2tBQUFCZXdjS0tBQUNjaHZUMGRQWHYzMTgvL1BDRC92cnJMdzBjT0ZCcjFxd3h1eXdBQUFDdnNEaWRUcWZaUlFBQTRPdEtTa28wZCs1Y3padzVVMDZuVXphYlRXRmhZZnI2NjY5bHNWZzBhTkFnUGZEQUE3SmF1Y2dQQUFBRUxrSUVBQUQreHNHREIvWDAwMDlyN2RxMUNnb0swcjMzM3FzaFE0WklrbEpUVXpWOStuU1ZsSlRJWnJQcDJXZWZWZTNhdFUydUdBQUF3RE1JRVFBQU9JWE16RXdsSlNWcHo1NDlPdlBNTTVXU2txSU9IVHE0N2JONTgyYU5HalZLKy9idFUxeGNuQ1pQbnF3V0xWcVlWREVBQUlEbkVDSUFBSEFTUzVjdTFZUUpFMlMzMjlXc1dUTzk4TUlMcWx1M2JvWDc3dCsvWDhuSnlkcTZkYXVzVnFzZWUrd3gzWExMTFY2dUdBQUF3TE1JRVFBQU9NSFJvMGYxL1BQUDY4TVBQNVFrOWU3ZFc2TkdqVkpJU01ncFgyZTMyL1hTU3k5cDRjS0ZrcVJycnJsR1k4YU1VWGg0dU1kckJnQUE4QVpDQkFBQWpwT1RrNlBrNUdUdDJMRkR0V3JWVW5KeXN2cjA2WE5heDFpNWNxVlNVbEpVVUZDZ3hvMGI2NFVYWHFBTkpBQUFDQWlFQ0FBQS9MLzA5SFNOR2pWSytmbjVxbGV2bmlaUG5xeExMcm1rVXNmS3lzclNpQkVqbEpXVnBjaklTSTBiTjA1ZHUzYXQ1b29CQUFDOGl4QUJBRkRqbmRpK3NYMzc5bnJtbVdjVUZSVlZwZU1XRkJSbzdOaXgrdnp6ejJrRENRQUFBZ0loQWdDZ1JqdForMGFMeFZJdHgzYzZuYlNCQkFBQUFZTVFBUUJRWXhscDMxaGRhQU1KQUFBQ0FTRUNBS0JHT3AzMmpkV0ZOcEFBQU1EZkVTSUFBR3FVeXJadnJDNjBnUVFBQVA2TUVBRUFVR05VUi92RzZrSWJTQUFBNEk4SUVRQUFOVUoxdG0rc0xyU0JCQUFBL29ZUUFRQVEwRHpWdnJHNjBBWVNBQUQ0RTBJRUFFREE4blQ3eHVwQ0cwZ0FBT0F2Q0JFQUFBSEptKzBicXd0dElBRUFnSzhqUkFBQUJCd3oyamRXRjlwQUFnQUFYMGFJQUFBSUdHYTNiNnd1dElFRUFBQytpaEFCQUJBUWZLbDlZM1doRFNRQUFQQTFoQWdBQUwvbmkrMGJxd3R0SUFFQWdDOGhSQUFBK0MxZmI5OVlYV2dEQ1FBQWZBVWhBZ0RBTC9sTCs4YnFRaHRJQUFEZ0N3Z1JBQUIreHgvYk4xWVgya0FDQUFBekVTSUFBUHlLUDdkdnJDNjBnUVFBQUdZaFJBQUErSVZBYWQ5WVhXZ0RDUUFBekVDSUFBRHdlWUhZdnJHNjBBWVNBQUI0RXlFQ0FNQ25CWEw3eHVwQ0cwZ0FBT0F0UVdZWEFBQkFSVXBLU2pSNzltdzk5TkJEeXMvUFYvdjI3YlZnd1FKREFZTEQ0ZENycjc2cXZYdjNWbmpjUTRjT2FmZnUzZHEyYlp2V3JGbWpYMzc1NVcrUGw1S1NJb2ZEVWVIelgzenhoWEp6YzEyUDI3VnI1L2I4SjU5OG91enM3TCt0KzBUYnQyODN0RitqUm8zMHpqdnZLQ0VoUVVlT0hGRnljckttVFpzbXU5MSsydWNFQUFBNEZScE1Bd0I4em9udEd3Y1BIbnphN1JzdEZvdjY5Kyt2aVJNbmF0ZXVYWHI5OWRkVlhGd3NpOFdpZ29JQ05XblNSTkhSMFlxSmlkRzExMTZybUpnWTllM2J0OXh4MHRMUzVIQTR0R1RKRW8wZVBmcWs1eHM4ZUxDZWUrNDVYWHJwcGE1dEJRVUZtang1c243NDRRYzk5OXh6a3FUcDA2ZHJ6Wm8xMnIxN3Q4NC8vM3hKY3YzOHdRY2ZLREV4VVo5OTlwa2thZmp3NFZxOWVyV2g5eHNSRWFGSmt5YTUya0MrL2ZiYjJyNTlPMjBnQVFCQXRlSjJCZ0NBVDZuTzlvMnJWcTFTU0VpSTJyZHZMN3ZkcnZEd2NCVVZGYWxkdTNiS3lNZ3dmSnlpb2lLMWI5OWVtelp0T3VrKzMzNzdyWDc2NlNmZGROTk5hdGV1bmRMVDA3VnUzVHF0WDc5ZUR6MzBrRUpEUTkzMmo0K1Bkd1VFeC85OGZJaHcvUGJUUVJ0SUFBRGdLVnlKQUFEd0dkWFZ2akU3TzF2QndjSHExcTJiYTF0bHVqanMzTGxUZDkxMWx5VEo2WFM2YmxNb0tpclNKNTk4b2pwMTZ1aWVlKzdSZ1FNSFhLOVpzR0NCaW91TGRjTU5ON2kyclZ1M1RwTFVyRmt6UGZ2c3M1SjBXbGRWbks3V3JWdHJ3WUlGcmphUWd3Y1BwZzBrQUFDb0ZseUpBQUF3WFhXM2IxeXlaSWxlZXVrbERSczJUSzFhdGRLQUFRUGNuaThxS2lwM1pVQjZldnBKajVlZm42OGVQWHBvN2RxMWtrcXZFRmk4ZUxGaVkyTmQremdjRGkxWXNFQS8vUENEVnE5ZXJSdHZ2RkUybTAwZE8zWjBleC85K3ZXVDNXN1huajE3MUtCQkEwblNybDI3MUxoeFkxMXp6VFZhdUhCaGxhOUVLRU1iU0FBQVVOMjRFZ0dvSnZmZmY3ODJidHhvZGhtQVgyclZxcFcyYk5taXNMQXdqUnc1c3NydEcvdjA2YVBHalJ0cjBxUkpTa2hJY0FzSXltNW5PREUwNk55NXMrdDVwOU9wc0xBd1NkS2lSWXRrc1ZoVXExWXQxNzUydTExVzYvOCtRci8rK212Tm5EbFRsMTEybVZKU1VyUm16UnJkY01NTit1Q0REL1R5eXkvcnFxdXVVcDgrZlhUUlJSZnB2ZmZlMDRZTkd6Ui8vbnhObXpaTlVtbFk4TjU3NzBtUzZ0V3JWNlgzZmp5cjFhcWtwQ1MxYU5GQzQ4YU4wMy8rOHg5bFpXVnA1ODZkMVhZT0FQQ2s1czJiYTk2OGVXYVhBZUE0aEFoQU5TRkFBQ3F2c0xCUWtoUVVGS1RvNk9ocU9XYkxsaTIxWU1FQ3cvdW5wYVZKa29ZTUdhS2JiNzVaaVltSnJ1ZTJiOS91ZHRWQmNYR3h3c0xDZE9qUUlRMGFORWdXaTBWSlNVbXV0UnVHREJtaUprMmFLRGs1V2NPR0RkT3laY3VVbEpTa2M4NDVSOU9uVDlkcnI3Mm1oeDU2cU1JNnVuZnZMa25hdTNldmdvT0RUL3Q5VnlRcUtzcDFyR1BIamxYTE1RSEFHNzcvL251elN3QndBa0lFb0pxZHptSnRBRW9WRmhicTZhZWYxdWVmZjY3azVHUU5HalJJRHo3NG9OdGYreXZqdGRkZVU3OSsvVlM3ZG0yM1VFQ1MyK095MndlMmJObWkzTnhjeGNmSGEvTGt5Um94WW9TQ2c0T1ZtWm1wQ3k2NFFGTHAyZ2gydTEwaElTRUtDd3ZUeElrVGRja2xseWdvcUxScjhvRURCelIvL256WFdncmg0ZUc2K2VhYmRlT05OMnJIamgxYXZIaXg2MWFITWhkZWVLRlNVMU0xWU1BQVBmLzg4L3Izdi8rdGtKQVF0M1VWS3FPa3BFUno1c3pSekprekpVbnQyN2ZYTTg4OG82aW9xQ29kRndDODRmaDVFb0R2SUVRQUFKZ3VQRHhja3lkUDFqdnZ2S05YWG5sRjgrYk4wL2J0Mi9YY2M4OVZ1ajFoYm02dTVzeVpvMzc5K2ttUzh2THlLZ3o1MnJScEk2bDBUWU9wVTZmcTdydnZWbkJ3c0k0ZE82WjE2OWFwVTZkTyt2TExMOVdsU3hkSnBZRkhTRWlJS3pSSVNrcHlPMTVCUVlFT0h6NnNMbDI2bEZ0N29FNmRPbnJycmJmSzFmREdHMitvVFpzMkdqQmdnRWFPSEttUkkwZFc2ajBmNytEQmcvclh2LzZscjc3NlNzSEJ3YnIzM25zMVpNaVFLaDhYQUFEVWJJUUlBQUNmTVhEZ1FEVnYzbHhQUHZta05tL2VyTnR1dTAyVEowOVd5NVl0VC90WTZlbnBhdDY4dWVFUUlpVWxSYi8vL3J0aVkyTzFmUGx5V2ExV3JWaXhRdWVmZjc2MmJObWlsSlFVU2FVaFFVUkVoT3QxSzFhc2NEdk8wS0ZEVmJ0MmJmMzN2Ly9WekprejNXNkRLTk96Wjg5eTJ4d09SN250TTJiTVVNT0dEUTNWZjd6TXpFeU5HREZDT1RrNWlvbUowZmp4NHl2ZEpoTUFBT0I0aEFnQUFKL1N1blZyelo4L3Y4TDJoS2ZURm5IbHlwWHEycldyNGYyYk5tMHF1OTJ1TFZ1MktEWTJWcGRmZnJseWMzT1ZrcEtpMjI2N1RXRmhZU291THRhT0hUc3FEQWFPSFR1bXlaTW55Mkt4YVB6NDhYcjMzWGMxY09CQWpSZ3hRbDI3ZG5XcmZkbXlaZVZlMzZaTm13cTNudzZuMDZtbFM1ZHE0c1NKcmphWkw3NzRvczQ5OTl3cUhSY0FBS0FNTFI2QmFsSjIzeDVySWdEVm82dzk0YnZ2dml1bjA2bXJyNzVhWThhTWNic0s0R1QyNzkrdmE2NjVSb3NYTDNiOUpkOW1zMVg0eS8vSmJuT1FwT25UcHlzakkwT3paczNTdW5Yck5HTEVDRmZIZzV0dnZsbkhqaDNUZDk5OXAvWHIxMnY1OHVWcTM3NjlSbzRjNmVya3NHWExGazJkT2xWLy9mV1hPblhxcEVzdnZWU3Z2UEtLNjFhSTQrWGs1S2h1M2JybHR0OS8vLzBWWHJsd291UGJaRm9zRnZYdTNWdFBQUEZFcGR0a0FvRForRzRGK0NaQ0JLQ2E4RUVIZU1iS2xTdVZrcEtpZ29JQ05XN2NXTTgvLzd3YU5XcDB5dGVVbEpSbzgrYk5ydlVPSkducTFLbDY5TkZIeSswN2JkbzBEUjgrdk1MajVPWGx5V3ExdWpwRzJPMTJCUVVGdVVLQWdvSUNKU1VscVhuejVycnV1dXRPV3RmT25UdVZscGFtdkx3OFBmNzQ0eFdHQ0ZXeFo4OGVqUnc1VWp0MjdGQjRlTGlTa3BLcTNDWVRBTXpHZHl2QU54RWlBTldFRHpyQWM3S3lzalJpeEFobFpXVXBJaUpDNDhhTlUzeDh2TmxsK1lUMDlIU05HalZLK2ZuNXFsZXZucVpNbWFLTEw3N1k3TElBb01yNGJnWDRwdXI5VXdnQUFCN1FxRkVqcGFhbUtpRWhRUVVGQlVwT1R0YkxMNzhzdTkxdWRtbW1LU2twMGF4WnN6UnMyRERsNStlcmZmdjJXckJnQVFFQ0FBRHdLRUlFQUlCZktHc0QrY2dqajhocXRXcmV2SGthT25Tbzl1L2ZiM1pwWG5mdzRFRTk5dGhqbWpsenBvS0RnM1hmZmZkcCt2VHBpb3FLTXJzMEFBQVE0QWdSQUFCK1plREFnWHJ0dGRjVUZ4Zm5hZ081ZGV0V3M4dnltc3pNVE4xKysrMzY2cXV2RkJNVG82bFRwMnJJa0NGbWx3VUFBR29JUWdRQWdOOHBhd1Bac21WTDdkdTNUNE1IRDNaMWNRaFVUcWRUSDMvOHNRWU5HcVNjbkJ3MWE5Wk04K2ZQVjRjT0hjd3VEUUFBMUNDRUNBQUF2MVM3ZG0yOThjWWI2dCsvdnh3T2g2Wk1tYUxSbzBlcm9LREE3TktxM2RHalJ6Vng0a1NOR3pkT0pTVWw2dE9uajk1KysyMmRlKzY1WnBjR0FBQnFHRUlFQUlEZnNscXRTa3BLMGpQUFBLT0lpQWg5K3VtbkdqUm9rTEt5c3N3dXJkcnMyYk5IOTk1N3J6Nzg4RU9GaDRkcnpKZ3hldXFwcHhRU0VtSjJhUUFBb0FZaVJBQUErTDN1M2J2cm5YZmVVYU5HamJScjF5NE5IRGhRcTFldk5ydXNLa3RQVDlkdHQ5Mm1IVHQycUY2OWVwbzllN2I2OU9samRsa0FBS0FHSTBRQUFBU0VRR29EU2Z0R0FBRGdxNy9TKzNjQUFDQUFTVVJCVkFnUkFBQUJJeERhUU5LK0VRQUErREpDQkFCQXdQSFhOcEMwYndRQUFMNk9FQUVBRUpEOHFRMGs3UnNCQUlDL0lFUUFBQVFzZjJnRFNmdEdBQURnVHdnUkFBQUJ6WmZiUU5LK0VRQUErQnRDQkFCQWplQnJiU0JwM3dnQUFQd1JJUUlBb01id2hUYVF0RzhFQUFEK2pCQUJBRkNqbU5rR2t2YU5BQURBM3hFaUFBQnFKRyszZ2FSOUl3QUFDQVNFQ0FDQUdzc2JiU0JwM3dnQUFBSUpJUUlBb0VielpCdEkyamNDQUlCQVE0Z0FBS2p4UE5FR2t2YU5BQUFnRUJFaUFBRHcvNnFyRFNUdEd3RUFRS0FpUkFBQTREaFZhUU5KKzBZQUFCRG9DQkVBQURoQlpkcEEwcjRSQUFEVUJJUUlBQUNjaE5FMmtMUnZCQUFBTlFVaEFnQUFwM0NxTnBDMGJ3UUFBRFdOeFZtZHpiQ0JHc3htczBtU01qSXlUSzRFZ0NmWTdYYTk5TkpMcmdBaFBqNWU0ZUhoV3I1OHVTd1dpM3IzN3Ewbm5uaUM3Z3NBVUUzNGJnWDRKcXZaQlFBQTRBL0sya0MyYU5GQ0tTa3BycTRONGVIaFNrcEtvdnNDQUFDb0VRZ1JBQUE0RGQyN2QxZlRwazAxY3VSSUZSVVY2Ym5ubnFQN0FnQUFxREVJRVFBQU9FMk5HalhTenovL0xFa0VDQUFBb0VaaFlVVUFBQUFBQUdBSUlRSUFBQUFBQURDRUVBRUFBQUFBQUJoQ2lBQUFBQUFBQUF3aFJBQUFBQUFBQUlZUUlnQUFBQUFBQUVNSUVRQUFBQUFBZ0NHRUNBQUFBQUFBd0JCQ0JBQUFBQUFBWUFnaEFnQUFBQUFBTUlRUUFRQUFBQUFBR0VLSUFBQUFBQUFBRENGRUFBQUFBQUFBaGhBaUFBQUFBQUFBUXdnUkFBQUFBQUNBSVlRSUFBQUFBQURBRUVJRUFBQUFBQUJnQ0NFQ0FBQUFBQUF3aEJBQkFBQUFBQUFZUW9nQUFBQUFBQUFNSVVRQUFBQUFBQUNHRUNJQUFBQUFBQUJEQ0JFQUFBQUFBSUFoaEFnQUFBQUFBTUFRUWdRQUFBQUFBR0FJSVFJQUFBQUFBRENFRUFFQUFBQUFBQmhDaUFBQUFBQUFBQXdoUkFBQUFBQUFBSVlRSWdBQUFBQUFBRU1JRVFBQUFBQUFnQ0dFQ0FBQUFBQUF3QkJDQkFBQUFBQUFZQWdoQWdBQUFBQUFNSVFRQVFBQUFBQUFHRUtJQUFBQUFBQUFEQ0ZFQUFBQUFBQUFoaEFpQUFBQUFBQUFRd2dSQUFBQUFBQ0FJWVFJQUFBQUFBREFFRUlFQUFBQUFBQmdDQ0VDQUFBQUFBQXdoQkFCQUFBQUFBQVlRb2dBQUFBQUFBQU1JVVFBQUFBQUFBQ0dFQ0lBQUFBQUFBQkRDQkVBQUFBQUFJQWhWck1MQVB6Vk45OThvM1hyMXBYYlBuWHFWTmZQTFZxMFVFSkNnamZMQXVBaGpIa0E4Q3ptV2NBL0VDSUFsUlFjSEt6VTFOUnkyNC9mTm1YS0ZHK1dCTUNER1BNQTRGbk1zNEIvNEhZR29KSmF0bXlwNk9qb2t6NGZHUm1wamgwN2VyRWlBSjdFbUFjQXoyS2VCZndESVFKUVNWYXJWZDI3ZHovcDgxZGVlYVZDUWtLOFdCRUFUMkxNQTRCbk1jOEMvb0VRQWFpQytQajRrejdYclZzM0wxWUN3QnNZOHdEZ1djeXpnTzhqUkFDcW9GV3JWb3FNakN5M3ZWYXRXdXJTcFl2M0N3TGdVWXg1QVBBczVsbkE5eEVpQUZVUUdocGE0UXJCYmR1MlZWaFltQWtWQWZBa3hqd0FlQmJ6TE9EN0NCR0FLcXJvZys1VWwrSUI4RytNZVFEd0xPWlp3TGNSSWdCVlpMUFpGQjRlN25vY0ZoWkcvMklnZ0RIbUFjQ3ptR2NCMzBhSUFGUlJlSGk0MnoxNk5wdE5FUkVSNWhVRXdLTVk4d0RnV2N5emdHOGpSQUNxd2ZIcE9JditBSUdQTVE4QW5zVThDL2d1cTlrRkFJR2diZHUyQ2cwTmxjUGhVR0ppb3RubEFQQXd4andBZUJiekxPQzdDQkdBYWhBWkdhbU9IVHZxMEtGRGlvNk9OcnNjQUI3R21BY0F6MktlQlh3WElRSlFUUklURTdWLy8zNnp5d0RnSll4NUFQQXM1bG5BTjFtY1RxZlQ3Q0pRczkxLy8vM2F1SEdqMldYZ09NMmJOOWU4ZWZQTUxnTUJpakh2ZXhqelFHQmhudlU5ekxNSUpDeXNDTlB4SWVkN3Z2LytlN05MUUFCanpQc2V4andRV0pobmZRL3pMQUlKdHpQQVoyUmtaSmhkQWxUYVJnbndCc2E4YjJETUE0R0xlZFkzTU04aTBIQWxBZ0FBQUFBQU1JUVFBUUFBQUFBQUdFS0lBQUFBQUFBQURDRkVBQUFBQUFBQWhoQWlBQUFBQUFBQVF3Z1JBQUFBQUFDQUlZUUlBQUFBQUFEQUVFSUVBQUFBQUFCZ0NDRUNBQUFBQUFBd2hCQUJBQUFBQUFBWVFvZ0FBQUFBQUFBTUlVUUFBQUFBQUFDR0VDSUFBQUFBQUFCRENCRUFBQUFBQUlBaGhBZ0FBQUFBQU1BUVFnUUFBQUFBQUdBSUlRSUFBQUFBQURDRUVBRUFBQUFBQUJoQ2lBQUFBQUFBQUF3aFJBQUFBQUFBQUlZUUlnQUFBQUFBQUVNSUVRQUFBQUFBZ0NHRUNBQUFBQUFBd0JCQ0JBQUFBQUFBWUFnaEFnQUFBQUFBTUlRUUFRQUFBQUFBR0VLSUFQd05oOE5oZGdrQVBJQ3hEUUMrYWNPR0RYSTZuVlUrenUrLy8xNE4xUUE0RVNFQ2FyUlZxMVpwNWNxVmJ0dmF0V3ZuOXJoRGh3NS9lNXpjM0Z5dFc3ZXVTclVNR2pSSU8zYnMwTFJwMDZwMEhBQlZHOXYvL2U5L2RmZmRkMHR5RHhwc05wdEtTa3BPZXM0dFc3Ym9yNy8rY2oxZXRteVpIQTZIQ2dvS0ROVThZY0lFUS9zQmdLOG9LaXB5L2ErNHVMamFqdnZBQXcrVUMzcTNiZHQyMnNmcDI3ZHZ1VzBPaDBQNzkrL1gxcTFidFdUSkVzMmRPN2ZTZFFJMWxkWHNBZ0F6TlczYVZNT0dEZFBCZ3dmMTg4OC95K0Z3eUc2MzY1bG5ubkh0Yy96akRoMDZxSFBuenVXT2s1dWJxeWVlZUVMdnZ2dXU2dGV2WCs3NWdvSUMvZXRmLzlMWXNXTjF4aGxuVkZqTG5qMTcxTFJwVXkxWXNFQzdkKy9XK2VlZlgwM3ZFcWg1cWpLMlY2OWVyWFBQUFZlUzlPYWJieW9xS2txMzNucnJLYzlYVkZTa2h4OStXTTgvLzd6YXRtMHJTUm83ZHF6YXRXdW5RWU1HNmFhYmJ0SWRkOXlob0tEUzdMNWZ2MzdsanZIcnI3L3F1KysrSzdjOU9EaFlDeGN1ck1TL0FnQjRWdnYyN2RXZ1FRTVZGeGNyTEN4TWl4Y3ZWcHMyYlZTdlhqMjMvZjc2NnkrbHBhVkpVcm52VVdYYi84NmRkOTZwYjc3NVJzSEJ3ZVZDNGVNOTg4d3o2dHExYTdudFBYcjAwTkdqUjFWY1hLeUlpQWpGeE1Rb05qWldaNTk5dG9xTGl4VVNFbUtvRGdDRUNLamhHalJvb0ZtelpxbWtwRVNOR2pXU3crSFFSeDk5cElTRUJOYyt4eit1S0NDUXBCWXRXdWlHRzI3UVR6LzlWT0UrRVJFUnFsdTNycDU4OGttOS9QTEw2dFdyVjdsOURoNDhxTjY5ZTB1U2hnNGRxZ1VMRmlnNk9ybzYzaVpRNDFSMmJEdWRUaTFmdmx4UFBQR0VKR25qeG8wYVBIanczNTV2NWNxVnFsKy92aXRBY0RxZGNqcWRPdXVzcy9UV1cyL3B5U2VmMU5HalJ6VjA2RkJKMG52dnZWZnVHRDE3OXF4d093RDRxbHExYXVtRER6N1FoeDkrcU8rLy8xNVM2WGVlano3NnlHMi80NE9EdzRjUEt5TWpRMUxwRlY2VmtaNmU3dmJZWnJQcGl5KytVRlJVMUVsZnMzZnZYbTNZc01FVjVnS29QRUlFMUdnSER4NVVuVHAxSk1tVm12L3JYLy9TbFZkZTZkcG4zTGh4Ym8rbDhwZEZsNm5vRjRERXhFU05IejllRHozMGtFYU9IS2svLy94VEpTVWxXckZpaGR0KzExMTNuVDc4OEVPU2NLQWFWSFpzZi8zMTE5cXpaNC9hdFd1bmd3Y1A2dHR2djlYVFR6L3QrdEpaRnZSSjB2RGh3OVc5ZTNjNUhBN05temRQRHo3NG9PdTU0dUppQlFjSEt5Z29TSEZ4Y1pvNWMyYTVXeUU2ZE9pZ0N5KzgwUFY0Mzc1OXV1T09POXoyK2VXWFg3UjI3ZHFxL0ZNQWdNZXRYTGxTOTkxM242VFNxeStQbnl2L1RtWm1wb1lNR1ZKdWUzeDh2S1RTcThiS2JtMjQ2cXFySkpVUEVVN1VzMmRQU2FXM0x2VHMyVlBQUHZ1c0pCRWdBTldFRUFFMWx0MXUxMjIzM2FiKy9mdHJ3SUFCYmg5NFk4ZU9kZjNpc1dmUEhyMzIybXVTcEFFREJ1am1tMjlXZW5xNkNnc0w5ZnZ2dit1aWl5NHFkK3ppNG1LdFdyVktDUWtKQ2cwTmxTU0Zob2JxcFpkZWN1MXovT1hNTTJiTVVGaFltSXFMaS9Yenp6OXIxNjVkdXZiYWF6M3l2b0ZBVjVXeC9lYWJiMG9xL2FLNWZQbHlYWC85OVJvelpveWswcjkwZmZUUlJ3b09Eblk3MzhjZmY2enM3R3gxN3R6WjlhWFg2WFRLNFhESVpyUHB6RFBQZE8xNzNubm5hZDY4ZWE3SHh4L0xZckdVT3pZQStMcTh2RHhsWjJlclpjdVdrdjcrU29RVE5XdldyTnd0RFRhYlRhdFhyM2FiRTIwMm03NzY2aXREOCtTeVpjc2tTVzNhdEhIOURLRDZFQ0tneHJKYXJabzJiWm9lZWVRUm5YZmVlYTRQUEtmVHFXdXZ2ZGIxT0RFeHNkeUhvU1I5OTkxM0dqZHVuSll1WFZydUEyM3QycldhTW1XSzI2WFRrcFNWbGFWR2pScEpLbi9WUWtSRWhJNGNPYUtsUzVlcWJ0MjYxZlUyZ1JxbnNtTjd6Wm8xeXN2TGN6MWV1blNweG80ZGU4cHo3ZCsvWHpObXpKREZZcEZVdXA2Q0pPM2V2VnREaHc1VlRrNk8vdk9mLzdqQ3hPT2RkZFpabWpObmp1dHh6NTQ5M1I1TElrd0U0UFArL1BOUEJRY0hxN2k0dU1LNXpvanM3R3dGQndlNzFxTTVsUU1IRGlnOFBGeTFhdFV5ZE96OC9IeUZoNGZMNFhDY05NeDQ0SUVIZE1zdHQ1eFd6VUJOUm9pQUdxMUpreVphc0dDQm9xS2lGQjhmcjRpSUNEbWRUdVhsNWFsbno1NXlPcDA2ZVBDZ2V2YnNxVC8rK0VPYk5tMXl2ZmJLSzY5VWVIaTRWcTFhcGF1dnZ0cnR1TXVYTDFmUG5qM2RQa3p6OHZJMGFOQWdmZmJaWjdKYXJSbzdkcXd5TXpNbFNUTm56bFJNVEl6Mjd0MnJOV3ZXS0RVMTFUdi9BRUNBcXN6WS92REREelZxMUNnOThNQURrcVJwMDZZcExpN3VsT2Q1KysyM2RjTU5OMmorL1BsdTI3T3lzbFN2WGozbDVPU2M5TFVIRGh4d3UzM2h4TnNabkU2blltSmlLdlAyQWNCckxyNzRZbDE2NmFWYXNtU0ordlhycHlOSGpxaG56NTdLemMxMTNWWjJvcktydHNvc1c3Wk1lL2JzMGJoeDR5cmN2NnhWNCtEQmcvWFhYMy9wOWRkZlAybUlVRkpTb2g5KytFRmJ0MjZWdytIUTdiZmZycmZlZWt1aG9hRnVWenpZYkRiWFFvMEFUZzhoQW1xOGJkdTI2YkxMTHBOVStpSDIyMisvYWNhTUdabzBhWkoyNzk2dGNlUEdhZmJzMlJXbTF6ZmRkSk1XTGx6b0ZpTHMzYnRYWDMzMWxSWXZYdXkyNzRZTkc5U21UUnNWRkJRb0tpcEt2LzMybTk1NDR3Mk5HREZDZHJ0ZGNYRnhtak5uam13Mm0ySmpZejM3cG9FYTRIVEg5dWpSbzkyKzhBNGFOS2pjTWN2dXM1VksxMW9ZUDM2ODZ0YXRXeTVFU0U5UFY2dFdyVnlMaDFWazVzeVpydm9jRG9ldXYvNTZ2Zm5tbXlvcEtWRkpTWW1lZU9JSnRXalJRazZuMDNXbEF3RDRvckw1cTErL2ZvcU1qTlN5WmN0MHp6MzM2TWtubjFTVEprMlVtcHFxZWZQbXVlYlZzcXUyeWhaVzdOKy92M3IxNnFYczdHeTNCYXJ6OC9NMVpNZ1FWNnZjcEtRa1hYcnBwYWVzNVk4Ly90Q0xMNzZvTm0zYUtDZ29TRXVXTE5GZmYvMmx5TWhJVDd4MW9FWWlSRUNOTjJYS0ZJMGVQZHIxZVAzNjlkcThlYk8yYnQycW5Kd2M3ZHUzNzZSOTNudjA2S0dYWDM1Wm1abVphdGFzbVNUcC9mZmZWN3QyN2NxMWFQenFxNjkwMVZWWEtTc3JTK2VlZTY1YlAzbEphdGl3b1diTW1NSHE3RUExT2QyeGZlSmZ6RTVjL05SbXMyblpzbVYvKzFlci9QeDhMVisrWEhQbnp0WHMyYk5kMjQ4ZVBhclBQdnRNMTExM25hNjc3anJaN1hhRmhvYnF5SkVqT3V1c3N4UWNIS3g3N3JsSElTRWhzbHF0c2xxdCt1S0xMNVNWbGFYeDQ4ZXpJQmdBbnhVWEY2ZmMzRnkzYldYcnpNVEh4eXMxTlZYMzNudnZTVjhmSFIydFcyNjVSVmxaV1c0aFFsUlVsTWFNR2FQbXpadkxack81dm11ZFN2MzY5VFYzN2x4SjB0eTVjeFVVRktUZmYvOWQ1NXh6VGlYZkhZQVQ4WTBFTmRxaFE0ZTBaODhlTlcvZVhGTHBpdTZiTm0xU2NuS3lKazJhcENWTGx1aXl5eTdUaEFrVEtuejltV2VlcVk0ZE8rcVRUejZSSkJVV0Ztcng0c1hsL29KWlhGenNDaEV5TWpKYzU3dm5ubnUwYytkT1NhVTk0aSs1NUJJMWJ0eFlTVWxKNVVJR0FNWlZkV3hYeFVzdnZhUTJiZHJvZ2dzdWNOdStiOTgralI4L1hsTHBBbzl0MjdiVjh1WExkZXpZTVMxZXZGaE5temJWd0lFRE5YdjJiSFhxMUVtalJvMVNiR3lzN3JyckxnSUVBRDdyczg4KzAvejU4OHV0WjNEMTFWZnJqei8rMEt1dnZxcFpzMmJwcHB0dU91VnhIbmpnQVhYbzBLSGM5cko1dkNxKy9mYmJDaGZDQmxBNWZDdEJqZmJkZDkvcHdnc3ZWSGg0dUNScDZOQ2h1dlhXVzlXOWUzZmRldXV0aW95TTFOTlBQNjJvcUtoeTdkbktqQm8xU2c4Ly9MQWthZEdpUmJyZ2dndlV1blZydDMwMmJOaWc4ODQ3VDdHeHNmcjQ0NC9WclZzM05XL2VYRysvL2JiUzB0TDA5dHR2NjZlZmZ0SytmZnVVbloydGpJd01SVWRIZS9iTkF3R3NPc1oyWlN4YXRFaHIxcXpSeUpFakpaVjJYRGh3NElDazBpK3hEUm8wVUZCUWtHYlBucTBlUFhxNDlpa3FLbEp5Y3JJYU5HaWc0dUppelowN1Y0V0ZoZXJZc2FNbVRKaWdvcUtpYXFzUkFLcFRkbmEyd3NMQzNLNzhLaXdzMU50dnY2MWh3NGJKYnJkcjFhcFZibk50NTg2ZFQ3cklZVTVPanF0RjdxbVV0WDBzV3hEWGFyVzZQVmRRVUtDZ29DQTVuVTR0VzdaTS8vem5QeXY5SGdHNDQzWUcxR2liTm0xeTNaTXNTZVBIajNmMWJZK09qdGFJRVNOVVZGU2tCeDk4MEhXMXdhWk5tL1RRUXcrZDhyanQyclZ6ZTd4dTNUbzFhOVpNNzc3N3JwbzBhYUtHRFJ0cXhJZ1JLaXdzMUNPUFBLTGk0bUxObkRsVEsxYXMwT0RCZzlXa1NSUCs4Z2hVUVdYR2RsVjkrZVdYbWo1OXVxWlBuKzY2YlBicXE2OVc3OTY5WmJGWUZCb2FxdVRrWkIwNmRFaVhYbnFwNnk5dXZYcjFjbHVJOWRpeFkyclJvb1dhTkdtaUN5KzhVR0ZoWWRWU0h3QjR3cDEzM3VuNitlZWZmMVpoWWFINjl1MnJoSVFFTld2V1RMTm16Vkp5Y3JLV0wxK3VPWFBtcUgvLy9rcEtTcEpVR3J5V0dUMTZ0RmF1WENtTHhhSmV2WHE1MW9MSnpNeFVYRnljZ29LQzNOYUh1ZmZlZTVXWm1hbVNraEpkY2NVVnJ0QllLcjNkTkM4dlQ1MDZkZEw2OWV1Vmw1ZFhiakZIQUpWSGlJQWE3ZkRodzdyaWlpdGNqOHQreVpDa0xsMjZTSktHRHgrdUhUdDJxRStmUHBLa0s2NjRRdW5wNmFkOXJyaTRPRjF6elRWdWJSL0R3OE0xWU1BQTJXdzJCUVVGNmFhYmJsSlVWSlNhTm0xYXlYY0VRS3JjMkM3ejFGTlBWWGpNc1dQSG5qVGNlK3l4eDNUVlZWZnBuWGZlVWVQR2pWM2JKMDZjcUlrVEo1YmIvOUZISDNYOVBHclVLSTBhTmVxazcrWDY2NjgvNlhNQVlLYW9xQ2kzeDZHaG9lcmF0YXVHRHgvdVd0c2dNakpTYytmTzFROC8vS0RvNkdoWGdDREpyYTNpeElrVE5XSENCRG1kVHJlNWRzYU1HZHF3WVlNU0V4UGR0ci80NG9zNmN1U0lRa0pDeW5YU1dicDBxWUtDZ2x5dEo4ZU9IVnN1a08zZXZUdUwxZ0tWWkhFNm5VNnppMEROVnJZeTc2bFdNZmNHaDhQQlgvL2xPLzg5RUxpOC9mOHh4dmFwTWVhQndNTzQ5aTM4OTBDZzRWc1Y4UC80SlFNSVRJeHRBQUNBNnNNM0t3QUFBQUFBWUFnaEFnQUFBQUFBTUlRUUFRQUFBQUFBR0VLSUFBQUFBQUFBRENGRUFBQUFBQUFBaGhBaUFBQUFBQUFBUXdnUkFBQUFBQUNBSVlRSUFBQUFBQURBRUVJRUFBQUFBQUJnQ0NFQ0FBQUFBQUF3aEJBQkFBQUFBQUFZUW9nQUFBQUFBQUFNSVVRQUFBQUFBQUNHRUNJQUFBQUFBQUJEQ0JFQUFBQUFBSUFoaEFnQUFBQUFBTUFRUWdRQUFBQUFBR0FJSVFJQUFBQUFBRENFRUFFQUFBQUFBQmhDaUFBQUFBQUFBQXdoUkFBQUFBQUFBSVlRSWdBQUFBQUFBRU1JRVFBQUFBQUFnQ0dFQ0FBQUFBQUF3QkJDQkFBQUFBQUFZSWpWN0FLQU1qYWJ6ZXdTQUhnUll4NEFQSXQ1Rm9BbmNDVUNUTmU4ZVhPelM4QUptalJwWW5ZSkNHQ01lZC9EbUFjQ0MvT3M3MkdlUlNDeE9KMU9wOWxGQUlHZ0xPM1B5TWd3dVJJQTNzQ1lCd0RQWXA0RmZCTlhJZ0FBQUFBQUFFTUlFUUFBQUFBQWdDR0VDQUFBQUFBQXdCQkNCQUFBQUFBQVlBZ2hBZ0FBQUFBQU1JUVFBUUFBQUFBQUdFS0lBQUFBQUFBQURDRkVBQUFBQUFBQWhoQWlBQUFBQUFBQVF3Z1JBQUFBQUFDQUlZUUlBQUFBQUFEQUVFSUVBQUFBQUFCZ0NDRUNBQUFBQUFBd2hCQUJBQUFBQUFBWVFvZ0FBQUFBQUFBTUlVUUFBQUFBQUFDR0VDSUFBQUFBQUFCRENCRUFBQUFBQUlBaGhBZ0FBQUFBQU1BUVFnUUFBQUFBQUdBSUlRSUFBQUFBQURDRUVBRUFBQUFBQUJoQ2lBQUFBQUFBQUF3aFJBQUFBQUFBQUlZUUlnQUFBQUFBQUVNSUVRQUFBQUFBZ0NHRUNBQUFBQUFBd0JCQ0JBQUFBQUFBWUFnaEFnQUFBQUFBTUlRUUFRQUFBQUFBR0VLSUFBQUFBQUFBRENGRUFBQUFBQUFBaGhBaUFBQUFBQUFBUXdnUkFBQUFBQUNBSVlRSUFBQUFBQURBRUVJRUFBQUFBQUJnQ0NFQ0FBQUFBQUF3aEJBQkFBQUFBQUFZUW9nQUFBQUFBQUFNSVVRQUFBQUFBQUNHRUNJQUFBQUFBQUJEQ0JFQUFBQUFBSUFoaEFnQUFBQUFBTUFRUWdRQUFBQUFBR0FJSVFJQUFBQUFBRENFRUFFQUFBQUFBQmhDaUFBQUFBQUFBQXl4bWwwQTRLKysrZVliclZ1M3J0ejJxVk9udW41dTBhS0ZFaElTdkZrV0FBOWh6QU9BWnpIUEF2NkJFQUdvcE9EZ1lLV21wcGJiZnZ5MktWT21lTE1rQUI3RW1BY0F6MktlQmZ3RHR6TUFsZFN5WlV0RlIwZWY5UG5JeUVoMTdOalJpeFVCOENUR1BBQjRGdk1zNEI4SUVZQktzbHF0NnQ2OSswbWZ2L0xLS3hVU0V1TEZpZ0I0RW1NZUFEeUxlUmJ3RDRRSVFCWEV4OGVmOUxsdTNicDVzUklBM3NDWUJ3RFBZcDRGZkI4aEFsQUZyVnExVW1Sa1pMbnR0V3JWVXBjdVhieGZFQUNQWXN3RGdHY3h6d0sranhBQnFJTFEwTkFLVndodTI3YXR3c0xDVEtnSWdDY3g1Z0hBczVobkFkOUhpQUJVVVVVZmRLZTZGQStBZjJQTUE0Qm5NYzhDdm8wUUFhZ2ltODJtOFBCdzErT3dzREQ2RndNQmpERVBBSjdGUEF2NE5rSUVvSXJDdzhQZDd0R3oyV3lLaUlnd3J5QUFIc1dZQndEUFlwNEZmQnNoQWxBTmprL0hXZlFIQ0h5TWVRRHdMT1pad0hkWnpTNEFDQVJ0MjdaVmFHaW9IQTZIRWhNVHpTNEhnSWN4NWdIQXM1aG5BZDlGaUFCVWc4aklTSFhzMkZHSERoMVNkSFMwMmVVQThEREdQQUI0RnZNczRMc0lFWUJxa3BpWXFQMzc5NXRkQmdBdlljd0RnR2N4endLK3llSjBPcDFtRjRHYTdmNzc3OWZHalJ2TkxnUEhhZDY4dWViTm0yZDJHUWhRakhuZnc1Z0hBZ3Z6ck85aG5rVWdZV0ZGbUk0UE9kL3ovZmZmbTEwQ0FoaGozdmN3NW9IQXdqenJlNWhuRVVpNG5RRStJeU1qdyt3U29OSTJTb0EzTU9aOUEyTWVDRnpNczc2QmVSYUJoaXNSQUFBQUFBQ0FJWVFJQUFBQUFBREFFRUlFQUFBQUFBQmdDQ0VDY0FvT2gwTUZCUVZtbHdIQVN4anpBT0JaekxPQS8yTmhSZUFVbGkxYnB2bno1MnY2OU9rNjU1eHpKSlV1am5QR0dXZTQ5amw4K0xEYndrVTlldlRRZWVlZEo2bDBKZDdtelp0TGtyWnYzNjUvL09NZnJ2MXljM1AxMFVjZmVlTnRBRENJTVE4QW5zVThDL2cvUWdUZ0ZIcjE2cVhObXpkcjZOQ2hXcmh3b1VwS1NoUVdGcWEwdERUWFBoV3R1R3UzMi8vMlp3QytoekVQQUo3RlBBdjRQMElFNEJRc0ZvdkdqQm1qUC83NFE2R2hvZnJnZ3c5MDZhV1hsdHNuUHo5ZlVWRlJrcVRhdFd0cnpwdzVidnZzM0xsVEYxOThzZHUyTysrODA2TzFBemg5akhrQThDem1XY0QvRVNJQUovSENDeTlvK2ZMbENnc0wwNG9WSzdSNDhXTE5tREZEcjd6eWl0dCsxMTU3N2YreGQrL3hNVjM3LzhmZms4a2tJaG9SUi9WUVZYVmNEaTBsZGF0TE5FUy80bHFLazFSUlZPditKVlNwbnFPTnRzZXRxSlpEWFNwdWh5cXFOQlZhSnk2L3RDN1ZIdmYyMUtYcUVpcUlpSmdrTTc4LzhzMCtKak5oZ3NobFhzL0h3K09SdmZmYWUxYk1yTFYzUHJQV1o2bGp4NDZ5Mld4NjhNRUhWYkprU2ZYdTNkdWhqS3NiSFlEQ2hUWVBBUG1MZmhZb0hreDJ1OTFlMEpXQVo4c2VzbmJ6M0xmQ3BFbVRKa3BJU05EUm8wZFZva1FKVmE1Y09jL1hDQXNMMCtiTm0vT2hkdmRlWVg4L1VQUVY5czhZYlI1QVVWZlkyelg5TEZDME1SSUJjRk9OR2pYVXZIbHptYzFtaCtRL1Y2NWNrYSt2cjdaczJXTHNhOXk0c2NQUXZFcVZLcWx2Mzc3Rzl0bXpaeFViRzN0L0tnN2dqdERtQVNCLzBjOENSUk5CQkNBUDNuenpUYTFkdTFaejVzeVJsTFZNVVk4ZVBkU29VU09uc3Q3ZU5DK2dxS1BOQTBEK29wOEZpaDZ2Z3E0QVVKUzBidDFhU1VsSlJtUThKaVpHVnF0Vmd3WU5LdUNhQWNnUHRIa0F5Ri8wczBEUlF6Z1BjTU92di82cXVMZzQ5ZS9mWHhNblR0U1FJVU4wK1BCaGJkeTRVWFBuemxYSmtpVWR5cGNwVTBiejVzM0w5WHB0MjdiTjd5b0R1QXUwZVFESVgvU3pRTkZGRUFHNGhYUG56aWs5UFYzOSsvZlhpQkVqSkVsK2ZuNnFXTEdpRmk5ZXJLNWR1NnBjdVhKTzUxMjZkRWtEQmd5NDM5VUZjSmRvOHdDUXYraG5nYUtQNlF6QUxTUWxKYWwrL2ZxYU0yZU9MQmFMUm80Y3FWNjllcWxGaXhiYXVIR2pidHk0b2ZEd2NMMzU1cHZhdUhHamV2YnNhU3hCZE9QR2pWei9YYnAwU2IxNzk5Yml4WXNMK0RjRWNEUGFQQURrTC9wWm9PaGppVWNVdUtLdzdNMzI3ZHYxOGNjZkt6dzhYQjA2ZEpDL3Y3OXg3TXlaTTFxL2ZyMk9Ieit1aVJNbnltS3hGR0JONzE1UmVEOVF0QldGenhodEhrQlJWaFRhTmYwc1VIUVJSRUNCbzJNdFhIZy9rTi80akJVdXZCOUE4VU83TGx4NFAxRGNNSjBCQUFBQUFBQzRoU0FDVUFDKysrNDdNUWdJOEJ5MGVRRElYL1N6d1AxREVBRWV3V2F6YWZiczJicHc0WUxUc2N6TVRDVW5KK3ZVcVZQYXYzKy90bTdkcW1QSGp0MzJldEhSMGJMWmJIZFVuMEdEQmptY201U1VwQ2xUcHNocXRkN1I5UUE0b3MwRFFQNmlud1U4RjBzOHdtT1lUQ1pGUkVUb25YZmUwZkhqeHpWMzdseWxwNmZMWkRJcE5UVlZWYXRXVlVCQWdBSURBOVcyYlZzRkJnYnF1ZWVlYzdwT2ZIeThiRGFiMXExYnB6ZmVlTVBwZUVoSWlGUDUyM25nZ1FkMDlPaFJEUjgrWEczYXRORzBhZE5jbHJ0Ky9Ucno2UUEzMGVZQklIL1J6d0tlaVNBQ1BJS1hsNWNHRGh5b2F0V3FLUzB0VFYyN2RsV25UcDNrNStjbnE5V3FKazJhYU5XcVZVN241WGFUc3Rsc01wbE04dkp5SHN5VGtwSmkzSXl5RStuY2pzVmkwZVRKa3pWcDBpUzFhOWZPNVEwMkw5Y0RQQjF0SGdEeUYvMHM0TGtJSXNBam5ENTlXbWF6V2ExYnR6YjIzY2x5UVVlT0hORkxMNzBrU2JMYjdXclNwSWtreVdxMTZzc3Z2MVQ1OHVXZHpqbDY5S2dHREJqZ3REODBORlNTdEhMbFNyVnIxMDU3OSs3VnBFbVQ4bHduQU01bzh3Q1F2K2huQWM5RkVBRWVZZmZ1M1pveFk0YUdEQm1pZXZYcXFXZlBuazVsc205YTJSSVNFcHpLMUt4WlV3a0pDYnA2OWFyQ3c4TzFmZnQyU1ZrM3JkeHVuRFZxMUhDS3VnY0hCK3ViYjc2UjJXeDJLdi9VVTArcFRKa3l4dmFsUzVlMFo4K2UyLytTQUF5MGVRRElYL1N6Z09jaWlBQ1AwTGx6WjFXcFVrV1RKazFTcTFhdEhHNWkyVVB1Y3Q3WXN1ZmZXYTFXMmUxMitmcjZTc3FLYnB0TUpwVW9VY0lvbTVHUklXL3YzSnRUZHJUK29ZY2V1bTFkQXdJQ3RIbnpabU03TzZvT3dIMjBlUURJWC9TemdPY2lpQUNQVWJkdVhTMWZ2dHp0OHRrUjdnRURCcWhidDI0S0N3c3pqaDA0Y0VCQlFVSEdkbnA2dW5FamxKeHZUaHMyYk5DWk0yZjAxbHR2M2ZaMWs1T1RIVjRyT1RuWjdUb0QrQy9hUEFEa0wvcFp3RE1SUklCSG1UTm5qcnAzNzY2eVpjczYzRXdrT1d4blI2djM3ZHVueE1SRWhZYUdhdkxreVlxS2lwTFpiTmJSbzBmMTJHT1BTY3FhdjVlUmtlRXc1TzZiYjc2UjlOOWtQUkVSRWVyUU5NVzBKQUFBSUFCSlJFRlVvWU5Pbno2dGloVXIzcktPUk11QmU0YzJEd0Q1aTM0VzhEd0VFZUF4RWhNVHRYRGhRblh2M2wxUzF2ckJycGIwYWRDZ2dhU3NMTUhUcDA5WDM3NTlaVGFiZGVQR0RlM2N1Vk10V3JUUXRtM2IxTEpsUzBsWlN3TlpMQmFYMllTekJRUUVxRWVQSGpweDRzUnRiM1FBN2czYVBBRGtML3Bad0RNUlJJREhTRWhJVU8zYXRWVzJiRm0zeWtkSFIrdTMzMzVUVUZDUU5tN2NLRzl2YjhYR3hxcFNwVXJhdDIrZm9xT2pKVW1wcWFrcVdiTGtiYTgzYU5BZ3QxNDM1NUE3VndtQ0FOd2ViUjRBOGhmOUxPQ1pDQ0xBWThURnhlbVpaNTV4dTN6MTZ0V1ZrWkdoZmZ2MktTZ29TRTgrK2FRU0V4TVZIUjJ0eU1oSStmcjZLajA5WFljUEgzYVl3eWY5TjNHUUsyZlBucFhaYk00MXVwNXp5QjJBTzBPYkI0RDhSVDhMZUNhQ0NQQUlGeTllMU83ZHV6Vm16QmlIL1RubjdrbFpRKzJrckxsMk9jMmFOVXMybTAzOSt2WFR6cDA3RlJVVkpXOXZiNDBhTmNvb0V4RVJZV3l2WExuUzJQL0dHMjhvTGk1T0pwTkpIVHAwa01sa2NsblhMNzc0d21INyt2WHI4dlgxMVlrVEorVGo0K1BtYnd4NE50bzhBT1F2K2xuQWM1bnNkcnU5b0NzQno1YWRJTWZWSExwN0pUTXpVOTkvLzcweEowK1NwaytmcmhFalJqaVYvZUNERHpSczJEQ1gxMGxLU3BLM3Q3Y0NBZ0lrWlMwLzVPWGxkY3M1ZXplejIrMnkyKzFPNVpzMWE2WWRPM2E0UEtkLy8vN2F2MysvZkgxOUZSa1pxVmRmZmRXdDE3cFQ5K1A5Z0dlanpkUG1BZVF2K2xuNldTQS9FVVJBZ2FOakxWeDRQNURmK0l3Vkxyd2ZRUEZEdXk1Y2VEOVEzTGdYNGdNQUFBQUFBQjZQSUFJQUFBQUFBSEFMUVFSNEJKdk5wdG16Wit2Q2hRdE94ekl6TTVXY25LeFRwMDVwLy83OTJycDFxNDRkTzNiYjYwVkhSeHVKZ25LVGxwYW1yNy8rV3BtWm1XN1YwMjYzS3pFeFVhbXBxVHB4NG9TbVRadm0xbmtBSE5IbUFTQi8wYzhDbm92VkdlQXhUQ2FUSWlJaTlNNDc3K2o0OGVPYU8zZXUwdFBUWlRLWmxKcWFxcXBWcXlvZ0lFQ0JnWUZxMjdhdEFnTUQ5ZHh6enpsZEp6NCtYamFiVGV2V3JkTWJiN3lSNit2WmJEYU5IejllR1JrWkNnME56YlhjcGsyYjlQbm5ueHMzdU5LbFMydkVpQkhhdVhPbnlwY3ZmMDkrZDhBVDBlWUJJSC9SendLZWljU0tLSEQzTTluTWxpMWJaTEZZOVBUVFR5c2pJME4rZm42eVdxMXEwcVJKbmw3ZmFyWHE2YWVmMXA0OWUxd2V0OWxzZXV1dHQ3UnQyemI1Ky9zN0hiOTI3WnF1WHIycVBYdjI2Tnk1YzBwT1R0YVFJVU1VRnhjblNicDY5YXJhdFdzbmIyOXZtYzFtaDNObnpacWxtalZyNXVHM3podVMveUMvMGVacDh3RHlGLzBzL1N5UW54aUpBSTl3K3ZScG1jMW10VzdkMnRobnNWanlmSjBqUjQ3b3BaZGVrcFExUEs1Smt5YVNzbTU4WDM3NXBjcVhMNi9VMUZTTkh6OWVxYW1wV3J0MnJRSURBeDJ1c1dmUEhyMzU1cHZHZXNjUFBmU1FIbnJvSVljYjJwSWxTeFFSRWFHQkF3Y2EreTVjdUtCdTNicnA0WWNmem5POUFVOURtd2VBL0VVL0MzZ3VnZ2p3Q0x0Mzc5YU1HVE0wWk1nUTFhdFhUejE3OW5RcWszM1R5cGFRa09CVXBtYk5ta3BJU05EVnExY1ZIaDZ1N2R1M1M1SkNRME5sc1ZoMDRzUUpqUmd4UWcwYU5OQ1FJVVBVcDA4ZjllblRSeDA3ZGxSS1Nvcm16Sm1qYmR1MjZkMTMzMVc5ZXZVa1NaTW5UOWEyYmR2MCsrKy9xMzM3OXBJa2YzOS96WjgvWDVJVUZoYW16WnMzYTh1V0xXclhycDFLbFNwMVQvOXZnT0tJTmc4QStZdCtGdkJjQkJIZ0VUcDM3cXdxVmFwbzBxUkphdFdxbGNOTkxIdklYYzRiVzBoSWlISGNicmZMMTlkWGtyUnk1VXFaVENhVktGSENLSnVSa1NGdmIyODk5TkJER2pWcWxKbzJiU3BKbWo1OXVvWU9IYXI0K0hnZE9IQkFiZHEwMFlvVkt4eHVWcSs5OXBwZWZ2bGxoWVdGYWYzNjlmTHk4dEwxNjlkMS9mcDFTVkpLU29va3FVMmJObnJnZ1FmeTRYOEhLSDVvOHdDUXYraG5BYy9GNmd6d0dIWHIxdFh5NWN0VnBrd1p0OHJIeDhjclBqNWVUenp4aEtLam80M3RoeDU2U0JjdVhGQlFVSkJSTmowOVhiNit2aXBSb29SeGt6dDY5S2hXcmx5cHRMUTBsU3RYVGdzV0xGQlVWSlRMYUhkOGZMenNkcnNpSXlPMWQrOWUrZmo0cUVlUEhycHk1WW9rNmVlZmY5YkxMNzhzYjIvaWZvQzdhUE1Ba0wvb1p3SFBSS3VCUjVrelo0NjZkKyt1c21YTEtpd3N6T0hZemR1Yk4yK1dKTzNidDArSmlZa0tEUTNWNU1tVEZSVVZKYlBacktOSGorcXh4eDZUbERWL0x5TWpReGFMUlQvLy9MTysrdW9yL2V0Zi85S0pFeWVNbStIWFgzK3RyNy8rMnVIMVVsSlNqQWo5cGsyYlZLcFVLV00rMytEQmcxV2hRZ1dWTGwxYWtsU3RXaldWTGwxYTMzenpqY1BjUXdDM1Jwc0hnUHhGUHd0NEhvSUk4QmlKaVlsYXVIQ2h1bmZ2TGtsS1NrcHltU1czUVlNR2tyS3lBRStmUGwxOSsvYVYyV3pXalJzM3RIUG5UclZvMFVMYnRtMVR5NVl0SlVuWHIxK1h4V0tSbDVlWHNhelJ1KysrcThqSVNPT0dtVk5xYXFwYXRXb2xLU3VoVU1tU0pWV3laRW5WcmwxYnExYXQwcVJKazV4dWFEMTY5TkRTcFV1NTBRRnVvczBEUVA2aW53VThFOU1aNERFU0VoSlV1M1p0bFMxYjFxM3kwZEhSK3UyMzN4UVVGS1NOR3pmSzI5dGJzYkd4T243OHVQYnQyMmZjcUZKVFUxV3laRWxKVXExYXRUUmt5QkQ5NlU5L2NydGVuMzMybWJwMTYyWnMyKzEyL2V0Zi85S3p6ejdyVUM0ME5GUy8vdnFyRGg4KzdQYTFBVTlHbXdlQS9FVS9DM2dtUmlMQVk4VEZ4ZW1aWjU1eHUzejE2dFdWa1pHaGZmdjJLU2dvU0U4KythUVNFeE1WSFIydHlNaEkrZnI2S2owOVhZY1BIM2FZdzVkWHp6Ly92R3JVcUdGc2YvLzk5MnJjdUxFZWZQQkJoM0krUGo1Njdybm5kUExrU2YzNXozKys0OWNEUEFWdEhnRHlGLzBzNEprSUlzQWpYTHg0VWJ0Mzc5YVlNV01jOXVlY3V5ZGxEYldUcElpSUNLZGpzMmJOa3MxbVU3OSsvYlJ6NTA1RlJVWEoyOXZiV0pjNHA3WnQyN3JjYjdmYmpaOXZ2c2xKVXN1V0xSVVNFcUxVMUZTbjg0WU9IZXJ5ZWdBYzBlWUJJSC9SendLZWl5QUNQRUpnWUtCbXo1NnR5cFVyRy90Njl1eXBFU05HT0pYOTRJTVBjcjNPQ3krOG9ONjllOHRpc2FobHk1YjY3cnZ2NU9YbEpTOHZ4NWxCSnBOSmp6Lyt1Qll2WHV6eU9qZHUzTkNRSVVOeWZSMlR5YVNoUTRmcTZOR2p1ZDRzQWVTT05nOEErWXQrRnZCY0p2dk5ZVHVnQUFRSEIwdVN5MFE4bnVUa3laTU9OK0tDd3Z1Qi9NWm5MQXR0SGtCK29WMW5vWjhGOGdlSkZZRkNvakRjNUFEY1A3UjVBTWhmOUxOQS9pQ0lBSTlqdFZwMXR3TndVbEpTalBsOXQyTzMyM1hpeEltN2VqMEFkNDQyRHdENWkzNFc4Q3dFRWVCeHBrK2Zycmx6NTk2Mm5NMW0wNGdSSTF3dSt6TnUzRGpObVRQSHJkZExUMDlYMTY1ZDgxelBIVHQyNk9MRmkzaytENEFqMmp3QTVDLzZXY0N6a0ZnUkhtWFhybDFhdlhxMXlwY3ZyN2k0T0pkbFZxNWNLWXZGSWk4dkx6My8vUE1hT25Tb0prNmNxTWFOR3h0bFhuLzlkYjM2NnF0NjhjVVhGUkFRa0M5MTNiWnRtN1p1M2FvMzMzd3pYNjRQZUFMYVBBRGtML3Bad1BNUVJJREhPSG55cE41NjZ5MDk5dGhqNnRhdG01NS8vbm5qV0hKeXNvWVBINjVISG5sRUZvdkYyTiswYVZOTm5qeFpEenp3Z0pvMGFlSndQYnZkcm1lZmZkYllmdVdWVjlTblR4K25jdGx5N3ZmeDhWRjhmTHd5TXpQVnNHSERYTmREdm5tcHBLU2tKQ1VrSk1qSHg4ZjlYeHp3VUxSNUFNaGY5TE9BWnlLSUFJOXcvUGh4RFJreVJDTkhqdFRqanordWZ2MzY2Y3FWSzNycHBaZDA0TUFCalI4L1huWHIxdFZmLy9wWDQ1eGp4NDdwbDE5K01XNDBDUWtKeHJITGx5K3JWYXRXTHJQc1dxMVdoNXZSK2ZQbjFhMWJOOFhIeHh0bHJsNjlxalp0MmppY3QzbnpacVA4bVRObjlPU1RUMHFTZHUvZXJlclZxNnQwNmRKR2RsOEF0MGFiQjREOFJUOExlQzZDQ1BBSTU4K2YxeXV2dktKV3JWcEpraFlzV0tEQmd3ZHIzYnAxT25mdW5FYU9IS21JaUFpSGM3eTh2RFI3OW16dDJiTkhvMGFOY29paTU4WHg0OGRWc1dMRlhJK2J6V2F0V3JWSzU4K2YxN0pseXhRWEY2YytmZm9vSUNCQUZvdEZodzRkMHZqeDQ5V3paMCt0WGJ2Mmp1c0JlQkxhUEFEa0wvcFp3SE1SUklCSGFOU29rVEl6TTNYbzBDSHQyclZMVzdkdTFlWExseFVhR3FwRGh3NXA3dHk1MnJ0M3IyclZxcVZISG5sRWYvempIMVc3ZG0wdFhyeFlIM3p3Z2F4VzZ4M2ZZR0pqWTNYcTFDbHQyYkpGclZ1M2Rsbm1xNisrMHNhTkc5V3RXemV0WHIxYU8zYnMwTEJody9UQUF3OW82dFNwZXZiWlp6Vmx5aFQ5OXR0dkdqdDI3TjM4VndBZWdUWVBBUG1MZmhid1hBUVI0QkVtVHB5b1RaczI2ZUdISDlaVFR6MmxRWU1HS1RnNFdON2VXVTBnTVRGUnUzZnYxb0VEQi9UdHQ5K3FRNGNPcWwyN3RnSUNBalIrL0hoSjBodHZ2S0Z2dnZuRzRibzN6OFc3ZVVoZXRpMWJ0bWpyMXEyYU1XT0dKazZjcVAzNzkydjQ4T0ZPNWY3eWw3OW93SUFCU2s1TzFydnZ2cXNUSjA1b3dZSUZ1bkRoZ3FLaW92VENDeTlvNnRTcFNrOVB2NWYvTFVDeFJac0hnUHhGUHd0NExwUDliaGQxQmU1UzlsdzBWM1BnN3BYTGx5L0x6ODlQelpzM1YvWHExWTM5UC8zMGs4UDJmLzd6SDIzYnRzMlljMmV6MmZTWHYveEY4K2JOVTJCZ29NUDFjcHUzRnh3Y3JQajRlQzFmdmx4TGxpelIxS2xUMWFoUkkxMjVja1hEaHc5WHFWS2w5T2FiYjZwejU4N0d6Zkg4K2ZOYXVYS2xWcTllclI0OWVxaC8vLzVHSFZKU1VqUm56aHo5OE1NUGV2NzU1L1hNTTg4NDFPVmV1eC92Qnp3YmJaNDJEeUIvMGMvU3p3TDVpWkVJOEFqWk40YlNwVXRyNmRLbHh2NndzRENIN2ZidDJ6dWNkK0RBQWFXa3BPVDV4ako5K25UdDM3OWY4K2ZQVjQwYU5ZelhuajE3dHFLaW9yUnYzejZqN09iTm0vWFh2LzVWVFpzMjFZMGJON1I2OVdxdFhyM2E2WnJYcjEvWDFxMWJWYjU4ZVQzOTlOTjVxZy9nYVdqekFKQy82R2NCejBVUUFSNGxPVGxadlh2M3puWDc5OTkvZHlqLy8vN2YvN3VqbThydzRjUGw3Kzh2czluc3NMOWt5WkthTTJlT3JsNjlhdXhyMGFLRnZ2enlTd1VFQktoaHc0Wk93L29rR1VzVmZmREJCM211QytESmFQTUFrTC9vWndIUFF4QUJIaVVnSUVDTEZ5ODJ0c1BDd2h5MmMwYkx0Mi9mcm43OSt1WDVkVXFVS09GMGs3UFpiRXBPVGxhcFVxVjA1c3daSTVtUXI2K3ZmSDE5bFptWm1lZlhBWEJydEhrQXlGLzBzNERuSVlnQWozTGx5aFgxN05rejErMmJvK1huenAzVHp6Ly9ySVlORzJyNTh1V2FOV3VXdzdWOGZId2NrdjlJcmhNQTNheGR1M1pLUzB1VHhXSlJaR1NreXpMWmF5Y0R1SHUwZVFESVgvU3pnT2NoaUFDUDh0QkREem5NMDh1cFc3ZHV4czltczFralI0NVVxVktsRkJrWm1ldU5LYWN2dnZqQzVaSkZYbDVlMnJsenAydzJtMHdtazB3bWs4TnhrOG1rdG0zYmF1TEVpVTduMm13Mi9mV3ZmM1hyOVFIOEYyMGVBUElYL1N6Z2VWaWRBUVdPakxXRkMrOEg4aHVmc2NLRjl3TW9mbWpYaFF2dkI0b2JyNEt1QUFBQUFBQUFLQm9JSWdBQUFBQUFBTGVRRXdHRlJ2WlFMd0NlZ1RZUEFQbUxmaFpBZm1Ba0FncGM3ZHExQzdvS3lLRnExYW9GWFFVVVk3VDV3b2MyRHhRdjlMT0ZELzBzaWhNU0t3TDNDRWx6QU05Q213ZUEvRVUvQ3hST2pFUUFBQUFBQUFCdUlZZ0FBQUFBQUFEY1FoQUJBQUFBQUFDNGhTQUNBQUFBQUFCd0MwRUVBQUFBQUFEZ0ZvSUlBQUFBQUFEQUxRUVJBQUFBQUFDQVd3Z2lBQUFBQUFBQXR4QkVBQUFBQUFBQWJpR0lBQUFBQUFBQTNFSVFBUUFBQUFBQXVJVWdBZ0FBQUFBQWNBdEJCQUFBQUFBQTRCYUNDQUFBQUFBQXdDMEVFUUFBQUFBQWdGc0lJZ0FBQUFBQUFMY1FSQUFBQUFBQUFHNGhpQUFBQUFBQUFOeENFQUVBQUFBQUFMaUZJQUlBQUFBQUFIQUxRUVFBQUFBQUFPQVdnZ2dBQUFBQUFNQXRCQkVBQUFBQUFJQmJDQ0lBQUFBQUFBQzNFRVFBQUFBQUFBQnVJWWdBQUFBQUFBRGNRaEFCQUFBQUFBQzRoU0FDQUFBQUFBQndDMEVFQUFBQUFBRGdGdStDcmdBQUFBQUE3TnExU3p0MzduVGFQMzM2ZE9Qbk9uWHFxRldyVnZleldnQnlJSWdBQUFBQW9NQ1p6V1l0WGJyVWFmL04rNlpNbVhJL3F3VEFCYVl6QUFBQUFDaHdkZXZXVlVCQVFLN0gvZjM5MWJ4NTgvdFlJd0N1RUVRQUFBQUFVT0M4dmIzVnBrMmJYSTgzYXRSSUZvdmxQdFlJZ0NzRUVRQUFBQUFVQ3FHaG9ia2VhOTI2OVgyc0NZRGNFRVFBQUFBQVVDalVxMWRQL3Y3K1R2dExsQ2lobGkxYjN2OEtBWEJDWWtYZ0RwRkJHUEFzdEhrQXlIOCtQajVxMWFxVjFxOWY3N0MvWWNPRzh2WDFMYUJhQWJnWlFRVGdEcEZCR1BBc3RIa0F1RDljQlJGdU5jMEJ3UDNGZEFiZ0RwRkJHUEFzdEhrQXVEK0NnNFBsNStkbmJQdjYrakxLQ3loRUNDSUFkNGdNd29Cbm9jMER3UDNoNStmbmtQOGdPRGhZSlV1V0xMZ0tBWEJBRUFHNEMyUVFCandMYlI0QTdvK2JSeDZRVUJFb1hBZ2lBSGVCRE1LQVo2SE5BOEQ5MGJCaFEvbjQrTWpiMjF0aFlXRUZYUjBBTnlHSUFOeUY3QXpDT1pGQkdDaWVhUE1BY0g5azU1bXBWNi9lTGZQUkFMai9DQ0lBZDhuVkh4UmtFQWFLTDlvOEFOd2ZZV0ZoalBJQ0NpR1QzVzYzRjNRbGdLTHMrdlhyQ2dzTDAvWHIxeVZsWlJEZXNtVUxDWUNBWW9vMkQ2Q3dlL1hWVjdWNzkrNkNyZ1p1VXJ0MmJjWEV4QlIwTllCN2dwRUl3RjBpZ3pEZ1dXanpBQW83QWdpRno4R0RCd3U2Q3NBOTQxM1FGUUNLZzFhdFdpazJObFlTR1lRQlQwQ2JCMUFVN04yN3Q2Q3JBR1VGbTRIaWhDQUNjQTlrWnhDMjJXeGtFQVk4QUcwZUFBQjRLb0lJd0QyUW5VRTRPVG1aRE1LQUI2RE5Bd0FBVDBVUUFiaEh3c0xDZFBIaXhZS3VCb0Q3aERZUEFBQThFYXN6b01DUlFiandJWU13OGhOdHZ2Q2h6UVBGUy9ZY2ZISWlGQTY4SHlodVdKMEJCWTQvSmdvZk1nZ2pQOUhtQ3gvYVBBQUFjQmZUR1ZCb0VKMHRITWdnalB1Rk5sODQwT1lCQUVCZU1CSUJBQUFBQUFDNGhTQUNBQUFBQUFCd0MwRUVBQUFBQUFEZ0ZvSUlBQUFBQUFEQUxRUVJBQUFBQUFDQVd3Z2lBQUFBQUFBQXR4QkVBQUFBQUFBQWJpR0lBQUFBQUFBQTNFSVFBUUFBQUFBQXVJVWdBZ0FBQUFBQWNBdEJCQUFBQUFBQTRCYUNDQUNBSXN0bXN5azFOVFhmWDJQMjdObTZjT0dDMDdITXpFd2xKeWZyMUtsVDJyOS92N1p1M2Fwang0N2Q5bnJSMGRHeTJXd3VqeTljdVBDZTFCc0FBQ0EvZUJkMEJRQUF1Rk1iTm16UXNtWExOR3ZXTEQzNDRJT1NwT0RnWUpVcVZjb29rNUtTb3IxNzl4cmI0ZUhoZXZqaGh5VkpCdzhlVk8zYXRTVkpCdzRjME9PUFAyNlVTMHhNMU9lZmZ5NUpNcGxNaW9pSTBEdnZ2S1BqeDQ5cjd0eTVTazlQbDhsa1VtcHFxcXBXcmFxQWdBQUZCZ2FxYmR1MkNnd00xSFBQUGVkVTMvajRlTmxzTnExYnQwNXZ2UEdHeTk5cDRjS0Y2dHUzcnlRcEpDUkVKVXVXZENxVG1wcXErUGo0UFAxZkFRQUEzQXNFRVFBQVJWYUhEaDMwL2ZmZmErREFnVnF4WW9VeU16UGw2K3ZyOEFkMmNIQ3cwM2taR1JtMy9UbWJsNWVYQmc0Y3FHclZxaWt0TFUxZHUzWlZwMDZkNU9mbko2dlZxaVpObW1qVnFsVk81K1gyUjc3TlpwUEpaSktYbCtOZ3dNVEVSRW1TM1c1WFltS2kvUHo4SkVteHNiRk8xd2dKQ1hGNWJRQW96dGF2WDYvNjllc2JnV0IzZE92V1RaOSsrbWsrMWdyd1BBUVJBQUJGbHNsazB2ang0M1h1M0RuNStQaG96Wm8xcWxXcmxsT1pxMWV2Nm9FSEhwQWtsUzFiMW1uS3dKRWpSMVN6WmsySGZYMzY5SkVrblQ1OVdtYXpXYTFidHphT1dTeVdQTmYxeUpFamV1bWxseVJsQlFxYU5Ha2lTYkphcmZyeXl5OFZGUlZsYkVkRlJhbGx5NVlPNTRlRWhERDZBRUNoOU5SVFQ2bGl4WW91ajUwK2ZWcDc5dXd4dGtORFE1M0twS1NreU1mSFJ6NCtQZzc3bjN2dU9RMGRPbFNTZE9MRUNiMzMzbnRhdTNadG51cDIvdng1cDMyZE9uV1MxV28xdGl0VnFxUjU4K2JsNmJxQUp5T0lBQUFva3FaTm02YU5HemZLMTlkWHNiR3hXcjE2dFQ3NjZDTjkrT0dIRHVYYXRtMnJqaDA3eW1hejZjRUhIMVRKa2lYVnUzZHZoekt1Z2dqWmR1L2VyUmt6Wm1qSWtDR3FWNitlZXZiczZWUW1PeUNRTFNFaHdhbE16Wm8xbFpDUW9LdFhyeW84UEZ6YnQyK1hsUFZBYmJGWXRIVHBVa2xTOCtiTmpaK1hMRmxpbko5ejVBSUFGQllXaThXWS9wVlR6djd4bTIrK2NkaGVzMmFObGkxYnBvOC8vbGhCUVVHNXZzYjc3Nzh2aThXaXlNaElsOGV2WExtaWI3LzkxZ2p5dG0zYlZwSjA3ZG8xNCtkU3BVcnAwMDgvMWZuejU0MStPaVltUnNlUEgzZmp0d1NRalNBQ0FLQklpb3FLVWxSVWxQR0Erc1FUVCtpVFR6NVI1Y3FWSGNwRlIwZmY5bHBoWVdGYXZIaXh5Mk9kTzNkV2xTcFZOR25TSkxWcTFjb2hRSkE5blNGbjBDQjd1b0hWYXBYZGJwZXZyNjhrYWVYS2xUS1pUQ3BSb29SUk5pTWpROTdlLzcwZG0wd21wenBZclZZRkJBVGM5dmNBZ0lLUW5wNnU3dDI3NTNyTWxSczNidWo5OTkvWC92MzdkZUxFQ1gzeHhSYzZlUENnK3ZmdnIrclZxenVVM2JCaGd4SVRFeFVYRitmUWY5N3NxYWVla3Rsc05yYXpjOGVFaElRWTA4SnlUZ1d6V3ExYXZueTVQdnJvSTdkL1Z3QUVFUUFBeFVTTkdqWFV2SGx6bWMxbWg4U0tWNjVja2ErdnI3WnMyV0xzYTl5NHNjTzBoMHFWS2huSkRDWHA3Tm16RHJrSTZ0YXRxK1hMbDd0ZGwreHBCd01HREZDM2J0MFVGaFptSER0dzRJRER0MjNwNmVueTlmVlZseTVkbEphV3B1dlhyNnQ5Ky9ZTzEwdEtTbEw5K3ZYZGZuMEF1SjhzRm92TDNEQ1M4MGdFU2ZydXUrODBhZElrMWE1ZFd3c1dMRkN6WnMwVUVSR2hEUnMyYVBqdzRhcFRwNDRHRHg2c1J4NTVSSWNPSGRMTW1UTWxTVDE2OUhDNGp0bHMxcG8xYTNMTk5YTTc2OWF0VTlXcVZWVzFhdFU4blFkNE9vSUlBSUJpNDgwMzM5VGF0V3MxWjg0Y1NWbEpESHYwNktGR2pSbzVsYjM1MjM5M3pKa3pSOTI3ZDFmWnNtVWRnZ0tTSExZM2I5NHNTZHEzYjU4U0V4TVZHaHFxeVpNbkt5b3FTbWF6V1VlUEh0VmpqejBtS1NzM1FrWkdoaXdXaTlhc1dhT1RKMDlxd0lBQldydDJyU3dXaS9HdDJjR0RCL1hqanovbXFiNEFjTCtrcDZlclU2ZE91UjdMZHZ6NGNVMlpNa1cvL1BLTFJvMGE1ZEIzbXMxbWRlblNSZUhoNFZxd1lJRWlJeVBWdFd0WC9mVFRUM3J0dGRmMCt1dXY2NnV2dm5JWWJkQ2dRUU5KTXZyUnZJcUxpek5XNkFIZ1BvSUlBSUJpbzNYcjFscXdZSUcyYk5taTFxMWJLeVltUmxhclZZTUdEYnFyNnlZbUptcmh3b1hHY04ya3BDU0haU096WlQvUTJtdzJUWjgrWFgzNzlwWFpiTmFOR3plMGMrZE90V2pSUXR1MmJUT1NKbDYvZmwwV2k4WDQ5bXovL3YyeTIrMktpb3JTMUtsVGpZZmJIVHQyNk5LbFM4YnI1UGF3RGdBRlllYk1tV3JhdEtuTFl6dDM3alIrTGwyNnRPclhyNitwVTZjNkxGL2JzbVZMWXlwWGlSSWxOSGp3WUxWdjMxNTc5KzdWZ0FFRDVPL3ZyOWRmZnozWDEwOUxTek9taldYTHpvVndjMDZFbk41OTkxMzE2ZE5IelpvMU0vcHZBTGRIRUFFQVVPVDkrdXV2aW91TFUvLysvVFZ4NGtRTkdUSkVodzhmMXNhTkd6VjM3bHlIaDFWSktsT216QzB6Y2VkODRFeElTRkR0MnJWVnRteFp0K29USFIydDMzNzdUVUZCUWRxNGNhTzh2YjBWR3h1clNwVXFhZCsrZlVhZWh0VFVWSWU2ZmZiWlp4bzNicHhPblRxbFVhTkc2Y01QUDlTcVZhdFV1WEpsaDF3Smd3Y1Axb1FKRXpSaHdnUzM2Z01BOTlyUFAvK3NZY09HdVR4Mi92eDVQZmpnZzA3N1kyTmoxYjkvZnpWbzBNQllNU2ZielN2Z1hMMTZWVHQzN2xTWExsMGN5dVRjL3NNZi9pQXBLMkRnNysvdmNNemYzMSt4c2JHM3pJbnc0SU1QYXZUbzBWcXdZQUZCQkNBUENDSUFBSXFzYytmT0tUMDlYZjM3OTllSUVTTWtTWDUrZnFwWXNhSVdMMTZzcmwyN3FseTVjazduWGJwMFNRTUdESEQ3ZGVMaTR2VE1NOCs0WGI1Njllckt5TWpRdm4zN0ZCUVVwQ2VmZkZLSmlZbUtqbzVXWkdTa2ZIMTlsWjZlcnNPSER4djVFVDcvL0hObFpHUW9KQ1JFSnBOSmRldlcxZEtsUzdWbHl4WXRXTEJBeTVZdFUzSnlzZ0lDQW5UczJERWRPblRJN2ZvQXdMMVdyVm8xNDQvemRldldLU2dvU0MxYXRGQm1acVlhTm16b2tGY21KNXZOcHErKytzcHBTY2Rzd2NIQkx2ZXZXYlBHWVRyRGpSczNKRW03ZHUxUytmTGxkZTdjT1hsNWVia01ZT1NtY2VQR2V1dXR0OXd1RDRBZ0FnQ2dDTXRPT0RobXpCZ2RQMzVjSTBlTzFBOC8vS0JldlhycHZmZmUwNXc1Y3hRZUhxN216WnVyY2VQR1dyRmloZkVBbXYzdzZjcWxTNWZVdTNkdmhZYUdxbjM3OXRxOWU3ZkdqQm5qVUNablhnUXA2OEZZa2lJaUlweU96Wm8xU3phYlRmMzY5ZFBPblRzVkZSVWxiMjl2alJvMVNuYTdYY3VXTGRPVUtWT01FUWViTm0xU1FrS0M1czJiSjR2Rm92YnQyNnR6NTg3eTlmVlZabWFtaGd3WmNzZi9id0J3cnlRbEpXbldyRmw2KysyM0hmYm5uSGJWdlh0M3ZmRENDL2YwdFVlTUdLRmR1M2JwZ1FjZVVIUjB0T0xpNHZUYmI3OXAzTGh4dHozM2wxOStVVXBLaW43NjZhYzhCUjBBRUVRQUFCUmh0V3JWMHJ4NTg3UjkrM2JGeE1Rb1BEeGMwZEhSeHJEV0NSTW02TXlaTTFxL2ZyMjJiZHVtUllzVzVUbjVWbVptcG1iUG51MndkR1RQbmoyTmtRODMrK0NERDNLOXpnc3Z2S0Rldlh2TFlyR29aY3VXK3U2NzcrVGw1V1hrUS9qa2swOGNwallNR0RCQUw3LzhzZ0lEQXlWSnc0Y1AxL0Rody9OVWR3RElUOG5KeVlxS2lsS0RCZzAwZmZwMFhieDRVYzJhTlpPVU5icnFYaXBSb29TT0hUdW1hdFdxR2Z0bXo1NHRtODBtTHk4dnBhU2thTkdpUmVyWXNhT2syK2RFK1BYWFg3VnMyVElGQmdicWIzLzcyejJ0SzFEY0VVUUFBQlI1elpzM1YvUG16VjBlcTFDaGdsNTk5ZFU3dnJiWmJIYWFLK3NxZ0NBcDEvbkJraHlXZFpTY1Y0ZkltYmVoZE9uU2Vha21BTnhYQnc4ZTFHdXZ2YVptelpwcHpKZ3hPblhxbE9iUG42OS8vT01mOHZiMlZtaG9xTHk4dkdTMzIyV3oyWlNSa2FHMWE5Y2FlUXp5bWlDMmI5Kys2dHUzcjlMUzBsd2U5L2IyVnFOR2pkU21UUnRKVW1Sa3BFYU9IT2xRWnVQR2pjYlB6enp6VEo2bXFRSDRMNElJQUFBQUFQS2tTcFVxR2p0MnJESHlvSExseWtiU1dDbHJDZHZzQUlJa21Vd21ZenBaeTVZdE5XblNwRnlYMmgwN2Rxd3hTaXRidjM3OTFLOWZQN2ZybHpPQUlFbnQycldUSkdPMEFvQTdReEFCQUlEL2MvSGlSVjI1Y2tXUFBmWllRVmNGQUFxMWtpVkxHZ0VFVjB3bWswd21rMU13UUpLbVRadDJ5MnUvOTk1N2QxMi9XeGs3ZG15K1hoOG83cHhiTlZBRTJHdzJwYWFtNXZ0cnpKNDlXeGN1WEhBNmxwbVpxZVRrWkowNmRVcjc5Ky9YMXExYmRlellzZHRlTHpvNjJvakk1N1J3NGNKN1V1K2NFaE1UOCtXNlFHR1gxOC8rMGFOSDFhZFBINWR0UGkvUzB0S1VsSlNrMDZkUE94M2J0MitmTGwrK2JHeHYyTEFoVC8zWnhJa1Q3NnB1QUFBQWQ0dVJDQ2lTTm16WW9HWExsbW5XckZsR1J0M2c0R0NWS2xYS0tKT1NrcUs5ZS9jYTIrSGg0WHI0NFljbFpjM2pxMTI3dGlUcHdJRURldnp4eDQxeWlZbUpSaklnazhta2lJZ0l2ZlBPT3pwKy9Mam16cDJyOVBSMG1Vd21wYWFtcW1yVnFnb0lDRkJ0czRKZ0FBQWdBRWxFUVZSZ1lLRGF0bTJyd01CQVBmZmNjMDcxalkrUGw4MW0wN3AxNi9UR0cyKzQvSjBXTGx5b3ZuMzdTc3BheHpqbi9HZ3BhMDM1K1BoNFNWS1RKazJNaEd2WkxsKytySVNFQlBYczJWTkxseTVWWm1hbXdzUERIZjRmZ0tMdWJqLzdRNGNPVllNR0RkU3JWeTlqMzZaTm00d2czNFFKRTV6TzZkaXhvd1lPSENoSm1qdDNydUxpNGlUSitKWXRLU2xKWmNxVWtjbGtrcSt2ci96OC9GUzZkR2xObVRMRnVJYlZhdFh3NGNNMWRlcFVOV3pZVUZKVzRzY21UWnFvVjY5ZWV2NzU1OVc3ZDIvalc3dnUzYnM3MWVQa3laUDY5Ny8vN2JUZmJEWnJ4WW9WdC91dkF3QUF1R3NFRVZBa2RlalFRZDkvLzcwR0RoeW9GU3RXS0RNelU3Nit2c1lmMkpMck5ZWXpNakp1KzNNMkx5OHZEUnc0VU5XcVZWTmFXcHE2ZHUycVRwMDZ5Yy9QVDFhclZVMmFOTkdxVmF1Y3pydTVEamV6Mld3dWgvVmxmMXRxdDl1Vm1KZ29QejgvU1hLNXZuSklTSWpEZG14c3JINzY2U2RWcjE1ZFV0WWZWMUxXTjZwQWNYYW5uLzFmZi8xVisvYnQwenZ2dkNNcEsvZ3diZG8wSFRseVJDdFdyRkNsU3BXTXN0ZXZYOWVNR1ROMC9QaHhkZTNhMWRqLzhzc3Y2K1dYWDNab3kyRmhZZnIwMDA5ditkcHhjWEdxV0xHaUVVREluaTljcGt3WmZmTEpKeG8zYnB6UzB0S01ZSVdyL3FWOSsvWXU5d1BBdmZEZGQ5OXA5ZXJWZXZ2dHQ0M25FU2tySVdGR1JrYWVreUVXSkt2VmF2eHNNcG55dkRKUHRwTW5UMnJUcGswYU1HREF2YW9hVU9RUlJFQ1JaREtaTkg3OGVKMDdkMDQrUGo1YXMyYU5hdFdxNVZUbTZ0V3JldUNCQnlSSlpjdVdkWm95Y09USUVkV3NXZE5oWDU4K2ZTUkpwMCtmbHRsc1Z1dldyWTFqZDNJRE9uTGtpRjU2NlNWSldYODBaUCt4WTdWYTllV1hYeW9xS3NyWWpvcUtVc3VXTFIzT0R3a0p5VFV3SVdVdE5iZHIxNjQ4MXdzbzZ1N2tzNzl5NVVxMWJkdFdBUUVCU2sxTlZXUmtwSm8zYjY3Rml4ZHI5T2pSR2oxNnRCNTk5RkZ0M2JwVkgzNzRvZHEyYmFzeFk4WVlBWU90VzdkcTNyeDVUdGU5Y3VXS0lpSWlYTDdtaWhVclpMUFpGQk1UbzhHREJ4djcwOVBUWlRhYjVlWGxwWExseXVrZi8vaUhNak16SGM1dDJyU3AvdlNuUHhuYnYvLyt1M3IzN3UxUTV0aXhZOXErZlh1ZS9oOEF3Slg2OWV0cjFhcFZHanAwcU9iTm15Y3ZMeThsSnlkcjd0eTVtalZybHN0emdvT0RqVkdocnB3L2Y5N2xxTENubm5wS0ZTdFdkSG5PNmRPbnRXZlBIbU03TkRUVXFVeEtTb3A4Zkh6azQrUGpzUCs1NTU3VDBLRkQ5ZlRUVCt1UlJ4NVJlbnE2ZkgxOXRYcjFhalZvMEVBVktsUndLSC81OG1Yak9ldXBwNTVTUUVDQXBLemxLL2ZzMmFPdnZ2cEtkcnM5MTk4UDhFUUVFVkRrVEpzMlRSczNicFN2cjY5aVkyTzFldlZxZmZUUlIvcnd3dzhkeXJWdDIxWWRPM2FVeldiVGd3OCtxSklsU3pvOWZMc0tJbVRidlh1M1pzeVlvU0ZEaHFoZXZYcnEyYk9uVTVuc2dFQzJoSVFFcHpJMWE5WlVRa0tDcmw2OXF2RHdjT05oUHpRMFZCYUxSVXVYTHBXVXRVUmQ5czlMbGl3eHpuZVZrQWhBM3FXbXB1cUxMNzdRb2tXTEpHVWxCVnV4WW9XeGxHSmtaS1FHRFJxa1AvemhEeXBmdnJ3KytPQURwd2ZjN0NYQit2YnQ2L0FIdjhsa2NucVFEUW9LMHZUcDB5Vko2OWV2MStuVHB4VVNFbUk4REdkbkxROE9EblpZenZIaGh4OVdURXlNc1oyZHpUejdkVzdlQm9CN3BVdVhMcnArL2JveU1qSjA3ZG8xWXlXRHRMUTBwYVdsR1V2bHVob3B1V0hEQnBkOVUyWm1wakg2S2llTHhXSk1IODBwNS9QVk45OTg0N0M5WnMwYUxWdTJUQjkvL0xIVDhyblpTcFFvb1RWcjFtanQyclU2ZVBDZ3BLeCtQK2RyM2p6S3MweVpNdHE4ZWJNU0V4TVZFUkVocTlXcXRXdlhLalUxMVdrVTJMSmx5L1RIUC83UjVXc0R4UjFCQkJRNVVWRlJpb3FLTW00d1R6enhoRDc1NUJOVnJselpvZHpOeXd6bEppd3NUSXNYTDNaNXJIUG56cXBTcFlvbVRacWtWcTFhT1FRSXNxY3o1QXdhWk4rSXJGYXI3SGE3ZkgxOUpXVjkrMmt5bVZTaVJBbWpiRVpHaHNQU1JpYVR5YWtPVnF2VmlJaTdZclBaK0lNQ0h1bE9QdnZyMTY5WHJWcTFWTFZxVldOZjZkS2xkZno0Y1czZXZGbXhzYkdxVTZlT0dqWnNxSlVyVitvLy8vbFBydCtTblQ5L1hoczJiREMyWGZVbGJkdTJsWlMxNHNOSEgzMWt0UEhzaCtGVHAwNXA0TUNCT252MnJMNzY2aXVuSUlTVTlVQjc4d2lxOXUzYk80Mm95bjRkQUxnYjU4K2YxNDRkT3h6MkJRY0hPNHdpdU5WcURIbVZucDd1TXZkTDlqRlhidHk0b2ZmZmYxLzc5Ky9YaVJNbjlNVVhYK2pnd1lQcTM3Ky9NYjB0cDdpNE9MM3l5aXVTc29MSjdrekp5UDdpYU5XcVZRb09EdGFiYjc3cDhBelhzV05IbDg5dGdLY2dpSUFpcjBhTkdtcmV2TG5NWnJORFlzVXJWNjdJMTlkWFc3WnNNZlkxYnR6WVlkcERwVXFWakdTR2tuVDI3Rm1IQ0h2ZHVuVzFmUGx5dCt1U1BSeHV3SUFCNnRhdG04TEN3b3hqQnc0Y2NJaVdadyt2NjlLbGk5TFMwblQ5K25XMWI5L2U0WHBKU1VtcVg3OStycStYbnA3dU1HY1I4QlI1L2V6YjdYYXRXclZLdzRZTk0vWjk5OTEzZXUrOTkrVGo0Nk93c0RCOTlORkhpbytQMTlTcFV5VkpmLy83My9YM3YvL2RLRDlqeGd6VnFGRkRrblRwMGlXSCtiSEp5Y201enBkZHZIaXh1blRwb21YTGxqbnNQM0hpaENwVXFLQ3paOC9tV3U5TGx5NDVqS0RLT1ozQmJyYzdKWmtFZ0R2bDZnL3NtL2VscGFXNVBDL244NHM3TEJaTHJqbGVjbzVFa0xMNjdFbVRKcWwyN2RwYXNHQ0JtalZycG9pSUNHM1lzRUhEaHc5WG5UcDFOSGp3WUQzeXlDUEdPZGtyNWRTdFcxZlM3VWNpNVBUenp6L3JsVmRlVWZmdTNiVmd3UUtWSzFkT1VsYmZ5MGhSZURLQ0NDZ1czbnp6VGExZHUxWno1c3lSbFBVdFpZOGVQZFNvVVNPbnNqZC8rKytPT1hQbXFIdjM3aXBidHF4RFVFQ1N3L2JtelpzbFpTM2hscGlZcU5EUVVFMmVQRmxSVVZFeW04MDZldlNvc2ZhODNXNVhSa2FHTEJhTDFxeFpvNU1uVDJyQWdBRmF1M2F0TEJhTGNVTTdlUENnZnZ6eHgxenJkdTNhTllkaDBJQ255T3RuUHlFaFFlbnA2V3JSb29XeDc4a25uOVNNR1RQMDZLT1A2c2NmZjlTNGNlTVVHQmlvRFJzMkdBRS9xOVdxdi8zdGIwcEpTVkdWS2xXTWM4dVVLZU9RR3lFc0xNd3BWMEwyQ0lFZVBYcm9qMy84bzFNUUlTRWhRZlhxMWJ2bDZpbi8rTWMvOU1RVFQwaks2dGM2ZHV5b0JRc1dLRE16VTVtWm1Ycjk5ZGRWcDA0ZDJlMTJ2aFVEY05keS9vRWRIQnpzc0MrM2tRaDNNcDBoUFQwOTExRUJONDlFT0g3OHVLWk1tYUpmZnZsRm8wYU5jbmoyTXB2TjZ0S2xpOExEdzdWZ3dRSkZSa2FxYTlldUdqNTh1S1NzMFJWbXMxbnA2ZWt1UjN2bEpycy9mZXV0dDNUeTVFbVZMMTllTnB0TkZ5NWNVTGx5NVpTWm1abm41MG1nT09IVGoyS2hkZXZXV3JCZ2diWnMyYUxXclZzckppWkdWcXRWZ3dZTnVxdnJKaVltYXVIQ2hjWnd1NlNrSkpjUC9BMGFOSkNVOVpBL2ZmcDA5ZTNiVjJheldUZHUzTkRPblR2Vm9rVUxiZHUyelVpYWVQMzZkVmtzRmlPS3ZYLy9mdG50ZGtWRlJXbnExS25HOHBNN2R1elFwVXVYak5mSmViTTllL2FzRVJVSFBFbGVQL3YvL09jLzFiMTdkNGR2am54OWZaV1VsS1JwMDZicHhJa1RHalpzbUVxV0xLbXpaODhxS0NoSXYvNzZxOGFQSDY4cVZhcG8yclJwRGcrZ09VY0lKQ2NuTytWY3llWnFTc1RWcTFlMWNlTkdMVnEwU1BQbnp6ZjJwNldsYWZQbXpXclhycDNhdFd1bmpJd00rZmo0Nk5xMWF5cFRwb3pNWnJQNjllc25pOFVpYjI5dmVYdDc2MS8vK3BkT25EaWh0OTkrbTIvR0FOeDNDUWtKdVU0dk01dk5Mdk5GU2RMTW1UUFZ0R2xUbDhkMjd0eHAvRnk2ZEduVnIxOWZVNmRPZFZqK3VtWExsc1lmK3lWS2xORGd3WVBWdm4xNzdkMjcxK2dMYTlhc3FWcTFhbW5kdW5YcTNyMjdybDI3cHZidDJ5c3hNVkhseTVkMytkcnA2ZW15V0N6R3lsM3g4ZkZxMTY2ZHRtM2JwblBuem1ubzBLRUVFZUR4K1BTalNQdjExMThWRnhlbi92MzdhK0xFaVJveVpJZ09IejZzalJzM2F1N2N1UTQzRzhuNTI4T2NjczR0VGtoSVVPM2F0VlcyYkZtMzZoTWRIYTNmZnZ0TlFVRkIycmh4bzd5OXZSVWJHNnRLbFNwcDM3NTlScDZHMU5SVWg3cDk5dGxuR2pkdW5FNmRPcVZSbzBicHd3OC8xS3BWcTFTNWNtV0hieGNIRHg2c0NSTW1hTUtFQ1lxSmlkRzJiZHRrTXBrMGMrWk1EUjA2MUVqR3RudjNicmZxQ3hSRmVmM3NuenAxeW1GWng1dGR1blJKSVNFaFJwRGczLy8rdDBhUEhxMndzREI5K2VXWEdqeDRzRHAzN3V4MDN0YXRXeDJDQ3E1eUl0eTh2RmhPTTJiTVVJTUdEWXpSU2RsKy8vMTN2ZjMyMjJyWHJwMG1USmlnOWV2WDY1MTMzbEdUSmsyMGV2VnF2Zjc2NjNyMjJXZlZ1blZyTFYrK1hDRWhJWm8wYVpKZWV1a2xBZ2dBN3BxckhDczM3OHM1blNIbnlneVhMMTlXUWtLQ21qUnA0akRWS251RmhwOS8vdGxoV3RuTnpwOC83M0tWaDlqWVdQWHYzMThOR2pRd1Z0ektkdk1LV2xldlh0WE9uVHZWcFVzWGh6TFpJN2k2ZCs4dWYzOS9iZGl3UWYzNjlkTzRjZU5VdFdwVkxWMjZWREV4TWVyVnE1ZWtyT213cFVxVjB2WHIxeVZKMjdkdjE4eVpNM1gxNmxVTkd6YU1JQUlnZ2dnb29zNmRPNmYwOUhUMTc5OWZJMGFNa0NUNStmbXBZc1dLV3J4NHNicDI3ZXJ5VzhxYzg1aHZKeTR1VHM4ODg0emI1YXRYcjY2TWpBenQyN2RQUVVGQmV2TEpKNVdZbUtqbzZHaEZSa2JLMTlkWDZlbnBPbno0c0RGYyt2UFBQMWRHUm9aQ1FrSmtNcGxVdDI1ZExWMjZWRnUyYk5HQ0JRdTBiTmt5SlNjbkt5QWdRTWVPSGRPaFE0Y2tTUlVxVkZCOGZMd1dMVnFrQlFzV2FPVElrWHJ2dmZmY3JpdFFWT1gxczUrOXJHUE9oMDlKYXRXcWxhU3NiNTYrL2ZaYnhjYkdLalUxVldscGFWcTVjcVhMck44eE1UR0tpNHR6MkhmbHloV1hLN2hrcjdpU3N6NWJ0MjdWUC8vNVQwbFp3Mll2WGJxazh1WEw2NGNmZnRBamp6d2lMeTh2elo4LzMxaHkxbVF5eVdxMWF2VG8wYnA4K2JMUzA5TzFhTkVpTld6WVVNMmJOOWZFaVJNMWQrN2NQQTNYQllDYnpadzVVOEhCd1E3N2dvT0RIWEpGNVJ5TjZlUGo0M0Q4NWx3R3J2WlhxMWJOMkw5dTNUb0ZCUVdwUllzV3hyUUhWeXMvWkxQWmJMa21vYzJ1cXl2bHlwVlRZbUtpdzc1dTNicHB3WUlGQ2cwTjFkS2xTOVcvZjM5SldjK1NQLy84c3lwVXFDQ3oyYXo0K0hnZE9IQkF6ei8vdks1ZXZhclUxRlNkUDM5ZTZlbnBCQkhnMGZqMG8waktUamc0WnN3WUhUOStYQ05IanRRUFAveWdYcjE2NmIzMzN0T2NPWE1VSGg2dTVzMmJxM0hqeGxxeFlvVXgxTzdHalJ1NVhqZDdpSEpvYUtqYXQyK3YzYnQzYTh5WU1RNWxjdVpGa0xKdWJKSmNyaE0vYTlZczJXdzI5ZXZYVHp0MzdsUlVWSlM4dmIwMWF0UW8yZTEyTFZ1MlRGT21UREZHSEd6YXRFa0pDUW1hTjIrZUxCYUwycmR2cjg2ZE84dlgxMWVabVprYU1tU0lVbE5UTldyVUtQWHUzVnRtczFrREJneFFURXlNWG5ubEZjMmNPVk1wS1NrS0NnclM2ZE9uWmJGWTd2ai9HU2hzOHZyWnoxN1dNZWVLQmxKV1hvVjU4K2JweUpFak9uandvQjU5OUZHMWFkTkd3NGNQejNYSnNIWHIxdVg2a0h2emtvL1pJaUlpdEdMRkNtTjcyN1p0bWpWcmxtYk5tbVY4NC9ic3M4K3FVNmRPeGpLUm8wZVBWbkp5c21yVnFtVU05ZTNRb1lQYXQyOXZQRHpmdUhGRGRlclVVZFdxVmZXblAvM0pXQWtHQU82RXEyZWJXeDNyMWF1WFhuenh4VHQrdmFTa0pNMmFOVXR2di8yMncvNmMwemE3ZCsrdUYxNTQ0WTVmWi9QbXpmcjIyMi8xMEVNUE9leC85dGxudFdyVktzMmVQVnNmZi95eEtsV3FKQ2xyRlovWFhudE52L3p5aTRZTkc2YkF3RUNOR1RORzVjcVZVMkJnb09MaTRuVGh3Z1ZaclZhZXIrRFo3RUFCcTErL3ZyMSsvZnAzZE82MmJkdnNMNzc0b24zRmloWDJsSlFVaDJPblQ1KzJ6NWt6eC83YWE2L1pyVlpybnErZGtaRmgzN1ZybDhPKzk5OS8zMlhabVRObjVucWRpeGN2MnE5Y3VXSnNwNmVuMnpNek00M3RhOWV1T1pTL2ZQbXkvZEtsUzdlczI4aVJJKzJ6Wjg5MjJ2L1paNS9aVTFKUzdLR2hvZmI2OWV2Ykd6ZHViSjg2ZGVvdHI1WFQzYndmZ0R2dTVqTjJyei83YTlhc3NXL2R1dFdlbEpSMFIvWEppODgrKzh5ZW1abHBQM2JzV0w2L1ZsN1E1b0hpNTE2MTY5dGRvM0hqeHZZYk4yNFkveG8zYm16c3oxa3UyNVVyVit4OSt2U3hqeGt6eHQ2MWExZjc1NTkvYnI5NDhlSnRYNnQrL2ZyMkd6ZHV1SDI4YWRPbTlrV0xGdGtuVFpwa1AzbnlwTjF1dDl0YnRHaGhUMDFOdFM5YXRNaStkKzllZTRjT0hld0xGeTYwWjJSazJPMTJ1MzNKa2lYMjU1OS8zbjd1M0RsN3g0NGQ3WWNPSGJMYjdYYUg1N2J2dnZ2TzNyWnQyMXZXMVZYZDZHZFJuSmpzZHJ1OW9BTVo4R3padzg5dWxhRWNqcTVkdXlaL2YvOWJsckhmWWJaMjNnL2t0N3Y1ak9Yblo5OVQwZWFCNHVkZXRldmc0T0JiWHVPcHA1NXlXRkx4N05telJrNkU3Ry8zSmVuWXNXUGFzMmVQRGg0OHFOZGVlMDNObWpYVG1ERmpkT3JVS2MyZlAxOTc5KzdWeFlzWDVlL3ZMeTh2TDludGR0bHNObVZrWkdqdDJyWDZ3eC8rNEpSL0lhZno1ODhySVNIQkdMSFZyRmt6N2RpeHd6ait5eSsvS0NJaVFrRkJRV3JWcXBVR0RScWtsSlFValI0OVdxbXBxUW9QRDllbVRadjA0WWNmcWx5NWN2cjIyMjlWdG14WlZhdFdUVE5tek5Dbm4zNHFiMjl2V1N3V2pSa3o1cGFqTjF6OVAwcjBzeWcrbU00QUZFRzMreU5LRW45RW9WamlzdzhBOTAvMnFsSzVlZVNSUjdSbXpScGpPenVwNFIvLytFZXRXclhLYVgrVktsVTBkdXhZWTZuSXlwVXJHMG1ucGF3Z2NIWUFRY3JxejdPbm83WnMyVktUSmszS05SZkIyTEZqSFJMTTVzeUQ0K1BqbzJlZWVVYkRoZzB6VnMzeDkvZlhva1dMZE9qUUlWV3BVa1dSa1pFcVVhS0VKS2x4NDhiR3VmLzd2LytyLy8zZi81WE5aaU9KTFNDSmtRZ29jRVJuQ3hmZUQrUTNQbU9GQys4SFVQelFyZ3NYM2c4VU40VFNBQUM0aWFza2pQZEN6dXpnQUFBQVJSSFRHUUFBdU1uQ2hRdlZ0MjlmU1ZKSVNJaEtsaXpwVkNZMU5WWHg4ZkdTNUxRZXV2VGZ0ZEo3OXV5cHBVdVhLak16VStIaDRYd0xCUUFBaWp5Q0NBQUE2TDhqQmV4MnV4SVRFK1huNXlkSkxwZDBEQWtKY2RpT2pZM1ZUei85cE9yVnEwdjY3NXJvUjQ4ZXpjOHFBd0FBM0hjRUVRQUFrQlFWRlNWSnNscXRpb3FLY2tvb0ZoSVNZb3crY0tWbno1N2F0V3RYZmxZUkFBQ2d3QkZFQUFCQTB0S2xTeVZKelpzM04zNWVzbVNKY1p5TTNBQUFBQ1JXQkFEQWdhc2xJcTFXcXdJQ0FuSTl4MmF6R2N1UUFRQUFGR2VNUkFBQVFGbnJtS2VscGVuNjlldHEzNzY5dzdHa3BDVFZyMTgvMTNQVDA5T05IQW9BQUFERkdTTVJBQUNRdEdiTkdzMlpNMGRCUVVGYXUzYXRObXpZWUJ3N2VQQ2dmdnp4eDF6UHZYYnRta3FYTG4wL3Fna0FBRkNnQ0NJQUFQQi85dS9mTDd2ZHJxaW9LRm10VnRXdVhWdVN0R1BIRGwyNmRNa28xNmxUSjRmenpwNDlxM0xseXQzWHVnSUFBQlFFZ2dnQUFQeWZ6ejc3VE9QR2pWT0RCZzAwYXRRb2ZmamhoMXExYXBVcVY2N3NrQ3RoOE9EQm1qQmhnaVFwSmlaRzMzNzdyVXdtazJiT25DbWJ6YWFZbUJoSjB1N2R1d3ZpMXdBQUFNZzNCQkVBQUpEMCtlZWZLeU1qUXlFaElYcnh4UmZWdjM5L0xWMjZWQnMyYk5BTEw3d2dzOW1zNU9Sa1NkS3hZOGQwNk5BaFNWS0ZDaFVVSHgrdjJiTm55OC9QVHlOSGp0VEREejlja0w4S0FBQkF2aUd4SWdEQTQ5bnRkaTFidGt4VHBrd3hSaHhzMnJSSkNRa0ptamR2bml3V2k5cTNiNi9PblR2TDE5ZFhtWm1aR2pKa2lGSlRVelZxMUNqMTd0MWJack5aQXdZTVVFeE1qRjU1NVJYTm5EbFRLU2twQ2dvSzB1blRwMld4V0FyNHR3UUFBTGg3QkJFQUFCN1BaRExwazA4K1VjbVNKWTE5QXdZTTBNc3Z2NnpBd0VCSjB2RGh3elY4K0hDSDg2S2lvbFNuVGgyMWF0WEsyTmVyVnkrVktsVktQajQrNnRPbmp5NWZ2aXdmSHg5MTY5YnQvdnd5QUFBQStZZ2dBZ0FBa2tNQVFaSmJxeTI4L2ZiYjh2ZjNkOXJmcFVzWFNkTFhYMzh0dTkzdWtFOEJBQUNnS0NNbkFnQUFkOGhWQUNFbkFnZ0FBS0E0SVlnQUFBQUFBQURjUWhBQkFBQUFBQUM0aFNBQ0FBQUFBQUJ3QzRrVkFRQUFnR0lvT0RpNG9Lc0FvQmhpSkFJQUFBQlFqTlN1WGJ1Z3E0QWNxbGF0V3RCVkFPNFpSaUlBQUFBQXhVaE1URXhCVitHZXlCNUpzWGZ2M2dLdUNZQ2JNUklCQUFBQUFBQzRoU0FDQUFBQUFBQndDMEVFQUFBQUFBRGdGbklpb05BZ2d6RGdXV2p6QUFBQVJROGpFVkRneUNCYytKQkJHUG1KTmwvNDBPWUJBSUM3VEhhNzNWN1FsUUNLQXpJSUE1NkZOZzhBK1l0K0ZpaWNHSWtBQUFBQUFBRGNRaEFCQUFBQUFBQzRoU0FDQUFBQUFBQndDMEVFQUFBQUFBRGdGb0lJQUFBQUFBREFMUVFSQUFBQUFBQ0FXd2dpQUFBQUFBQUF0eEJFQUFBQUFBQUFiaUdJQUFBQUFBQUEzRUlRQVFBQUFBQUF1SVVnQWdBQUFBQUFjQXRCQkFBQUFBQUE0QmFDQ0FBQUFBQUF3QzBFRVFBQUFBQUFnRnNJSWdBQUFBQUFBTGNRUkFBQUFBQUFBRzRoaUFBQUFBQUFBTnhDRUFFQUFBQUFBTGlGSUFJQUFBQUFBSEFMUVFRQUFBQUFBT0FXZ2dnQUFBQUFBTUF0QkJFQUFBQUFBSUJiQ0NJQUFBQUFBQUMzZUJkMEJZQ2lhdGV1WGRxNWM2ZlQvdW5UcHhzLzE2bFRSNjFhdGJxZjFRSUFBQ2lTZUxZQ2lnYUNDTUFkTXB2TldycDBxZFArbS9kTm1UTGxmbFlKQUFDZ3lPTFpDaWdhbU00QTNLRzZkZXNxSUNBZzErUCsvdjVxM3J6NWZhd1JBQUJBMGNXekZWQTBFRVFBN3BDM3Q3ZmF0R21UNi9GR2pSckpZckhjeHhvQkFBQVVYVHhiQVVVRFFRVGdMb1NHaHVaNnJIWHIxdmV4SmdBQUFFVWZ6MVpBNFVjUUFiZ0w5ZXJWazcrL3Y5UCtFaVZLcUdYTGx2ZS9RZ0FBQUVVWXoxWkE0VWNRQWJnTFBqNCtMak1FTjJ6WVVMNit2Z1ZRSXdBQWdLS0xaeXVnOENPSUFOd2xWemU2V3czRkF3QUFRTzU0dGdJS040SUl3RjBLRGc2V241K2ZzZTNyNjh2NnhRQUFBSGVJWnl1Z2NDT0lBTndsUHo4L2h6bDZ3Y0hCS2xteVpNRlZDQUFBb0FqajJRb28zQWdpQVBmQXpkRnhrdjRBQUFEY0haNnRnTUxMdTZBckFCUUhEUnMybEkrUGoydzJtOExDd2dxNk9nQUFBRVVhejFaQTRVVVFBYmdIL1AzOTFieDVjeVVuSnlzZ0lLQ2dxd01BQUZDazhXd0ZGRjRFRVlCN0pDd3NUQmN2WGl6b2FnQUFBQlFMUEZzQmhSTkJCT0FlT0h2MnJHSmlZblRtekJrMWFkSkVsU3RYTHVncUFRQUFGRms4V3dHRkY0a1ZnYnVVa0pDZ2lJZ0lIVHAwU0pjdlg5YUxMNzZvclZ1M0ZuUzFBQUFBaWlTZXJZRENqU0FDY0ljeU16TTFmLzU4RFIwNlZGZXZYbFZ3Y0xDZWZ2cHBYYnQyVGFOSGo5WUhIM3lnakl5TWdxNG1BQUJBa2NDekZWQTBtT3gydTcyZ0t3RVVOVmV1WE5IZi92WTNiZCsrWFY1ZVh1cmZ2NzhHREJnZ1NWcTZkS2xtelpxbHpNeE1CUWNINjczMzNsUFpzbVVMdU1ZQTdyWGc0R0JKMHQ2OWV3dTRKZ0JROVBGc0JSUWRCQkdBUERwNjlLaEdqUnFsTTJmT3FIVHAwb3FPamxiVHBrMGR5bnovL2ZjYU8zYXNmdi85ZDVVclYwNlRKMDlXblRwMUNxakdBUElEUVFRQXVEZDR0Z0tLRnFZekFIbnd4UmRmcUZldlhqcHo1b3hxMUtpaFpjdVdPZDNrSktsKy9mcGF2bnk1NnRhdHF3c1hMdWpsbDEvV3lwVXJDNkRHQUFBQWhSZlBWa0RSdzBnRXdBMXBhV21hT25XcTFxNWRLMG5xMUttVHhvNGRLNHZGY3N2ek1qSXlOR1BHREsxWXNVS1M5RC8vOHo4YVAzNjgvUHo4OHIzT0FQSVhJeEVBNE03eGJBVVVYUVFSZ05zNGUvYXNSbzhlcmNPSEQ2dEVpUklhUFhxME9uZnVuS2RyeE1YRktUbzZXcW1wcWFwU3BZcW1UWnZHVWtWQUVVY1FBUUR1RE05V1FOSEdkQWJnRnJLWEdEcDgrTEFxVktpZytmUG41L2ttSjBsdDJyVFJraVZMOU9pamorcjQ4ZU1zVlFRQUFEd1N6MVpBMFVjUUFYQWg1eEpEVHovOXRKWXZYNjQvLy9uUGQzek5SeDk5VkV1V0xGR3JWcTA4ZXFtaWl4Y3Y2dGl4WXdWZERRQUFjQi94YklXN2taS1NVdEJWd0UwSUloUURKMCtlMUZkZmZlVzBmL3YvWisvT3c2SXEvLy94UDJjR0J3RVhGcGQzYW9tNWtKS1lqbEFraUlwUUxCbHVtUnRhTHFtVitoYXdVRW9GZDFKUTlPdnkxbFFFRkRWVXhNaGRVOEkwVFN6WFQ2V1dpaHVDSWdNQ00vUDdneDhuRGpNb3lETE04SHhjVjljMTV6NzNPWE1mT3A2NTV6WDNmYitPSDljcSsvUFBQNUdWbFZVVHpUSllqeDQ5UWtCQUFGYXRXZ1dKUklMeDQ4ZGorZkxsYU5pd1lhWFBiVzV1amtXTEZtSHExS21RU3FYWXRHa1RKazJhaEl5TWpDcG9lZTEzNWNvVmpCNDlHdmZ2MzYvVWVmTHk4dkR3NFVQY3VuV3JpbHBHUkZTM1hMdDJEWjk4OGdsKy92bm5aOWE3YytjT05tL2UvTUx2azVlWGgvUG56Ny93OFdRYzJMZWk4bkp4Y2RGWjNydDM3M0lkZis3Y09adzllN1pDNzhublZNV1o2THNCVkhsU3FSUXJWcXhBbzBhTjhQYmJid01BRGg0OGlPUEhqOFBWMVZWVTk4aVJJMGhKU2NHYU5XdXdidDA2SEQxNlZPdDhOMjdjZ0VRaXdjbVRKMnVpK2JWS2VWSU1WWlpFSXNISWtTTmhiMitQNE9CZ25EbHpCc09IRHpmNlZFWDc5dTFEV0ZnWTFHbzFacytlcmJXL1g3OSttRGh4SWdCZ3pabzEyTDkvUDRDaXY1ZFVLc1hEaHc5aFpXVUZpVVFDVTFOVG1KbVpvWEhqeGdnUEQ2L0p5eUFpTW5pWm1abVlObTBhN08zdE1YdjJiS3hkdXhZdnYveXl6cnBObXpiRkR6LzhnQ0ZEaGtBdWx3dmxDb1ZDV01oT3BWSmg0TUNCQ0F3TTFEcisvdjM3bURwMUtuYnUzSW5HalJ1WDJTYUZRb0ZtelpxVnVmL2V2WHRjZjhSQXNXOUY1WEgwNkZHMGFOR2kwdWY1NjYrL3NITGxTdXpjdVJPTkdqVXExekY4VGxVY0YxWTBZTysvLzc1bysvYnQyOEkvdnBLdkFjREh4d2ZqeDQ4SEFNeVlNUVAyOXZZWVBudzRBQ0FtSmdaMzc5NUY4K2JOY2U3Y09ienh4aHZ3OWZXRnBhVmxEVjFKN2JCbnp4N01uVHNYaFlXRnNMT3p3NUlsUy9EU1N5OVY2M3RtWkdRZ0tDZ0lhV2xwTURFeHdiUnAwekJreUpCcWZjK2FscFdWaFNWTGx1RHk1Y3RZdW5TcHFLT2FtNXVMeU1oSVhMdDJEWFBuemhVZXpHcTFHa0JSZ0t5WWg0Y0hEaHc0VUxPTkozb0dMcXhJaHVqdTNidVlOR2tTM243N2JRUUVCQ0FwS1FsUlVWRll0R2dSM25qakRhSGV6Smt6Y2VuU0paM25TRWhJZ0l1TEMwNmNPQUVBV0xod0lWNS8vWFhrNWVWaHpabzFRajJOUmdPSlJQTE05aFEvMXhVS0JVNmRPZ1daVEtaVlI2VlN3Y25KaWYvV0RCRDdWbFJlczJiTmdxZW5KNzc0NGd1Y09IRUNCUVVGR0RSb2tMRC81czJiYU5XcWxiQzllL2R1VVREemVYSnpjM0htekJuczJMR0R6Nmtxd0NDQ0FidDM3eDRpSWlJUUhCeU1SbzBhd2MzTkRjZU9IUU1BdUxtNTRjaVJJd2dKQ2NHWU1XUFF0bTFiNFRpVlNpWGMvQjk4OEFHQW9tRm1EeDQ4UU11V0xWRy9mbjBBd0xadDIycjRpdlRqUlZNTVZSVmpUbFdrVkNveGFOQWd1THE2WXNxVUtRZ0tDa0pRVUJCc2JXMXg1TWdSckZpeEFsNWVYdmo0NDQrRmdNR1JJMGV3ZHUxYXJYUDkrZWVmb3Z1NHBPSy9IVkZOWWhDQkRFMUtTZ3BtelpxRi9tRlFUV1FBQUNBQVNVUkJWUDM3NDlOUFB4WEtVMU5URVJJU2duNzkrbUg4K1BIQzU4L3ExYXZSdVhObjlPalJBNGNPSFVKYVdocW1UWnNHQUVJUTRkNjlleGd6Wmd3U0VoSkVuNXRwYVdsWXNtUUpvcUtpMExoeFkyUmtaR0RLbENtWU9YT216am53N0p3YkYvYXRxS0pHalJxRkJ3OGU0TzdkdTJqWnNpVWNIUjBSRWhJaTdIZDBkTVRwMDZkRnh5Z1Vpbkk5RjhwNmh2QTU5ZUk0bmNHQU5XdldESFoyZHRpK2ZUdkdqQm1qdFQ4MU5SV3Z2UEtLMWhldmtqZCtkblkya3BPVEFSVDkwcHVZbUNpOHJndXFJc1ZRWlptWW1DQXdNQkFPRGc0SUN3dkREei84Z0N0WHJoaEZxaUp6YzNOczJiSkZHQm8yYk5nd1RKbzBDVTJhTkVIejVzMnhmUGx5dEd6WlVuUk03OTY5MGJ0M2Izejg4Y2RRcVZSQ3VVUWlFUTJsQlFCcmEydEVSRVJVLzRVUUVSbXdlL2Z1WWRteVpVaEpTY0ZYWDMwRmQzZDMwWDVuWjJmRXhjVWhORFFVL2ZyMXc1QWhRekJtekJoNGUzdGovdno1ZVB2dHQ3RjU4Mlo4L2ZYWFd1ZGVzMllOQmc4ZUxIdzVIRHg0TUhKemN3RUFPVGs1d3FqSDdPeHNxTlZxQkFVRkFRRGtjamtTRWhKRTUvTDE5YTN5YTZlYXg3NFZWVlIrZmo3dTNidUg1T1JrdUxpNFlQZnUzZVU2TGpnNHVGejFwRklwcGsrZkxtenpPVlY1RENJWXFJTUhEeUlxS2tyWVRreE1oRktwRktZNEtKVktMRjY4R0FDRUlFRy9mdjBRSFIyTi9QeDhwS2FtMW55amE1blUxRlFFQndjak96c2JMVnEwd09MRml5dTFRbkJsZVhwNm9rT0hEZ2dJQ0JCU0ZjMlpNNmZjQzhuVVZvMGJOOGExYTlkdzRNQUJKQ2NudzhIQkFVNU9Ub2lQajhjZmYveWhGVVFvZHUvZVBTUWxKUW5iSGg0ZTJMUnBrNmlPbDVkWHRiYWRpTWdZM0x4NUU0V0ZoUmcvZmp4Q1EwTVJHaHBhWnQyNWMrZml6ei8vRkw3MHFWUXE5T3ZYRHc4ZVBNQi8vL3RmQUJEV3RWR3IxYmh5NVlwbyttTjZlcm93elNFK1BoNE5HalNBajQ4UDFxOWZEeXNySy9qNStVRXFsZXBjUEMwcEtlbVp2L0JSN2NlK0ZiMkkwNmRQYTkwbnBhZHR0MmpSUWxUMi8vN2YvME5rWkNRaUl5TzF6cGVibTZ0ejFJbVBqdzhhTkdqQTUxUVY0SFNHT3NqWjJWa0lJamc1T2NIVzFoWUFjUDM2ZGRIclU2ZE82YW1GMVV1bFVtSERoZzFZdlhvMU5Cb04zbjc3YmN5ZlA3OUtWZ2l1Q2txbEVyTm56OGFoUTRjZ2tVamc3KytQU1pNbXdjVEU4R0orUC8vOE14WXNXQUM1WEE0UER3LzQrUGpnMkxGalFnQ3M5T0kxa1pHUnNMT3pBd0QwNk5FRDl2YjJ3cjYwdERSMDZkSkZWUCtmZi80UmdtUkVOWTNUR2NqUUtSUUtIRDkrSE9ibTVoVSt0bmc2ZzFLcHhOaXhZekZpeEFoNGUzdkR4Y1VGZS9ic3djS0ZDNUdkblkzNTgrZkQwdElTOSsvZng3eDU4L0Rnd1FPRWhJUmc3Tml4UWljZUtQb2xzdlJvczVLZXQ1LzBpMzBycW95blQ1L2l4bzBiNk5DaEExeGNYREJ6NWt5MGI5OGU3ZHExRTlXYk4yOGVaczZjS1NwVEtwVjQ5T2lSc05hR1VxbUVxNnZyTXorYitaeXFQUDdMTVhCZVhsN1B2Rm1mUEhtQ1E0Y09sYm5meHNaR1dQdkF3OE5EOU5vWVBYcjBDTE5temNMeDQ4Y2hsVW94YnR3NGpCOC8vcmtMcXRTazRsUkZNVEV4aUlxS3dxWk5tL0Q3Nzc5andZSUZzTEd4MFhmekt1U05OOTVBWkdRa2JHMXRrWmFXaGhrelpzRFMwaEpKU1Vtd3RyWUdVUFRBblRWckZwNDhlWUkyYmRvSXgxcFpXWW5XUnZEdzhOQmFLNEVqRVlpSXFrL3BYd0lCYUEwek5qYzNSMUJRRU1MRHcrSHQ3UTJnYUMyRnRtM2I0dFNwVThLaXpzVUdEUnFFNjlldmk4cEtyM2llbFpXRjFOUlVPRHM3aTBZNTFLV1Z6dzBKKzFaVVdabVptWWlMaThNdnYveUN2THc4MUt0WEQxT21UTkVLOHR5OGVWUDRrYlA0V1hUaXhBbEVSa2JpKysrL3I5Qjc4amxWT1F3aUdMamlHN2dzenM3T3p6dytJeU5EdExoaXlkZkdwaVpTREZVVlkwbFZaR3BxaW9jUEgyTEpraVc0ZnYwNkprK2VESE56YzZTbnA4UGEyaHAvLy8wM1FrSkMwS1pOR3l4WnNrUVVFTXZNek1Tb1VhT0U3Y2VQSDR1MmlZaW9ZdnIwNmFOVlZucCs3L3o1OC9IV1cyOEJLT3BqRkMvWURCUXQycXlMblowZC92bm5IMkc3ZUo3eTl1M2JSVmwxUER3OGhIN0czTGx6aFhLNVhDNGFWVmF5NzFKV09kVU83RnRSVlZDcFZHalNwQWsyYk5pQS92MzdvMi9mdnVqYnR5OXUzYnFGVzdkdUNkTUVIQjBkdFFLWkZ5NWNRTGR1M2JUT1dmcDVOWFhxVlBUdjMxL1k1bk9xY2hoRU1BTEZON291QlFVRnp6eTI5RWlFbUpnWWFEUWErUGo0VkdrYjlVMGZLWWFxUXJkdTNSQVhGeWVrS2hvM2JwekJwU3JLek15RW01dWJFQ1E0Zi80OGdvS0M0T0hoZ2UrLy94NmZmdnFwemdXWGpodzVJZ29xNkZvVElUOC92OXJiVDBSa0xBNGZQaXphVmlnVVNFcEtlcUhwREFCdy92eDV5T1Z5L1BMTEwzamxsVmVxb29sa1FOaTNvcXJTc21WTGZQYlpaMXJsZCs3Y1FYQndNR0ppWW5UZVc0V0ZoVGh3NEFCc2JHeWdWQ3BGejdLU0FWQ3FlZ3dpR0lGbnBXSXNHUTFUS3BWWXRtd1pWQ29Wa3BLUzBMZHZYelJwMGtUWTM3ZHZYNFNIaCtQbzBhTmFLemNiS24ybkdLb0tOalkyV0x0MnJaQ3FhUEhpeFRoLy9yekJwQ29xdnBjS0NncHc4dVJKSkNjblE2bFVJaTh2RC9IeDhjSzBocEtpbzZPeGYvOStVZG1qUjQ4d1lzUUlyYm94TVRIVjAzQWlJbnFtWThlTzRmang0N0N4c2RHYXAxeXM1QThkVmxaV1paNkxRV0hEd2I0VjFSU0ZRb0gzM25zUGNYRnhDQWdJME5vZkd4dUxqaDA3NHRWWFg4V0hIMzZJMGFOSGx6bXFwS0NnQURLWlRFZ3BYaEtmVXhYSElJSVIwRFZuc1ZqSmtRaUppWWw0OHVRSmR1ellnWFhyMW1IVnFsVW9MQ3pFTysrOEE2bFVDcGxNQnBWS0JiVmFqZSsvL3g3cDZlbFl2bng1VFZ4Q3RhZ05LWWFxaXFHbUtzckp5Y0hhdFd0eCtmSmxYTGh3QWJhMnR2RDA5TVNVS1ZOMEJnOEFZTmV1WFdVdWxsZ3k1V094b1VPSENubWdpWWhJTjEycmpBTkZxOWVYTm1MRUNFeVlNQUU1T1RtaTZRNDVPVG1pZXA5Ly9qaysvL3p6TXQ5endZSUY2TjY5dTdDZG1wcUtCdzhlSUNjblIvU0ZzNkNnQUI5KytLSE9jNVRzM0Q5dmRDVlZQL2F0cUtaTm1qUUplWGw1eU1qSUVLMlI4UGZmZitPNzc3N0RoZzBiWUdOamd5NWR1bURidG0xWXRXb1Y1SEk1SEIwZEFSUk5ZeW51UDI3WnNnVWRPblFRblovUHFSZWtJWU0yZmZyMGN1L1B6OC9YcU5WcW5mWHk4L00xU3FWU28xUXFOYm01dVpxOHZEeE5ZV0ZobGJhMUp2MzAwMDhhTnpjM1RiZHUzVFMrdnI2YXc0Y1BhNUtUazdYcS9mampqMXBsZi96eGh5WXpNL09GM3ZmczJiT2lZL2ZzMmFOUnFWU2FuSnljY2gwZkZoYjIzRHJYcmwzVERCZ3dRTk90V3plTnE2dXI1dkRod3kvVTFwcVNrSkNnT1hMa2lPYmh3NGY2YmdwUmxlcldyWnVtVzdkdSttNEdVYlU1ZXZTb2FQdjQ4ZVBDNnoxNzl1Zzhwa2VQSG1XZWIrN2N1WnJ1M2J0cmV2VG9vVm16Wm8xUTNyOS9mMUc5NHUyeXlray9TdmV0TGw2OHFPOG1WUmxENjFzWnMyM2J0bW1WUlVSRWFMcDE2NmI1K3V1dmhiS25UNTlxYnQyNjljeHpxVlFxVFdGaG9VYWxVbWxVS3BWUXp1ZFU1VEhGSXhtVnNsSU1aV1ZsWWVMRWlaZ3hZd2JlZnZ0dEFNREJnd2R4L1BoeHpKa3pSM1NPZGV2V0lTVWxCV3ZXck1HNmRldHc5T2hScmZlNWNlTUdKQklKVHA0OEtaVGw1K2VqYjkrKytPYWJiNFFGWUxwMzc0NTkrL2JCMzk4Zmd3WU53cWhSbzRSaFZMcldzcmh4NDRiTzZMZE1KaFA5MnE1VUt1SG41NGVNakF5bUtpTFNFNlo0Sk5KMjU4NGQvT2MvLzlGM002Z0sxZmIwalZXRmFTRHJEajZuS285QkJESWFwVk1NalIwN1ZpdmR5KzNidDlHaVJRdXQxd0RnNCtNanBIaVpNV01HN08zdE1YejRjQUJGOCs3djNyMkw1czJiNDl5NWMzampqVGZnNitzclN1bVNsSlNFMk5oWTRjdStScU5COSs3ZGNmcjBhV1JrWkdER2pCbm8xcTBiSms2Y1dPWTErUHI2SWlrcDZiblgrdmZmZjJQWXNHRVlQWG8wMXE1ZEM1VktCWVZDd1ZSRlJEV0lRUVFpTW5hNitsYTFMWDFqVmRKb05FSWFTUGF0aU1yR0lBSVpoYkpTRE4yN2R3OFJFUkVJRGc1R28wYU40T2JtSnF6VzZ1Ym1oaU5IamlBa0pBUmp4b3hCMjdadGhmT3BWQ3JJWkRJQUVLVzlmUERnQVZxMmJJbjY5ZXNEK0hkUlM3VmFqUTgvL0JDZmZ2cXBrRkltUHo4ZkxpNHVRajVibFVvRmxVb2x5ampRbzBjUHRHdlhUblFkZG5aMm9tdjc2NisvY1B6NGNWRlplSGc0OHZQek1YUG1USnc5ZXhiQndjRjQ4T0FCbWpadHlsUkZSRFdFUVFRaU1tYUdsTDZ4cXJGdlJmUnMyc3RURWhtWVBYdjJ3Ti9mSDdkdjM0YWRuUjFpWTJPRkQ3bG16WnJCenM0TzI3ZHYxM2xzYW1vcVhubmxGVkVBQVlBUVFBQ0E3T3hzYk51MkRmdjI3WU8xdFRVU0V4T3hiZHMyWkdabUNuVVNFeE54NjlZdHVMbTVvVStmUHVqVHB3L2VlZWNkcU5WcUtCUUs5T25UQng0ZUhuajMzWGZoNysrdjlWN0YvMGtrRXRGMnlYWVVVeXFWMkxObmo3QzRTM0dxb2k1ZHV1RCsvZnNZTjI0YzR1UGpYK3lQU1VSRVJIWGVzL3BXZFFIN1ZrVFB4a2srWkxDZWwyTG80TUdEaUlxS0V1b25KaVpDcVZRSzJTeVVTaVVXTDE0TUFFSTJnSDc5K2lFNk9ocjUrZmxJVFUwdFZ6c3lNakt3Y3VWS1lXaGZjUjd1Zi83NUJ4TW5Ua1I2ZWpwKytPRUgwUWlFWWxaV1Z2ajIyMitGYlY5Zlg5RTJBSGg1ZVltMkV4TVQwYWxUSjFIZ2c2bUtpSWlJcUxLTUlYMWpWV0hmaXFoc25NNUFCcW02VXd3NU96c0xRUVFuSnlmWTJ0b0NBSzVmdnk1NmZlclVLU3hkdWhSbVptYUlqWTNGaVJNbmhITWNQMzRjbXpkdnhwa3paNUNhbXFvemlQQzg2UXdhalFZRkJRV2lkUllHRGh5SXlaTW5vMWV2WGpyYnZuLy9mb1NGaFVHcFZLSk5telpNVlVSVVRUaWRnWWlNaVRHbGI2eHE3RnNSaVhFa0FobWMxTlJVQkFjSEl6czdHeTFhdE1EaXhZdlJzV1BITXV0N2VYbnAvQUpmN01tVEp6aDA2RkNaKzIxc2JJUzFEenc4UEVTdkFXRElrQ0Y0NmFXWEVCc2JxOVhPcmwyN1B2TUx4dXJWcTlHNWMyY0FSZXNxOU92WEQrdlhyeGZXVC9qeXl5L2g0T0FBalVZRGlVU0MxTlJVRkJRVW9HZlBubVdlMDlQVEV4MDZkRUJBUUFDdVhidUdrU05IWXM2Y09lamR1M2VaeHhBUkVWSGRWZEcrVlhsa1pXV0pGcUEyWk94YkVZbHhKQUlaakJkTk1WUnlWRUY1OTFka0pFSXhGeGNYWVNSQ2RuWTJmSDE5c1dIREJnd2VQRmdZaVpDWGw0Y0RCdzdBeDhjSFBqNCtLQ3dzaEZ3dVIwNU9EcXlzcktCV3EyRnBhWWw2OWVyQnhNUUVKaVlteU1yS2dxMnRMVUpEUXpGMTZsUTRPanBpNU1pUnovMTdNVlVSVWZYaVNBUWlNblNWVGQrNGNlTkdkT3JVU1VodG5acWFpcVpObTZKZHUzWlFLQlJsUGgvMzc5OFBUMC9QRjI1M1hsNGVybDY5V3VPTEhiSnZSVlNFZHp3WmhOSXBoc2FORzFlaEZFUEZHUlowS1Nnb2VPYXhwVWNpeE1URVFLUFJ3TWZIcDh4aklpTWo0ZWpvaUZkZmZWVlUvdURCQTRTR2hzTEh4d2V6Wjg5R1ltSWk1czJiQjJkblorellzUU5mZnZrbDNubm5IZlR0MnhkeGNYRndjM1BEb2tXTDhORkhIK0hXclZ2NDlkZGZNVy9ldkhKZHM3bTVPUll0V2lTa0t0cTBhUk4rLy8xM3Bpb2lJaUtpU3ZldEFLQmR1M1lJRGc1R1hGd2NtamR2anJpNE9FeVlNT0c1eDRXR2hzTFQweE8vL2ZZYlB2bmtFNWlibXd1WnI0Q2l2bGxHUmdaKytlVVhuY2ZmdjM4ZlU2ZE94YzZkTzlHNGNlTXkzMGVoVUtCWnMyWmw3cjkzNzE2RkFzSHNXeEVWWVJDQmFyMnFTREZVSEFUUXhkblpXWGl0VkNxeGJOa3lxRlFxSkNVbG9XL2Z2bWpTcEltd3YyL2Z2Z2dQRDhmUm8wZmg3dTZ1ODN6eDhmRTRjdVFJdG03ZENnQ1FTQ1RJek14RTgrYk5jZTdjT2J6eXlpdVFTcVZZdDI0ZFJvOGVMZFRKejg5SFVGQVFzckt5VUZCUWdBMGJOc0RKeVFtdXJxNllPM2N1T25ic0NDOHZyM0wvT2xCODNwRWpSOExlM2g3QndjRTRjK1lNaGc4ZnpsUkZSRVJFZFZoVnBXOTBjWEdCczdNelltTmpNV1hLRktTbHBXSDY5T2xDSU1MWDExZW9PM255WkszUkI1MDdkOGIwNmROeDdOZ3hMRjI2VkRndUxDeE1tSXE2WThjT3JGbXpSamltZUlxblRDYkRvRUdEZExicndJRUR3dXVrcENTZDJhNVVLcFV3Z3FJaTJMY2k0blFHcXVYMjdObUR1WFBub3JDd0VIWjJkbGl5WkFsZWV1bWxDcDNEMmRuNW1WSG9XN2R1Q1pIdXJWdTNDbEh4ZGV2VzRjeVpNeWdzTEFRQVNLVlN5R1F5cUZRcTVPZm5JejgvSDEyN2RzWHk1Y3NCRkgyUXpwOC9Iek5tekVCVVZCUzZkdTBLQUpnNWM2WXc3RTB1bHlNb0tBZzllL2JFK3ZYcjhkLy8vaGNBc0dEQkFodzhlRkQ0d0h6NjlDa2NIQndRRVJFQmlVU0NIVHQySUNvcUN0OSsrNjFXT3NyeXlzaklRRkJRRU5MUzBtQmlZb0pwMDZaaHlKQWhMM1F1SXVKMEJpSXlURlhSdHlwSnFWU2lmdjM2U0VsSndjbVRKeEVVRkFRQU9xY3pGR2VjdW4vL1BwbzJiWXBGaXhiQndjRUJJU0Voa01sa0NBZ0l3UExseTVHZW5vNklpQWl0TmEzUzB0S3daTWtTUkVWRm9YSGp4c2pJeU1DVUtWTXdjK1pNbldzNEtCUUtuRHAxNnBsQmhNbzh3OW0zb3JxS1FRU3FsYW95eGRBWFgzeUJSWXNXbFd0L1FVRUJURXhNZEE3bEt5Z29FQUlLRW9rRUVva0VKaVltd2dkVFFrSUMvUHo4Y09QR0RiUnAwNmJDN2F3SmhZV0ZRcW9pQUhqMzNYZVpxb2pvQlRHSVFFU0dwTHJUTjg2ZlB4OCtQajdvMHFVTEFOMUJoR0lsMTVFQ2loWmhIRGR1SEc3Y3VJR1hYMzRaYTlhc0VZMEVIVHg0TUhKemN3RUFPVGs1c0xDd0FGQzBCcFZhclJhbU5NamxjaVFrSkFqSFZmVjBCbDNZdDZLNmlFR0VXbURDaEFrNGZmcTB2cHRScTNUdDJoVy8vdm9yVEUxTk1YMzZkS1lZcW1MNzkrL0huRGx6a0plWGg5ZGVldzJYTDEvV2Q1UDB3dDdlSHRIUjBmcHVCaGtvQmhHSS9zVytUTzFYMVgycjlldlhJem82R3ZuNStkaTFheGMrL3ZoajBZOHc2ZW5wV2lNY2twS1NBUHdiUkVoSlNVRjhmRHl1WHIyS1hyMTZvWGZ2M2poOCtEQU9IejZNSmsyYXdOL2ZIMTVlWHFLZ1EzeDhQQm8wYUFBZkh4K3NYNzhlVmxaVzhQUHpnMVFxMVFwT1ZQZEloSkxZdHpJTTdQdFZEYTZKVUF2d1ExZGJjYlJaS3BXaVVhTkdlbTZOOFduWXNLSHdnZnIwNlZNOXQwWi9MbHk0b084bUVCRVpCZlpsYXIrcTdsdU5HVE1HWThhTWdiT3pNNW8zYjQ2OWUvY0NBTnpkM2JGbnp4NlltNXZEMGRGUmRHODhmdndZTjI3Y1FHRmhJUllzV0lDdVhidmlvNDgrZ29PREEyUXltUkFFK09LTEwvREhIMytnUllzV3dyR1ptWmxZdUhBaHNyT3pNWC8rZkFCQXYzNzlNRy9lUENRa0pDQWtKRVNyamFtcHFUb0RDQUFnazhtZW1iMnJvdGkzTWd6cysxVU5CaEZxRWY2YTlhL2MzRnpNbWpVTGh3NGRRbEJRRVB6OS9mSHBwNTlXYVFxZGpJd01QSHIwU0N1RGdqRlRxVlQ0OXR0dnNYcjFhZ0NvY0NvblkxTDhLeklSRVZVZDltVnFyNXJvVzZsVUtqeDkrbFNVYVFFQTFHbzFUcDQ4aVRsejVzREJ3UUVTaVFURGhnM0RwVXVYTUgzNmRLRmVYbDRlUER3OGhPMlNDeVN1WHIwYWJkdTJ4YWxUcHpCKy9IalIrUWNOR29UcjE2K0x5a3BQWmNqS3lrSnFhaXFjbloxaGFXa3BsRmQyU2dQN1ZvYURmYitxd3lBQzFVcG1abVpZdkhneE5tL2VqQlVyVmlBNk9ocS8vLzQ3Rmk1Y1dDVXBkSXBYSlE0SkNhbFVFQ0V2THc5S3BSSzV1YmxvMmJLbGFOK3Z2LzZLTm0zYUNCOVVTVWxKOFBiMlJsNWVIc3pOelo5NzdybHo1K3FNcXIrb1I0OGU0ZXV2djhhSkV5Y2drOGt3ZHV4WXJROWhJaUlpTWs3VjNiY0NnRk9uVHNIT3pnNVNxVlJVL3VqUkk0U0ZoV0hmdm4wQWlxWXp0RzdkR3ExYnQ4YTc3NzRyMUhOeGNSRUZEa29LRGc0R0FHemZ2bDFVeDhQRFEwamxQWGZ1WEtGY0xwY2pPVGxaMkM2WmphdXM4b3BpMzRycUtnWVJxRllyVHFFelk4WU1uRDE3RnNPR0RjUGl4WXVGUlh0ZXhMNTkreEFXRmdhMVdvM1pzMmRyN2UvWHJ4OG1UcHdJQUZpelpnMzI3OThQb0dneFJhbFVpb2NQSDhMS3lnb1NpUVNtcHFZd016TkQ0OGFORVI0ZUxwd2pQejhmVTZaTXdUZmZmQ09rRDVvOWV6YWNuWjNoNysrUFFZTUdZZFNvVWNLSGJQR0hYMGszYnR6QStmUG50Y3BsTXBtd2VFOTVYYmx5QlFFQkFVaFBUNGVscFNWQ1EwTmZLSlVURVJFUkdiYnE2RnNCd08zYnQ3Rnc0VUo4L2ZYWFFsbTlldlh3K1BGai9OLy8vUjllZnZsbHJXUDY5T2tqMnM3TnpSV1Z2ZkhHRzFpNmRHbWwybFZkMkxlaXVveEJCS3IxdW5Ycmh0allXQ0dGenJoeDQ0UVVPcnF5S0pRbEt5c0xTNVlzd2VYTGw3Rmx5eGJSaDFsdWJpNGlJeU54N2RvMURCdzRVQ2dmTjI0Y3hvMGJKNHFvZTNoNFlQdjI3Yzk4ci8zNzk2Tmx5NVpDQUVHajBVQ2owY0RLeWdvYk4yN0VqQmt6a0plWEp3UXJ0bTNicG5VT1gxOWZuZVVWb2RGb3NHZlBIc3liTjA5STViUjA2Vkw4NXovL3FkUjVpWWlJeUhCVlJkOHFOemNYTVRFeFVLdlZTRWxKd2U3ZHV6RjkrblRSa1BIUm8wZGo5T2pSa012bG1EeDVzdFk1RGg4K0xOcDJjWEhSS3RPbDVJOHZWbFpXWmRiTHo4OHZ6NlZVQ1B0V1JBd2lrSUd3c2JIQjJyVnJFUmtaaWExYnR5SThQQnpuejU5SFNFaEl1YVlHS0pWS0RCczJESzZ1cnRpMGFST0Nnb0lRRkJRRVcxdGJIRGx5QkN0V3JJQ1hseGUrK09JTElXQnc1TWdSckYyN1Z1dGNqeDQ5d3RDaFEzVyt6NVl0VzZCV3F4RWRIWTFQUC8xVUtDOG9LSUJNSm9OVUtrWFRwazJ4ZXZWcXFGUXEwYkU5ZXZSQXUzYnRoTzBIRHg1ZzFLaFJvanAvL2ZVWGpoOC8vdHpyQmNTcG5DUVNDZno4L1BEbGwxOVdXU29uSWlJaU1seVY3VnZ0M3IwYjE2OWZ4M2ZmZllmLy9lOS9PSC8rUEU2ZlBnMlpUQ1lFSWxRcUZWUXFGUW9MQ3hFYUdvcVltQmdBcUZSZlpNR0NCZWpldmJ1d25acWFpZ2NQSGlBbkowZDAzb0tDQW56NDRZYzZ6MUV5Q0ZGUVVGRHU5MmJmaXFnSWd3aGtNRXhNVEJBWUdBZ0hCd2RoWHQzVnExZnh6VGZmd05iVzlwbkhtcHViWTh1V0xVSWU0V0hEaG1IU3BFbG8wcVFKbWpkdmp1WExsMnV0YWRDN2QyLzA3dDBiSDMvOHNlZ0x2MFFpZ1Z3dUY5VzF0clpHUkVRRUFDQXhNUkczYnQyQ201dWJNQ1JQbzlGQXJWWkRvVkFJYlFDQVZxMWFpZExNbEZ4QldDS1JsTG1pOFBQY3ZuMGIwNmRQeDZWTGwyQm1ab2JBd0VDbXlTUWlJaUtSeXZTdEJnNGNLSXhjbURObkRvQ2lvRUYrZmo3VWFqVTBHZzJrVXFud24wd213OUNoUTNIdjNqMzA3OTlmNXpsTExuaFlscElCQktCb05NUGt5Wk5oYW1vS2YzOS9vZnlWVjE1QlFrS0NzRDFnd0FBQXdFc3Z2U1FhNlZsYy9qenNXeEg5UzZMUmFEVDZia1JkeDF6akZYZjkrblVFQkFUZyt2WHJNRGMzeDV3NWM3VG0xZWx5N2RvMUhEaHdBTW5KeWJDenM0T1RreFBpNCtNeGFkSWt1TG01NlR6RzE5ZFh5R3NNRkUxbktMM29qNWVYRjVLVGs1R1JrWUVQUC93UXVibTVvanpGLy96ekR5Wk9uSWowOUhTa3BxWnFCU0YwdlUvcDdaTHY4eXlwcWFrSURnNUdkblkyV3JSb2dmRHdjTHoyMm12UFBLWXU0cjg3cWl6ZVEwVC80cjhIdy9laWZhdWFjT2ZPSGIxT0YyRGZ5amp3T1ZWMU9CS0JESkt0clMxaVltTEtuYXJvNTU5L3hvSUZDeUNYeStIaDRZR1ZLMWZpMkxGaitPYWJid0FBQ3hjdXhNS0ZDNFg2a1pHUnNMT3pBMUNVbDdqa1NydVBIejh1YytYZFRaczJZY0NBQVlpTmpSV1ZYNzkrSFMxYXRFQjZlbnFaMTVTWm1TbWF2bEI2T29OR28zbG1oSjRwaG9pSWlPaEZWYlJ2VlpQMEZVQmczNHBJTndZUnlHQlZKRlhSRzIrOGdjaklTTmphMmlJdExRMHpac3lBcGFVbGtwS1NZRzF0RGFCbzhaMVpzMmJoeVpNbmFOT21qWENzbFpXVmFHMEVEdzhQcmJVU3ZMeThBQUJEaGd6QlN5KzlwQlZFU0UxTlJkZXVYWjhaK1Z5OWVqVTZkKzRNb0NpZmNyOSsvYkIrL1hwaFB1R1hYMzRKQndjSGFEUWFyVVdQbUdLSWlJaUlLcXNtMGtBYUN2YXRpTXJHSUFJWnZQS2tLakkxTmNYRGh3K3haTWtTWEw5K0haTW5UNGE1dVRuUzA5TmhiVzJOdi8vK0d5RWhJV2pUcGcyV0xGa2ltbTVRZW9UQTQ4ZVB0Ulk4TEZaNlhRVUF5TTdPeHQ2OWU3Rmh3d2FzVzdkT0tNL0x5OE9CQXdmZzQrTURIeDhmRkJZV1FpNlhJeWNuQjFaV1ZwREpaQmd6Wmd6cTFhc0hFeE1UbUppWTRPalJvN2grL1RwQ1EwT0ZCU0NaWW9pSWlJaXFVbldsZ1RRVTdGc1JQWnYwK1ZXSWFyL2lWRVZkdW5UQmd3Y1BNRzdjT0d6ZHVoVWxsL3pJek15RW01c2J2dnZ1TzNoNGVLQmh3NFlJQ2dwQ1JFUUV4b3daZ3dFREJtRE9uRGxhNnhVY09YSUVtelp0RXY1cjFLaVJhSHZUcGszWXZYdDNtVzJMakl5RW82TWpYbjMxVlZINWd3Y1BFQm9hQ2dDWVBYczJuSnljc0hmdlhqeDkraFE3ZHV4QWh3NGRNSExrU0t4YnR3NDllL1pFY0hBd3JLMnQ4ZEZISDBFcWxVS2owU0F4TVJIKy92NUlUMCtIblowZFltTmorU0ZIUkVSRWxWYWV2cFd4WWQrS3FIdzRFb0dNeHZOU0ZibTd1d01vU3VWejh1UkpKQ2NuUTZsVUlpOHZEL0h4OGNLMGhwS2lvNk94Zi85K1VkbWpSNDh3WXNRSXJickZhWXRLaW8rUHg1RWpSN0IxNjFZQVJSa1hNak16MGJ4NWM1dzdkdzZ2dlBJS3BGSXAxcTFiaDlHalJ3dDE4dlB6RVJRVWhLeXNMQlFVRkdERGhnMXdjbktDcTZzcjVzNmRpK1hMbDJQWnNtVk1NVVJFUkVUVnBySnBJQTBKMHpjU2xSK0RDR1JVeWtwVkZCb2FpbjM3OXVIeTVjdTRjT0VDYkcxdDRlbnBpU2xUcHVnTUhnREFybDI3eXN5RVVETGxZN0doUTRkaXk1WXR3dmFQUC82SXFLZ29SRVZGb1ZtelpnQ0FkOTU1QisrLy83NlFKaklvS0FpUEh6OUdwMDZkaENqM2UrKzlCMTlmWDJGRXhOT25UK0hnNElDMmJkdWlYYnQyeU0zTnhZUUpFM0Q1OG1XbUdDSWlJcUpxVlprMGtJYUM2UnVKS29ZcEhtc0JwaHVwSHFWVEZYbDdlOFBaMlJsZHVuU0JsWlZWdGI1M1FrSUMvUHo4Y09QR0RkRWlqWlhGRkVOVmgvL3VxTEo0RHhIOWkvOGU2b2JhbkFieVJiRnZWWGZ3T1ZWMXVDWUNHYTNpVkVYdTd1NVFLcFhZc1dNSDB0TFNhaVF0ejRBQkF5Q1ZTcXNzZ0tCU3FmQy8vLzBQbjMzMkdiS3pzL0gyMjI4akxpNk9IM0pFUkVSVVkwcjNyWUtDZ3JCczJUSVVGaGJxdTJrVnhyNFYwWXRqRUlHTVduR3FvcWxUcDhMRXhBVFIwZEdZT0hFaU1qSXk5TjIwY252MDZCR21UWnVHMWF0WFF5YVQ0Wk5QUGtGVVZCUnpGQk1SRVZHTlk5K0tpQmhFb0RwaDVNaVJXTFZxRlpvMmJTcWtLa3BMUzlOM3M1N3J5cFVyR0Q1OE9FNmNPQUZMUzB0RVJFUXdSekVSRVJIcEhmdFdSSFVYZ3doVVp4aFNxaUttR0NJaUlxTGFqbjByb3JxSlFRU3FVNHBURlEwZE9oUnF0UnJoNGVHWU9YTW1sRXFsdnBzbXlNdkx3N3g1OHpCbnpoeW9WQ3I0K2ZsaDA2Wk4rTTkvL3FQdnBoRVJFUkdKc0c5RlZQY3dpRUIxVG5HcW92bno1OFBjM0J6Nzl1MkR2NzgvcmwrL3J1K200ZmJ0MnhnN2RpeDI3dHdKTXpNemhJU0U0S3V2dm1LT1lpSWlJcXExMkxjaXFsc1lSS0E2eTlQVEU1czNiNGF0clMydVhidUdrU05INHZEaHczcHJUMnBxS29ZTkc0WkxseTZoUllzV1dMZHVIWE1VRXhFUmtjRmczNHFvYm1BUWdlcTAycENxaUNtR2lJaUl5Rml3YjBWay9CaEVvRHBQMWNNSVpRQUFJQUJKUkVGVW42bUttR0tJaUlpSWpBMzdWa1RHalVFRW92OWZUYWNxWW9vaElpSWlNbWJzV3hFWkp3WVJpRXFvaVZSRlRERkVSRVJFZFFYN1ZrVEdoMEVFb2xLcU0xVVJVd3dSRVJGUlhjTytGWkZ4WVJDQlNJZnFTRlhFRkVORVJFUlVWN0Z2UldROEdFUWdlb2FxU2xYRUZFTkVSRVJFN0ZzUkdRTUdFWWllb3pLcGlwaGlpSWlJaUVpTWZTc2l3OFlnQWxFNXZFaXFJcVlZSWlJaUl0S05mU3NpdzhVZ0FsRUZsRGRWRVZNTUVSRVJFVDBmKzFaRWhvZEJCS0lLZWxhcUlxWVlJaUlpSXFvWTlxMklESXVKdmh0QVpJaUtVeFZGUmtaaTY5YXRDQThQeDVreloyQm1ab2E5ZS9kQ0lwSEF6ODhQWDM3NUpWY0lKaUlpSW5vTzlxMklEQWVEQ0VRdnFEaFZrWU9EQThMQ3dvU1ZoYzNNekJBWUdNZ1Znb21JaUlncWdIMHJJc1BBSUFKUkpYbDZlcUpEaHc2WVBuMDY4dlB6c1hEaFFxNFFURVJFUlBTQzJMY2lxdDBZUkNDcUFyYTJ0dGkyYlp1K20wRkVSRVJrRkd4dGJmSG5uMzhDQUFNSVJMVU1GMVlrSWlJaUlpSWlvbkpoRUlHSWlJaUlpSWlJeW9WQkJDSWlJaUlpSWlJcUZ3WVJpSWlJaUlpSWlLaGNHRVFnSWlJaUlpSWlvbkpoRUlHSWlJaUlpSWlJeW9WQkJDSWlJaUlpSWlJcUZ3WVJpSWlJaUlpSWlLaGNHRVFnSWlJaUlpSWlvbkpoRUlHSWlJaUlpSWlJeW9WQkJDSWlJaUlpSWlJcUZ3WVJpSWlJaUlpSWlLaGNUUFRkZ0xybzFLbFRTRWxKMFNxUGlJZ1FYanM0T01EZDNiMG1tMFZFUkVSRVJFVDBUQXdpNklGTUprTk1USXhXZWNteThQRHdtbXdTRVJFUkVSbWdDeGN1d043ZVh0aldhRFE0ZS9Zc3VuYnRDcWxVOTZEam8wZVBvbVBIam1qZXZEa0F3Tm5aR2FtcHFjTCs3Ny8vSGwyNmRFSExsaTJydC9GRVpKQVlSTkNETGwyNm9GR2pSbmo4K0xITy9SWVdGbkIxZGEzaFZoRVJFUkdSb1JrN2Rxd29BS0RSYUxCdTNUcjA3TmtUUTRjT0xmTzRjZVBHWWVIQ2hlalVxWk5RcGxRcXNYanhZbHk4ZUJFTEZ5NFV5ck95c3VEdTdvNEdEUnFVZWI0blQ1N2cwS0ZEc0xTMHJPUVZFVkZ0eHlDQ0hwaVltTURUMHhNN2R1elF1Zi9OTjk5RXZYcjFhcmhWUkVSRVJHU28rdlRwSTd3dUtDakE1Y3VYOGIvLy9VOG9PM2p3b0RBeW9WZXZYckMwdE1URml4ZEZRWVJmZi8wVkRSczJSRXhNRE9SeXVkWjdIRHQyck16M1Z5Z1VWWEVaUkdRQUdFVFFrejU5K3BRWlJPamJ0MjhOdDRhSWlJaUlETW5nd1lPUmtaR0IvUHg4OU9uVEI0OGVQY0twVTZlZ1ZDb2hsOHRoYW1vcTFGVW9GTkJvTkFDQU1XUEdJRE16VTlnWEZ4ZUhnb0lDREJnd1FDZ3JYcnZMenM0T0N4WXNxS0VySWlKRHdTQ0NublR0MmhVV0ZoYkl5Y2tSbGRldlh4KzlldlhTVDZPSWlJaUl5Q0JzMzc0ZFFORjZCb2NQSDhhNWMrY2drOG13WXNVS0FFQndjTEJRZC8zNjlaREpaTUpyQUZDcjFZaUxpOFBGaXhkeCsvWnRPRHM3UTZGUXdOWFZ0Y3dSc1Y1ZVh0VjVTVVJrSUJoRTBCTzVYQTUzZDNja0ppYUt5cDJjbkVTUll5SWlJaUtpNTNuampUZVFrNU9ESDM3NEFkSFIwVnI3U3ZycHA1K3dldlZxZE83Y0dXRmhZVGh5NUFnR0RCaUFoSVFFTEZ1MkRDNHVMdkR6ODBQNzl1MUZ4eVVuSjVmNS9wek9RRlIzTUlpZ1I3cUNDQ1huc3hFUkVSRVJsZVhXclZzb0xDekVzR0hEY09YS0ZjamxjcGlZbUdEczJMRUFnTHk4UEtoVUtsaFlXR0R4NHNWbzI3WXQvUDM5SVpGSUVCZ1lpQjQ5ZWdBQXhvOGZqN1p0MnlJb0tBaWZmZllaa3BLU0VCZ1lpR2JObW1ITm1qWDZ2RVFpcW9VWVJOQWpoVUlCTXpNejVPYm1BZ0JNVFUzaDd1NnU1MVlSRVJFUlVXMzI5T2xUREJreUJBOGZQb1JFSXNITW1UUFJ2bjE3dlAvKys0aU1qSVNkblIwQVlPYk1tZWpZc1NOR2pCZ2hIRHR2M2p4MDdOaFJXR1F4TXpNVHNiR3grT2lqandBQVptWm1HRHg0TUFZT0hJaExseTZKMGtSeU9nTVJBUXdpNkpXWm1SbDY5ZW9sREExVEtCUXdOemZYYzZ1SWlJaUlxRFl6TlRWRllHQWczbnp6VGZUczJSUDI5dmJZdW5VckdqWnNpRFp0MmdBQWJ0KytqZVBIajJQYXRHbWlZd01EQTBYYlNxVVNUNTQ4UWE5ZXZXQm1aaWJhMTd4NWMyemN1RkhZNW5RR0lnSVlSTkE3ZDNkMzRZSE1CUldKaUlpSXFEeGNYRnhFMjY2dXJyaDY5U3I4L1B3d2JOZ3dIRDU4R0VPSERvV05qWTJvWHVsQXdNU0pFMkZqWTRPclY2OWk5ZXJWc0xhMnJ2YTJFNUZoa3o2L0NsVW5KeWNuWWY2YWg0ZUh2cHREUkVSRVJBYW9aY3VXK1BycnJ6Ri8vbnhFUlVVaExTME5UWm8wZ1ZxdDFsbi82ZE9uQ0FzTGcwUWlRV2hvS1B6OC9EQnk1RWdjUG54WVNBZEpSS1FMUnlMb21ZV0ZCVnhkWGZINDhXTTBhdFJJMzgwaElpSWlJZ1B3OU9sVDVPWGxDYWtiSHp4NGdGMjdkbUhMbGkwWU1XSUVldlhxaFlpSUNHemZ2aDNUcDA5SDkrN2Q4ZlRwVTV3L2Z4NG5UNTdFM3IxNzhmYmJiMlBwMHFXUVNxVVlObXdZT25ic2lJaUlDRVJHUnFKbno1N28xS2tUZXZic0tieW5tNXVidmk2WGlHb1JCaEZxQVE4UEQyUmtaT2k3R1VSRVJFUmtJUHo4L1BEdzRVUDQrZm5oN3QyNytPQ0REK0R1N281MTY5WUo2eUtzWDc4ZWlZbUptRE5uRHVMajR3RUFHelpzZ0wyOVBWYXZYZzFiVzF2Uk9idDI3WXJvNkdoY3Zud1p4NDRkUTFwYUd0NTk5MTBvbFVvb0ZBcXNYYnUyelBhTUh6OGVKaWI4YWtGVUYwZzBCanhlYWNLRUNUaDkrclMrbTBFbDJOdmJhK1VtSnFxTmloZUFPblBtako1YlFvYUs5eERSdi9qdlFmL3k4L01obDh0MTdpc3NMRFRJTC9pOHI2Z3E4WDZxT2dhOUpnSURDTFhQaFFzWDlOMEVJaUlpb2pxbnJBQUNBSU1NSUJCUjdXVVVUeFJHazJvSHB2WWhJaUlpTW13M2I5NUVxMWF0OU4wTUlxckZESG9rQWhFUkVSRVI2ZmJiYjc5VitKaisvZnRybGFuVmFtUmtaQ0F0TFEyN2R1M0NoZzBicXFKNVJHU2dqR0lrQWhFUkVSRVJpWTBlUFJxblRwMkNUQ2FEczdOem1mWG16NStQM3IxN2E1VjdlM3NqTHk4UEJRVUZNRGMzaDZXbEpheXRyZEdrU1JNVUZCU2dYcjE2MWRsOElxcWxHRVFnSWlJaUlqSnlxYW1wb20yRlFvR2pSNCtpWWNPR1pSNXovLzU5L1B6eno1QktPWGlaaVA3RklBSVJFUkVSa1JGeGNYR0JTcVVTWGdQYVFZVFNmSDE5QVJSTlhmRDE5Y1dDQlFzQWdBRUVJdExDSUFJUkVSRVJrUkU1Y2VJRWdLTFJCaWRPbklCTUpudnVNVWxKU1FBQVIwZEg0VFVSa1M0TUloQVJFUkVSR2JITXpFeVltWm1oZnYzNjVhcWZuWjBOTXpNenFOVnF1TG01NmF3emFkSWtEQmt5cENxYlNVUUdna0VFSWlJaUlpSWpjL1BtVFFEQXVISGprSldWaFRWcjFwUVpSRkNwVkxoNDhTTFMwdEtnVnFzeGZQaHdiTnk0RVhLNUhNZU9IUlBxS1JRS1lhRkdJcXE3R0VRZ0lpSWlJaklTMmRuWkdEOStQSlJLSlFBZ01EQVFuVHAxZXVZeGQrN2N3ZEtsUytIbzZBaXBWSXBkdTNZaEt5c0xGaFlXTmRGa0lqSXdYQ21GaUlpSWlNaElOR3pZRUNFaElkaTllemNBd003Tzdybkh0R3paRWhzMmJNQ2tTWk1BRkMybWVQUG1UVFJyMXF4YTIwcEVob2xCQkNJaUlpSWlJMkp2YjEvcGM1dzdkdzd0Mjdldmd0WVFrYkZoRUlHSWlJaUlxQTVRcTlVQWdJY1BId0lBVEV4TVJQdVVTaVdrVWlrMEdnMlNrcEx3MWx0djZhV2RSRlM3Y1UwRUlpSWlJaUlqY3VYS0ZUUnQyaFJTcVJRU2lVUW9IenQyTEs1Y3VRS1ZTb1h1M2J2RHpNeE0yT2Z0N1kySER4K2laOCtlT0hueUpCNCtmSWcrZmZyb28vbEVWTXN4aUVCRVJFUkVaRVJXcmx5Sm4zLytHUjRlSHBCSy94MTR2SFRwVXVUazVLQmV2WHBvMnJTcDZKZzllL1pBS3BWQ0pwT2hvS0FBczJmUGhxbXBxYWlPcDZlbktDaEJSSFVUZ3doRVJFUkVSRVprK2ZMbE9zc3RMUzFoYVdtcGMxKzlldlZFcjExY1hMVHFMRml3b0dvYVNFUUdqV3NpRUJFUkVSRVJFVkc1TUloQVJFUkVSRVJFUk9YQ0lBSVJFUkVSRVJFUmxRdURDRVJFUkVSRVJFUlVMZ3dpRUJFUkVSRVJFVkc1TUloQVJFUkVSRVJFUk9YQ0lBSVJFUkVSRVJFUmxRdURDRVJFUkVSRVJFUlVMZ3dpRUJFUkVSRVJFVkc1bU9pN0FVUkVSRVJrV0U2ZE9vV1VsQlN0OG9pSUNPRzFnNE1EM04zZGE3SlpSRVFDUHFlcUQ0TUlSRVJFUkZRaE1wa01NVEV4V3VVbHk4TER3MnV5U1VSRUlueE9WUjlPWnlBaUlpS2lDdW5TcFFzYU5XcFU1bjRMQ3d1NHVycldZSXVJaU1UNG5LbytEQ0lRRVJFUlVZV1ltSmpBMDlPenpQMXZ2dmttNnRXclY0TXRJaUlTNDNPcSt0UzVJSUphcllaU3FkUjNNOHFVazVPRGQ5OTlGeGtaR2FKeU56ZTNNby81OXR0dnE2VXRkKy9lclpiekVoRVJrZUhyMDZkUG1mdjY5dTFiZ3kwaFl4RWZIdytGUWlIOFY2eGsyWW9WSy9UWVFqSTBmRTVWanpxM0prSlNVaEppWTJNUkZSV0ZaczJhQVNoNk1EVm8wRUNvOCtUSkU1dzVjMGJZOXZiMlJxdFdyUUFBRnk1Y2dMMjlQUURnOTk5L3grdXZ2eTdVdTN2M0xuYnYzaTFzS3hRS1dGdGJsOW1Xckt3c25ENTlXbFNXbXBxS3hvMGJ3OGJHcHR6WDlPMjMzK0xqano4R1VCUnNNRGMzMTZxalZDcHg3Tmd4QUlDenN6TXNMUzIxMnBLYW1vb1JJMFlnSmlZR0twVUszdDdlb3I4REVSRVJVYkd1WGJ2Q3dzSUNPVGs1b3ZMNjlldWpWNjllK21rVUdiUWVQWG84dDQ2WGwxY050SVNNQlo5VDFhUE9CUkhlZSs4OW5EMTdGaE1uVHNTV0xWdWdVcWxnYW1vcWZNRUdJSXA4Rmlzc0xIenU2OUtrVWlrT0hEaFE1bjVIUjBldHN1Ky8veDd2di8vK2M2OEQrSGVrZ0VhandkMjdkMkZtWmdZQVNFNU8xcXBiZWlSRGNuSXlybDY5aWc0ZE9nQW9DaXdBd0pVclY4cjEza1JFUkZTM3llVnl1THU3SXpFeFVWVHU1T1FFVTFOVFBiV0tERm1yVnExZ1oyZFhabiswZGV2V2FOdTJiUTIzaWd3Wm4xUFZvODRGRVNRU0NVSkNRbkRuemgzSTVYSWtKQ1NnVTZkT1duV3lzN1BSc0dGREFJQ05qWTNXbElITGx5L2p0ZGRlRTVXTkhqMWF0SzFXcXpGZ3dJQnl0KzNldlh2NCtlZWZNV2ZPSE5IUW0wZVBIZ0VvbXJkallXRWh0S240eHMvUHowZEFRSUJXTk0zTnpVMFVIQ2x0eElnUk9IWHFWTG5iUjBSRVJGU1Nyczc1czRZUEV6MlBsNWRYbVVFRUZ4ZVhHbTROR1FNK3A2cGVuUW9pTEZteUJIdjM3b1dwcVNtU2s1T3hZOGNPckZ5NVVtdHVsWmVYRi9yMTZ3ZTFXbzFtelpyQjNOd2NvMGFORXRYUkZVUW9UU3FWSWlFaG9jejlwVWNpUkVkSHc4VEVCQTBiTnNUaHc0Y0JBR2ZQbnNYS2xTdnh4eDkvb0hYcjF0aTRjU09rVXZGU0ZxNnVya0txa3MyYk40dmVuNGlJaUtpNktCUUttSm1aSVRjM0Z3QmdhbXJLbk90VUtTNHVMb2lNak5TNWoxTVo2RVh3T1ZYMTZsUVFJU0FnQUFFQkFjTFEvYzZkTzJQanhvMW8zYnExcUY1WVdOaHp6K1hoNFlGTm16WTlzNDVhclM3MzFJU2JOMjlpLy83OVd1WHg4Zkh3OHZKQ1ZGUVVPblhxaEpTVUZLMVVKQktKUk91NC9QejhaNlkwVWF2VmtNbGs1V29iRVJFUmtTNW1abWJvMWF1WE1KVlNvVkRvWEp1SnFMemF0R21ETm0zYTROcTFhNkx5RmkxYW9HUEhqbnBxRlJreVBxZXFYcDBLSXBSbVoyY0hWMWRYeUdReTBjS0tqeDQ5Z3FtcEtRNGVQQ2lVdmZYV1c2SnBEeSsvL0xLd21DRUFwS2VuYTYxRklKVktSUXN0bGxaeUpNS3VYYnZ3eVNlZllQbnk1VUxaaFFzWGNQYnNXY3lhTlF0UlVWSHc4L1BEL1BuejRlTGlBb2xFZ2dFREJpQXZMdys1dWJudzlmVVZuZnZodzRmbzFxMWJtZTlkVUZBZ3JLRkFSRVJFOUtMYzNkMkZQaEFYS3FPcTRPM3RqWlVyVjRyS09KV0JLb1BQcWFwVnA0TUlBUERWVjE5aDU4NmRXTFZxRllDaVgraUhEQm1DTjk5OFU2dXVpVW5GL2x3VkdZa3dkT2hRMk5qWUNFR0UvUHg4ekpzM0Q2TkhqeFlpWmErOTlob3NMUzJ4ZGV0V0RCMDZGQWtKQ2JoeDR3YkdqeCtQblR0M29sNjllc0lDaWhjdVhFQmFXbHFaNzVlVGs0UEdqUnRYNkhxSWlJaUlTbk55Y29KY0xvZGFyWWFIaDRlK20wTkd3TlhWVlN1SThPNjc3K3FwTldRTStKeXFXblUraU5DM2IxK3NYNzhlQnc4ZVJOKytmUkVkSFkzOC9IeE1talNwMHVldXlFaUUwaWtkRnk1Y0NITnpjd3dkT2xSVUhoQVFnRkdqUnFGbHk1Ym8yYk1uZnZ2dE4yZzBHZ1FFQk9DYmI3NFIwaytlT0hFQ21abVp3bkdsZ3hucDZlbG8yclRwQzE4YkVSRVJFUUJZV0ZqQTFkVVZqeDgvZnVaVVNxTHlhdCsrUFZxMWFvV2JOMjhDQUpvMWE0WXVYYnJvdVZWa3lQaWNxbHAxTm9qdzk5OS9ZLy8rL1JnN2Rpem16cDJMeno3N0RKY3VYY0xldlh1eFpzMGFyWGt5VmxaV1dMdDJiWm5uSzduUVMvRnFudzBiTm56bXlwL0YrL3YzNzQvUFAvOWNLRit4WWdWKytlVVhyRnUzRHUrODh3NkFvcEVESGg0ZTZObXpKMmJObW9XWk0yZGl4NDRkK082Nzd6Qmp4Z3o4ODg4L0NBd014SW9WSzdCdDJ6YTBidDFhdEZiQ3A1OStpdG16WjJQMjdObUlqbzdHanovK0NJbEVnbVhMbHVIenp6OUhkSFEwQU9EMDZkTVYrQ3NTRVJFUkZhMFZsWkdSb2U5bWtCSHg5dllXK3Q0OWV2VFFjMnZJR1BBNVZYWHFYQkRoenAwN0tDZ293Tml4WS9IZi8vNFhRTkZpR3kxYnRzU21UWnN3Y09CQW5iL1FaMlptWXZ6NDhlVjZqK0xNQ21xMUdpZFBuc1RldlhzeGZmcDBORzdjR0xkdTNjTG16WnZoN3U0T2hVS2hNNE9DbjU4ZkJnOGVqR2JObXVIQWdRTUFpdEkxRnI4R2l0WlFPSEhpQkFvTEMrSG01Z2FKUklJdVhib2dKaVlHQnc4ZXhQcjE2eEViR3l0RTIvNzY2eTljdkhnUlFOSENOTWVPSGNPR0RSdXdmdjE2VEpzMkRRc1dMS2pZSDVLSWlJZ3FiY0tFQ1VZVndBOFBEOWQzRXlyTjN0NWUrSEhGVUJuYmZaV1FrSUNkTzNmcXV4bVZZc2ozbGJIZFQzeE9WVjZkQ3lJVUx6ajR4UmRmNE5xMWE1ZzJiUnJPblRzSGYzOS9MRml3QUt0V3JZSzN0emRjWFYzeDFsdHZZY3VXTFVJV2c2ZFBuNVo1M3N6TVRJd2FOUXA5K3ZUQlcyKzloZjM3OStPSEgzNkFqWTBOUHZqZ0EyRVJRd3NMQzdSdTNSckxsaTNEdlh2MzRPWGxoV0hEaHFGNTgrYkN1VnExYXZYYzY3QzJ0a1pzYkN6Q3c4T0ZFUWY3OXUxRGFtb3ExcTVkaTNyMTZzSFgxeGQrZm40d05UV0ZTcVhDWjU5OUJxVlNpY0RBUUl3YU5Rb3ltUXpqeDQ5SGRIUTBQdm5rRXl4YnRneFBuanlCdGJVMWJ0MjZoWHIxNmxYbVQwMUVSRVRQWVV3ZGMyTng0Y0lGZlRlaDBvenR2dEtWaWN6UUdQSjlaV3oza3pIUTkvMVU1NElJblRwMXd0cTFhM0g4K0hGRVIwZkQyOXNiWVdGaHNMQ3dBQURNbmowYnQyL2ZSbUppSW43ODhVZHMyTENod2wrbXQyN2Rpb0tDQWtSRVJLQkRodzZpZlphV2xoZzZkQ2lHRGgySy8vdS8vOE4zMzMwbmVqQk9uVHBWNXpsTFRuY0FpaDZtR3pkdUZFMjdHRDkrUE1hTkd3ZExTMHNBd0pRcFV6Qmx5aFRSY1FFQkFYQndjQkRsUnZYMzkwZURCZzBnbDhzeGV2Um9aR1ZsUVM2WFkvRGd3Ulc2YmlJaUlub3haODZjMFhjVENFV3AzNHlKb2Q5WEsxYXN3SU1IRHpCNzlteDlONlZTak9XK012VDd5VmpVaHZ1cHpnVVJpcm02dXNMVjFWWG52aFl0V21EQ2hBa3ZmTzRQUC95d1hQWGF0MitQTDcvOFVsVFd2MzkvblhVSERScWtWVlo2M1lieVpGc0lEUTBWQWlZbERSZ3dBQUJ3Nk5BaGFEUWFvNGo0RWhFUkVaSGg2dG16SjNKeWN2VGREQ0lxcGM0R0Vlb3FYUUdFMGhoQUlDSWlJaUo5ZS8zMTE2SFJhUFRkRENJcWhVRUVJaUlpSWlLcWRYUXRRRTVFK3NjZ0FoSFZDYWRPblVKS1NvcFdlVVJFaFBDNjlIb2hSRVJFUkVRa3hpQUNFZFVKTXBrTU1URXhXdVVseTR3aDVROFJFUkVSVVhYaUdDRWlxaE82ZE9tQ1JvMGFsYm5md3NLaXpNVldpWWlJaUlpb0NJTUlSRlFubUppWXdOUFRzOHo5Yjc3NVpvWFR1UklSRVJFUjFUVU1JaEJSbmRHblQ1OHk5L1h0MjdjR1cwSkVSRVJFWkpnWVJDQ2lPcU5yMTY0NjA1eldyMThmdlhyMXF2a0dFUkVSRVJFWkdBWVJpS2pPa012bE9yTXZPRGs1d2RUVVZBOHRJaUlpSWlJeUxBd2lFRkdkb2l1SThLeHBEa1JFUkVSRTlDOEdFWWlvVGxFb0ZEQXpNeE8yVFUxTmRRWVdpSWlJaUloSUc0TUlSRlNubUptWmlkWS9VQ2dVTURjMzExK0RpSWlJaUlnTUNJTUlSRlRubEJ4NXdBVVZpWWlJaUlqS3owVGZEU0FpcW1sT1RrNlF5K1ZRcTlYdzhQRFFkM09JaUlpSWlBd0dnd2hFVk9kWVdGakExZFVWang4L1JxTkdqZlRkSENJaUlpSWlnOEVnQWhIVlNSNGVIc2pJeU5CM000aUlpSWlJREFxRENFUlVJUk1tVE1EcDA2ZjEzWXdxRXg0ZXJ1OG1WSnE5dlQyaW82UDEzUXdpSWlJaXFnTzRzQ0lSVllneEJSQ014WVVMRi9UZEJDSWlJaUtxSXpnU2dZaGV5Smt6Wi9UZEJFSlJpa29pSWlJaW9wckNrUWhFUkVSRVJFUkVWQzRNSWhBUkVSRVJFUkZSdVRDSVFFUkVSRVJFUkVUbHdpQUNFUkVSRVJFUkVaVUxnd2hFUkVSRVJFUkVWQzRNSWhBUkVSRVJFUkZSdVRDSVFFUkVSRVJWNXViTm14VSs1czgvLzZ5R2xwQStaV1ZsNmJzSlZFZjk4ODgvMEdnMCttNkdVVFBSZHdPcUF2T2tFeEVSRVpWTnJWWWpMeThQNXVibTFmNWUvZnYzeCtuVHA3WGVQek16RXpkdjNzUzFhOWVRbVptSmp6NzZTTmovd1FjZjRNeVpNOVhlTnFwYUd6ZHVSS2RPbmVEazVBUUFTRTFOUmRPbVRkR3VYVHU0dTd1WCtmOTAvLzc5OFBUMHJOQjdIVDE2RkIwN2RrVHo1czBCQU03T3praE5UUlgyZi8vOTkralNwUXRhdG16NWdsZER0Y0c2ZGVzd2R1eFlBUDgrTjJ4c2JCQVZGWVhQUC8rOFhPZnc4L05EYW1vcTVISjV1ZXJuNWVYaDZ0V3JjSEJ3ZU9GMjF6VUdIVVN3dDdmSGhRc1g5TjBNS3FGdDI3YjZiZ0lSRVJHVmtwU1VoTmpZV0VSRlJhRlpzMllBaW42RWFkQ2dnVkRueVpNbm9pOTkzdDdlYU5XcUZRRGd3b1VMc0xlM0J3RDgvdnZ2ZVAzMTE0VjZkKy9leGU3ZHUzVytyN2UzTi9MeThsQlFVQUJ6YzNOWVdsckMydG9hVFpvMFFVRkJBZXJWcTZmek9CY1hGNTNsSjA2Y3FNQlZVM1ZyMTY0ZGdvT0RFUmNYaCtiTm15TXVMZzRUSmt4NDduR2hvYUh3OVBURWI3LzloazgrK1FUbTV1YW9YNysrc0wrZ29BQVpHUm40NVpkZlJNZU5HemNPQ3hjdVJLZE9uWVF5cFZLSnhZc1g0K0xGaTFpNGNLRlFucFdWQlhkM2Q5RTlYdHFUSjA5dzZOQWhXRnBhVnVTeXFSckZ4Y1ZoN05peENBNE94bzBiTi9EcXE2OGlKQ1FFTzNmdXhPblRwNUdYbHdkVFUxTnMzcndaQU9EcjY2dnpQUDM3OTRkRUloR1ZKU1ltUWlyVkhvaC8vLzU5VEowNkZUdDM3a1RqeG8zTGJKdENvUkNlbjdyY3UzZXZ6Z1JERFRxSUVCMGRyZThtVkluaWtSUjE1YVlqSWlLaW12WGVlKy9oN05tem1EaHhJclpzMlFLVlNnVlRVMU1jTzNaTXFLTnJaR2RoWWVGelh6L0wvZnYzOGZQUFArdnN1RC9MMDZkUHRVWXpjT1JwN2VQaTRnSm5aMmZFeHNaaXlwUXBTRXRMdy9UcDA0VXZieVcvNEUyZVBGbHI5RUhuenAweGZmcDBIRHQyREV1WExoV09Dd3NMMC9vVnVWZXZYckMwdE1URml4ZEZRWVJmZi8wVkRSczJSRXhNak01Zm5rdmU0Nlh4bnFvOWhnMGJoc3pNVEdSblo4UEx5d3NBa0p5Y0xLcFQvTjJ2ZUQ5UUZDQXRUYUZRWU9mT25UcnZoeDA3ZG1ETm1qWEN0a2FqZ1VRaWdVd213NkJCZzNTMjdjQ0JBNkwzazhsa1duVlVLcFV3SXFjdU1PZ2dBaEVSRVJFOW4wUWlRVWhJQ083Y3VRTzVYSTZFaEFUUkY3SGlPdG5aMldqWXNDRUF3TWJHQnQ5Kys2Mm96dVhMbC9IYWE2K0p5a2FQSGczZzN5K01hclVhdnI2K1dMQmdBUUE4TTRBUUhoNHVmQWx3YzNNRDhPd3ZmVlQ3ekpneEEvWHIxMGRLU2dyZWUrODlCQVVGQVNqNklsZjZDMTd4bDcrOHZEeDRlWGxoMGFKRjhQUHp3eSsvL0lMWnMyY2pJQ0FBeTVjdng1MDdkeEFSRVNFY04yYk1HR1JtWmdyYmNYRnhLQ2dvd0lBQkE0U3lsSlFVQUlDZG5aMXc3NUhoaUl1TEF3RDA2ZE1IeWNuSjhQTHl3Z2NmZklDV0xWc0s5OExYWDMrTnk1Y3ZpNDU3Ly8zM2RaNXYwS0JCV2lNUkFHRDM3dDFDc0NBdExRMUxsaXhCVkZRVUdqZHVqSXlNREV5Wk1nVXpaODVFeDQ0ZHEvTHlqQTZEQ0VSRVJFUkdiTW1TSmRpN2R5OU1UVTJSbkp5TUhUdDJZT1hLbFZpeFlvV29ucGVYRi9yMTZ3ZTFXbzFtelpyQjNOd2NvMGFORXRYUkZVUW9WdnlGMGRIUlVlZXZnN29FQlFVaEtDZ0lDb1dDd1FNRFZiek94dkhqeCtIajQvUE11c1cvTEx1NHVJaCtaUTRNRE1TNGNlUFF0MjlmdlB6eXkxaXpabzNvVitUMTY5Y0RLQXBReGNYRjRlTEZpN2g5K3phY25aMmhVQ2pnNnVwYTV0U1lrcjlhazJIWnRtMmJhRHMwTkJTQStQL3B6WnMzaGRIY2x5OWZ4dFNwVXpGanhnd01IRGdRaFlXRnVIVHBFanAzN2d6ZzM1RW5nd2NQUm01dUxnQWdKeWNIdzRjUEJ3QmtaMmREclZZTGdiRGlnR3RKWlUyZnFHc1lSQ0FpSWlJeVlnRUJBUWdJQ0lDenN6T0FvaUhrR3pkdVJPdldyVVgxd3NMQ25uc3VEdzhQYk5xMDZibjFzck96WVdabUJyVmFMWXd3S0czU3BFa1lNbVNJcUV5cFZOYkk0bzlVZWV2WHIwZDBkRFR5OC9PeGE5Y3VwS1NrNEtlZmZoTFZLZjJGcTNSd0tTVWxCZkh4OGJoNjlTcDY5ZXFGd01CQUhENThHRU9IRGtXVEprM2c3Kzh2ZkdIODZhZWZzSHIxYW5UdTNCbGhZV0U0Y3VRSUJnd1lnSVNFQkN4YnRnd3VMaTd3OC9ORCsvYnRSZTlSZWtoOFNaek9VRHNwbGNweTF5MWViUEhnd1lPSWpvNUdaR1FrMnJadGk1U1VGRVJGUmNIUjBSR2RPbldDVENZVDZxYW5wd3ZycThUSHg2TkJnd2J3OGZIQit2WHJZV1ZsQlQ4L1AwaWxVcDFyczNBNlF4RUdFWWlJaUlqcUVEczdPN2k2dWtJbWs0a1duWHYwNkJGTVRVMXg4T0JCb2V5dHQ5NFNUWHQ0K2VXWDhmSEhId3ZiNmVucFNFNU9oa3Fsd3NXTEY1R1dsZ2ExV28zaHc0ZGo0OGFOa012bFd1c3VuRHAxU3VpRTM3OS9YMWc4NzRNUFBvQlVLc1hXclZ1cjdkcXA2b3daTXdaanhveUJzN016bWpkdmpyMTc5d0lBM04zZHNXZlBIcGlibThQUjBWRzB0c1hqeDQ5eDQ4WU5GQllXWXNHQ0JlamF0U3MrK3Vnak9EZzRRQ2FUd2NYRkJTZE9uTUFYWDN5QlAvNzRBeTFhdE1Eang0L2g3KzhQaVVTQ3dNQkE5T2pSQXdBd2Z2eDR0RzNiRmtGQlFmanNzOCtRbEpTRXdNQkFOR3ZXVERUbm5ReERZV0VocmwrL2p0emNYSHowMFVkbzM3NDlQdmpnQTJGL2RuYTJzRjB5VURSNjlHaGtaMmRqOGVMRmFOR2lCVUpDUW5EdDJqWDA3dDBiaXhZdFFsNWVucWh1c2N6TVRDeGN1QkRaMmRtWVAzOCtBS0JmdjM2WU4yOGVFaElTRUJJU290WEcxTlJVblFFRUFKREpaS0pzSWNhT1FRUWlJaUtpT3VhcnI3N0N6cDA3c1dyVktnQkZ3OFNIREJtQ045OThVNnV1aWNuenU0dDM3dHpCMHFWTDRlam9DS2xVaWwyN2RpRXJLd3NXRmhiUFBHN0ZpaFhDTVBUVnExZkQydHI2QmE2R2FndVZTb1duVDUrS01pMEFSZmZYeVpNbk1XZk9IRGc0T0VBaWtXRFlzR0c0ZE9rU3BrK2ZMdFRMeTh1RGg0ZUhzRjI4b04yOGVmUFFzV05IWVgyTnpNeE14TWJHQ21sQ3pjek1NSGp3WUF3Y09CQ1gvai8yN2p5dXlqci8vLy96c0Fvb0lvcU9rVXZqVEthbVpyaVdxSUUwSTJQbVZwcTVWS09XdVkwaTJmckpyZEhFdmN3dFhCQWxselFOSTQwMGRWelFyS3hNMjlUY1YxQTJrU09IM3gvK09GK1BCK3k0Y0M0T1B1Nmp2cHZzQUFBZ0FFbEVRVlMzMjl5Rzg3Nlc4enBjbCtaNVh1OWwvMzZiZVRnWXp1QWF3c1BEVmFsU0paVXBVMFpMbGl5eCszc25MQ3pNYm5oRGdYTGx5bW41OHVWYXZIaXhEaDgrck5HalIxdFhrMW01Y3FWaVkyTTFidHc0bXlFeXMyZlBWcTFhdGJScjF5NzE3OS9mNW54ZHUzYlY0Y09IYmRxdVg1bmh3b1VMMnJGamgxcTBhR0d6dXNmZHNrSURJUUlBQU1CZHBtM2J0b3FOalZWeWNyTGF0bTFyN1piKzhzc3YzOUw1Z29PRHRXREJBa25TZ2dVTDVPYm1wbVBIanQxd09UUkpHajE2dENScDllclZCQWlsd0s1ZHUxUzdkbTI3eVRRdlhyeW9zV1BIYXYzNjlaS3V6b2xRbzBZTjFhaFJRLy84NXordCs3VnMyZEptSnZ3Q0kwYU1zSG1kbloydHpNeE10V25UUmo0K1BqYmJxbFNwb29VTEYxcGZNNXpCTmN5YU5VdDE2OVpWV0ZpWVBEdzg5TlJUVCtuZ3dZUFc1ZU1yVmFxa3A1OStXa2VQSHRXMmJkdHM3ckZwMDZacDJiSmxxbEtsaXY3NjE3OXE1c3ladW5UcGtyS3pzNVdUazZPTEZ5L3F0ZGRlMDd2dnZtc05KMTU3N1RWSjBvb1ZLMnp1dVlpSUNHdVBoM0hqeGxuYnZieThiTzZsZ3VGaGtvcHNMODBJRVFBQUFPNFNSNDRjMFlZTkc5UzNiMStOR3pkT2d3WU4wdjc5KzdWdTNUck5tVFBIYmo2Q0NoVXFhTzdjdVVXZTcwWlBlYi83N2p1Nzhla292VTZjT0tFSkV5Ym8vLzd2LzZ4dG5wNmVTazlQMTYrLy9xcHExYXJaSFJNV0ZtYnordEtsU3padER6MzBrS1pNbVdJWEJBd1lNRUFWSzFiVUw3LzhRZytXVXVMNjFXSldyRmloVjE1NVJlWExsOWZJa1NQbDRlR2h6WnMzNjV0dnZyRUxxVUpEUStYajQ2TTZkZW9vS0NoSXZyNis2dHExcTc3NjZpdGR1SEJCVmF0VzFkYXRXNVdSa2FFS0ZTbzQ4Mk9WV29RSUFBQUFwZHlwVTZka05wdlZ0MjlmRFJzMlROTFZMdURCd2NGYXRHaVJ1blRwb3FDZ0lMdmowdExTN0xyNkZzVmlzU2duSjBkdWJtN0t6ODlYWW1LaXRidjVqV1JsWmRrdHhXYXhXT3krWUtKa3VYVHBrdUxqNDJXeFdMUnQyemF0V2JOR3I3enlpczNUL2VlZWUwN1BQZmVjdkx5OE5HVElFTHR6Yk55NDBlWjF5NVl0N2RxdWRmbnlaVTJjT0ZFbWswbGp4b3pSUng5OXBGNjllaWtxS2txUFBmWllvVXY2d1hXOStlYWJldkhGRjlXelowODkvdmpqK3VhYmJ6Umx5aFM3L2RMVDA3Vnk1VXBObWpUSlptbEdQejgvL2ZlLy85WEJnd2MxYk5pd0lnT0VhK2RldUZISWtKdWJleHVmcG5RaFJBQUFBQ2psVWxOVDlmREREMnZreUpFNmRPaVFoZzhmcnUrKyswNjllL2ZXK1BIak5XdldMRVZHUmlvME5GVE5temRYUWtLQ2RRS3h5NWN2RjNuZXRMUTA5ZW5UUjJGaFlVcElTRkJxYXFwYXRXcWxuVHQzS2pVMTlVK0RnQmt6Wm1qUm9rVjJYWURkM056c3ZrelM5YnhrV2JObWpRNGZQcXlQUC81WTgrYk4wL2ZmZjYvZHUzZkwzZDNkK21VK0x5OVBlWGw1dW5MbGlzYU1HYVA0K0hoSktuSTV4c0pjdm54WjMzLy92WGJ1M0tsMTY5YnBrVWNlMFpRcFUrVG01cVllUFhxb1RwMDZtanAxcXFaTm02WldyVnFwYnQyNmF0V3FsZlg0b2xZSFFjbVNtNXVyN094czY5ODdGb3RGaHc0ZFV2WHExWldjbkt6VHAwK3JVYU5HMnJKbGkrclhyNi9LbFNzck5UVlZreVpOMHNHREIvWEJCeCtvU3BVcXNsZ3MrdVdYWDZ5VHhvNGJOMDZyVnExU1ZGU1VXclpzYVYyK3NjRDQ4ZVBWdUhGajYrc2RPM2JvM0xsenlzcktzcmxQeldhenVuZnZYbWp0MTRZUVpyUDVqdjFPU2pKQ0JBQUFnRkt1YnQyNm1qdDNyclp1M2FxNHVEaEZSa1pxN05peDFva1BSNDBhcFJNblRtanQyclhhc21XTEZpeFljRk5mOUNTcFI0OGVjbk56azd1N3U4eG1zMGFOR2lWdmIyK2JmUjUvL0hHYnA4VkRoZ3pSNE1HRDdaNGdwNlNrMkoxLzE2NWROMVVQaWxlWExsM1VyVnMzbVV3bTY5d1dlWGw1eXMzTmxjVmlVWDUrdnR6YzNLei9jM2QzMXpQUFBLTXpaODZvVTZkT2haN3oyZ25xQ3VUbDVXbkJnZ1dxVjYrZVpzK2VyWm8xYTlwc2I5U29rZUxpNG5UZ3dBRnQzcnhaZS9mdTFULy8rVTlsWjJjckpDVGtoc054K3Zmdjc5REVvU2grbzBlUDFzYU5HOVcxYTFkdDM3NWRyNy8rdWdJQ0F0UzhlWFBObno5ZjlldlgxNlpObTdSaHd3Wk5uRGhSL2ZyMVUrUEdqVlc3ZG0yTkhUdFc3dTd1MXV0ZXJsdzVEUnc0VUpKa01wblVwVXNYTlcvZVhIRnhjWFp6YUZ3YklFaFhlOGNNR1RKRTN0N2U2dDI3dDdXOWV2WHFXclZxbGZWMTU4NmRKVWxWcTFhMW1mQ3hvTDIwTStYbjUrY2JYY1RkcmlCWnZ4dG04b1RyNDM0dFdiZ2V4dUYzanp1Qis2aGtLUzNYbzdSOGp0TEMxYStIcytzM204M0t5Y2xSdVhMbGl1WDhwMDZkMGwvKzhwZGlPYmN6bElUN2llZ05BQUFBQUZBaWVIcDYzblJQcUp2aHlnRkNTZUgyNTdzQUFBQUFBQUFRSWdBQUFBQUFBQWNSSWdBQUFBQUFBSWNRSWdBQUFBQUFBSWNRSWdBb3RjNmZQNitEQnc4YVhRWUFBQUJRYWhBaUFDaDJGb3RGMmRuWlRuM1BuMy8rV2M4OTk1ek9uajE3VytmSnljbFJhbXFxamg4L2J0TStmLzc4MnpwdlVVNmZQbDBzNXdVQUFBRHVCSlo0QkZEc0VoTVR0V1RKRXIzMzNudXFYTG15cEt0cjNKWXRXOWE2VDJabXBzMTZ0NUdSa2JyMzNuc2xTZnYyN1ZPOWV2VWtTVC8rK0tNZWZQQkI2MzZuVDUvV21qVnJiTjV2L2ZyMUdqdDJyQ3dXaTBhTkdtVlhUNGNPSFRSZ3dBQkowcHc1YzdSaHd3Wkprc2xra3B1Ym0xSlRVMVdoUWdXWlRDWjVlM3ZMeDhkSDVjdVhWMHhNalBVYzgrZlAxd3N2dkNCSmF0MjZ0WHg5ZmUzZUp6czdXNXMzYjVZa3RXalJRZ0VCQVRiYkwxeTRvQjA3ZHFobno1NktqNDlYWGw2ZUlpTWpYWFlkYVFBQUFKUitoQWdBaXQwVFR6eWhiNzc1UmdNR0RGQkNRb0x5OHZMazdlMXQvWUl0WFEwVnJuZmx5cFUvL2ZsYUZ5NWMwT1RKazNYZ3dBRWxKQ1NvV3JWcTFtMlhMbDNTdEduVGRPalFJWFhwMHNYYTNxOWZQL1hyMTA5dWJ2K3ZZMVpFUklSV3JGaFI2SHNVOUJUSXo4L1g2ZE9uNWVQakkwbEtTa3F5MjdkMTY5WTJyNU9Ta3ZUTEw3L28vdnZ2bDNRMVdKQ3U5cG9BQUFBQVhBRWhBb0JpWnpLWjlPYWJiK3JVcVZQeTh2TFNxbFdyVkxkdVhidDlNakl5Vks1Y09VbFN4WW9WN1lZTUhEaHdRQTg4OElCTjIzUFBQU2ZwNmxQL0hqMTZLRFEwVklzV0xWSjBkTFNpbzZOVnMyWk5iZHEwU2UrLy83N2F0V3Vua1NOSFdnT0RUWnMyYWU3Y3VYYjFYcng0VWM4ODgweWhuOFhkM1YyU2xKdWJxNmlvS0xWcDA4Wm1lK3ZXclczQ2tldjE3TmxUdTNidEtuSTdBQUFBVUpJUklnQW9WcE1uVDlhNmRldms3ZTJ0cEtRa3JWeTVVak5uenRUNzc3OXZzMSs3ZHUzVW9VTUhXU3dXVmE1Y1diNit2dXJUcDQvTlBvV0ZDQVY4ZlgyVmtKQ2c4dVhMUzVKNjlPaWhsMTkrV1pVcVZWS1ZLbFUwWThZTUJRY0gyeHp6MkdPUDZiSEhIdE1MTDd5Z3ZMdzhhN3ZKWkpLWGw1Zk52b0dCZ1pvNmRhcjFkV2hvcU9MajR5VkppeGN2dHJaZjI2TUJBQUFBS0cwSUVRQVVxNmlvS0VWRlJWbTc3dGV2WDE4TEZ5NVVqUm8xYlBZYk8zYnNuNTRySWlKQ2l4WXRLbko3K2ZMbGRlalFJWDN4eFJkS1NrcFNnd1lOMUxScFV5MWJ0a3kvL2ZhYlhZaFE0TXlaTTBwTVRMemgrN1JyMTg3bXRjbGtzanRQYm02dS9QMzlpNnpQWXJGWWV6SUFBQUFBcm9nUUFZQlQxYTVkVzZHaG9YSjNkN2VaV1BIaXhZdnk5dlpXY25LeXRhMTU4K1kyd3g2cVZhdG1uY3hRa2s2ZVBHbWRpeUFsSlVYang0K1hsNWVYSWlJaU5IUG1URzNldkZtVEprMlNKRTJZTUVFVEpreXdIanR0MmpUVnJsMWJrcFNXbHFiKy9mdGJ0NlducDl1OHZsYm56cDJWazVPalM1Y3VxWDM3OWpiYlVsTlQ5ZkRERHhmNTJjMW1zM1VPQlFBQUFNQVZFU0lBY0xxMzNucExxMWV2MXF4WnN5UmRmVUxmclZzM05Xdld6RzVmRHcvSC9wcDY2S0dITkczYU5OV3NXVk43OSs3VjY2Ky9yb0NBQUNVbUppb3dNRkRTMVo0Q2I3Lzl0akl6TTNYZmZmZFpqNjFRb1lMTjNBZ1JFUkYyY3lVVTlFUll0V3FWL3ZqakQvWHYzMStyVjYrV3A2ZW5kUUxGZmZ2MmFlL2V2VVhXbUpXVlpSMXVBUUFBQUxnaVFnUUFUdGUyYlZ2RnhzWXFPVGxaYmR1MlZWeGNuSEp6Yy9YeXl5L2Y4am05dmIyVm1wcXF5Wk1uNi9EaHd4b3laSWg4ZlgxMTh1UkpCUVlHNnNpUkkzcnp6VGQxMzMzM2FmTGt5VFp6SHFTbHBkbk12NUNlbm00M0g4TzFmdmpoQitYbjV5c3FLa3FUSmsyeUxqLzV2Ly85VDJscGFkYjlubnp5U1p2alRwNDhxYUNnb0Z2K2pBQUFBSURSQ0JFQU9NMlJJMGUwWWNNRzllM2JWK1BHamRPZ1FZTzBmLzkrclZ1M1RuUG16Skd2cjYvTi90ZjNFTGplOWZNVXBLV2xxWFhyMXRhUTRQdnZ2MWQwZExRaUlpTDAyV2VmYWVEQWdlcllzYVBkZVRadDJtUVRLaFEySjBKdWJxNzE1NDgvL2xpdnYvNjZqaDQ5cWhFalJ1ajk5OS9YOHVYTFZhTkdEWnU1RWdZT0hLaFJvMFpwMUtoUmlvdUwwNVl0VzJReW1UUjkrblFOSGp4WWNYRnhrcVRkdTNjNzhOc0RBQUFBakVlSUFLRFluVHAxU21heldYMzc5dFd3WWNNa1NUNCtQZ29PRHRhaVJZdlVwVXVYUXAvUVh6OVh3WjhKRHcrWGRIWHVnWjA3ZHlvcEtVbloyZG5LeWNuUnNtWExyTU1hcmhVWEY2Y05HemJZdEYyOGVGRTllL2EwMnpjK1BsNXIxcXpSbFN0WDFMcDFhNWxNSmpWczJGRHg4ZkZLVGs1V2JHeXNsaXhab3ZUMGRQbjcrK3Znd1lQNjZhZWZKRW4zM0hPUE5tL2VyQVVMRmlnMk5sYkRody9YK1BIakhmNXNBQUFBUUVsQWlBQ2cyQlZNT0RoeTVFZ2RPblJJdzRjUDEzZmZmYWZldlh0ci9QanhtalZybGlJakl4VWFHcXJtelpzcklTSEJ1b3JCNWN1WGl6eHZ3VENFc0xBd2RlM2FWWFBuenRXQkF3ZTBiOTgrMWF4WlU0OC8vcmlHRGgxYWFIZ2dTWjk4OG9sMVlzYnJYYnZrWTRGbm5ubEdlWGw1aW9tSnNmWTRXTDkrdlhiczJLRzVjK2ZLMDlOVDdkdTNWOGVPSGVYdDdhMjh2RHdOR2pSSTJkblpHakZpaFByMDZTTjNkM2YxNzk5ZmNYRnhldkhGRnpWOStuUmxabVlxTURCUXg0OGZsNmVuNTgzK2VnRUFBQUNuSVVRQVVPenExcTJydVhQbmF1dldyWXFMaTFOa1pLVEdqaDByUHo4L1NkS29VYU4wNHNRSnJWMjdWbHUyYk5HQ0JRdHU2Y3QwelpvMTFhaFJJelZzMkZBVktsVDQwLzA3ZHV4WTZQQ0dHOG5PenJZWmR0Ry9mMy8xNjlkUEFRRUJrcVNoUTRkcTZOQ2hOc2RFUlVXcFFZTUcxcDRTa3RTN2QyK1ZMVnRXWGw1ZWV1NjU1M1Rod2dWNWVYbnBxYWVldXFsNkFBQUFBR2NpUkFEZ05LR2hvUW9ORFMxMDJ6MzMzS09YWG5ycHRzN2ZxVk9uMnpyZUVkZlAyK0RJYWd0anhveXhCaWJYNnR5NXN5VHB5eSsvVkg1K3ZzMThDZ0FBQUVCSjVHWjBBUUJRMmhVV0lGeVBBQUVBQUFDdWdCQUJBQUFBQUFBNGhCQUJBQUFBQUFBNGhCQUJBQUFBQUFBNGhCQUJBQUFBQUFBNGhCQUJBQUFBQUFBNGhDVWVBUUFBREJZU0VtSjBDU2lGdUs5d0ozRS9vUUE5RVFBQUFBeFNyMTQ5bzB2QWRXclZxbVYwQ2JlTis2cmtjZVg3aXZ1cDVESDZmcUluQWdBQWdFSGk0dUtNTHVHT21EcDFxdUxqNHpWczJERDE3Tm5UNkhMdWVxWGx2aXA0OHIxbnp4NkRLN203Y1QvaGV2UkVBQUFBQUFBQURpRkVBQUFBQUFBQURpRkVBQUFBQUFBQURpRkVBQUFBQUFBQURpRkVBQUFBQUFBQURpRkVBQUFBQUFBQURpRkVBQUFBQUFBQURpRkVBQUFBQUFBQURpRkVBQUFBQUFBQURpRkVBQUFBQUFBQURpRkVBQUFBQUFBQURpRkVBQUFBQUFBQURpRkVBQUFBQUFBQUR2RXd1b0M3MGE1ZHU3UnQyemE3OXFsVHAxcC9idENnZ2NMRHc1MVpGZ0FBQUFBQU4wU0lZQUIzZDNmRng4ZmJ0Vi9iRmhNVDQ4eVNBQUFBQUFENFV3eG5NRUREaGczbDcrOWY1SFkvUHorRmhvWTZzU0lBQUFBQUFQNGNJWUlCUER3ODlQampqeGU1dlZtelp2TDA5SFJpUlFBQUFBQUEvRG1HTXhna0xDeE1LMWV1TEhSYjI3WnRuVndOY1BOQ1FrS01MZ0VBQUFDQWs5RVR3U0NOR2pXU241K2ZYWHVaTW1YVXBrMGI1eGNFT0toZXZYcEdsNERyMUtwVnkrZ1NBQUFBY0plZ0o0SkJ2THk4RkI0ZXJyVnIxOXEwTjIzYVZON2UzZ1pWQmZ5NXVMZzRvMHU0SXdwNlV1elpzOGZnU2dBQUFBRFhRVThFQXhXMmhHTllXSmdCbFFBQUFBQUE4T2NJRVF3VUVoSWlIeDhmNjJ0dmIrOUNnd1VBQUFBQUFFb0NRZ1FEK2ZqNDJNeC9FQklTSWw5ZlgrTUtBZ0FBQUFEZ0JnZ1JESFp0endNbVZBUUFBQUFBbEdSTXJHaXdwazJieXN2TFN4YUxSUkVSRVVhWEF3QUFBQUJBa1FnUkRPYm41NmZRMEZDbHA2ZkwzOS9mNkhJQUFBQUFBQ2dTSVVJSkVCRVJvZlBuenh0ZEJnQUFBQUFBTitUU0ljSkxMNzJrM2J0M0cxM0dIUk1URTJOMENiZXRYcjE2aW91TE03b01BQUFBQUVBeGNPbUpGVXRUZ0ZCYTdOdTN6K2dTQUFBQUFBREZ4S1Y3SWhUWXMyZVAwU1ZBVjVlb0JBQUFBQUNVWGk3ZEV3RUFBQUFBQURnUElRSUFBQUFBQUhBSUlRSUFBQUFBQUhBSUlRSUFBQUFBQUhBSUlRSUFBQUFBQUhBSUlRSUFBQUFBQUhBSUlRSUFBQUFBQUhBSUlRSUFBQUFBQUhBSUlRSUFBQUFBQUhBSUlRSUFBQUFBQUhBSUlRSUFBQUFBQUhBSUlRSUFBQUFBQUhBSUlRSUFBQUFBQUhBSUlRSUFBQUFBQUhBSUlRSUFBQUFBQUhBSUlRSUFBQUFBQUhDSWg5RUZBQUFBQU1DdVhidTBiZHMydS9hcFU2ZGFmMjdRb0lIQ3c4T2RXUlpjRlBkVDhTRkVBQUFBQUdBNGQzZDN4Y2ZIMjdWZjJ4WVRFK1BNa3VEQ3VKK0tEOE1aQUFBQUFCaXVZY09HOHZmM0wzSzduNStmUWtORG5WZ1JYQm4zVS9FaFJBQUFBQUJnT0E4UER6MysrT05GYm0vV3JKazhQVDJkV0JGY0dmZFQ4U0ZFQUFBQUFGQWloSVdGRmJtdGJkdTJUcXdFcFFIM1UvRWdSQUFBQUFCUUlqUnExRWgrZm41MjdXWEtsRkdiTm0yY1h4QmNHdmRUOFNCRUFBQUFBRkFpZUhsNUZUcGJmdE9tVGVYdDdXMUFSWEJsM0UvRmd4QUJBQUFBUUlsUjJKZStHM1ZMQjI2RSsrbk9JMFFBQUFBQVVHS0VoSVRJeDhmSCt0cmIyN3ZRTDRLQUk3aWY3anhDQkFBQUFBQWxobytQajgxNDlaQ1FFUG42K2hwWEVGd2E5OU9kUjRnQUFBQUFvRVM1OWtreEUrRGhkbkUvM1ZtRUNFNXk0Y0lGelprenA5ak8vK3FycnhhNTdaVlhYaW0yOXdVQUFBRHV0S1pObThyTHkwc2VIaDZLaUlnd3VoeTRPTzZuTzh2RDZBS00wcmh4WXdVSEJ4ZTY3Zmp4NC9yNjY2K3Ryd3ViZUNNek0xTmVYbDd5OHZLeWFlL1VxWk1HRHg1c3QvK0ZDeGMwZCs1Y3ZmamlpNFcrNTVrelovU3ZmLzNyWmo2Q2R1L2ViZjM1eXkrL0xISy9hN2U5OHNvclNrbEpzZG5ldlh0M3JWcTFTbmw1ZWNySXlGQkFRSUROOWkrKytPS202Z0lBQUFCdWg1K2ZuMEpEUTVXZW5pNS9mMytqeTRHTDQzNjZzKzdhRU1IVDAxTnIxcXdwZEZ1TEZpMXNYbS9jdU5IbTlhcFZxN1JreVJMTm16ZFBnWUdCZDZTZXlwVXIyNFFDQmFLam8zWCsvSG5ObnovZmJ0dW9VYU8wYmRzMlNaTEZZbEZFUklRQ0F3TzFiTm15SXQ5bjRzU0prcVFtVFpyWXZOK0FBUU8wZmZ0MkxWcTBxRmg3VEFBQUFBQ09pSWlJMFBuejU0MHVBNlVFOTlPZGM5ZUdDR2F6V1U4Ly9YU1Iyd3B6K2ZKbFRaa3lSVC84OElNT0h6NnNUei85VlB2MjdWUGZ2bjExLy8zMzMvRWF0Mi9mcm8wYk54WWFJRWhYUTRRQ1RabzBzZllZYU4yNnRkMityVnUzMXFaTm0rVG1WdlFJbHQ5KyswMFBQUERBN1JVTkFBQUFRNzMwMGt1RlBweHlWVEV4TVVhWGNOdnExYXVudUxnNG84dTRKZHhQSlkvUjk5TmRHeUo0ZW5wcStmTGxoVzY3dmllQ0pLV2twT2pkZDk5VnZYcjFGQnNicTVZdFcrcVpaNTVSWW1LaWhnNGRxZ1lOR21qZ3dJR3FYcjM2RGQ4M0pDVEVybTNod29XcVg3KytUZHZGaXhmMXpqdnY2Qi8vK0ljYU5teDRFNTlNMnJ4NXM5MTdYdDkyclJZdFdxaHMyYkxXMTU5OTlwa2tLVFUxVlh2MjdMbXA5d1lBQUlDeFN0TVh2dEppMzc1OVJwZHd5N2lmU2g2ajc2ZTdOa1F3bTgxNjhza25pOXhXNE5DaFE0cUppZEh2di8rdUVTTkcyRXpFNGU3dXJzNmRPeXN5TWxLeHNiSHEwYU9IdW5UcG9xRkRoeGI1eEgvWHJsMTJiZTd1N2phdkxSYUwzbmpqRFhsN2UydjkrdldLaW9yUzFxMWJGUjRlcm5MbHlsbjNhOWV1bmZYblNwVXFXVitQR3pkTzY5ZXYxNGdSSSt6bWJDaEtRUytHeFlzWHExZXZYcEt1OW00QUFBQ0FhK0poVU1sUTJFTkVWOFQ5VkRLVWhQdnByZzBScGsrZnJrY2ZmYlRRYlFYekRFaFMrZkxsOWZEREQydlNwRWsyNjRtMmFkTkdKcE5Ka2xTbVRCa05IRGhRN2R1MzE1NDllMjQ0Wk9ENndPQjYrZm41ZXVlZGQ3UnYzejR0WExoUW5UdDMxcVZMbDdSbHl4Yk5uRGxUZ3dZTlVvY09IV1F5bVpTVWxHUTlMaVltUnRIUjBkYlg2OWV2MTlxMWE5VzFhOWNiL3lLdTg4RUhIMWhEQkFBQUFBQUFyblZYaFFpLy92cXJoZ3daVXVpMk0yZk9xSExseW5idFNVbEo2dHUzcjVvMGFXTFRDMENTMnJadGEvMDVJeU5EMjdadFUrZk9uVys1UG92Rm9na1RKdWlMTDc3UXJGbXpWS05HRFVtU2o0K1Bwa3lab3ErKytrcnZ2dnV1MXF4Wm96ZmZmRk4vL2V0ZnJjY3VYNzdjSmtUbzBxV0wzbnJyclpzS0VTd1dpelVZQVFBQUFBRGdlbmRWaVBEM3YvL2QrdlQrazA4K1VXQmdvRnExYXFXOHZEdzFiZHJVNXNuKzlTd1dpejcvL1BNaWh3ZmNicmVTOVBSMHZmcnFxenA0OEtBKy9QRERRaWRxYk5PbWpVSkNRalJwMGlUMTZkTkhvYUdoK3ZiYmI2MzFGUXhuU0VwS1V1M2F0ZldQZi94RHVibTVEdGZ3eHg5L3FFS0ZDcmYxT1FBQUFBQUFwZGRkRlNJVVNFMU4xWHZ2dmFjeFk4Yll0RjgvUjhMVFR6K3RaNTk5MWlrMW5UMTdWcDZlbmxxeVpJa3FWcXhZNUg3bHlwWFQ2TkdqMWI5L2Z3VUhCMXZibXpScFloZUMvUHZmLzc2cEd0YXNXYVBBd0VCZHVuUkpQajQrTi9jQkFBQUFBQUNsM2wwWElxU25weXNxS2twTm1qVFIxS2xUZGY3OGViVnMyVkxTMVMvUmQwSitmcjRzRm90TlcxNWVuczMvWDY5V3JWcWFQbjI2dysveGw3LzhSVnUzYmxWV1ZwYlMwOU9WbjUrdm1KZ1lwYVdsS1Q4L1g2TkhqNWJKWk5LSkV5Zms3ZTF0UGM1c05zdHNOdHZNemJCeTVVb3RXclJJSzFhc1VOZXVYZFcxYTFkRlJrWVd1WG9GQUFBQUFPRHVkRmVGQ1B2MjdkTXJyN3lpbGkxYmF1VElrVHA2OUtnKy9QQkR6WjQ5V3g0ZUhnb0xDNU9ibTVzMUJMaHk1WXBXcjE2dFNwVXFTYkx2cVZDVXBLUWt2ZlhXVzRWdWE5cTBhYUh0Tnp2YnFadWJtNUtUazFXeFlrVlZybHhaTVRFeENnb0tVbEJRa0NwVnFxU05HemZxMVZkZmxadWJtM3IwNkdFOTd1T1BQOWFrU1pQMGozLzhReGFMUmZQbno5ZmF0V3ZsN3U2dW1UTm42cUdISGxMUG5qMDFlZkprOWV6WlU3MTY5ZEpMTDcxMFU3VUJBQUFBQUVxbnV5cEV1TysrKy9UYWE2OVpleDdVcUZGRFk4ZU90VzdQejgrMzZVVmdNcG1zVCt6YnRHbWpkOTk5Vng0ZWhmL0tYbnZ0TmV1cURKR1JrWXFNakx3ak5YdDVlUlU2MmFISlpOTG8wYU9MUEM0OFBGemJ0bTJUaDRlSFRjM2R1M2ZYMDA4L2JhMjFjdVhLR2o1OHVGcTFhbVZ0Q3dvSzBvUUpFN1JseXhaVnIxNzlqbndPQUFBQUFJRHJ1NnRDQkY5ZlgydUFVQmlUeVNTVHlWVG9FbzJUSjArKzRibkhqeDkvMi9VVlpzZU9IYmQwbkp1Ym04cVVLVlBrdGdJZE9uUW84aHl0V3JXNnBmY0dBQUFBQUpSTzl0K1dBUUFBQUFBQUNrR0lBQUFBQUFBQUhFS0lBQUFBQUFBQUhFS0lBQUFBQUFBQUhFS0lBQUFBQUFBQUhFS0lBQUFBQUFBQUhFS0lBQUFBQUFBQUhFS0lBQUFBQUFBQUhFS0lBQUFBQUFBQUhFS0lBQUFBQUFBQUhFS0lBQUFBQUFBb2RVNmVQQ216Mld4MEdhVU9JUUlBQUFBQXA3QllMTXJPemphNkRCakVtZGZmWXJGbzRNQ0Iyclp0MnkwZG41T1RvKysvLy80T1YxVTZlQmhkQUFBQUFJQzdRMkppb3BZc1dhTDMzbnRQbFN0WGxpU0ZoSVNvYk5teTFuMHlNek8xWjg4ZTYrdkl5RWpkZSsrOWtxUjkrL2FwWHIxNmtxUWZmL3hSRHo3NG9IVy8wNmRQYTgyYU5jNzRHTGhGenJ6K3k1WXQweDkvL0tFeFk4Wm96Smd4aGRZemI5NDgxYXBWcTlCdFo4K2UxWC8rOHgrdFhyMWE1Y3VYTC9JemhZU0VXRDlMWWM2Y09XUHplVW9EUWdRQUFBQUFUdkhFRTAvb20yKyswWUFCQTVTUWtLQzh2RHg1ZTN0cjgrYk4xbjFDUWtMc2pydHk1Y3FmL295U3oxblgvK0RCZzBwSVNGQmdZS0FtVFpxa2hnMGJXcmZsNStkcjFLaFJPblRva0twWHJ5NUpXcmx5cGViTW1XT3pqOGxra3J1N3U3cDI3VnJvZTN6eHhSZldueE1URStYdTdtNjNUMTVlbnBvMmJWcm84YTZNRUFFQUFBQ0FVNWhNSnIzNTVwczZkZXFVdkx5OHRHclZLdFd0VzlkdW40eU1ESlVyVjA2U1ZMRmlSYzJmUDk5bW53TUhEdWlCQng2d2FYdnV1ZWVLdFhiY1BtZGMvL1BuejJ2NDhPR0tpb3FTMld6V2lCRWo5T0dISDZwR2pSckt6YzNWNk5HajllT1BQeW8yTmxhZW5wNlNwSzVkdTFyRGdyMTc5MnJ5NU1sNjc3MzNWTDU4ZVowL2YxNURodzdWRzIrOG9UcDE2aFRIcjhYbEVDSUFBQUFBS0hhVEowL1d1blhyNU8zdHJhU2tKSzFjdVZJelo4N1UrKysvYjdOZnUzYnQxS0ZEQjFrc0ZsV3VYRm0rdnI3cTA2ZVB6VDZGZllsRXllYXM2NStRa0tEdzhIQzFidDFha25UczJERzk4TUlMR2p4NHNKWXZYeTVKaW8yTlZhVktsV3lPZStxcHAzVHAwaVZKVWxaV2xwNTk5bGxKVWtaR2hpd1dpNktqb3lYSkduNWNxMzM3OXJmeUszRlpoQWdBQUFBQWlsMVVWSlNpb3FMVW9rVUxTVkw5K3ZXMWNPRkMxYWhSdzJhL3NXUEgvdW01SWlJaXRHalJvbUtwRThYRFdkZS9mLy8rOHZEd3NObjM4ODgvMTlpeFkrWHI2NnRwMDZiWkJRalMxWlVjL3ZlLy8wbTZPcDlDMmJKbDlhOS8vVXV4c2JHcVVLR0NPbmJzS0RjM043VnMyZEx1V0lZekFBQUFBRUF4cTEyN3RrSkRRK1h1N200enNkN0ZpeGZsN2UydDVPUmthMXZ6NXMxdHVyMVhxMVpOTDd6d2d2WDF5Wk1ubFpTVTVKekNjVWNVMS9YMzh2TFMwYU5IbFpLU291VGtaTzNidDAvaDRlR0tqbzdXVjE5OXBhaW9LSlV2WDE3Tm16ZlhBdzg4b0h2dXVVZk5taldUSktXbHBXbkNoQW5LeU1qUWYvLzdYMGxTaHc0ZDlNNDc3MmpWcWxWNjg4MDM3VDdIamgwN0NnMFFKTW5kM1YwN2R1eTRqZDlTeVVTSUFBQUFBTUFRYjczMWxsYXZYcTFaczJaSnVyb3NYN2R1M2F4ZjZxNTE3ZE5sbEE1Myt2cWJ6V1oxNjlaTkdSa1phdHk0c1RwMDZLQXBVNmJJMTlkWDB0VkpHd2NQSHF5VWxCU2xwS1RvMDA4L1ZmMzY5YTN2TjN2MmJOV3FWVXU3ZHUxUy8vNzliYzdkdFd0WEhUNTgyS2J0K3BVWkxseTRvQjA3ZHFoRml4WUtDQWl3dHBlMkZScjRrd2dBQUFEQUVHM2J0bFZzYkt5U2s1UFZ0bTFieGNYRktUYzNWeSsvL0xMUnBjRUo3dlQxOS9UMDFNS0ZDK1h2NzY4bVRab29KU1ZGa3laTktuVGZqSXdNN2Q2OTI2YnR0ZGRla3lTdFdMSENadldGaUlnSVBmMzAwNUtrY2VQR1dkdTl2THhzZXNBVUROV1FWR1I3YVVDSUFBQUFBTUNwamh3NW9nMGJOcWh2Mzc0YU4yNmNCZzBhcFAzNzkydmR1bldhTTJlTzljbHhnUW9WS21qdTNMbEZucTlkdTNiRlhUTHVvT0s4L3Y3Ky90YWZOMjdjV0N5dTczOEFBQjRkU1VSQlZPUXhUWm8wdVkxUGNIY2pSQUFBQUFEZ0ZLZE9uWkxaYkZiZnZuMDFiTmd3U1pLUGo0K0NnNE8xYU5FaWRlblNSVUZCUVhiSHBhV2wyWFV2aCt0eHBldGYwUE5BdWhwaUZDVTNOOWNaNVpRb2hBZ0FBQUFBbkNJMU5WVVBQL3l3Um80Y3FVT0hEbW40OE9INjdydnYxTHQzYjQwZlAxNnpaczFTWkdTa1FrTkQxYng1Y3lVa0pGZ25yYnQ4K1hLUjUwMUxTMU9mUG4wVUZoWm10eHdnU2c1blgvOWI3YUV5ZnZ4NE5XN2MyUHA2eDQ0ZE9uZnVuTEt5c3VUcDZXbHRONXZONnQ2OWU2SG51RGFFTUp2TnQxUkhTVVdJQUFBQUFNQXA2dGF0cTdsejUycnIxcTJLaTR0VFpHU2t4bzRkS3o4L1AwblNxRkdqZE9MRUNhMWR1MVpidG16UmdnVUxiTDYwd2JVNSsvcmZhTVdPR3cxbnVEWkFrSzRPaXhneVpJaTh2YjNWdTNkdmEzdjE2dFcxYXRVcTYrdk9uVHRMa3FwV3Jhcmx5NWZidFpjV2hBZ0FBQUFBbkNvME5GU2hvYUdGYnJ2bm5udjAwa3N2T2JraU9KTXpybjlLU3NwTmJWKzVjbVdSKzc3eHhodDY0NDAzN05xdkRSQ3VmVjFVZTJuaFpuUUJBQUFBQUFEY1NXNXVOLzZxZS8zMnYvemxMOFZaVHFsU0tub2loSVNFR0YwQ0FBQUFVR3FkUEhsU2xTcFZLbkZEQzQ0ZE82Wjc3NzMzcG83NS9mZmZWYXRXcldLcUNJWGhPcFV1THQwVG9WNjlla2FYZ092d0J4MEFBS0Iwc1Znc0dqaHdvTFp0Mitid01WOTk5WlZPbno1dGZkMmlSUXViN1o5OTlwbU9IejkrMjdWMTZ0VEpyczFpc2VqOCtmUGF1M2V2UHZua0V5MVlzTUJtKzdVVDNzRTVqTDVPRm90RjQ4ZVBWMTVlbmtQN1g3bHlSUjkrK0tFc0Zvc3NGb3RTVTFPdDI5NTU1eDNyenhrWkdUYkg3ZCsvWHlOSGpyUnAyN1ZybDBKRFE3Vjc5KzdiK0FRbGkwdjNSSWlMaXpPNmhEdWlvQ2ZGbmoxN0RLNEVBQUFBc0xWczJUTDk4Y2NmR2pObWpNYU1HVlBvUHZQbXpiTjdtTlN2WHo5Tm1EQkJkZXZXdGJabFoyZHI0c1NKK3Vtbm56Umh3Z1JyKzRVTEZ4UWVIcTZ5WmNzV1dVZG1acWErL1BKTEJRUUVGTG85TWpKU09UazVNcHZOOHZYMVZVQkFnQUlEQTFXcFVpV1p6ZVlpZTFHMGJObXkwUGIvL2U5L1JkYUNXK2VNNnpSNDhHQTFhZExFT2duaTNyMTdkZkRnUWJtN3V5c2tKRVJWcTFhMU8rYk1tVFBhdFd1WEpDa3hNVkVIRGh5UW01dWJ2dnZ1TzczKyt1dWFNV09HL3ZhM3YrbVRUejdSRzIrOG9RTUhEbWpZc0dGYXZueTV5cFVySitscWVGYXhZa1hyT1RNek16Vmh3Z1IxN05oUk1URXhXclJva1h4OGZHN3VGMVlDdVhTSUFBQUFBS0Q0SER4NFVBa0pDUW9NRE5Ta1NaUFVzR0ZENjdiOC9IeU5HalZLaHc0ZFV2WHExVzJPYTlPbWpRSUNBdlRUVHovWmhBamZmdnV0eXBVcnAvajRlSGw1ZWRtOTMrYk5tNHVzNWMrR01KODllMVlwS1NsL09oYitlcGN2WDdaN1NzeHc2ZUpUM05mcHlKRWordmJiYjIxNkRIejIyV2ZXRlJLOHZMeVVtSmhvZDF4QmI1bjA5SFRObWpWTFpyTlo3ZHUzMThDQkEvWHl5eTlyeElnUit2ampqeVZKRnk5ZTFJZ1JJL1QyMjI5YkF3Ukordnp6enpWeDRrUkpVbTV1cmthT0hLbldyVnRyNk5DaG1qUnBrcUtpb2pSMTZsUjVlM3ZmMUdjdmFRZ1JBQUFBQU5nNWYvNjhoZzhmcnFpb0tKbk5abzBZTVVJZmZ2aWhhdFNvb2R6Y1hJMGVQVm8vL3ZpalltTmpiWjRlLy92Zi8xWmFXcHIxOWRLbFMyVTJtMjJXdVNzWUdsRzdkbTJOSHovK3BtdHIzNzY5cEt2ZDFOdTNiMjg5eDQyK21NYkV4RmkvUExadTNWclNqVU1MM0Q0anJ0T3laY3ZVcmwwNytmdjdTNUt5c3JLMGFkTW11MkVHUlJrM2JweGF0MjZ0MTE5LzNhYTlSWXNXY25kM2x5U1ZMMTlla3lkUFZ1M2F0YTNiZCsvZXJmUG56NnQyN2RxNmNPR0NvcU9qZGUrOTkycklrQ0dTcE9IRGgydk1tREY2L3ZubjljNDc3K2krKys1eitET1ZOSVFJQUFBQUFPd2tKQ1FvUER6YytrWHUyTEZqZXVHRkZ6UjQ4R0F0WDc1Y2toUWJHNnRLbFNyWkhCY2JHeXZwNmhmSHBVdVg2cWVmZnRLSkV5ZlVva1VMaFlTRUtEUTB0TWd1NiszYXRYT290b0l2bVUyYU5DbjBxWEpob3FPakZSMGRyWkNRRU1JREozSDJkY3JPenRhbm4zNXFNNzlDUWtLQ2NuSnk1T0Z4OWF0dmJtNnVOZHk0Vmw1ZW52THk4dVRuNTZjREJ3NVk3OFhCZ3dmcnJiZmVzZzYxOGZYMXRmNlpjSGQzMThhTkd5VkpDeGN1bEhSMVFzaVhYMzVaSFR0MjFJQUJBNnpuZDNOejA2aFJveFFmSDY4K2Zmb29MaTVPTld2V3ZLblBWMUlRSWdBQUFBQ3cwNzkvZitzWEwwbUtpSWpRNTU5L3JyRmp4OHJYMTFmVHBrMnpDeEFLYk4rK1hiTm56MWI5K3ZVMWR1eFliZHEwU1owN2Q5YXFWYXMwZmZwMHRXelpVaDA3ZHRUZi8vNTNtK09Ta3BLS3JLZW9JUVlaR1JueThmR1J4V0t4ZnJtNzNzc3Z2Nnh1M2JyWnRHVm5aOHZYMTdmSTk4T2Q1WXpydEhidFd0V3RXOWM2UDhmWnMyZjEyV2VmMmV4VHRteFptNTRPQlVIRmswOCtLWGQzZDczOTl0dVNwTEN3TUd0QThPNjc3eFlhYUlTRmhVbTYyZ3ZoN05temtxVDc3cnRQVTZaTVViMTY5UlFTRW1JejcxMlRKazIwZS9kdWRlalF3ZHBUd2hVUklnQUFBQUN3NCtYbHBhTkhqeW9sSlVYSnljbmF0Mitmd3NQREZSMGRyYSsrK2twUlVWRXFYNzY4bWpkdnJnY2VlRUQzM0hPUDZ0U3BvOTY5ZTh0a01tbkVpQkY2OU5GSEpWME5KR3JWcXFYbzZHZ05HalJJaVltSkdqRmloQ3BYcnF3NWMrYmNWRjE1ZVhuNjZhZWZ0SGZ2WGxrc0ZqMzc3TE5hdUhDaHZMeThiTDdvaFlTRWFOZXVYZFl1NkdmUG50WFhYMzh0NmVyTS8yNXVidnJvbzQvdTBHOEwxM1AyZGNyUHo5Znk1Y3V0d3djazZldXZ2OWFJRVNQMHlpdXZXTnRlZSswMXBhZW4yMzJKWDdObVRaSG56c3JLc2dZR2hVbE1UTlIvL3ZNZnZmTEtLM0p6Yy92VFZRUmRPVUNRQ0JFQUFBQUFYTWRzTnF0YnQyN0t5TWhRNDhhTjFhRkRCMDJaTXNYNlJEZ2tKRVNEQnc5V1NrcUtVbEpTOU9tbm42cCsvZnBxMXF5WjNubm5IZFdwVThjNjdqMHRMVTFMbGl6Ujg4OC9MMG55OGZIUlUwODlwUzVkdW1qLy92MDI0K01kR2M1dzZ0UXBUWmt5UlUyYU5KR2JtNXMrK2VRVFhiaHdRWDUrZmpjODd2MzMzN2NPbzVnOWU3WUNBd052NlhjRHh6ajdPdTNZc1VObXMxbXRXcld5dGhWMlAwMmZQbDFObWpRcGRKOW5uMzNXR2xoa1pHUllKMWIwOC9PejlrcTRWa0d3TUdqUUlBVUZCZGxzeTgzTkxYVHkwTktBRUFFQUFBQ0FEVTlQVHkxY3VGRCsvdjVxMHFTSlVsSlNOR25TcEVMM3pjaklzSmsxZjhTSUVUYmJzN096bFptWnFUWnQydGd0YjFlbFNoWHJXSExKc2VFTXdjSEIxakh2Q3hZc2tKdWJtNDRkTzZiS2xTdmY4RE9OSGoxYWtyUjY5V29DQkNkdzluWDY2S09QckQwWGluTGh3Z1ZsWm1iYW5QZjZlNjVuejU2U3JnWUVCY01lcmwyT3RERFhCd2lTZFBUb1VWV3BVc1hoK2wwSklRSUFBQUFBTzlkMnVTN3NLV3lCYTUvcVN2WmZ5Z1lNR0tDS0ZTdnFsMTkrS2JZZUFOOTk5NTNkL0Fvb2VZcnJPaDA5ZXRSdVdjZkNiTjI2VlpjdVhWSmlZcUtlZU9JSmg4K2ZsWldsaUlpSW02cHArL2J0YXRDZ3dVMGQ0eW9JRVFBQUFBRGNjWmN2WDliRWlSTmxNcGswWnN3WWZmVFJSK3JWcTVlaW9xTDAyR09QeVdReTNmSzVMUmFMY25KeTVPYm1wdno4ZkNVbUpscUhTOXhJVmxhVzNmdGFMSlliam5mSHJYUFdkU3BZMXJGY3VYSTNyR1h4NHNWNisrMjM5Y0VISHlnckswc1dpOFZtbi96OGZKdjMzYlJwazhxVUtTTS9Qejk5OGNVWGR1Y3NxcDdzN0d3dFhicFVvMGFOS3JJZVYwYUlBQUFBQU9DR0hGMTY4ZkxseS9yKysrKzFjK2RPclZ1M1RvODg4b2ltVEpraU56YzM5ZWpSUTNYcTFOSFVxVk0xYmRvMHRXclZTblhyMXJVWncxN1VyUDNYaTR5TVZHcHFxbHExYXFXZE8zY3FOVFgxVDRPQUdUTm1hTkdpUldyUm9vVk51NXVibTExUGk2Sldnc0ROY2NaMUtsaldjZjc4K1RjODc5S2xTeFVVRktRbm5uaENEUm8wMFBUcDArWHU3cTQyYmRySVlyRW9MeTlQOTl4emoxYXNXS0dmZi81WjZlbnBXckpraVhWNFJZSE16RXpsNStmcjNMbHpOcXVYRk1qUHo5ZnJyNyt1KysrL1g4MmFOYnRoVGE2S0VBRUFBQURBRGQxb3JvSnJoelBrNWVWcHdZSUZxbGV2bm1iUG5xMmFOV3ZhN051b1VTUEZ4Y1hwd0lFRDJyeDVzL2J1M2F0Ly92T2Z5czdPVmtoSWlPYk9uVnZrKzF5NzVPU25uMzRxTnpjM3VidTd5MncyYTlTb1VmTDI5cmJaLy9ISEg3ZDVxanhreUJBTkhqelk3Z2wzU2txSzNYdnQycldyeURyZ09HZGNKM2QzOTBLWFg3eFd6NTQ5RlJrWmFRM0RhdFNvb1NsVHB0anNjMjB2aEdyVnFpazZPbHBQUC8yMFhSMkppWW42NElNUFpES1oxS1ZMRjV0dC9mcjFrOGxrMGpQUFBLTTZkZXJZMVJFVkZYWERPbDJGS1Q4L1A5L29JdTUyQlVubnRXdUlBaWhlL0xuRDdlSWVBdjZmcVZPbktqNCtYc09HRGJOT1NnYmozT20vbnl3V3l3MG5xL3V6N1hjN1YvL3ZoYXZYWDlxVWhPdkJuM1lBQUFBQVJmcXpnSUFBQWJpNzhDY2VBQUFBQUFBNGhCQUJBQUFBQUFBNGhCQUJBQUFBQUFBNGhCQUJBQUFBQUFBNGhCQUJBQUFBQUFBNGhCQUJBQUFBQUFBNGhCQUJBQUFBQUFBNGhCQUJBQUFBQUFBNGhCQUJBQUFBQUFBNGhCQUJBQUFBQUFBNGhCQUJBQUFBQUFBNGhCQUJBQUFBQUFBNGhCQUJBQUFBQUFBNGhCQUJBQUFBQUFBNGhCQUJBQUFBQUFBNGhCQUJBQUFBQUFBNGhCQUJBQUFBQUFBNHhNUG9BZ0FBQUFEY2VTRWhJVWFYZ0ZLRSt3a0Y2SWtBQUFBQWxDTDE2dFV6dWdSY3AxYXRXa2FYY011NG4wb2VvKzhuZWlJQUFBQUFwVWhjWEp6Ukpkd1JVNmRPVlh4OHZJWU5HNmFlUFhzYVhjNWRpL3NKMTZNbk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FnaEFnQUFBQUFBY0lpSDBRVUFBT0FLZHUzYXBXM2J0dG0xVDUwNjFmcHpnd1lORkI0ZTdzeXlBQUFBbklvUUFRQUFCN2k3dXlzK1B0NnUvZHEybUpnWVo1WUVBQURnZEF4bkFBREFBUTBiTnBTL3YzK1IyLzM4L0JRYUd1ckVpZ0FBQUp5UEVBRUFBQWQ0ZUhqbzhjY2ZMM0o3czJiTjVPbnA2Y1NLQUFBQW5JOFFBUUFBQjRXRmhSVzVyVzNidGs2c0JBQUF3QmlFQ0FBQU9LaFJvMGJ5OC9PemF5OVRwb3phdEduai9JSUFBQUNjakJBQkFBQUhlWGw1RmJyNlF0T21UZVh0N1cxQVJRQUFBTTVGaUFBQXdFMG9MRVM0MFRBSEFBQ0Ewb1FRQVFDQW14QVNFaUlmSHgvcmEyOXY3MEtEQlFBQWdOS0lFQUVBZ0p2ZzQrTmpNLzlCU0VpSWZIMTlqU3NJQUFEQWlRZ1JBQUM0U2RmMlBHQkNSUUFBY0RmeE1Mb0FBQUJjVGRPbVRlWGw1U1dMeGFLSWlBaWp5d0VBQUhBYVFnUUFBRzZTbjUrZlFrTkRsWjZlTG45L2Y2UExBUUFBY0JwQ0JBQUFia0ZFUklUT256OXZkQmtBQUFCT1JZZ0FBQ2pSY25KeXRIMzdkdTNaczBkNzkrN1ZtVE5uZFBIaVJWMjVjc1hvMGlSSk1URXhocjYvdTd1Ny9QMzlGUlFVcElZTkd5b2tKRVNQUFBLSS9QejhESzBMQUFDVVRvUUlBSUFTS1QwOVhZc1hMOWF5WmN1VWxaVmxkRGtsVmw1ZW50TFMwcFNXbHFaZmZ2bEZLMWFzVUpreVpkUzVjMmM5Ly96ekNnd01OTHBFQUFCUWloQWlBQUJLbk9Ua1pJMGJOMDRaR1JreW1VeHExS2lSSG4zMFVUMzg4TU1LRGc1V1FFQ0FQRHo0VDVna1hibHlSUmN2WHRUSmt5ZjF6VGZmYVB2MjdmcjY2NisxZE9sU3JWbXpSdEhSMFhyaWlTZU1MaE1BQUpRUy9Bc01BRkJpNU9YbGFlclVxVXBJU0pBa3RXN2RXa09IRGxXTkdqVU1ycXprOHZEd1VNV0tGVld4WWtVOStPQ0Q2dDI3dDA2Y09LRVpNMmJvaXkrKzBLaFJvL1R0dDkvcTlkZGZKM2dCQUFDM3pjM29BZ0FBa0s0K1VSODdkcXdTRWhKVXJsdzVUWnc0VVZPbVRDRkF1QVgzM0hPUEpreVlvSmt6WjZwQ2hRcGFzMmFOUm80Y1dXTG1rUUFBQUs2TEVBRUFVQ0s4OTk1Nyt2VFRUeFVVRktTRkN4Y3FQRHpjNkpKY1h2UG16YlY0OFdJRkJ3ZnJxNisrMGp2dnZHTjBTUUFBd01VUklnQUFESmVVbEtUNCtIZ0ZCQVJvM3J4NXFsbXpwdEVsbFJwVnExYlZ2SG56RkJRVXBMVnIxMnJac21WR2x3UUFBRndZSVFJQXdGQm56NTdWK1BIajVlN3Vydi8rOTcrcVZxMmEwU1dWT2xXcVZOR2tTWlBrNGVHaEdUTm02Tml4WTBhWEJBQUFYQlFoQWdEQVVKTW1UVkpXVnBhNmQrK3VaczJhR1YxT3FmWGdndy9xcFpkZVVrNU9qc2FORzJkME9RQUF3RVVSSWdBQURQUEREejhvT1RsWlZhdFcxYUJCZzR3dXA5VHIyYk9uYXRhc3FkMjdkMnZIamgxR2x3TUFBRndRSVFJQXdEQ3paOCtXSlBYcjEwOWVYbDRHVjFQNmVYcDZhc2lRSVpLa09YUG1HRndOQUFCd1JZUUlBQUJEL1A3Nzc5cTVjNmVDZzRQVm9VTUhvOHU1YTdScTFVcC8vZXRmOWNNUFArakhIMzgwdWh3QUFPQmlDQkVBQUliNDVKTlBKRWtkTzNhVXlXUXl1SnE3aDhsa1VxOWV2U1JKUzVZc01iZ2FBQURnYWdnUkFBQk9aemFibFppWUtBOFBEM1h1M05ub2N1NDZZV0ZoOHZUMDFQYnQyM1g1OG1Xanl3RUFBQzZFRUFFQTRIVGZmUE9OMHRQVDFhaFJJd1VFQkJoZHpsMm5iTm15YXQyNnRUSXpNN1Y1ODJhanl3RUFBQzZFRUFFQTRIUTdkKzZVSkQzNjZLTUdWM0wzZXV5eHh5UkpXN2R1TmJnU0FBRGdTZ2dSQUFCT3QyWExGa2xYSi9tRE1SbzJiQ2hKK3ZiYmJ3MnVCQUFBdUJKQ0JBQ0FVMTI4ZUZHSER4OVdZR0NnYXRTb1lYUTVkNjJxVmF1cVNwVXFPbm55cEZKVFU0MHVCd0FBdUFoQ0JBQ0FVLzM2NjYrU3BMLzk3VzhHVjRJR0RScElrcjc3N2p1REt3RUFBSzZDRUFFQTRGU0hEeCtXSk4xMzMzM0dGZ0xWcVZOSGtyUi8vMzZES3dFQUFLNkNFQUVBNEZRRklVSkpIY3FRbjUrdlpjdVdLVDgvLzZhUC9lV1hYM1RvMEtGaXFLcDRCQWNIUzVLT0hqMXFjQ1VBQU1CVmVCaGRBQURBTmNYRnhjblQwMU9kT25WU21USmxIRDd1anovK2tDUlZyMTY5dUVxN0xULzk5Sk9Ta3BMVXJWczNOVzdjdU5BNmp4dzVvcSsvL3RxdVBUWTJWcUdob1M3VHk2SktsU3FTcEZPblR0MzBzVjk5OVpYbXo1K3Z1TGk0TzEwV0FBQW93UWdSQUFDM1pNT0dEZHEvZjc4bVQ1NnMrKzY3VCszYnQxZVhMbDFVdG16Wkd4NTM3dHc1U1ZLbFNwV2NVZVpOKy9MTEw5V2hRd2RKa3FlbnAxYXRXbVczVDRzV0xTUkphOWV1MWVUSmt5VkpWNjVjVVc1dXJuYnUzS21ZbUpnaXo3OTU4K1ppcVByV2xDOWZYdExWeVM0ZGtaU1VwSVVMRityZ3dZT3lXQ3pGV1JvQUFDaWhDQkVBQUxjbFB6OWZCdzhlMUl3Wk16Ump4Z3hWcTFaTjdkcTEwMU5QUGFYQXdFQzcvYytmUHk5SnFsQ2hnck5ML1ZONWVYbEtUazdXOHVYTEhkcS9RNGNPMXNEaHpUZmZWSEJ3c0FZTUdGQ2NKZDVSL3Y3K2ttNGNJcXhjdVZKTGx5N1ZrU05IYm1tSUJ3QUFLRjBJRVFBQWQ5VFJvMGMxZCs1Y3paczNUMVdyVmxWRVJJU2VlZVlaQlFVRlNaSXVYYm9rU2ZMMTlUV3l6RUo5OXRsbnlzek10QTdQTUp2TjZ0eTVzOTErWnJQWjV2VVBQL3lnRXlkTzZMbm5ubE5ZV0pqZC9qazVPYnA4K2JLV0wxK3VXclZxRlUveHQ2RGdjMTYrZk5tbVBUNCtYaXRXck5EeDQ4Y0pEZ0FBZ0ExVFB2ODZNRnhJU0lqUkpRQkFzYXRjdWJMYXRtMnJaY3VXS1M4dlR5a3BLZkx3S0RsWmRtNXVycnAzNzY0TEZ5NW80OGFOa3FUT25UdGJoek9FaFlWWjIvdjE2NmQ1OCtaSmtyS3pzOVc3ZDIvTm5qM2Jib2lHMld6V3NtWEw5UEhISDZ0UG56N3EwS0dEM054S3pwekdlWGw1YXRxMHFkemQzZFcvZjMrdFhyMzZsdVpIQUFEQVZRd2JOa3c5ZS9ZMHVneVhWbkwrSlhNWHExZXZudEVsQUVDeHlzL1BWMDVPams2ZlBtMXRNNWxNQmxaa2I5MjZkZGE1RGdvVU5oK0NKR3VBWUxGWU5IcjBhQjArZkxqUU9SNjZkT21pbkp3Y0xWMjZWQjA3ZGl4UkFjSzE4dlB6ZGViTUdXVm1aaHBkQ2dBQXhjYkx5MHQvKzl2ZmpDN0Q1ZEVUQVFCd1MzcjI3S245Ky9mZmNKK0FnQUMxYU5GQ0F3WU1zQzRuMkxKbFMxMjZkRWxidDI0dFVVTWFqaDA3cHNEQVFMVnYzMTR6Wjg3VXE2KythdDEyOHVSSjVlWGxxVXlaTWpaaFFjZU9IWldhbXFxVksxZHEyN1p0ZXV5eHgyek9tWm1aYVRmUjVLZWZmbXFkaThCb09UazVldlRSUjFXbVRCbHQyN1pOMHRYZUNUTm16TkRhdFd1Vm5wNytwK2ZZczJkUGNaY0pBQUJLa0pMVGp4UUFVQ3BVckZoUm9hR2hHakJnUUtGUDUzMThmSFRwMGlWZHVuU3BSSVVJOTk1N3IvWG5PblhxYU0yYU5aS2t6ei8vWE45ODg0MlNrNU1WRWhLaXZuMzdxbmJ0MnBLazFOUlUrZm41YWVYS2xYSnpjN05iZWFGSmt5WWxhaldHNnhYTWhlRGw1V1Z0YzNkMzE3Qmh3elJzMkRCSjB0eTVjN1Y4K1hLbHBhVVpVaU1BQUNoWlNtYS9TZ0NBU3drS0NsTDM3dDMxNVpkZmFzT0dEWHJycmJlS1hNS3hZc1dLa3VRU1gwcTNiTm1pcFV1WDZqLy8rWThrNmRWWFg5V1lNV09zVDk4REF3UGw3ZTF0WkltM3BhQ25RY0ZTajRYcDM3Ky9rcE9UdFdmUEhrVkZSWlhZcFRrQkFJQnowQk1CQUhCTEdqZHVyS1pObTZwdjM3NDMxYU9nVXFWSyt2WFhYM1h1M0xrU095NHhOemRYSDM3NG9UWnYzcXozMzMvZit2a3FWcXlvaVJNbmF1alFvV3JRb0lGR2poenAwaUZDd2RLT0FRRUJEdTNmbzBjUDllalJRNUwweVNlZldPZUdBQUFBZHc5Q0JBREFMU2w0T24renFsZXZyaDA3ZHVqbzBhTnEzcno1SGE3cXpqaHc0SURPbmoycjJOaFl1emtOZ29PRHRYanhZbTNZc0tIUUFDRTNOMWVYTDE5V1hsNmVQRDA5blZYeUxTbVk2TEpLbFNvM2ZXekhqaDNWc1dQSE8xMFNBQUFvNFFnUkFBQk9WYk5tVFVuUzRjT0hEYTJqS0wxNjlWS0RCZzNVb0VFRG0vWk9uVHBaZi9ieDhkR1RUejVwZlgzdG5BTG56NTlYejU0OWxaK2ZyNjVkdXhaL3diZmh4SWtUa216bmd3QUFBTGdSUWdRQWdGT1Y5QkRoK2VlZkw3Ujk4T0RCUlI1ejdlU0pWYXRXMVpkZmZubkg2eW9PQnc0Y2tDVHJSSkVBQUFCL2hva1ZBUUJPZGYvOTkwdVNmdnZ0TjRNcndkNjlleVZKalJvMU1yZ1NBQURnS2dnUkFBQk9GUkFRb0dyVnF1bmN1WE02ZHV5WTBlWGN0YzZjT2FPVEowK3FTcFVxQ2dvS01yb2NBQURnSWdnUkFBQk8xNnBWSzBuUzFxMWJEYTdrN2xYUUMrR2hoeDR5dUJJQUFPQktDQkVBQUU1WHNDckR0bTNiREs3azdsVXdqMFBMbGkwTnJnUUFBTGdTUWdRQWdOT0ZoSVRJejg5UFgzLzl0VEl5TW93dTU2NlRuWjJ0alJzM3FreVpNZ29MQ3pPNkhBQUE0RUlJRVFBQVR1ZnQ3YTNJeUVpWnpXYXRXYlBHNkhMdU9wczNiOWJseTVmMXlDT1BxRXlaTWthWEF3QUFYQWdoQWdEQUVCMDdkcFFrclZxMVN2bjUrUVpYYy9mSXo4OVhmSHk4SktsNzkrNEdWd01BQUZ3TklRSUF3QkFQUFBDQUhuNzRZZjN4eHg5YXYzNjkwZVhjTlhidTNLa0RCdzdvZ1FjZVVFaElpTkhsQUFBQUYwT0lBQUF3eklBQkF5UkpjK2JNa2Rsc05yaWEwdS9LbFN0Njc3MzNKRW45K3ZVenVCb0FBT0NLQ0JFQUFJWjUrT0dIMWJKbFN4MDVja1R6NXMwenVweFNiOFdLRmZyNTU1L1ZzR0ZEdFduVHh1aHlBQUNBQ3pMbE14QVZBR0NnNDhlUHExdTNiaktiemZyd3d3OVZ2MzU5bzBzcWxYNzc3VGYxNnRWTEpwTkppeGN2VnExYXRZd3VDUUFBdUNCNklnQUFEQlVjSEt5b3FDaGR1WEpGMGRIUk9uMzZ0TkVsbFRxcHFha2FQbnk0Y25OejFiZHZYd0lFQUFCd3l3Z1JBQUNHNjlTcGt6cDE2cVN6WjgrcVg3OStPbm55cE5FbGxScm56cDNUU3krOXBPUEhqNnR0MjdaNjRZVVhqQzRKQUFDNE1FSUVBRUNKOE9xcnI2cE5telk2ZnZ5NGV2WHFwZDI3ZHh0ZGtzdjc0WWNmMUt0WEwvMysrKzlxMnJTcHhvNGRhM1JKQUFEQXhURW5BZ0NneExoeTVZckdqQm1qZGV2V1NaSTZkT2lnL3YzN3EyclZxZ1pYNWxyT25UdW4yTmhZclZpeFF2bjUrWHJzc2NjMFljSUVlWGg0R0YwYUFBQndjWVFJQUlBUzUrT1BQOWIwNmRPVmxaVWxrOG1rME5CUWhZZUhxM2J0MmdvS0NsTFpzbVg1UXZ6L3k4dkxVMlptcHM2ZE82ZWZmLzVabXpkdjFzYU5HMld4V09UajQ2TVhYM3hSdlhyMU1ycE1BQUJRU2hBaUFBQktwTlRVVkwzLy92dGF2MzY5Y25KeWpDN0hwWGg3ZXlzc0xFeURCdzlXbFNwVmpDNEhBQUNVSW9RSUFJQVNMU3NyUzU5OTlwbjI3Tm1qWDMvOVZXbHBhY3JNekZSZVhwN1JwWlVJYm01dUtsdTJyTXFYTDYrLy8vM3ZhdFNva2RxM2J5OS9mMytqU3dNQUFLVVFJUUlBQUFBQUFIQUlxek1BQUFBQUFBQ0hFQ0lBQUFBQUFBQ0hFQ0lBQUFBQUFBQ0hFQ0lBQUFBQUFBQ0hFQ0lBQUFBQUFBQ0hFQ0lBQUFBQUFBQ0hFQ0lBQUFBQUFBQ0hFQ0lBQUFBQUFBQ0hFQ0lBQUFBQUFBQ0hFQ0lBQUFBQUFBQ0hFQ0lBQUFBQUFBQ0hFQ0lBQUFBQUFBQ0hFQ0lBQUFBQUFBQ0hFQ0lBQUFBQUFBQ0hFQ0lBQUFBQUFBQ0hFQ0lBQUFBQUFBQ0hFQ0lBQUFBQUFBQ0hFQ0lBd1AvWGpoMElBQUFBQUFqeXQxNWhnTUlJQUFCWUpBSUFBQUN3U0FRQUFBQmdrUWdBQUFEQUloRUFBQUNBUlNJQUFBQUFpMFFBQUFBQUZva0FBQUFBTEJJQkFBQUFXQ1FDQUFBQXNFZ0VBQUFBWUpFSUFBQUF3Q0lSQUFBQWdDVnhSS0ZqT0NYRFJBQUFBQUJKUlU1RXJrSmdnZz09IiwKCSJUaGVtZSIgOiAiIiwKCSJUeXBlIiA6ICJmbG93IiwKCSJWZXJzaW9uIiA6ICIiCn0K"/>
    </extobj>
    <extobj name="C9F754DE-2CAD-44b6-B708-469DEB6407EB-3">
      <extobjdata type="C9F754DE-2CAD-44b6-B708-469DEB6407EB" data="ewoJIkZpbGVJZCIgOiAiMTg2NTQ2MjUwOTM2IiwKCSJHcm91cElkIiA6ICI0MDI4MDQwNDYiLAoJIkltYWdlIiA6ICJpVkJPUncwS0dnb0FBQUFOU1VoRVVnQUFCZ3NBQUFPTkNBWUFBQUM0R0ZBOUFBQUFDWEJJV1hNQUFBc1RBQUFMRXdFQW1wd1lBQUFnQUVsRVFWUjRuT3pkZDJBVVpmN0g4Yy91WnRNclNVaENTUUlrTk9uU1ZMQWdDZ3FvQ05hZllybGlRNzNEZGdxbm5sZFZiQng0ZUtlZTlmUXNwM2lvS0o2b1NFZDZTZWdwUUNDUVJ1cHVrdjM5RWJNbUpKdnNKaHMyWk42dnYzWjJacDc1N2dZZlorY3o4endtaDhQaEVBQUFBQUFBQUFBQTZKQk1KcE9wdVczTXA2SVFBQUFBQUFBQUFBRFFmaEVXQUFBQUFBQUFBQUJnY0lRRkFBQUFBQUFBQUFBWUhHRUJBQUFBQUFBQUFBQUdSMWdBQUFBQUFBQUFBSURCRVJZQUFBQUFBQUFBQUdCd2hBVUFBQUFBQUFBQUFCZ2NZUUVBQUFBQUFBQUFBQVpIV0FBQUFBQUFBQUFBZ01FUkZnQUFBQUFBQUFBQVlIQ0VCUUFBQUFBQUFBQUFHQnhoQVFBQUFBQUFBQUFBQmtkWUFBQUFBQUFBQUFDQXdSRVdBQUFBQUFBQUFBQmdjSVFGQUFBQUFBQUFBQUFZSEdFQkFBQUFBQUFBQUFBR1IxZ0FBQUFBQUFBQUFJREJFUllBQUFBQUFBQUFBR0J3aEFVQUFBQUFBQUFBQUJnY1lRRUFBQUFBQUFBQUFBWkhXQUFBQUFBQUFBQUFnTUVSRmdBQUFBQUFBQUFBWUhDRUJRQUFBQUFBQUFBQUdCeGhBUUFBQUFBQUFBQUFCa2RZQUFBQUFBQUFBQUNBd1JFV0FBQUFBQUFBQUFCZ2NJUUZBQUFBQUFBQUFBQVlIR0VCQUFBQUFBQUFBQUFHUjFnQUFBQUFBQUFBQUlEQkVSWUFBQUFBQUFBQUFHQndoQVVBQUFBQUFBQUFBQmdjWVFFQUFBQUFBQUFBQUFaSFdBQUFBQUFBQUFBQWdNRVJGZ0FBQUFBQUFBQUFZSENFQlFBQUFBQUFBQUFBR0J4aEFRQUFBQUFBQUFBQUJrZFlBQUFBQUFBQUFBQ0F3UkVXQUFBQUFBQUFBQUJnY0lRRkFBQUFBQUFBQUFBWUhHRUJBQUFBQUFBQUFBQUdSMWdBQUFBQUFBQUFBSURCRVJZQUFBQUFBQUFBQUdCd2hBVUFBQUFBQUFBQUFCZ2NZUUVBQUFBQUFBQUFBQVpIV0FBQUFBQUFBQUFBZ01INStib0FBQUFBdEkzU0twc1daYS9UMnVON2xGTmVvUElxdTY5TEF0Q09CVnFzaWcrTTFNam9GRjNlYllTQ0xmNitMZ2tBQUFDbmtNbmhjRGg4WFFRQUFBQzhhM05CaGhicytrSzVGVVcrTGdYQWFTZzJJRngzOVo2Z3daRkp2aTRGQUFBQVhtQXltVXpOYmtOWUFBQUEwTEZzTHNqUTQxdmY5M1VaQURxQTN3MjhXb01pRTMxZEJnQUFBRnJKbmJDQU9Rc0FBQUE2a05JcW14YnMrc0xYWlFEb0lPYnZXcUxTS3B1dnl3QUFBTUFwUUZnQUFBRFFnU3pLWHNmUVF3QzhKcmVpU0l1eTEvbTZEQUFBQUp3Q2hBVUFBQUFkeU5yamUzeGRBb0FPaG40RkFBREFHQWdMQUFBQU9wQ2M4Z0pmbHdDZ2c2RmZBUUFBTUFiQ0FnQUFnQTZrdk1ydTZ4SUFkREQwS3dBQUFNWkFXQUFBQUFBQUFBQUFnTUVSRmdBQUFBQUFBQUFBWUhDRUJRQUFBQUFBQUFBQUdCeGhBUUFBQUFBQUFBQUFCa2RZQUFBQUFBQUFBQUNBd1JFV0FBQUFBQUFBQUFCZ2NJUUZBQUFBQUFBQUFBQVlIR0VCQUFBQUFBQUFBQUFHUjFnQUFBQUFBQUFBQUlEQkVSWUFBQUFBQUFBQUFHQndoQVVBQUFBQUFBQUFBQmdjWVFFQUFBQUFBQUFBQUFaSFdBQUFBQUFBQUFBQWdNRVJGZ0FBQUFBQUFBQUFZSENFQlFBQUFBQUFBQUFBR0J4aEFRQUFBQUFBQUFBQUJrZFlBQUFBQUFBQUFBQ0F3UkVXQUFBQUFBQUFBQUJnY0lRRkFBQUFBQUFBQUFBWUhHRUJBQUFBQUFBQUFBQUdSMWdBQUFBQUFBQUFBSURCRVJZQUFBQUFBQUFBQUdCd2hBVUFBQUFBQUFBQUFCZ2NZUUVBQUFBQUFBQUFBQVpIV0FBQUFBQUFBQUFBZ01FUkZnQUFBQUFBQUFBQVlIQ0VCUUFBQUFBQUFBQUFHQnhoQVFBQUFBQUFBQUFBQnVmbjZ3SUFBQUJnSEVPaWtsVmVaVmRhMFVGZmw0Sm1kQTN1Skl1cDV0Nml6SkpqWG1zM01TUkdrbFRscU5iQjBqeXZ0U3RKNGRaZ0ZkbExYYTRQdEZoMVh1ZitTZ21OMTRMZFgzajEyQUFBQU1EcGpyQUFBQUFBclpJUUZLVUJFZDIxTkdlTHkyMmlBOEowUjhwRk9yTlRUeDJ2T0tGZmJYaGR4WlhsYnJVL01qcEZvNkpUOVBMZXIxVldaZk5XMldqR253ZGRwekJya0NScDZ2SzVYbXYzaFdFM1M1Sk8yTXMwWS9VQ3I3WGJNelJPVHc2NVh2L0wyYVozTTFlcXdGWlNiNzIvMlU4TFIveENFZFpnU2RMU25DM2FkZUt3MTQ3ZkV2OGNkYWNpL1d2cThlWjNEQUFBQUxRRXd4QUJBQUNneGNiSEQ5U3pRMmZvenRTTGRXSGNRSmZibFZWV09POG9qdzRJMDh6ZUU5MXFQellnWEhmM25xaHhjUVAwM0xDYjFEZThxMWZxUnNkaWtrbDNwRndrUDVORkV4SUc2LzYrVXhwc1k2dXUxSWE4L2M3bGFkMUhlNzJPeE9BWVBUSHdhaVdIeEhxOWJhbm12NTNIQmt6bnZ3TUFBQUMwQ1o0c0FBQUFRSXQxRGVxa1FJdFZrblJINmtVcXNKZm9oN3g5RGJZcnJiSnBYdnJuZW1MUU5USkpHaFdkb2drSmcvWEY0YzB1MjdhWXpMcXY3MlNGK2dWS2t1SUNJelEwS3JuSklZek1KcE5pQXNKYjk2RmF3VlpsVjRHTFlYRCtOdUxucDdTV085YTlmRXFQNTB1VHV3NVRTbGk4Sk1raDZZMzkzemE2M2NmWjYzUiszQmt5U1JvWjNVc0RJeE8xdFNEVEt6VjBEZTZrM3cyOFdwSCt3WHA2NkExNkoyT2xQc3BhSzRjY1htbi9qSWh1dXIvdlpZcjBEOVlaRWQzMGJOcW5XbjE4dDFmYUJnQUFBQ1RDQWdBQUFMVENHL3UvVTFKSWpJWkc5WkRGWk5iOWZhZm9vYzF2TnpyRy9iYkNMUDMzNEErNnJPdVprcVNiZXB5bkRYbjdsVnRSMUdqYlArdDVnZnFFZDNFdUw4M1pvbmN5VmpSWlQ1Ui9xRjRhOFl0V2ZLTFcyWmgvUUU5cys2RFJkZkdCa2FlNEdtUG9FaFNsRzVMSE9wZS95dG5xY25paHpOSmorajQzVFdOaiswcVNmdDV6bkdadGZFTlZqdXBXMTFGa0w5T3VFNGMwTWpwRmZpYUxia3dlcXlHUlNYbysvVFBsMllwYjFmWVYzVWJvaHVTeHpqa2tTaXB0T3VIbU1GNEFBQUNBdXdnTEFBQUEwR0lPT2ZSTTJtSTlQZVJHSlFSRkt0QmkxU1A5cCtyK2pXODJPaWZCV3dlV2ExUjBpdUlDSXhSazhkZWRxUmZyZDQxY1hKL1VaWmd1NlRMVXViejIrQjR0M0xPMFRUK0xOMVE2cW54ZFFvdk1IMzVyZy9kQ2ZueWl3OVg2MWdyeEMyeTAzWW9xdSs3YitLWmJiVmhNWnYycXo2WHlOOWY4ck1tekZldjEvZDgwdWMrYis3L1Q2T2dVV2MxK1NneUowZFdKWnpVYlFybmpoTDFNZjk3eHNTNUpHS0piZWw0Z3E5bWlnWkdKZW5iWUREMlg5cWsyRjJSNDNHYVlOVWgzOTU2b0VaMTZPZC9iVXBDcDU5SS9iVEFuQXdBQUFOQmFoQVVBQUFCb2xaTEtDajJidGxoL0dYSzlMQ2F6NGdJak5LdnY1RWJ2c0xkWFYrcnZlNzdTYndkTWt5UU5pT3l1bnFGeDJsZDh4TG5OMEtnZXVyWG5CYzdsN1lYWm1wdTJXTlVPN3d6bjBwWXFxMTJIQlUxTllKc1FGS1VYaC8vTXVYekRxcitxcExMQzdlUDZtU3hhTVB4V2RRNk1rQ1NQaDlicEd0U3BWZXRid213eU5kcHVlWlhkN1RadTZuR2VVc01Tbk1zTGR5OXQ5bnZMclNqU2Y3TFg2cHJFc3lWSjA3dVAxcWI4QTlyWnhQQldudmo4OENidFBwR2pCL3RmcHRpQWNFVllnL1hvZ09sNjg4QjMramg3bmR2dERJNU0wdDE5TGxHMGY2Z2txY3BSclhjelZ1ckRyRFZlRzlvSUFBQUFxSXV3QUFBQUFLMjJwemhILzhwWW9SdVR4K3B3V2I3ZWJlSk83UTM1KzdYcTJDNVpUQmE5dG4rWkRwY1YxRnQvM0haQ0JmWVNkZklQMWY2U28vclRqbzlrcjY1MHE0N2pGU2VhdkNqZkZoN29OMFZueC9TUkpGVzJjRGliQUhQOTAzSmJFNkZEWXk3dE10UVpGTlNNMmY5ZGkrbzRuWndkMDF0VGZoelNTcEtXNW16VnVyeTlidTM3ZnVacWpZcE9WWEpJck13bWt4N29kNWtlMnZTMnl5R3hQTFduT0VmM2IzeExEL1c3VFAwanVzbHNNaW5FTDhEdC9RUE1WdjJzMXpoblVIQ2t2RkRQcGkxMk9id1NBQUFBNEEyRUJRQUFBUENLajdMV3lsNWRxUzhQYjFGRmRkTjNoeitUdHRqbE9QR1pKY2YweU9aM2RGdktSWnFYL3BsS1BiakQzaGNzSm92emRWTlBGalRGdjA1WTRKREQ3WEJFa2tMOEFuUlY0bWpuOG9yY05PMHB6dkhvK0kwRkxHK012a3RoMWlDWDYxdnFvN0gzUzZvWnRtZkc2Z1V0YXFObmFKenU2WE9KY3ptcjlMaGUyZnUxMi90WE9hcjFRdnBuZW1ySURiS2FMWXJ5RDlGdkIwelRJNXZmYVhUNHJKWW9zcGZxc2EzdjY5NCtseWpQVnFLM0QzenY5cjRWMVhiTjJmSnYvVzdnVmRwZmZGVC8yUHMvbFZYWnZGSVhBQUFBNEFwaEFRQUFBRHpTM1BqMUV4SUdlKzFZZnhoOGJaUHJaNjUvMVd2SGFpbUx5ZVI4M2RJNUM0SXMvczdYRlZYdUJ3V1NOSzM3S0lYK09MOUFwYU5LYngxWTNxSWFUaGV4QWVGNjVJeXBDakJiSmRVTVd6UjM1MytiRGFoT2RxQWtWeS90K1VvemUwK1FKSFVQanRaakE2YnJpZTBmNm9TOXpDdTFWanFxOUd6YTRoWU5HbFJrTDlVREc5ODZiZWZCQUFBQXdPbUhzQUFBQUFBZWFZdng2OXRTb01XcTMvUy9RdXVPNzlYL2ptejFhRXg4ZDlSOXNzRGV3aWNMZ3Z4K0Nnc0NMVloxRGVxa2cyVjV6ZTRYRXhDbXlWMkdPWmUvT0x4WlI4b0xXMVRENlNEQ0dxemZEYnpLT1R5UFE5SUw2Wjhwcy9SWWk5cjczNUd0NmhFYXEway9mb2NwWWZINnc2QnI5THV0SHlqUFZ0enMvclZQU1hoRGE5dTZlc1h6SGoyUkFnQUFBSnpNN09zQ0FBQUFnTFkwbzhkNUdoeVpwSi8zR3FkWFJ0NnVtM3VjcjlpQWNLKzFiekg5ZEVyZDBydkFReXoxeDdNL3QzTS90L2E3UG5tTXJEOE9ZVlJhWmRON21hdGFkUHpUUWFRMVdFOE12Rm9KUVZITzk5N0orRjZyais5dVZidXY3bHVtbGNkMk9aY1RnMlAwOU5BYjFDKzhhNnZhQlFBQUFFNDNQRmtBQUFDQUZwdisvYk11NXg1b0N4YVRXUitNbWVYMjlxRitnUm9TbWVSY0R2WUwwT1hkaG10eTEyRmFkV3lYUHM1ZXA3M0ZSMXBaMDAvREVMWDB5WUxhdVFGcW5kZTV2OTdOV05IazhEWEpJYkU2djNOLzUvSkhXV3RVNUtYaGMwN1czTkJUYlMwNklFeFBETHhhWGVvRUJWOGMzcXozTTFlM3V1MXFoMFBQcGkyV3RmL2xHdEdwbHlTcGszK29mai9vR3IxMVlMa1daYStYdzhWZllsSDJlbytPWlRLWmRFSG4vZzMrM2kxcDYyVFZwL0MvUXdBQUFIUk1oQVVBQUFEb3NJb3J5M1hYK2xkMVZreHZUZTAyUWlsaDhaSnFRb2N4c1gwMUpyYXZ0aFZtNlQ5WmE3UXgvMENManVIbmhXR0l3ays2ZUJ3WEdLSEJVY25hMUVSTjA3cVBra2svQlJYajR3ZnAvTGd6R3QyMnRYTTcrSExvcVo2aG5mWElHVmM2aHg2U3BCVzU2ZnI3M3ErOGRvd3FSN1dlMnZHSjd1bHppY2JHOXBWVTgyL2twaDduNlp5WVBscXcrd3NkS01sdHNOOXIrNzl4K3hoaDFpRDl1czhrWjFEd1pjNFdqWTVPVWJnMVdKTDBVZlphalk1SjFYZEhkektaTVFBQUFIeUNzQUFBQUFBZG1rTU9yVHlXcnBYSDBqVTRLa2xYZFQ5TFowUjBjNjRmRU5GZEF5SzZhMS94VWYwbmU0MVc1dTV5ZVNkNVkvek1QNFVGTFIyR0tOSS9wTUY3RXhPR05Ca1cxRjVrcmhVWEdOR2lZN2RuWjhmMDF0MjlMMUdneGVwOGIwVnV1cDVMLzFUVmpwWk1HK3hhcGFOS3o2VXRWbTU1b2E3c1BzcjVma3BZdk9ZT3ZWRmY1V3pWZTVtcjNKckw0R1NwWVFsNm9OOFU1L0JYYngvNFhoOWtyZGJJVGluT2JXNVB2VWlqbzFOMWM0L3o5ZTNSSFZweWVGT2pBUVVBQUFEUVZnZ0xBQUFBWUJpYjh6TzBPVDlEL2NLNzZycWtjelF3TXRHNXJtZG9aOTNmZDRvT0p1YnB2YXhWK2o0M3phMEwwdDU0c2lEYVA4ejUybFpkS1grem4wWjA2cVg0d0VqbGxCZTBxTTFhM3Jpa1BuWDVYQyswVXNPZGlYeE5NdWxudlM1d1RqeGNhOW1SN1Zxdys0czJHL3JLSWVuTkE4dTFyK1NvN2t5ZG9HQkx6Y1RURnBOWkV4SUc2N3pPL2ZXckRhKzVQWWwwa01WZjF5YWRvMGxkaHNwaU1xdktVYTM1dTVib202TTdHbXliRkJ3anFXYUM2d2tKZ3pVaFliRFNpdzdwODhPYnRDSTN2Y1ZCRkFBQUFPQXV3Z0lBQUFCNDVFU2RjZkhyM29IdnprWGdsbmcrL1ROOSsrUEZWWWNjOVk3ZlVqdUxEdXJScmUvcGpJaHV1aTVwVEwwbkRib0dkOUt2KzB4U1dhVk42L0wyTnR1V24vbW5DWTd0TGJ5Z0d4dndVMWp3MzRNL2FGcjNVVEtiVExxaTJ3Z3QzTE8wMFgwZTIvcWV5L2JPN2R4UHYrNHpTWkswSVc5ZmkycnlKWWNjcWpvcHFQa3dhNDNlT3JEOGxCeC9SVzY2OXB6STBheStrOVU3TE1INS9tdjd2M0U3S0JnVDIxZTM5RHhmblg0Y1B1bEllYUdlVC85TWFVVUhHOTMrcnZXdmFGQmtraVlrRE5iSTZCUlpUR2IxQ2UraVB1RmRkR3ZQODdVMFo2dVdITjZrWXhVbld2bnBBQUFBZ01ZUkZnQUFBTUFqTTFZdjhObXhxeDBPcng1L2UyRzI1bXg1VjRNamszUkQ4bGpubkFZYjh3KzRGUlJJSno5WlVPbHhEV2FUU1ozckRDSDBROTQrOVE1TDBNRElSSTJMRzZEM3MxYnJ1SWNYaUtkMkcrbDgvZDlEUDNoY1UzdncycjVsaWcwSTAvQk9QZlczUFV1MTdNaDJQVDNrQmdYNStiZnBjVDg3dEZHZkhkcW9JK1dGK3MybWYrblNMa1AxZjhsanREUm5xNzQ0dkxuSmZVMHk2YXlZM3ByV2ZhUjZoc1k1My8vNnlEYTl2UGZySnVjaWNFamFYSkNoelFVWml2UVAwZmk0Z1pyWVpZaWkvVU1WYmczV3RPNmpOTFhiU0szTjI2TlBEMjdRdHNJc2IzMWtBQUFBUUJKaEFRQUFBTHprWUZsZXE5c3d5NnlFb0VndlZPT1p6UVVaMnJ3cFE2TmpValc5KzJqOWZZLzdrK2RhemEwYmhpZ2hNRW9XMDA5UEp4d3F5OWZuaHpkcFlHU2lyR2FMcmtzNlcvTjNmZUYyZThPaWVpZzVKRmFTbEZseVRKdnpNenl1cVQxd1NKcS9hNG5pZzZLMHIvaUlKS2xMVUpTQy9RTGE5TGlCNXAvbVIzRElvVThQYmRES1kra3FhdUtKbGtDTFZXTmorMnBxdDVGS0NJcHl2bDlnSzlWTGU1ZHE5YkhkSHRWUVlDdlJCMW1yOVZIMldwMFYwMXVUdXd4VG4vQXVNcHRNR2gyZHF0SFJxVHBRa3F2RkJ6Zm91OXlkTFFxcEFBQUFnSk1SRmdBQUFNQXJacTUvdFZYN0Q0MUsxczA5ejYvMzN2YkNiTzEwTVd4TFcxaDliSGVURjNZNytZZHFUR3hmWlpUbU9pL0NXMXY1WkVGU1NJenpkWkc5VklYMlVxMDl2a2RIeWdzVkZ4aWhDem9QMENjSGYxQm15YkZtMjdLWXpKclI0enpuOHFLRDZ6MnVwekh6aDkvcWxYWThWVnBsY3dZRnAwcEZJMy9EZkZ0SmcvY3NKck9HUkNYcnZNNzlOVEs2bHdMcWhBemxWWFl0T3JoT0gyZXZVM21WM2VXeFRsU1d5V0l5dVZ4ZjVhalc5N2xwK2o0M1RTbWg4WnJhZllUT2l1a3RrMHhLRG9uVnpONFRkR09Qc2ZyODBDWjlmbmlUaXV5bEhuNWFBQUFBNENlRUJRQUFBUENwcnNHZGRFdVA4M1ZtcDU3Tzk0NVhuTkJyKzcvVjk3bHBQcXlzUnBnMVNLT2pVelUydHE4R1JIYVhTU1k5bi82WmM3M1YvTk1wdGEwRlR4YWsxaGtUZjM5SnJxU2FpOFR2Wkt6UXIvcGNLclBKcE50NmpkZWNMZTgyTzFueDVLN0RuT0ZEWnNreGZYTjB1OGYxTktaclVDZXZ0Tk5hLzdmcXJ5N1gzZDkzaXM2SjdTTkplbjMvdC9vNGU1M2I3VDQ1NVArY2N4UFlxbDFmM0svcjJxU3pOYjM3NkhydlZUcXF0UFR3RnYwN2M1VUszYmh3Zjg4UC8zUzd4ajNGT1hwNjUzOFZIeGlwSzdxTjBMaTRNMlExK3luQ0dxeHJrODdXWlYzUDFCM3JYeUV3QUFBQVFJc1JGZ0FBQU1BblF2MENkVzNTMlpxWU1NUTVESSs5dWtxZkhGeXZEN0pXTjNsSDlxbW9iV1IwaXM2SjdhUEJrVW4xaGdtUzZrL3M3Rjh2TFBDODVycVRLKzhxT3V4OC9kM1JuWnJhYmFTU1FtTFVQNktiTG93ZnFLOXl0cnBzSnpZZ1hOY21udU5jZm0zL3Q2cDJOQmN2ZEJ5ZEFrS2RyejJkNDZIdTM3Q3hKd3NhODBIbUdwMFQwMWNKUVpFNldKcW5wVWUyYU5tUjdVME9WMVJYaUYrQS9qVDRPa21TcmFwU0QyeDZ5NjM5Y3NvTHRIRFBVdjA3YzZXdTdEWktFeElHeVdyMjAvdFpxd2tLQUFBQTBDcUVCUUFBQURpbFRESnBVdGVodWlieGJJWDZCVHJmWDUrM1Y2L3NYYWFjOGdLZjFCWHFGNmhSMFNrNks2YTNoa1FsTndnSWF1MHJQcUtjc3BvYXpTYVR6SFdHa2JGNU9BeFJ1RFhZT2FteUpPMHN5bmErZHNpaE53OThwemxuWENsSnVyWG5CZHBha0trajVZVU4ydkV6V2ZSQXZ5a0t0TlFNaGJNNVAwTWI4L2Q3VkV0VHBpNmY2N1cyUGhwN3Y5ZmFxaXZhdjA1WVlDdjJhTitBdW9GUGxYdC93NHBxdTU1Tlc2d0FpNSsyRjJZM3Y4TkpFb0tpbEJoYzh4VEludUljai9mUHQ1WG9sWDFmNnovWmF6UTJ0cC8rZS9EMG5NZ2FBQUFBN1FkaEFRQUFBRTZwTUd1Z2Z0WnpuSFA1VUZtK1h0bjd0VFo0OGVLMnV5TDlRMm9DZ3VqZUdoRFp2Y21BWUVWdXVsWWNTNjkzc2I3dU9QV1M1MkhCNk9nVW1WUVROdGlyS3h0Y2RQNGhiNTlXSGt2WDJURjlGR1R4MTZ5K2t6Vjc4N3VxZE5RZjd1am52Y1k1aHpNcXI3THJiM3UrOUtpTzAxMndYNEJpQXlPY3k0ZEtQWnRzMjkveTA5K3h3b09uUTFweWtiOVdyOUE0NSt0OXhVZGIzRTYrclVTZmVHbHVDZ0FBQUJnYllRRUFBQUI4NnQ0ZlhtdHc4YnN0eFFkR2FsUk1pa1pIcDZwUGVCZm54ZnFUN1MwK29wV05CQVIxMVIyK1JuSi9DSnRhNTNidTczeTl1U0NqMGJEaHBUMWY2WXlJN29xd0JxdDNXSUp1U3htdkJidS9jSzZmMUdXWUppUU1kaTYvc3U5cmwvVjJWTDFDNDV4L3hlTVZKMVRnNFhBOGdYVkNuN0lxbTl2N2Vlc3BpWXZqQituaStFR3RhdVA3M0RROWs3YllLL1VBQUFEQW1BZ0xBQUFBNEpiT2dSRjZhY1F2dk43dSsyTiszYXI5Wi83d3FnNDJjU2U1U1ZLdjBIaU5qRTdScU9nVUpmNDRBWEJqOWhVZjFZcGo2VnFSbStiV0JmY0FTLzBuQ3lvOG1HY2hLU1NtM253RnkxMU01bHhrTDlQQzNVdjFVUC9MSlVuajR3ZnFTSG1oUHNoYXJZdmlCK2xudlg1NlNtUHQ4YjFOem12UVVRMk5TbmErM2xOOHhPUDlBK3Y4SFVzOUNBc0FBQUNBam9Td0FBQUFBQjJPMVd6UndJaEVqWXhPMGZEb1h2WEdzei9aL3BLaldwbWJydTl6MHoyZUw2RTFUeFpNN3o3YStmcUV2VXlyanUxMnVlM3E0N3YxY2ZZNlhkRnRoQ1RwLzVMSEtERWtSbU5pK3pydnFNOHFQYTU1dXo1enYvZ2Z1WE4zZkZ2TU14Qm1EWExaN3FMczlYcHQvemR1dDNWV1RHL25hMC9uYWdnd1crc05QMVZXNlg1WWNMRE1zK0dPYWdWYkFoVGxIOUxnL2NObEJhcFdkWXZhelBOd25nWUFBQURnWklRRkFBQUFjRXRWZFZXTEw0N1daWlpaQ1VHUnp1WFd0bGxaL2RNUVJ1ZDE3cSt6WW5wcmNHUlN2YnZGVDVaUmNrd3JqcVhwKzl4MEhTN0xiL0d4Z3l6KzlaYmR2ZERjSTZTenpvbnQ0MXorTW1lTDdNMEVEVy9zLzA1ZGdxSTBNanBGa2pRMnRxOXpYWUd0VkgvWS9oK1ZWRmE0VzNxSE1TUXFXZkdCTmYrZUhKTFdITi9qMGY1QmZpZjlEVDE0c21EbStsYzlPbGF0Ky9wTzFwZ2YvMzVWam1wbldMRXViNi8rdVc5Wmk5b0VBQUFBV291d0FBQUFBRzQ1Yml0dThjWFJ1c0t0UVhwOTlGM09aVyswV1d0MGRLcEcvWGd4L1dSWnBjZTFJamRkM3g5TGEzTFlJazkwcW5OM2VIbVYzYTI1RjB5U2ZwRnlvWE91aFBJcXUxc1QxRHJrMFBQcG4ybmhpSjhyM0JwY2I5MC85eS9UMFJiT1UrQ05BTWpiQ2oyWWMrQ3FPazlvYk1uUFVJR3R4S05qaGZvRjFsc3VyV3Jid0tWWGFKek8rVEVvcUhZNDlNZnQvOUdEL1M1WG9NV3F5N3FlcWN5U1hQM3Z5TFkyclFFQUFBQm9ER0VCQUFBQU9veGxSN2RyZEV5cWMvbHdXY0dQVHhDa0thUGttTmVQMXlPMHMvUDFjZHNKdC9hWjJHV28rb1YzZFM1L2xMMVdSZmF5WnZlTHRBYnJWMzBuTlFnS0pHbG02Z1RGQm9UcjQreDFxbko0Tm95TkoyR054V1RXV1RHOXRTSTNUUTQzdGs4TWpsRnlhS3hXSGRzbGU3WDNKN0dlMUdXWSt0ZVo5K0UvMldzOGJpT3NUbGhRVVcxWHRjT2RUOVl5d1g0QnVyL2ZGT2ZRVWQvbTd0REcvQU42WS8rMyttWEtlRW5TWGIwblNCS0JBUUFBQUU0NXdnSUFBQUIwR0QvazdkT2U0aHh0SzhqUzk3bHAydHVDeVc0OU1TcjZwMkFpb3lTMzJlMjdCVWRyUnZLNXp1V2o1WVg2T0h0ZHMvc043OVJMZDZWZXJNZzZUektVVnRrVS9PTXdTRmF6bjI1SUhxc3hzWDMxMnI1dnRMa2d3NU9QNFpaQmtZbjZXYTl4U2d5T1VlZUFjUDBuZTIyVDI1dE5KdDNkWjZKU1F1UDE4NTdqOVBXUjdmb2laM09yaG4ycUt5VTBYamYzUE0rNXZLMHdTMXNLTWoxdXAzWUlJNmxtT0tlMkVtVHgxeVA5cjNBZUw5OVdvdGYyZlNOSit2endKdlVNamRQNCtJRXl5YVM3ZWs5VVhHQ2szczFjMGFiaEJRQUFBRkFYWVFFQUFBQTZqQ3BIdFI3WStOWXBPZFlGbmM5UWNraXNjM2xUL29FbXR3KzBXUFZndjh2cXphWHc0cDR2Wld0aXJvSzR3QWo5ck5jNGplalVxOTc3L3p1eVZmL1k4N1V1NlRKRTF5ZU5rZFZza1NRbGg4VHE4WUZYS2Ezb2tON0xYS21OemRUa2pwU3dlRjJmZEk2R1J2Vnd2bmQ5OGhodEs4elNyaE9IWGU1M1JiZVJTZ21ObDFRem1mSGwzWWJyc203RHRhVWdRMHNPYmRMYXZEMHR2aENlRWhxdjN3NjRVbjZtbXM5ZFdsbWhlZW1mdDZpdGdaR0p6dGVlVG5EdHJzNkJFWHFvMzJYcUdSb25xZWJmNmZQcG45WjdvbVRobnFXSzlBL1c4RTY5WkpKMFZlSm85WS9vcWhkM2Y2bERYZ3BZQUFBQWdLWVFGZ0FBQUFDcUdicysyQzlBeFpYbEtxdXNjRG5NVHRlZ1RybzRZWkFtZHpuVCtWNlJ2VXpMYzlOY3RtMlNTYlA2VGxiMzRHam5lMThjM3F6TitZMC9BUkRsSDZMTHU0N1FwVjJHeUdyKzZaVGRWbDJwZit6OW43N0syU3BKK2poN25UYm03OWZNM2hPZEYrWWxxVzk0RnowNllMb09sdWJwbTZQYjllM1JuY3F0S0hMbmEzRHFIWmFncXhKSGEvaEpRVVdWbzFwZjVXelZrV2JtU0ZpUm02WXd2MEJkR0RkQVlkYWdINzhIYVhCa2tnWkhKdWxZeFFsOWNYaVR2c3pacWlJUDVpZ1lHcFhzSE9PLzFrdDd2L0w0ODBsU1FsQ1V4dFNaYUhwSFliYkhiVFRGYkRMcG92aEJ1cm5IK2M1NnF4elZtcHYyM3daUFFWUTVxdldYSFl0MForckZHaGMzUUpKMFJrUjN6VHZ6RmkwK3VFRWZaYS8xYUM0SEFBQUF3Rk1taDRQbldnRUFBRHFLcWN2bitycUVablVManRaZno3eEZVczJrdlZjdWY4YkhGZFVZSEpXa3h3ZGNKVWx5U0NxdnNxbWl5cTZLNmtwVk9hcmxaeklyekJxa29CK0gvcWxyL3E0bFRZNHgvOHRlRitxU0xrT2R5d2RLY3ZYZ3ByZGxQK21wZ3JqQUNGM2ViWVRHeHcyb0Z4SklOVTh1TE55enROR0w5Q1pKWXp2MzB3M0pZeFViRU41Z3ZVUFM3aE9IdGEwZ1U5c0tzNVZXZEZCbFZiWUcyNWxOSm8yS1R0VmxYWWVyYjNpWEJ1dlg1ZTNWNi91LzlXaUNhS3ZaVDJOaSsraVNoQ0ZLRFV0b3NONWVYYVh2Y25mcXZ3ZlhOem12UkxERlh6ZjJPRmNURW9ZNHgveVhwSmYzZnExUEQyMW9zUDJ3cUI0cXNwZnB1TzJFaXV4bDllWnlNSnRNR2h5WnJEdFNMM0orWHc0NWROZjZWNzB5VEZMdFo3NnErMmdsQkVVNTN6OWhMOVB6Nlo5cFEvNytKdmVmMHZWTTNaaDhydk9KRWFuMmU5cWhyM0syS3Izb2tGdHpSbmpUUjJQdlA4VkhCQUFBZ0RlWlRDWlRzOXNRRmdBQUFIUWM3U0Vzc0pvdEdoU1pwQlAyTWhYYVMxVldaWk90dWxLMjZrcUYrUVhwbHlrWDZ1eVltcnU1aSt5bHVtbjFpejZ1dUVhWU5VaHZqTDdMbzMwY2t0N05XS0gzTWxlNTNPYUtiaU4wVTQrZnh0WXZyaXpYZzV2ZWRsNlU5amY3YVhSTXFzYkhEZFNBeUVTZGZBYWZieXZSNi91LzFiZEhkelJiajlWczBjWHhneldsNjVtS0M0eHd1ZDNmZG4rcEwzTzJPSmM3K1lkcVhOd0FYUlEvVUowYjJXOXJRYWIrbGZHOTBvb09OZTR3WEtNQUFDQUFTVVJCVkZ0RFUzcUd4dW5TTGtNMEpyYXZBc3pXQnVzMzVSL1FSOWxyNjkxMWJ6VmJkRzVzZjEyWGZJNmkvVU9kN3p2azBFdDd2dElYaHpjM2Vxem5odDFVYjVpb0trZTFiTldWc2xkWEtzZ1NVTzlDdkNSOW1iTkZmOXY5WllzL1c2REZxbjdoWFhWV1RCK2RFOU5id1g0QjlkWnZLOHpTOCttZjZYaUZleE5oSndiSDZNN1VpOVdua2RBbXoxYXNkY2YzYWtkUnR0S0xEalg3bEljM0VCWUFBQUNjM2dnTEFBQUFES1k5aEFVbW1mVHVPZmZLMzl6OGlKY3JqKzNTMHpzL09RVlZ1ZWYxMFhjcC9NY2hjNXF6clRCTDcyV3UwdFptSnRYdEVoU2xQdysrVHVIV1lGVTVxdlg3YlIvV200RDQzTTc5OU9zK2t4cnNWMXhacnY5a3JkV25oelkwT2E5QlkycWZFSmpTOVV6MUMrOWFiOTNXZ2t3OXV2VTlTVFYzd04vWGQ3SkdkT29sY3lPL0hYWVVadXZkekpYTmZrWlBoVm1ETkxuTE1GM2FaYWhDL1FJYnJIOXQvemRhbEwxZVYzUWJvY3U3RHE4M3NiTlVNekgwdkYyZmEzc1R3d2I5dXM4a25kdTVuMXYxYk1qZnJ5ZDNMUExvZTA0T2lWV3YwRGdsaHNRb05TeEJ2Y01TWkRHWkcyeDN1Q3hmYng1WXJsWEhkcm5kZGwxbnhmVFcveVdOVWRmZ1RpNjNLYTJzME9IeUFxM01UVzkyNHVtV0lpd0FBQUE0dmJrVEZqQm5BUUFBQUx6S0lZY09sdVdwUjBqbkpyY3JyN0xyM3hrclQxRlY3cG0zNjNORitZZklhdmFUMVdTUm45a2lzMHd5bTB4eXlLR1N5Z29kcnppaDlLSkRLbkJ6L1BoRFpmbjY0L2FQOUlkQjEraHZ1NWZXQ3dvazZidWpPelUwcW9mTzc5eGZrblRjVnF3bGh6YnFzME1iVmRySVVFSHVxSFk0dE9yWUxxMDZ0a3NKUVZFNnIzTS9uUnZiVC9GQmtYcDEzekxuZHZicVN1VlZuR2dRRlB5UXQwOGZaSzFSV3RIQkZoMi9PU2ZzWlhvblk0VSt6bDZuQ1FtRGRWblg0WXI2TVJDb2NsVHIrOXgwU2RMeGloT0txQk1VVkRzYyt0K1JyZnJudm04YUhVYXBycjNGUnpRMEtsbUJGdjhHVHhGSU5mTS83RHB4V1AvTDJhcHZqKzZVdzhPQmZjYkhEOVNrTHNOY3J0OWFrS25QRDIvUzJ1Tjc2ZzJCNUtsVngzWnA5YkZkR2hLVnJFdTZETld3cUI0TlFvbGd2d0JGKzRmcUd6ZWVQZ0VBQUFCYzRja0NBQUNBRHFROVBGa2dTZmYydVZURE8vWDg4VUs3V1dhVFNTWkoxWEtveUY2bWJZVlorakJ6alE2V3VULzIvZWt1SVNoU2g4c0tHbDBYNmhlb1gvVzVWTjhjM2FGVngzYTE2dUp5MHpWRU5SaVRQOGppcjRVamZxNEFpMVhmSHQycFR3OXRVR1lUY3dlMEJhdlpvbkZ4QXpTMTIwanRLTXpXdkYyZk85ZE43ejVhMXlhZHJlK083dFFIV2F0MXFBVnpDbGhNWmxuTkZwbGtrc2xrVW1WMWxjZFBhNXdzMmo5VUw0MzhwZlBDZlpXaldqdUxEbXJkOFQxYWMzeFBtdzBORk9vWHFKSFJLUm9abmFJeklyb3AxQzlRRGttUGIzMnZ3YVRKM3NTVEJRQUFBS2MzaGlFQ0FBQXdtUFlTRnVEMGtoSVdyOE5sK1NxcHJQQnBIV2FUU1VFVy93WjFSQWVFdVQzVy82bDBlYmZoTXN1c1hTY09hMjl4anNxcjdLZjArQ2JWVEJnZUhSQ21UZmtIMnZSWWhBVUFBQUNuTjRZaEFnQUFBTkNzUFNkeWZGMkNwSnBoaGhvTExOcGpVQ0JKaTdMWCsvVDREa2xacGNlVlZYcmNwM1VBQUFDZ1kyZzRBeGNBQUFBQUFBQUFBREFVd2dJQUFBQUFBQUFBQUF5T3NBQUFBQUFBQUFBQUFJTWpMQUFBQUFBQUFBQUF3T0FJQ3dBQUFBQUFBQUFBTURqQ0FnQUFBQUFBQUFBQURJNndBQUFBQUFBQUFBQUFneU1zQUFBQUFBQUFBQURBNEFnTEFBQUFBQUFBQUFBd09NSUNBQUFBQUFBQUFBQU1qckFBQUFBQUFBQUFBQUNESXl3QUFBQUFBQUFBQU1EZ0NBc0FBQUFBQUFBQUFEQTR3Z0lBQUFBQUFBQUFBQXlPc0FBQUFBQUFBQUFBQUlNakxBQUFBQUFBQUFBQXdPQUlDd0FBQUFBQUFBQUFNRGpDQWdBQUFBQUFBQUFBREk2d0FBQUFBQUFBQUFBQWd5TXNBQUFBQUFBQUFBREE0QWdMQUFBQUFBQUFBQUF3T01JQ0FBQ0FEaVRRWXZWMUNRQTZHUG9WQUFBQVl5QXNBQUFBNkVEaUF5TjlYUUtBRG9aK0JRQUF3QmdJQ3dBQUFEcVFrZEVwdmk0QlFBZER2d0lBQUdBTWhBVUFBQUFkeU9YZFJpZzJJTnpYWlFEb0lHSUR3blZGdHhHK0xnTUFBQUNuQUdFQkFBQkFCeEpzOGRkZHZTZjR1Z3dBSGNUTTNoTVZaUEgzZFJrQUFBQTRCVXdPaDhQaDZ5SUFBQURnWFpzTE1yUmcxeGZLclNqeWRTa0FUa094QWVHYTJYdWlCa1VtK3JvVUFBQUFlSUhKWkRJMXV3MWhBUUFBUU1kVVdtWFRvdXgxV250OGozTEtDMVJlWmZkMVNRRGFzVUNMVmZHQmtSb1puYUxMdTQxUU1FOFVBQUFBZEJpRUJRQUFBQUFhK01NZi9xRGFud0g5K3ZYVDlPblRmVndSQUFBQWdMYmtUbGpBbkFVQUFBQUFBQUFBQUJnY1lRRUFBQUFBQUFBQUFBWkhXQUFBQUFBQUFBQUFnTUVSRmdBQUFBQUFBQUFBWUhDRUJRQUFBQUFBQUFBQUdCeGhBUUFBQUFBQUFBQUFCa2RZQUFBQUFBQUFBQUNBd1JFV0FBQUFBQUFBQUFCZ2NJUUZBQUFBQUFBQUFBQVlIR0VCQUFBQUFBQUFBQUFHUjFnQUFBQUFBQUFBQUlEQkVSWUFBQUFBQUFBQUFHQndoQVVBQUFBQUFBQUFBQmdjWVFFQUFBQUFBQUFBQUFaSFdBQUFBQUFBQUFBQWdNRVJGZ0FBQUFBQUFBQUFZSENFQlFBQUFBQUFBQUFBR0J4aEFRQUFBQUFBQUFBQUJrZFlBQUFBQUFBQUFBQ0F3UkVXQUFBQUFBQUFBQUJnY0lRRkFBQUFBQUFBQUFBWUhHRUJBQUFBQUFBQUFBQUdSMWdBQUFBQUFBQUFBSURCRVJZQUFBQUFBQUFBQUdCd2hBVUFBQUFBQUFBQUFCZ2NZUUVBQUFBQUFBQUFBQVpIV0FBQUFBQUFBQUFBZ01FUkZnQUFBQUFBQUFBQVlIQ0VCUUFBQUFBQUFBQUFHQnhoQVFBQUFBQUFBQUFBQmtkWUFBQUFBQUFBQUFDQXdSRVdBQUFBQUFBQUFBQmdjSVFGQUFBQUFBQUFBQUFZSEdFQkFBQUFBQUFBQUFBR1IxZ0FBQUFBQUFBQUFJREJFUllBQUFBQUFBQUFBR0J3aEFVQUFBQUFBQUFBQUJnY1lRRUFBQUFBQUFBQUFBWkhXQUFBQUFBQUFBQUFnTUVSRmdBQUFBQUFBQUFBWUhCK3ZpNEFwNytjbkJ4VlZGVDR1Z3dBZ0tTOHZEelo3WFpmbHdHZ25YTTRITTdYT1RrNVdydDJyUStyQWVCdFVWRlI4dmYzOTNVWkFIQktCUVFFS0Q0KzN0ZGxBS2MxazZQdUx3V2dCZDU0NHcxbFpHVDR1Z3dBQUFBQUFBQVlWRkpTa21iTW1PSHJNb0IyeTJReW1acmJobUdJQUFBQUFBQUFBQUF3T0lZaGd0Y2xKU1g1dWdRQU1Ld2pSNDZvdkx6Y3VSd1lHT2pEYWdDMFYzV0hrUFR6ODVQRll2RmhOUUM4b2U3Ly8rUGk0amdIQUdBSWpIUUJlQmRoQWJ4cXhvd1poQVVBNEVOMWg0YWpUd1lBd0RqcW5nTk1tRENCY3dBQWhwQ1JrYUUzM25qRDEyVUFIUWJERUFFQUFBQUFBQUFBWUhDRUJRQUFBQUFBQUFBQUdCeGhBUUFBQUFBQUFBQUFCa2RZQUFBQUFBQUFBQUNBd1JFV0FBQUFBQUFBQUFCZ2NJUUZBQUFBQUFBQUFBQVlIR0VCQUFBQUFBQUFBQUFHUjFnQUFBQUFBQUFBQUlEQkVSWUFBQUFBQUFBQUFHQndoQVVBQUFBQUFBQUFBQmdjWVFFQUFBQUFBQUFBQUFaSFdBQUFBQUFBQUFBQWdNRVJGZ0FBQUFBQUFBQUFZSENFQlFBQUFBQUFBQUFBR0J4aEFRQUFBQUFBQUFBQUJrZFlBQUFBQUFBQUFBQ0F3UkVXQUFBQUFBQUFBQUJnY0lRRkFBQUFBQUFBQUFBWUhHRUJBQUFBQUFBQUFBQUdSMWdBQUFBQUFBQUFBSURCRVJZQUFBQUFBQUFBQUdCd2hBVUFBQUFBQUFBQUFCZ2NZUUVBQUFBQUFBQUFBQVpIV0FBQUFBQUFBQUFBZ01FUkZnQUFBQUFBQUFBQVlIQ0VCUUFBQUFBQUFBQUFHQnhoQVFBQUFBQUFBQUFBQmtkWUFBQUFBQUFBQUFDQXdSRVdBQUFBQUFBQUFBQmdjSVFGQUFBQUFBQUFBQUFZSEdFQkFBQUFBQUFBQUFBRzUrZnJBbkQ2aTR1TGM3NE9DQWp3WVNVQUFQcGtBQUNNaVhNQUFFWVVFQkNncEtRa1NmWDdRUUF0WTNJNEhBNWZGOUZhTnB0TmE5ZXUxZTdkdTFWUVVDQzczZTdya29CVHdtcTFLakl5VXFtcHFSbzVjcVQ4L2YxOVhSTGdGZlRyOEFYNlZBRHdQYzRCNEF1Y0E2QXg5RWRBNjlHL3RpOG1rOG5VN0RhbmUxaVFrWkdoSlV1V0tEazVXWU1HRFZKMGREVC84R0FZTnB0Tng0OGYxNVl0VzNUZ3dBRk5uRGpSbWFnRHB5djZkZmdLZlNvQStCYm5BUEFWemdGd012b2p3RHZvWDl1WERoOFdaR1JrNk5OUFA5WGt5Wk9WbUpqbzYzSUFuOHJNek5UaXhZczFhZElrT2w2Y3R1algwVjdRcHdMQXFjVTVBTm9MemdGQWZ3UzBEZnBYMzNNbkxEaHRKemkyMld4YXNtU0pwa3laUXVjTlNFcE1UTlRreVpPMVpNa1MyV3cyWDVjRGVJeCtIZTBKZlNvQW5EcWNBNkE5NFJ6QTJPaVBnTFpELzNwNk9HM0RnclZyMXlvNU9WbmR1M2YzZFNsQXU1R1ltS2prNUdTdFhidlcxNlVBSHFOZlIzdERud29BcHdibkFHaHZPQWN3THZvam9HM1J2N1ovcDIxWXNIdjNiZzBhTk1qWFpRRHR6cUJCZzdSbnp4NWZsd0Y0akg0ZDdSRjlLZ0MwUGM0QjBCNXhEbUJNOUVkQTI2Ti9iZDlPMjdDZ29LQkEwZEhSdmk0RGFIZWlvNk5WVUZEZzZ6SUFqOUd2b3oyaVR3V0F0c2M1QU5vanpnR01pZjRJYUh2MHIrM2JhUnNXMk8xMlpxSUhHdUh2NzgvWWJ6Z3QwYStqUGFKUEJZQzJ4emtBMmlQT0FZeUovZ2hvZS9TdjdkdHBHeFlBQUFBQUFBQUFBQUR2SUN3QUFBQUFBQUFBQU1EZ0NBc0FBQUFBQUFBQUFEQTR3Z0lBQUFBQUFBQUFBQXlPc0FBQUFBQUFBQUFBQUlNakxBQUFBQUFBQUFBQXdPQUlDd0FBQUFBQUFBQUFNRGpDQWdBQUFBQUFBQUFBREk2d0FBQUFBQUFBQUFBQWd5TXNBQUFBQUFBQUFBREE0QWdMQUFBQUFBQUFBQUF3T01JQ0FBQUFBQUFBQUFBTWpyQUFBQUFBQUFBQUFBQ0RJeXdBQUFBQUFBQUFBTURnQ0F2UUlUa2NEbCtYQUFBQUFBQUFBQUNuRGNJQ0YxeGRiRDV3NElBKy9QRERadmN2TGk3MmRrbXRrcGVYNS9aMnAvT0Y5cU5IajJydTNMbTY2NjY3VkY1ZTNpYkhXTEJnZ2RMUzB0cWtiUUJ0aDM2OVpUSXlNblR2dmZjMitJNEtDZ28wZmZwMHpaa3o1N1QrL3dZQW9PUGpIS0J0N2QrL3Y4M2FuajkvdnA1Kyt1azJheDg0MWVpUFBQZjQ0NC9ydHR0dWE5RytMV0d6MlR6YXZyUzAxS1B0TDczMDBsUDZlUnFUbDVlbmUrNjVSemZkZEpQV3JGbmowMXJRL3ZqNXVvRDI2TnR2djlYcnI3K3VQLzNwVDRxUGozZStiN1BaOU5CRER5a3ZMMCtkTzNmVzJMRmpHOTEvMWFwVmV1cXBwL1RJSTQ5b3hJZ1JwNnBzbHdvS0NuVDk5ZGNyTGk1T2p6NzZxSHIxNnVWeTIzdnZ2VmVscGFYNjdXOS9xeUZEaHJoOWpKa3paM3JjUVRibDFWZGZiZEYraFlXRldyWnNtV3cybTU1ODhrazkrdWlqTXBsTVhxdExrdGF2WDYrOWUvY3FJaUpDVjF4eGhRWVBIdXpWOWdGNEgvMjY1LzE2clpVclYyckhqaDBLRHcvWHRHblRuTyt2WGJ0V2hZV0ZjamdjWHU5bkFRRHdGczRCV240T1VOY1hYM3loTFZ1MjZKWmJibEZNVEl5a21vdWU5OTEzbjdadDI2Wi8vT01mU2twSzhyamRaY3VXS1Q4L1gxZGVlYVhMOVVWRlJYcmdnUWNhWGI5bXpScWxwYVhwcHB0dTh2all3S2xHZjlTeS9pZ3pNMU5aV1ZtdExkY3RCdzRjMENPUFBLS2JiNzVaRjE5OGNiUGJGeFVWNlJlLytJVUdEUnFrVzI2NVJWMjZkR2wySDd2ZExydmQ3bzF5VzZTd3NGQVBQdmlnTWpJeUpFbHZ2UEdHK3ZidHE0aUlDSi9WaFBhRnNLQVJQL3p3ZzdLeXNqUjc5bXpObXpkUElTRWhraVIvZjMvZGZ2dnQrdE9mL3FSbm4zMVcvZnIxYzU0bzFUcDgrTENlZXVvcEZSY1hhK1hLbFkxMjRNWEZ4YXFxcXZKcXpjSEJ3YkphclkydVc3WnNtYXFxcWxSZVh0N2tDZHp1M2J1Vms1TWpQejgvcGFTa2VIVDg3T3hzbFpTVWVMUlBXMGhOVGRVZGQ5eWhGMTU0UVJzMmJORHUzYnZWdTNkdnJ4NGpORFJVYytmTzFZb1ZLL1Q2NjY4cklDQkFVNmRPMWNpUkkxVlZWYVdISG5wSUZSVVZUYllSRUJDZ3E2NjZTcU5HamZKcWJRQWFSNy91ZWI5ZWErWEtsWkxVNEVkTDdSMG9ybjdNdU91aWl5NXExZjZOV2JwMHFkZmJCQUNjbmpnSGFQazVRSzI4dkR3dFhMaFF4Y1hGNnRPbmp5Njc3REpKa3NsazBvQUJBN1IxNjFhOTlkWmJtajE3dGtmdGxwU1VhTjY4ZVNvdUxsWmFXcHJ1dSs4K0JRUUV1TDMvSjU5OG9nVUxGcWk2dWxyZHVuWFRoUmRlNk5IeGdWT04vcWoxL2RISmJyMzFWby8zYWVybTFKMDdkeW8zTjFkejU4NVZlWG01czc5elpmNzgrY3JMeTlQeTVjczFhZElrdDhLQ2s5MTY2NjB1dzVDbFM1ZnFpaXV1YVBaNm03dS9mL0x6OC9XYjMveEdHUmtaR2pKa2lJS0RnN1Z5NVVyTm1qVkxUejc1WklOL2R6QW13b0pHM0hQUFBUcHc0SUIyN3R5cEo1OThVci83M2UrY2QwMWVjTUVGK3ZycnI3VjY5V3E5OE1JTCt2M3ZmKy9jcjdpNFdMTm56MVp4Y2JHR0RoMnFtVE5uTnRyKzdiZmZyaU5Iam5pMTVrY2VlVVFYWEhCQm8rcysvL3h6U2RMbGwxOHVQei9YZi9MbHk1ZExra2FOR3FYUTBOQVcxZEZVQjFYYndibXpUV091dnZwcWoycHhPQnlhTTJkT3M5dTk5OTU3SHJVclNXYXpXV1BIanRYQWdRUDFsNy84UlMrODhJSmVmdmxsQlFVRmFlN2N1YzN1WDFCUW9EbHo1aEFXQUtjSS9Yckwrdlc4dkR5bHA2Zkx6ODlQWjU5OXR2UDkwdEpTclZtelJnRUJBVHIzM0hNOWJyY3huVHQzZHZtRVF1MTMyOVEyRG9kRFI0OGU5VW90QUlDT2czT0FsdisycXpWLy9ud1ZGeGVyWDc5K21qSmxTcjExVjExMWxSWXRXcVJ2dnZsR2wxMTJtUVlPSE9oMnV5RWhJWHJxcWFmMDJHT1BhZG15WmNyTXpOUWYvL2hIUlVkSE43bGZaV1dsL3Y3M3YrdWpqejZTSkYxNzdiVWFOMjZjNXg4TU9NWG9qMXJmSDUzTTIwOGNYSExKSlNvdExkWENoUXYxMTcvK1ZRNkhRNWRmZm5tajJ5NWZ2bHpMbGkyVEpOMTU1NTJ0Zm9LcmJqQ3hjZU5HNTJjYk4yNWN2UnRTdi8vK2U1V1ZsWGw4MDlYT25UdjF4Qk5QNk5peFl4bzZkS2llZU9JSldhMVd6WjA3VjE5OTlaWHV1ZWNlelo0OVcyZWNjVWFyUGdkT2Y0UUZqZkR6ODlQczJiTjEyMjIzYWRXcVZWcTFhbFc5aXlSMzNubW5mdmpoQjJWbVppb3ZMMCtkT25XU0pNMmRPMWRaV1ZsS1RFelVvNDgrS292RmNzcHFkcFgwN3RpeFEvdjM3MWRnWUdDREU3dTZxcXVyblJmeHp6cnJMQlVXRnJyY05qUTA5SlIrdGxyNStma2ViVjlXVnFheXNySTJxU1V2TDArTEZ5L1d5cFVyZGZiWlordUJCeDVRVUZDUTIvdEhSa1l5YkFkd0N0R3Z0NnhmLy9ycnIrVndPRFI2OU9oNkovWmZmLzIxS2lvcVpMVmFYZjVZY2VYaGh4OVdhbXBxZy9mLytjOS95dC9mdjlGOWFrK0VtOXJHWnJOcDBxUkpIdFVDQU9qNE9BZG8zVys3TDcvOFVzdVhMNWVmbjU5bXpaclY0RGRNV0ZpWXBrMmJwamZmZkZOejU4N1Z3b1VMUGZwZGxKcWFxci8rOWErYVBYdTI5dTdkcTd2dnZsdlBQdnRzdlNGYTZzckx5OU1UVHp5aDdkdTNLeWdvU1BmZGQ1L09PKzg4dDQ4SCtCTDlVZHRjYXdvUEQzZHJ2Z2QzN3RDWHBHblRwcW13c0ZEdnZQT081cytmcjlUVVZQWHYzNy9lTnJtNXVYcnV1ZWNrU1ZPbVRHbjJDUVIzM0gzMzNjN1hUei85dERNc3VPYWFhN1J1M1RxTkdqVktzYkd4MnI1OXU4ckx5MTBPejlhWXhZc1hhOEdDQmFxc3JOU0ZGMTZvKys2N3ovbTNmZkRCQnhVUkVhRVBQL3hRczJiTjBvMDMzcWpycjc5ZVpqUFQzQm9WWVlFTGNYRnhtalZybHV4MmU3M09XNUlTRWhMMDlOTlBxMCtmUHZYUzAxLys4cGNxS0NqUXd3OC8zR1JhK3RaYmIzbXR6dW5UcDZ1d3NMQkJpbnR5d2xoZVh0N29PSkMxbmZiNjlldDE3Tmd4U1dyMnp2am5ubnRPQXdZTWFFM1pyZUt0NFNWYU92UkZYbDZlNXN5Wm8vSGp4MnZ1M0xsZVQ4WUJ0QTM2ZGRkYzlldExsaXhwOU5pMWR4SFo3WGFQNytacGJwZzJBQUM4alhNQTE1cjZiYmQ3OTI2OThNSUxrcVFiYnJoQnljbkpqVzUzN2JYWGFzV0tGZHEzYjUvbXpwMnJPWFBtZUhSalZIUjB0SjU1NWhuTm5qMWJWcXUxeVdFd3pHYXpDZ3NMbFppWXFNY2VlMHlKaVlsdUh3ZG9EK2lQWEt2dGp4WXRXcVJGaXhZNTN6OTgrTENraGtNT3RYU3VTM2ZjZXV1dHlzdkxVN2R1M1JvRUJRNkhRMDg5OVpST25EaWhZY09HNmE2NzdtcXpPaVJwMjdadGV1R0ZGelJ2M2p6RnhzWjZOR2Zjd1lNSE5XL2VQRzNZc0VGK2ZuNjY3YmJiZE1VVlYyakJnZ1VLQ3d2VHJiZmVLcFBKcE50dnYxMTkrL2JWYzg4OXA5ZGZmMTJyVjYvV2JiZmQ1dEhUWXVnNENBdnFjRFhXMmR0dnYrMVJPdzgvL0hDRDkxNSsrZVUyU2VWcXg2TnpsZmFHaDRjMytuNVJVVkc5NWRwSE9HTmlZbHplQ1hMdzRFRlZWMWMzK1hoWlUrUEYxVTZBN000MjdWbDRlTGllZi81NWwzZTNBbWcvNk5kYjNxL3YzTGxUR1JrWnNsZ3NHamx5cFBQOVRaczJhZGV1WFVwSlNkSGYvdlkzU2RLRUNSUHEzVFVFQUlDdmNRN1F1dDkyaFlXRmV2enh4Mld6MlRSeTVFaGRmLzMxTHV2MjkvZlhuRGx6ZE9lZGQrcTc3NzdUU3krOXBOdHZ2OTNsOW8wSkNRblJuLy84NTJaL2IwWkdSdXFaWjU1UmNIQ3dBZ01EUFRvRzRDdjBSNTcxUjRXRmhZM2VrTlJXa3h4WFZWVnA0c1NKTHRlLzhzb3JMdGR0MkxEQjViNjF2NDBLQ3dzMWZmcjBldXV5c3JLY3dVdjM3dDJicksvMk82MmRnTGlxcXFyWnNLQ2lva0wvL3ZlLzllNjc3OHB1dDZ0NzkrNTY2S0dIMUtkUEgrY2NDN1hCNi9qeDR5Vko1NTkvdm5yMTZxVS8vL25QU2s5UDE2eFpzM1RXV1dmcGxsdHVVWThlUFpvOEhqb1d3b0k2Mm5KMmRZZkQwZWo3TDcvOHNnNGRPcVNwVTZlMktMR3JyS3lVSkpjWHJ0OTU1NTBHNjA0ZXFtSHYzcjFhdjM2OUFnTUR0WERoUXBjem9FK2RPbFhGeGNWTlhpUjM1enRzNmZmczdZbFdYUDNQclRsK2ZuNEVCY0JwZ242OTVmMzZKNTk4SXFubURyNjZQOXByZjlTY2ZNSUxBRUI3d2psQXk4OEJpb3FLOU9DREQrcm8wYU9LaTR2VGIzN3ptMll2VEhYdjNsMzMzbnV2bm56eVNYMzQ0WWV5MisyYU9YTm1vL3U5K09LTHpndUk3bkwzcWZEVTFGUzkrT0tMSHJVTnREWDZJOC82b3hrelptakdqQm1TYW9hWHZ2TEtLMVZaV2RsbU55YVpUQ2JuWk5PdU9Cd081ODJ0elcxN3NvQ0FBT2N3UlVlUEh0WHExYXNWR2hycW5HdGw0OGFOa2x6M2N3VUZCWkpxd2xLcEppeHdOVnhUU1VtSlB2bmtFMzM0NFlmT0owT3V2ZlphM1hqampjN3Z0MU9uVHBvOWU3WWVldWdoUGZmY2MrclJvNGQ2OWVvbHFhWXZuejkvdmo3NjZDTzkvdnJyenVHeSt2ZnZyNGtUSityODg4LzNhS2c1bko0SUN4cmh6UTZvcVpPYS9QeDhmZjc1NXlvcUt0THk1Y3ZWcTFjdlRaczJUUmRjY0VHVGQxUFVWZHVCdTBwNzNmSG1tMjlLa2laUG51eXk4NVorU3BhYnFxMHRKemgrNTUxM1hPN1hFdTZNYVhleVo1NTVSc2VQSDlkcnI3Mm1tMisrMmZuK3d3OC9yT0xpNG1iM3YrYWFhelJtekJpUGp3dWdkZWpYRytlcVh6OXk1SWh6c3E2Nk5tL2VyRTJiTmlrbUpzYnI0d1BmZHR0dHpWNklhR29iVnorVUFBREd4amxBNDF5ZEE1dzRjVUlQUHZpZzl1M2JwOURRVUQzeHhCTUtDd3R6Njlqang0OVhRVUdCWG5ycEpYM3l5U2M2ZVBDZ0hubmtrUVkzYVVWRlJUVjdKKzJSSTBka3M5bWN5ODF0WDh2VlhBZEFlMEIvMUxpbXJqVnQyTERCV1V0Yk1adk4rdmpqajV2Y0ppY25SemZlZUtNazZmMzMzL2ZvZXdrTURIVE9SL0QyMjI5cjllclZpb3FLY3I1WCsrU0pxd21PaTRxS1pMVmFGUndjTEtrbWxHbnMrTjk4ODQyZWYvNTU1elcxNGNPSDY0NDc3bWgwdUxhaFE0ZnF1dXV1MDcvKzlTKzk5ZFpiZXV5eHg1enJ6R2F6cGsyYnBuUFBQVmV2L2o5N2R4NVFZL2IvQWZ4OUs5S2VSRFFpaWE5bGpEME1ZcEJsR0ZPMlljYWFkY1p1K0lxeFJ4cGJZaXdoKzVabGpKMVFvNUtkSVVTMktKbEtwYVRsZHV2Ky91aDNuMiszdTVheTNmZnJuNW43ck9lbXpuT2U4em5uY3padlJsQlFFTzdkdTRmSXlFaFVxbFFKVFpzMjFmcTcwNmVKd1lJUHFIejU4dGk1Y3lkT25UcUYvZnYzNC9IangxaXlaQWsyYmRvRU56YzNmUGZkZHhvamxwcW1obWx5Ky9adFhMaHdBU1ltSnZqaGh4OUs5VjdGOWViTkd3d2ZQcnhVNzdGcjF5NnR2dGV2di82cWRQdml4WXRMdWtoRTlBbjZYT3IxZmZ2MkNmdGs4dkx5c0diTkdnQkEzNzU5dFg3UjBGWnNiR3lKSEVORVJQUWhmQTV0Z0xpNE9NeWRPeGZSMGRFd01qTEM0c1dMNGVEZ1VLUXk5T25UQjRhR2hsaTllald1WDcrT2tTTkhZdHk0Y1dqYnRxMXd6SUFCQXpCZ3dBQ2w1NmVucDJQOSt2V0lpWWxCdDI3ZEVCb2FpdlQwZFB6MDAwOFFpOFZ3ZG5ZdThxaGVJbDN6T2RSSE1wY3ZYOVo0cjdTMHRHS3ZTVmtjUlZtVHBiQWJOMjZvM0tkcWdlUFhyMThMc3dxQS9CUkR5dGF1cUZldkhuSnpjMUdyVmkyNHU3dWpXYk5tYXNzeWVQQmdsQ3RYRHIxNzkxYTZ2MkxGaXBnK2ZUcCsrdWtuN055NUU0YUdoZ3dVNkFnR0M5UVlNbVJJc2M2enNySVNWa1hYeE1qSVNLaXNnNEtDc0d2WExzVEZ4Y0hmM3g5Nzl1eEJ6NTQ5MGFkUEg2VlJXSWxFSW95a0xHNEZibXhzak1hTkc4UEp5UW1tcHFiSXpNeFVPYVZJRnMwdDZRNGlUZkx5OHBDU2tsS3E5K0NJVkNMZHdIcGQ4WDZBZkwzKzZ0VXJuRDU5V3VIWXc0Y1A0K25UcDZoY3ViTGNxSmVTY3Z6NGNaWFRuR1dOZjNYSEZKNzJURVJFVkJEYkFJcjNBLzdYQnJoNjlTcTh2THlRbnA2T2N1WEt3ZFBURTNYcTFDbFdPYjc3N2pzWUd4dkR4OGNIeWNuSldMQmdBUm8yYkloZmZ2bEZaZkFoSnljSEowNmN3SzVkdTVDV2xvYXhZOGZDMWRVVkZ5NWNBQUFjUFhvVWQrL2V4ZXJWcTlHeVpVdDA2dFFKVGs1TzcvM2RsS2drc0Q1U3ZCK2cyTmVVbloyTmtKQVFqZmZTMDlQREYxOThvZkc0Mk5qWVl2ZjlGRHl2dU1HQzlQUjAzTHQzRDBEK29GaHZiMjlNbno1ZDQzbXBxYW5DdjVORUlrRjJkallxVmFxa2NGeWxTcFd3ZHUxYVZLMWFWU2lqdWpWRFpWVE5lSkV0SUYyMWFsVjRlSGhvdkE1OVB2aGtMY0RMeTB2dWMxeGNYTEd1VTNDNnBPeWFtaGFjTVRBd1FPZk9uZEdwVXllY08zY09PM2Z1UkZ4Y0hBSUNBdURrNUtRMHgxekJVWi9GcmNBZEhSMnhaTWtTeE1mSFkvTGt5VEF6TThQQ2hRc1Z5aXVWU3BHWGx3ZEFkYzQ2UUx0Y2trV04rRnBZV0JScHVsNWlZcUt3QUZkcDVMU2JQWHMyUEQwOVMveTZSRlR5V0s4WHZWN2Z1SEVqc3JPejBiaHhZeUYvSnBBL1ZiVjgrZkp3ZDNkWCtXS3VxWDVmdFdvVjZ0YXRLMWNHWmY5UFJFVDBydGdHS0ZvYjROaXhZMGhQVDBmRmloWGg2ZWtwNUs4dXJvNGRPNkp1M2JyNC9mZmZjZS9lUGJ4OCtWTHBtbkdwcWFrSURBekVvVU9Ia0ppWUNBY0hCeXhjdUJDMWE5ZVdPMjdseXBWNDl1d1pUcDgralRObnppQTBOQlFXRmhabzM3NDlPbmZ1ckhBODBjZUU5Vkh4K3ByQ3c4UGwwbFFmT25RSXo1OC94OWl4WStYZVIweE5UWVdPYlhYVXBiM1dwT0RQUk5WNkFacGN1SEFCbFN0WEZvSVdGeTlleE5HalJ6V2VsNXFhaXZUMGRDeGR1aFE1T1RrQThtY2JMRjI2VkRobStQRGhzTEt5VWtqWlZwcnJaZERuaThHQ0FwbzNieTczV2R1TzVvaUlDS3hmdng1UlVWRnlDNWNvdTZZbWVucDZjSEZ4UVljT0hSQVlHSWo0K0hpVmk5RVVmRkM4YTJvZ1kyTmpKQ2NuNC83OSs5aTRjU05Hang0dFpJaFV3QUFBSUFCSlJFRlV0NzlnampoMTkxS1dTekloSVVHWUptVnNiSXlFaEFRQStWT2F5cFVySjNlc3RwSGV4NDhmQzlIajk3M1lzR3h4R1NBL2I1MlhsNWZXblZ6bTV1Wll0R2hSYVJXTmlBcGh2VjYwZXYzdTNic0lDZ3FDdnI0K3hvNGRpeEVqUmdqSDJOdmJZOVdxVmJDeHNWRjVUMDM1aEEwTkRlVSt5MTRNaUlpSVNocmJBRVZyQTh5Y09STyt2cjRZTVdJRWR1M2FoU05IanJ4VEdlYk1tWU8yYmR2Q3g4Y0grL2Z2Ui9QbXpXRnRiUTBnZjBUdGxTdFhjT0hDQlZ5OGVCRVNpUVRHeHNad2QzZFhtK3F3ZXZYcUdEVnFGTnpkM1JFV0ZvYmp4NC9qOE9IRE9IejRNT3p0N2RHbFN4ZTR1TGlvelkxTzlDR3dQaXBlWDlPZmYvNEpQVDA5bUpxYUlpMHREUmN2WHNUTm16Y1JIUjJOZWZQbWxjamZ1cXVycTFiSEZlenowZlljNEgvZkFRQ0NnNFBScEVrVHhNYkd3dHpjSEc1dWJ0aTJiWnVRRW1yMTZ0WENlWkdSa2NML3A2YW1Db0ZWbVRkdjNzaDk3dCsvUDZ5c3JCVHVYOVFCdEZ1MmJNSHUzYnZScWxXcklwMUhueGNHQzk1QmJHd3NObTdjaVBEd2NJaEVJblR1M0JudTd1Nm9VS0hDTzE5YlgxOGYzYnAxazl1V2xKU0VrSkFRQkFjSFkvYnMyWElSV1ZVZDV0cW1aREF6TThPc1diTXdaY29VSERod0FJNk9qdWpZc2FPd1gxT3dZTml3WVJDTHhlamJ0Nit3TFNzckMvNysvamg4K0RCcTFhcUZoUXNYb256NTh0aXlaUXYyN05tRE1tWEt3TVBEUTI0VXlPSERoK1VlVEtyNCtmbmg1czJiR0Rod1lMR244SldFeXBVclk5V3FWUi9zL2tSVXNuUzlYZzhQRHdlUXZ5WkI5ZXJWRmE2cGFkRkFiVWIwRkNRcmcwZ2tldStCWHlJaW9vSjB2UTFnYUdpSS8vNzN2d0R5QnpnVkhoencrdlZyWkdkbnc5emNYR1VxRWRuM2trZ2t3Z0FCUFQwOXVYemxxYW1wR0Rac0dONjhlUU1BUWo3elBuMzZLTTNCcmF4dFlXQmdnUGJ0MjZOOSsvYUlqbzdHbjMvK2lhQ2dJUGo1K2NIZjN4K3JWcTFDclZxMU5QNmNpRDVXdWw0ZkFma0wvTjYvZng4dFc3YkVpeGN2a0phV0JpOHZMeXhac2dUQndjR1lNR0ZDaVF6RUxNNU1nNktjSXdzeS9QdnZ2N2h4NHdaY1hWMkZZR3lQSGoxZ2JtNk9iZHUyQVlES0lPMkJBd2VFLzkrMmJSdDI3dHdKRHc4UHVaOWpTVWhKU2NHZmYvNEprVWlrVmZvaStud3hXRkFNdWJtNVdMZHVIWTRkTzRiYzNGdzBiTmdRWThhTWdhT2pZNG5mNjlXclZ3Z05EVVZJU0FqdTNyMHJWRFFpa1VpdVU3M3dhRTJaZ3JuS1pLUlNxZEpGSXV2V3JZdmh3NGZEejg4UFBqNCtjSFIwRkRxTFpGT2RBT1ZyRm56Ly9mZHkxejkzN2h5MmJ0MksrUGg0ZE9qUUFWT21UQkhLNk83dURrZEhSNnhjdVJJVEowNkVtNXNiK3ZmdkQzTnpjN25ycVBQczJUTUFRSTBhTmJRNm5vaElIZGJyK2ZYNjk5OS9qNXMzYjc2M0lHeG1aaVlBb0Z5NWN1KzBVQmdSRVZGeHNRMmcrRzQzWk1nUWhiYkFsQ2xURUJFUmdTbFRwcUIxNjlZcXYrUElrU01SSFIydE1JTmN4c0xDQXVQSGowZGdZQ0JjWEZ6UXVuVnJsZDgzTFMxTkNDSWNPblJJNlRIMjl2YVlNbVVLaGc4ZmpvTUhEeUlxS29xQkF2cGtzVDR5RUs2emRldFdBUGxyb0t4ZnYxN1lQMlBHREppWW1BaXpMZDZWdGlQdlo4eVlnV3ZYcmdFQU9uZnVqR25UcGhYcFBzZU9IWU9Sa1pIY0FzRWlrUWp0MnJVVGdnVUZ5N0pqeHc1Y3ZIaFI0VHIvL1BNUFJDSVJHalZxVktUN0YzYmh3Z1U0T1RuSkJXaTJiOStPckt3c3VMaTR3TjdlL3AydVQ1ODJCZ3VLSVRNekU0Y1BId1lBekpzM1QyMWpxVGhldkhpQnNMQXdoSVdGNGNHREIwS2xiV2hvQ0Njbko3UnQyeGFXbHBaNDhlS0ZjSTZxYUsrZm41L0NQbldMUVBidTNSdmg0ZUdJaUlpQXA2Y24xcXhaQTBORFE3a0ZaMVIxNkVna0VvU0VoR0RQbmoySWpvNkdxYWtwWnM2Y2lXKysrVWJoV0dkblp6UnMyQkIrZm43WXYzOC9qaDgvanUrKyt3NWR1blRSbU1ZaVBUMGR5Y25KQUtDeElUaHc0RUMxKzZ0VXFTS1g1NDJJZEJQcjlmeDZ2VktsU2xpNmRPbDdXeXd3UFQwZFFQN2laZHFNWGhrOWVyVEtaeERYUENBaW91SmdHMEM3WUgxaVlpS0EvRlN5Nm1Sblp3dmZUNVZ2dnZsRzZUdGlZYkpjMjlwMFdsbFlXSEFrTEgzeVdCL2wxMGRuenB6QnZYdjNZRzl2aitiTm13dkJBaUMvZzMzaXhJbVFTQ1RDTzB0NmVycFdmLzhaR1JrYWoxSG01Y3VYdUg3OU9rUWlFWXlNakhEbXpCbjA2dFZMNjdWZDNyNTlpNk5IajZKVnExWmFwM1hxMmJNbkJnMGFKTGZ0MWF0WHVIdjNMb3lOalJFY0hJdytmZm9VK2JzQStUTVlWcTllRFNjbko4eWJOdzlseXBUQi9mdjNjZno0Y1JnWkdXSDQ4T0hGdWk1OVBoZ3MrSDlGYVZnVXpMSHM3KzhQZjM5L2plZFVxbFFKM3Q3ZVN2ZEpwVkk4ZVBBQTRlSGhDQThQRjBiTkEvbjUzVnEwYUlHMmJkdkN5Y2xKcnRFbGE0aVZLVk9teEVaa2lrUWlUSjA2RmFOR2pjTExseThSR1JtSlJvMGFxVzMwSlNZbUlqQXdFRWVQSGtWU1VoTDA5UFNFeFhPV0wxK3VzaUZvYkd5TW16ZHZ3c0RBQUZXcVZFRkFRQUFDQWdKUXQyNWR0R3JWQ28wYk4wYnQyclVWRnNDUnJSNXZZMk9ES2xXcXFQMCs4Zkh4YXZjejdRWFI1NHYxZXI2aTF1dXluSm52ZzJ3Tm1MeThQSzBXMzFJMlVvbUlpS2d3dGdIeUZlZmRUcG4wOUhURXg4ZERKQktoV3JWcWFvK1ZYVnZWekFJQW1EUnBFdTdldmF2bHR3RHUzTGtERnhjWHJZOHZhbzV1b3RMRStpaGZVZW9qMllqNlljT0dxYngvd2NGTjJyNUxGTmVHRFJzZ2xVclJ2SGx6Tkd6WUVKczJiY0x2di8rT05XdldhTlg1Zi9ueVpXUmtaQ2lrZjFMRnk4c0xseTlmeHJadDIyQnBhU2xzRHd3TWhGUXF4ZHUzYjNIaXhBbVZ3WUtjbkJ6bzYrdkw5YVZkdW5RSmVucDZjSEp5UXF0V3JiQnYzejVjdVhJRjgrYk53L3o1OC9INDhXT1ltSmlnZi8vK1FycXJpSWdJUEhqd29OaEJDZnAwTVZqdy80cGJzV2g3WHNHVjA0SDh5dmZHalJ1NGVQRWlMbCsrTEl5VUIvSlhjbS9ac2lXY25aM1JyRmt6bFpXUE5nMng0ckMxdGNXMGFkTlFvMFlOb1RHb3JBSy9kKzhldG16WmdsdTNia0VxbFVJa0V1R2JiNzdCNE1HRFlXWm1ock5uejZwdGdFcWxVcng2OVFvQXNHN2RPcHc5ZXhaYnQyNUZaR1Nrc0pqTHRHblQwTGx6WjduenpwOC9EMEJ6N215Z2RCcUtlWGw1U0VwS2VxZDhnY25KeVZ6WWs2aVVzVjcvSDIzcjlYZWw2V1hJeGNVRkF3WU1FRDdMQXJwTm16WlYrWklqT3c4QWpoOC9yakxJcTI0a0V4RVI2UmEyQWY2bkpOb0FOMi9laEZRcVJZMGFOVFNXVDVaaTBOallXT1V4TmpZMlNFdEwwM2pmdUxnNDRXZHRhR2lJU3BVcWFWVmVvbzhKNjZQLzBiWSs2dHk1TTk2K2ZZdXZ2LzVhcSt1YW01dmo0TUdER285emRYVXQ4aG9GcDA2ZFFsaFlHRVFpRVFZT0hJaGF0V3JoN05temVQcjBLWll1WFlvWk0yWm9ES2cwYk5nUURnNE8rT3FycjdTNlovMzY5UkVjSEl3ZE8zWmcvUGp4QVBKL1RuLzk5UmNNREF6azFubFFWZVlkTzNaZ3lKQWh3dnVSYkMySzA2ZFBvMkxGaWxpMmJCbW1USm1DSzFldXdOUFRFM1BtekVHN2R1MkVmL1AwOUhUTW1qVUxHUmtac0xhMlJ2djI3YlVxTzMwZUdDejRmMFhwVkU1UFQ0ZWJtMXVSendPQUowK2V3Ti9mSC8vODg0OWNIamhUVTFOOC9mWFhjSFoyUnRPbVRiVktBU0ZyaUtsYllLcTQyclZySi9jNUt5c0xnUHhJZkh0N2U3eCsvUnJHeHNibzBxVUxYRjFkaFpIK3NwRWloUmZHVWtVa0VzSEZ4UVVkT25UQXhZc1hjZXpZTVpRcFUwWWhVQ0NSU0lRRk9HL2Z2bzBuVDU3QXdjR2hlRit5bUFZTkdvVEZpeGNMRDdYaU1EUTB4T0RCZzB1d1ZFUlVHT3QxZWRyVTYrOUswMHROU2txSzNHZlo2Q1pOczhTSWlJaUtnbTBBZWUvYUJqaDc5aXdBb0dYTGxtcVB5OHZMRTc2SHVwbUtNMmJNMEhqUFI0OGU0WmRmZm9HcHFTbjA5UFNRa1pHQlgzLzlGZlhyMTllcXpFUWZDOVpIOHJTcGo1bzNiLzdlKzNtVXVYTGxDbGF0V2dVZ2YwSG5ldlhxQWNpdnd5Wk1tSURnNEdDVUsxY09reVpOVXNpSVVWQ0ZDaFcwQ2lySVZLNWNHWHA2ZWpoeDRnVDY5ZXNIR3hzYjdOMjdGeWtwS1hCemMxTll3K1haczJld3M3TVR5aEFTRW9LVWxCUzFaYXBjdVRLOHZMd3dlZkpraEllSFk4MmFOWmd3WVFJQTRNYU5HMmpjdURFbVRKZ0FiMjl2TEZ1MkRMYTJ0cWhkdTdaVzVhZFBINE1GNzVtbHBTV3VYYnVHdkx3OG9kSnUxNjRkbWpScFV1UWMwWEZ4Y1FBQUt5dXIwaWlxbklLTFVNb1lHeHZEMjlzYnhzYkdDZytScTFldkF0Qzhwa0JoK3ZyNmFOT21EZHEwYWFNMC8zUndjTENRNDFvcWxXTGx5cFh3OGZHQnZyNStrZTd6TGxxMmJLbXhvVXhFdXVOenF0ZmZWVkZmYXU3Y3VRTUFIOFhMQUJFUlVWSHBRaHZnNGNPSHVIanhvakM0U3gzWmU1b3NyM2R4aWNWaUxGKytIRktwRkgzNzlvV3RyUzBXTFZxRXVYUG40dmZmZjljNlR6aVJMdm1jNmlNREF3T3RCNTZXbHRPblQyUGx5cFdRU0NTb1U2Y09mdm5sRjJHZmc0TURmdnZ0Tjh5Yk53OG5UNTVFWW1JaXBrK2ZMcGN5cURCMWE2L0lzazVFUjBkajQ4YU51SExsQ2tRaUVTUVNDWGJ0Mm9WZXZYcGgzNzU5TURVMXhjQ0JBeFdDQmR1MmJjUGR1M2V4ZCs5ZXBLV2w0ZmJ0MjlEWDE5YzRNOFBlM2g3ejVzMkRsNWVYa0NJcE96c2IwNmRQUjdWcTFlRHY3NDk3OSs3aHlKRWptRGR2SHRhdFd3Y0xDd3ROUHpyNkREQlk4SjVaV1ZsaDVNaVJzTE96MHpxcXEwcFlXQmlBb25mSUY4ZWJOMjhBS0RZb2xhWGlTVWhJRUJibEtSdzFMb3JDVWRlc3JDd2haNStibXh0dTNyeUp5TWhJckY2OUdoTW5UaXl4WEhwRVJFWHh1ZFhyNzB0cWFxcVFjdTdMTDcvOElHVWdJaUo2RjU5N0crRHQyN2RZdUhBaHBGSXAycmR2RHpzN083WEh5OUlMbXBxYUZ2dmRMQ3NyQ3dzV0xNQ2pSNC9nNE9DQXZuMzdva3laTW5qMDZCRUNBZ0l3WmNvVVRKMDZGVzNidGkzVzlZaytWNTk3ZmZTK3BLV2xDV215QWFCMjdkcFl2SGl4UXNxbVZxMWFZZDY4ZVZpNGNDR3VYYnVHa1NOSFlzeVlNZWpRb1VPUjZ6OVpvSFhVcUZHUVNxV29WYXNXSmt5WWdQWHIxOFBNekF3TEZ5NkVXQ3pHakJrellHNXVybkIrZG5ZMnNyS3lJQktKRUJ3Y2pMeThQTFJvMFVLcmp2MkdEUnRpKy9idFFob29XYURJek13TUFQRHp6ejhqS2lvSzkrL2Z4OEtGQy9INzc3K3JuYkZBbndjR0M0cEIyWWozb3RCbWNSQ3BWSXFVbEJTWW1wb3FUQTlOU2twQ1FFQUFidDI2QlFEbzFLbVR5dXVVVlA1bVdZZU90YlcxMnVPZVBuMkt1WFBuSWowOUhZMGJOMGFUSmsxSzVQNEFzSHYzYmlRbEphRnMyYkxvMTY4ZlhGeGNNR25TSkJ3L2ZoeHYzcnpCeElrVGxWYWNSRVNhc0Y1Ly84NmNPUU9KUkFJYkd4dlVxRkhqbmEvSGRXQ0lpS2c0MkFaUUxpVWxCYk5telVKY1hCektseStQY2VQR2FieXViSFo1MWFwVmkxV3VpSWdJK1BqNElDWW1CalkyTmxpd1lJSFFRVGRpeEFqbzZlbGh6NTQ5V0xCZ0FWcTNibzNodzRkckRHQVFmVXBZSDMwNFlyRVlKMDZjd1BidDI0VUFock96TTZaT25hcHlwbFNyVnEzZzQrTURUMDlQL1B2dnYvRDI5c2JCZ3dmUnQyOWZPRHM3YTVVQjQ4MmJOMGhOVFFXUUh6QVpNbVFJM056Y29LZW5CeTh2TDh5ZlB4L1BuajFEcjE2OTBLWk5HNlhYZVBYcUZTd3RMU0dWU29XQnU0VlRlc3ZXT3NqT3psWllyNmJnNS92Mzd3TUE2dFNwSTV3M2MrWk1qQmt6QnYvODh3OU9uejZ0OVVMTjlPbGlzRUFEaVVTQ1Y2OWV3Y0xDUXFnZ3JsMjdCZ0NsM2pIdDd1Nk90Mi9md3NEQUFPWEtsWU9CZ1FGeWNuTGtGbVJ4YzNNVDhxWXBVNzU4ZWFYYkMrZU5Cdkp6VGNmRnhhRnk1Y3F3dExTRWtaRVJjbk56Y2ZYcVZSdzllaFNBNnNoeVJrWUc5dTdkaXdNSERpQW5Kd2QyZG5hWU9YTm1VYjZ1V3FHaG9kaTdkeThBb0YrL2ZyQzJ0b2ExdFRWbXpab0ZUMDlQaElTRTRQcjE2K2pjdWJOY0hyVzh2RHlJUkNLRnlLNVVLa1ZPVGc0a0VnbHljbkpnWUdDZ05xOG1FWDArV0s5clY2K1hwdXpzYk96ZnZ4OEEwS1ZMbDJLZHI2ZW5KemZDSnpnNEdBQlVMdFJHUkVURU5vQjJiWUFyVjY3QTE5Y1hDUWtKTURZMnh0eTVjNFVScW0vZXZNSHo1ODloYlcwTkV4TVRsQ3RYRG1LeEdKY3ZYeGJlMTRxU3NsVWlrZUR5NWNzNGV2UW9ybCsvRGlCL3h1RnZ2LzJtMEhubzd1NE9SMGRIK1ByNjRzS0ZDd2dQRDRlVGt4TTZkT2dBSnljbm1KcWFhbjFmb2crTjlWSEp2Wk9rcGFWcFRKT21Tbkp5TWs2ZlBvMi8vdnBMV0F6YTJOZ1lJMGVPUkk4ZVBUU2VYN3QyYmF4ZnZ4NysvdjQ0ZHV3WUhqNThDQzh2TDZ4ZnZ4N096czdvM2JzM0tsZXVyUEo4TXpNenRHN2RHa2xKU1pnMWE1YVFma2syeStyR2pSdHdjWEhCbURGamhITU1EUTJSbEpTRTFOUlV2SDc5R2srZlBrWHIxcTF4N2RvMXhNYkdvbno1OGdvcGlLcFVxWUtZbUJnRUJBVGdoeDkrVUxyQS9iTm56NFI2dkhuejVuTG5UcDQ4R2YvKyt5KzZkdTJxOFdkQ256NEdDelFRaThVWU5HZ1FnUHkwT0xKS0ZBQWFOV3BVYXZjVmlVUndjSEJBUkVRRUpCS0pNQzFKeHM3T0RuMzc5dFVZMGR1NWM2ZEN0RmdzRml1TkFpY21KbUxXckZrcXIyVmhZYUgwdkNOSGpzRGYzeDhaR1JrQWdEWnQydURYWDM4dHNjYmFQLy84ZzhXTEYwTXFsYUo2OWVybzM3Ky9zSzlWcTFidzlmWEY4dVhMOGZqeFk0WGNiUVU3b1VRaUVmVDA5Q0NWU2hWR29IcDRlS0JqeDQ0bFVsNGkrcml4WHY4ZlZmVjZhZHV4WXdlU2s1TmhhR2lJbmoxN0Z2bjhzMmZQWXVYS2xkRFgxNGVob1NFa0VvbXdrRnZkdW5WTHVyaEVSUFNaWUJ2Z2Y1UzFBVzdjdUlHREJ3L2l5cFVyQUlDS0ZTdGkzcng1Y29PeE1qSXlNR25TSkpYWHRiVzFoYXVycThyOUdSa1p1SFBuRHA0K2ZZbzdkKzdnOXUzYndudWtoWVVGQmcwYWhPKysrMDVsbWd0bloyYzBhdFFJdTNmdnhyRmp4M0Q1OG1WY3Zud1pJcEVJMWF0WGg0T0RBNW8zYjY1MlJEVFJ4NEQxMGYrODZ6dUpucDRldnZqaUM0M0h4Y2JHeXMzZWVQTGtDY2FQSHkrOFIranA2Y0hGeFFWRGh3NHQwa3dIRXhNVFRKZ3dBZDI3ZDhmV3JWdHg2ZElsSkNjbjQrTEZpeGc2ZEtqRzh5ZE1tQUFURXhPNVZFRHo1OC9Ia3lkUDBMVnJWMHllUEZsdUFHek5talZ4Nzk0OXVaa2tMVnUyaEZnc2hwV1ZGWHIwNktHUWh1cmJiNytGbjU4ZmR1ellnUjA3ZHFndFQ3MTY5UlN5aExSdjMxN2o5NkRQQjRNRkdoZ2JHOFBhMmhwSlNVbkNhSFJqWTJNMGF0UUlZOGVPTGRWN3k5TDU1T1RrSURjM0YzbDVlVEF3TUlDVmxkVTdMU29pRW9tVWpxS3ZYcjA2VEUxTmtabVppZHpjWEdHN2lZa0p2dnp5UzR3Y09WTHBmVnUxYW9YZHUzZWpjdVhLR0Rac1dJa3YvcHVibTR2YzNGd1lHUmxoMXF4WkNoSFFXclZxWWQyNmRiaDI3UnJDd3NMdzhPRkRwS1NrSUNzckN6azVPY2pKeVVGZVhoNmtVcW5jOTVJeE5qWm16a3NpSGNKNlhYTzlYdG9hTm15SUF3Y080TWNmZjlUcS9yTFpBckpHc216a1VXNXVydERCQUFDT2pvNXFPekNJaUVpM3NRMmd1ZzJRbnA2T1AvNzRBekV4TVJDSlJPalNwUXZHakJtamNPMUtsU3FoV3JWcVNFMU5SWFoydGpDVDI5TFNFazVPVGhneVpBaU1qWTFWbGpjdkx3L0xsaTBUUmgrTFJDTFVyMThmWGJwMFFZY09IWlNPZGkzTTNOd2NZOGFNd1U4Ly9ZVFRwMC9qL1BuemVQRGdBYUtqb3hFVEU0TytmZnRxdkFiUmg4YjZTUHQzRW1Oalk3V1pJRXhOVGJGNTgyYU41WE4xZFpXYlBlSGc0SUNwVTZkaXhZb1Y2TkNoQS9yMDZmTk9xYzFxMXF3SlQwOVBSRWRINDhpUkkzQjJkdFlxZzBYaGhhUlRVbEtRazVPRHNXUEhLZzIrVHB3NEVSczJiRUJDUWdMMDlQVFFwRWtUZE83Y0dTS1JDQzFhdElCRUlsRTRwM2Z2M2pBeU1rSm9hQ2dTRXhPVnByd3lOemZIVjE5OWhYNzkrbkZOVUIwbmtyNXJVclFQWk1tU0pmanZmLy83WHU4cGxVb2hsVW8vaWNVOEVoTVRBZVNQQmlrT1dYb2VBQ3J6c3hXVW1wb0tjM1B6VXF0UWR1N2NxVFM2V1JSNWVYbkNqQUtwVkNyTU5QZ1UvajJMNmtQOGZSQzlLOWJyNnIzdmVoM0k3NHlYMVpYcXlBS3kydVRsbEFrUEQwZUxGaTJLZEU1QllyRllTQ2VYbDVjSFEwTkR0WjBUNzRKMUtoRlI2V0liUUwzMzFRYUlpNHZEdm4zNzBMdDM3MUpkQytEOCtmTzRjK2NPNnRXcmg4YU5HOFBTMHZLZHI1bWNuSXc3ZCs0Z0p5ZW5SR2VNc3cyZ2UxZ2ZxZmNoM2tsS20xZ3NWcGdsOGFISitxdytaNnhmUHd5UkZyOVluRmxRQk1weTMzK3NpbHR4eXhnWUdDaE1XMUtudEVlbURodzQ4SjJ2OGJrR0JvaW8rRml2cTZkdFIzNXg2dGJDZVRTTHFtelpzaDlkbzU2SWlENGRiQU1vc3JXMWZTOHo5TnExYTRkMjdkcVY2RFd0ckt6ZzdPeGNvdGNrZWw5WUgzMVlIK003eGFmeSswQ2ZKL2FjRWhFUkVSRVJFUkVSRVJIcE9BWUxpSWlJaUlpSWlJaUlpSWgwSElNRlJFUkVSRVJFUkVSRVJFUTZqc0VDSWlJaUlpSWlJaUlpSWlJZHgyQUJFUkVSRVJFUkVSRVJFWkdPWTdDQWlJaUlpSWlJaUlpSWlFakhNVmhBUkVSRVJFUkVSRVJFUktUakdDd2dJaUlpSWlJaUlpSWlJdEp4REJZUUVSRVJFUkVSRVJFUkVlazRCZ3VJaUlpSWlJaUlpSWlJaUhRY2d3VkVSRVJFUkVSRVJFUkVSRHJ1a3cwV2xDbFRCbUt4K0VNWGcraWpJeGFMVWJaczJROWRES0lpWTcxT0h5UFdxVVJFcFk5dEFQb1lzUTJnbTFnZkVaVSsxcThmdDA4MldHQnBhWW1rcEtRUFhReWlqMDVTVWhJc0xTMC9kREdJaW96MU9uMk1XS2NTRVpVK3RnSG9ZOFEyZ0c1aWZVUlUrbGkvZnR3KzJXQkJyVnExY1B2MjdROWRES0tQenUzYnQrSG82UGloaTBGVVpLelg2V1BFT3BXSXFQU3hEVUFmSTdZQmRCUHJJNkxTeC9yMTQvYkpCZ3Vjbkp3UUhSMk41OCtmZitpaUVIMDBuajkvanVqb2FEZzVPWDNvb2hBVkdldDErdGl3VGlVaWVqL1lCcUNQRGRzQXVvdjFFVkhwWXYzNjhmdGtnd1ZseTVaRjE2NWRjZXpZTVZiaVJNaXZjSThkTzRhdVhic3k5eHQ5a2xpdjA4ZUVkU29SMGZ2RE5nQjlUTmdHMEcyc2o0aEtEK3ZYVDROSUtwVktQM1FoM3NXelo4OXc2dFFwMk52YjQ2dXZ2a0tGQ2hYNEMwYzZReXdXSXlrcENiZHYzMFowZERTNmR1Mks2dFdyZitoaUViMFQxdXYwb2JCT0pTTDZzTmdHb0ErRmJRQXFqUFVSVWNsZy9mcHhFWWxFSW8zSGZPckJBaUQvRisvS2xTdDQ5T2dSWHI5K3JYSGwrdXpzYkJnWUdFQmZYLzg5bFpDb2RKUXRXeGFXbHBad2RIU0VrNU1UR3kvMDJTaHF2UzRXaTZHdnI4OTZuZDRKNjFRaW9nK1A3M2IwSWJBTlFNcXdQaUo2ZDZ4ZlB5NDZFeXdvS2s5UFR4Z1lHR0RHakJrZnVpaEVSRlFDUEQwOVlXbHBpZkhqeDMvb29oQVJFZEY3NU9ucENaRkloRm16Wm4zb29oQ1JqdlAwOUVTNWN1VXdiZHEwRDEwVUlpS2x0QWtXZkxKckZyd3JIWXlSRUJGOTFsaXZFeEVSNlNhMkFZam9ZOEg2aUlnK2RUb2JMQ0FpSWlJaUlpSWlJaUlpb253TUZoQVJFUkVSRVJFUkVSRVI2VGdHQzRpSWlJaUlpSWlJaUlpSWRCeURCVVJFUkVSRVJFUkVSRVJFT283QkFpSWlJaUlpSWlJaUlpSWlIY2RnQVJFUkVSRVJFUkVSRVJHUmptT3dnSWlJaUlpSWlJaUlpSWhJeHpGWVFFUkVSRVJFUkVSRVJFU2s0eGdzSUNJaUlpSWlJaUlpSWlMU2NRd1dFQkVSRVJFUkVSRVJFUkhwT0FZTGlJaUlpSWlJaUlpSWlJaDBISU1GUkVSRVJFUkVSRVJFUkVRNmpzRUNJaUlpSWlJaUlpSWlJaUlkeDJBQkVSRVJFUkVSRVJFUkVaR09ZN0NBaUlpSWlJaUlpSWlJaUVqSE1WaEFSRVJFUkVSRVJFUkVSS1RqR0N3Z0lpSWlJaUlpSWlJaUl0SnhEQllRRVJFUkVSRVJFUkVSRWVrNEJndUlpSWlJaUlpSWlJaUlpSFFjZ3dWRVJFUkVSRVJFUkVSRVJEcU93UUlpSWlJaUlpSWlJaUlpSWgzSFlBRVJFUkVSRVJFUkVSRVJrWTVqc0lDSWlJaUlpSWlJaUlpSVNNY3hXRUJFUkVSRVJFUkVSRVJFcE9NWUxDQWlJaUlpSWlJaUlpSWkwbkVNRmhBUkVSRVJFUkVSRVJFUjZUZ0dDNGlJaUlpSWlJaUlpSWlJZEJ5REJVUkVSRVJFUkVSRVJFUkVPbzdCQWlJaUlpSWlJaUlpSWlJaUhjZGdBUkVSRVJFUkVSRVJFUkdSam1Pd2dJaUlpSWlJaUlpSWlJaEl4ekZZUUVSRVJFUkVSRVJFUkVTazR4Z3NJQ0lpSWlJaUlpSWlJaUxTY1F3V0VCRVJFUkVSRVJFUkVSSHBPQVlMaUlpSWlJaUlpSWlJaUloMEhJTUZSRVJFUkVSRVJFUkVSRVE2anNFQ0lpSWlJaUlpSWlJaUlpSWR4MkFCRVJFUkVSRVJFUkVSRVpHT1k3Q0FpSWlJaUlpSWlJaUlpRWpITVZoQVJFUkVSRVJFUkVSRVJLVGpHQ3dnSWlJaUlpSWlJaUlpSXRKeERCWVFFUkVSRVJFUkVSRVJFZWs0Qmd1SWlJaUlpSWlJaUlpSWlIUWNnd1ZFUkVSRVJFUkVSRVJFUkRxT3dRSWlJaUlpSWlJaUlpSWlJaDNIWUFFUkVSRVJFUkVSRVJFUmtZNWpzSUNJaUlpSWlJaUlpSWlJU01jeFdQQ0JIRGx5QklzV0xTcld1ZEhSMFVoS1NpcmhFcWwyNnRRcDdObXpCMUtwdEZTdUh4OGZqOVRVVkxYSEhENThHUGZ2M3krVit4TVJmVWh4Y1hGd2NYSEJqUnMzU3V5YUdSa1pLdmRsWm1ZaU1UR3h4TzcxSVQxKy9CaS8vdm9yNHVMaVZCNFRFUkdCMGFOSGY5Qm5TR0JnSUh4OWZaR2VudjdCeXFDS1ZDckZrU05Ia0plWEoyeTdmLysrMnQ4aFRYYnYzbzI3ZCs4cTNaZVFrSUE5ZS9hby9UZFR4Y3ZMQzBPSERrVjhmSHl4eTZhdHpNeE1TQ1NTVXI4UEVYMWFwRklwM3I1OUs3Y3RJU0VCVzdac2thdEhDM3IrL1BuN0tKcEtpWW1KMkx4NU16SXpNNHQxZmttM0tVcnJHWkdjbkl5RWhBVGhjM1oyTmc0ZVBJaUlpQWl0cnlFV2k1VnVEdzRPeG93Wk00cDBEbEZwazBna2VQejRzZEo5VDU0OEtaRjJaM1IwdE1xNlRaTlBzYjRrb253R0g3b0F1dXJldlh2NCsrKy84ZHR2dnhYcFBLbFVpc1dMRitQdDI3Zll0bTBiOVBYMWNlellNWTNuZmZubGw3QzN0d2NBdkgzN0Zzbkp5UXJIbUp1Ync4TENRbTViZEhRMFZxeFlBV3RyYS9UdDJ4Y0dCb3EvTWxLcEZBY09ITkJZQmtORFEvVHMyVk5oKzhDQkE5R3hZMGQ0ZUhpb1BQZVBQLzdBanovK2lEcDE2Z2piSGo5K2pNaklTSlhuL09jLy8wR3RXclUwbG91SXFDaHUzTGlCNmRPbkYvbThVNmRPUVY5ZlgrdmpIejE2aEppWUdLWDc3T3pzNE9qb3FQTGNzV1BIb2xXclZoZzFhcFRDdm1QSGptSERoZzA0YythTXhqTGs1dVlpSVNFQk1URXhlUFRvRWFLaW9oQVZGWVZCZ3dhaFc3ZHVXbjhYVGE1ZnY0N1hyMTlyZFd6SGpoMkYvMDlQVDhmdDI3ZlZkb0RZMjl2ajFhdFgyTEJoQTFhc1dLSDBtQWNQSGlBMk5yWkk5OVpXY25JeTFxMWJCMnRyYTVRdFd4YVJrWkdZTUdHQ1Z1Y1cvRGRLVDAvSC92MzdpM3ovd3ZyMDZRTXpNelBoYzJob0tOYXVYWXRtelpyQjF0WVdUNTQ4d2FSSms5QzZkV3VNSFR0V09LNTgrZklRaVVSSVNrcVM2MFEzTlRXRmlZbUo4RGtxS2dwYnRteEI3OTY5VWI5K2ZZWDdoNFNFWVBQbXphaFRwdzVzYlcyMUx2ZVJJMGNRSEJ5TVljT0d3Y2JHcHFoZlc4NmlSWXZ3NXMwYkxGNjhHQ0tSU09reFBYdjJoSnViRzM3NTVaZDN1aGNSZlY0OFBUM3g4dVZMckZpeEFrWkdSZ0R5QTZ5N2QrK0d2cjQrQmc4ZUxIZjgxYXRYOGR0dnYrSDc3NytYcTFQZnA3Q3dNT3dRQWcyWEFBQWdBRWxFUVZUWnN3ZHBhV21ZTkdsU2tjOHZxVFlGVUhyUENDRC9mZkhxMWF2WXNXTUhMQzB0QVFCNzl1eEI5ZXJWc1h6NWNvM241K2JtWXZyMDZTaFhyaHltVFpzR0t5c3JZVjljWEJ5dVhic21kN3hVS3NXdVhidHc2dFFwK1BqNG9HTEZpa1VxTDlHN0Nnb0t3dEtsUytIbDVZWG16WnNMMjNOemN6RnIxaXhVcVZKRnE5OTlWWktTa2pCcTFDaTR1cm9XcXozMEtkYVhSSlNQd1lKUFRGaFlHSjQ4ZVFJUER3K2gwOG5YMTFmamVlUEdqUk9DQlNFaElVbzdUTnpkM1RGZ3dBQzViVnUzYm9XeHNURlNVMU94YTljdURCa3lST0c4dkx3OGJOaXdRV01aek0zTmxRWUxpdXZxMWF2dzkvZFh1WC9vMEtFTUZoQlJxZm50dDk5UXMyWk5qY2VkT0hGQ3E0QnFZWUdCZ1RoMDZKRFNmVzV1YmlxREJjK2VQVU5zYkN6cTFhdFg1SHZLbkRoeEFnRUJBWWlQajBkdWJpNEF3TVRFQkRWcTFFRHIxcTFScFVvVkFNQ2RPM2ZVWHNmYTJocVZLMWRHUmtZR2dvS0NsQjVUb1VJRkJBUUVxQnhsV0ppbURuc1hGeGVsMnlNaUloVDJ5UUxWZ1lHQk9ITGtpTVo3ZTN0N3E5My85ZGRmWS83OCtjTG52THc4TEZxMENHS3hHRE5tekVEWnNtV0ZmZlBtelVPMWF0V1VYdWZ2di8vRzl1M2I1YmE5ZmZzV3UzZnYxbGhHVGJwMDZTSUVDM0p5Y3VEdjc0OXUzYnJCMXRZV09UazUrUDMzMzVHYm00dVFrQkNFaElRSTUrM1pzd2ZXMXRidzhQQkFkSFMwc0gzbzBLSDQ2YWVmaE0rblQ1K0dTQ1RDOTk5L3IvVCtJU0VocUZDaEFobzFhcVIxbVNNaUlyQnUzVG9Bd0pZdFc3Qmx5eGExeDZ2cjVNL016TVRGaXhmeDlkZGZDNEdDeU1oSTdONjlHd01HREhpbnZ4c2krdng5KysyMytPMjMzK0R0N1kxNTgrWkJKQkxCMmRrWnpzN08yTDE3TjFxMWFpVzhmOFRFeE1ETHl3dEdSa2JvMUttVDNIVU9IejZNUC83NG85amxxRkNoQXZidTNhdlZzZDkvL3oxT256Nk40OGVQbzBPSER2anFxNiswdms5SnRDa0tLbzFuaE95ODBOQlE5T3paVXdnVUdCb2FvbS9mdnRpMGFSUEN3c0xRcGswYnRkZlExOWRILy83OXNXVEpFb3dhTlFvZUhoNW8xcXlaMG1Nek1qS3dkT2xTaElXRm9WZXZYbktCQmFMM0lTOHZEM3YyN0VHZE9uVVVmay9QblR1SHhNUkU5T25UUitYQUkwdExTN25CSXdBVWpqMXo1Z3lrVWlrYU4yNnNkZ0NUS3A5aWZVbEUrUmdzK0lSSUpCSnMyclFKRFJvMGtPc3NVVFdTUXlLUllPYk1tWGoyN0JtKy92cHJZWHUzYnQza1JvVG01ZVdoYTlldUNnK0w0T0JnWExod0FWT25Uc1diTjIrd2FkTW1OR25TQkEwYU5KQTdUbDlmWCtOb0VuZDNkNDJwaGdxS2o0L0h3SUVENWJidDNyMWJycVBrekprejZOKy92OUx6VlhVV0VSR1ZGQnNiRzdVTlpKbkNNN2FLYXR1MmJYS2ZsUVZ0Q3pwLy9qeU1qSXprUmhnVmxhT2pJMXEyYklrdnZ2Z0NaY3VXeGZMbHl6Rng0a1I4ODgwM2NzZE5uanhaN1hWa25iYXZYNzlXR2RqKzZxdXZNSC8rZkxscC9IdjM3c1dSSTBld2J0MjZJdi84Tm0vZURBQTRldlFvbWpWckpnUTJaQTRjT0lCdnYvMFd4c2JHd29qNDhlUEhvMy8vL3ZqeHh4L2g0ZUVoOTR4MWNYSEJxRkdqMExkdlgrellzUVBidDIvSCt2WHI1VHIrQVdEcTFLa0t6OUZWcTFiaDl1M2JtRDU5T2h3Y0hPVDJWYTVjV2VYdlQvbnk1UlcyMmRqWXFIM1dlbnQ3NDl5NWMxcVA3Z1R5bjZ2cDZla1lPblFvZ1B4Um1XL2Z2b1dmbngvS2xDa0RBRmkvZmoxZXZYcUZDaFVxQUFBbVRab2tsNUtpYXRXcUFJQ1RKMDhDeUIvbFZxVktGZnp6enovNDU1OS9BT1RQN3FoYnR5NWlZbUlRR1JtSi8vem5QMG9EYURZMk5uQjJkcGJiOXZ6NWM4eWZQeDhTaVFRZE8zYVVDMHdVbEpHUmdXWExsaUUyTmxabDV3NEFYTHAwQ2RuWjJlalNwWXV3N2ZMbHk3aDA2Wkx3Y3lBaVVxVlpzMmI0NmFlZnNHUEhEbHk2ZEFtdFdyVUNBUHp5eXkrNGZ2MDZybHk1Z2xxMWFpRXZMdzl6NTg1RlRrNE9GaTllalAvODV6OXkxNmxldlhxeForaUZob2JLemZiT3pjM1ZtRzVrMEtCQkNBb0tnb21KaWNwM01sTlRVNFVaa0NYUnBnQks3eGtCNUtjMThmSHhnWTJORFlZUEh5NjN6ODNORGNlUEg0ZXZyeS9xMTYrdjlQbGFVSXNXTGJCKy9Yck1uVHNYYytiTXdaWXRXeFJtczBtbFVreWJOZzJ4c2JHWU5Xc1cyclZyVjZTZkJWRkpPSHYyTEY2OGVBRmZYMSs1V1pKaXNSaGJ0MjRGQUt4YnQwNFliRkdZckcxYmtMdTd1OUpqNTh5Wm83SWM2dHFkSDJOOVNVVGE0VjlOS2RLbXcxcmRNYk5uejVackVPM2Z2eDhKQ1FuQ3FNWGJ0Mi9qeXkrL2hKNmU0dElUWXJFWUN4WXN3UDM3OTdGa3lSS0ZhWkVQSHo1RVdGZ1loZzBiaGpkdjNrQXFsY3AxeUx4OCtSS3JWcTFDcTFhdDBLVkxGMGlsVXR5NGNRUHo1OCtIajQrUFZoMWs3OExNekF6anhvMFRQdi94eHg5bzFxd1pXclpzV2FyM0pTTFNscmFwWkpSNS9QZ3h4b3daSTdldFlHcWpnZzN2b2t6RHo4dkx3OG1USjlHK2ZYdmN1blZMTG5ldmpDeDltNm9VZGoxNjlFRHQyclZSdTNadEFOQ1lON2g5Ky9ibzFhdVh3dmFDUHg5YlcxdmhPL241K2VIQWdRTnFYeTd1M0xrREJ3Y0h0YW1XVkxHenMwTjhmRHhPbmp5SnFLZ28rUGo0eUkwZ1AzSGlCS3BYcjY2MHpKcklSaitabUppZ2N1WEt3dmFNakF5a3BLUUlNL2lrVWluV3JWdUg0OGVQNDRjZmZsQVlJUVZBNGQ5ZlcyZk9uSUd0cmEzUzlBMnFiTjY4R1UyYU5KRWJxUmtSRVlIZHUzZGo2dFNwc0xDd3dQNzkrM0h5NUVsNGVIZ0lnWUswdERUY3VIRURvMGVQUm14c0xLcFdyYXJ5dmdWbkxLYW5wOHQ5ZG5OelE5MjZkWEg4K0hFQStXbWZIang0b0hBTkp5Y251WFpQVEV3TXBrMmJCaE1URTNUdDJoVUJBUUV3TVRIQnp6Ly9MUGZpRnhzYmkyWExsaUVoSVFFTEZ5NUUwNlpOVmY0c2poOC9EanM3T3pScDBrVFlkdkhpUlZTclZrMnJtVUpFcEpzU0VoS0VOZU9hTm0wS3FWUUtTMHRMdVpTb00yZk9oSm1abWJDdFc3ZHVrRWdrTURBd0VMWlpXMXVqWXNXS2FOU29VWkZIejh2Y3VYTkhMdDkzVkZTVTFtMlNnalBHQ2x1elpvM3c3QWRLcmswQmxNNHpBc2hmbDJEZXZIbkl5TWlBcDZjbmpJMk41ZmFYTFZzVzA2Wk53NisvL29vNWMrWmcyYkpsTURRMFZQa3pBSUNLRlN2Q3g4Y0hrWkdSU3RQZWlVUWlUSmd3QVdabVprVk9sVVJVRXJLenM3RjE2MVowNnRRSmRldldSWFIwTks1ZnY0NHVYYnBnNzk2OVNFeE1oSU9EQTlhdVhhc1FBRnkrZkRuT25qMnJzcTMwd3c4L1lNU0lFUnJMSUd2UEsvTXgxNWRFcEIwR0MwcFovZnIxbFk2QU9IdjJMQjQrZklpZmYvNVpZVjlNVEl4Q2d5c21KZ1k3ZHV6QWp6LytDSHQ3ZTl5OWV4ZFRwMDdGeElrVDBiMTdkN2xqWDcxNmhmbno1eU1tSmdiZTN0NXllZjVsYnQyNmhlUEhqMlBZc0dGSVMwc0RrSjhtQ0FCU1VsTGc0ZUVCS3lzcllSMEJrVWlFV2JObVllTEVpWmc2ZFNvV0wxNnNNRXF5SkJrYkc4dE5ULzNqano5UXUzWnRsVk5XaVlqZXQzZEpRMVN0V2pWaEJIeG9hQ2kyYk5tQ3FWT252dk0wLy9Ed2NMeDY5UW91TGk0SUNBakE1Y3VYVlI2cmFxUy83TVZlVytYTGwwZmR1bldMZEk0Nk1URXhlUExraWNxWlkwRCtvbTBQSGp3UXBrU0hoWVVoS2lvS2JkcTBnWm1aR1d4c2JEQnUzRGlzV0xFQ1Y2OWVoWk9URXdCZzQ4YU5jSFIwVkpzU0x5a3BTZVZVYTFtQTROOS8vNVVMRmp4NjlBaFNxVlFJYm16WXNBR0hEaDFDMTY1ZE1XTEVDTnk2ZFF1UEh6L0dkOTk5SjV4VDFEUkVRSDdhb0lDQUFLU2xwV0h0MnJXd3RyWlcrVDFrQWdNRHNXZlBIdHk2ZFFzclY2NkVTQ1JDZkh3ODVzK2Zqelp0MnNERnhRVXZYNzVFUUVDQXNDNVNZV3ZXckFHUXYyNkFMT2VzTWoxNjlGQVluZCtuVHg4QStaMURKMDZjUU51MmJaV3UxL1Q5OTk4TFFRb2cvK1Z1N3R5NU1EQXdnTGUzTjZwVXFRSUxDd3RzM0xnUmtaR1JtRFp0R3V6dDdZVjgyVlpXVnZEeDhWSGJObm4rL0RsdTNicUYzcjE3Q3dHazZPaG9QSG55QklEaUFJNURodzRwcEFJN2Z2eTR3cXdTSXZyOEhUcDBTT0Zadm5QbnppSmZwM0JIWEY1ZUh0YXNXWU1XTFZxZ2VmUG1LdGRSS1NnM04xZXVIcXBTcFFvbVRweW85aHhmWDErVUwxOWVJVWQ0UVlVN3hrdTZUVkdTendnZ2Z4YjlnZ1VMOFBEaFE0d2VQUnBmZnZtbDBqSTBhTkFBSTBhTXdNYU5HekZqeGd4NGVucktyYlVENUtmbzA2WkRVZDFBUHowOVBadytmVnJqTllqZTFjNmRPNUdabVNtc0k3SjI3VnBFUmthaVlzV0syTDkvUDF4ZFhSRVlHSWp0MjdkajJMQmh3bmtuVDU3RXFWT25NSHIwYUpYdHBUZHYzcWhzQnhjK1RwV1B1YjRrSXUwd1dGREthdFNvb1hUMFlsUlVGQjQrZktoMDM5V3JWK1dDQldLeEdBc1hMb1M5dlQwR0RCZ0FzVmdNSHg4ZjFLeFpVMkU2MXRtelo3Rm16UnFrcDZmRDB0SVM5KzdkZzRPREE4cVZLeWQzWEVwS2lwRFBVUllzc0xDd3dMLy8vb3RaczJaQktwWEMyOXRiYm5TR3NiRXhmdi85ZDB5ZlBoMFRKMDdFMkxGajBiVnJWMkYvcjE2OTFENDBaTUdJa2lLUlNCQWVIbDZpMXlRaTB0YTdwQ0VxVTZhTWNPNnpaODhBNUk5a2U1ZFpXMUtwRkR0MjdBQ1FuNGQwNGNLRmN2c3pNelBScjE4L1ZLdFdEVkZSVWJDMXRVWFhybDBWMXFvQjhsTWRGWjVSNE9YbEJTOHZMK0Z6VWRMZEZNVzVjK2NBUUdtZ1hlYktsU3R5YTliSVhrRFdybDJMckt3c3VXT1ZkVG9VZkhZVy9oNGJOMjdFeG8wYmxkNzNpeSsrZ0w2K1BwNDlleVkzd3VuKy9mc1FpVVRDeklNbVRab2dLeXNMRXlaTVFHNXVMdjc0NHcra3A2ZkxwYjRwYWhvaUlQLzNadmJzMlJnN2Rpd1dMbHlJNWN1WHExMDArL256NTFpOWVqV3NyS3d3Wjg0YzRhWEt5TWdJVmF0V3hhKy8vb3FYTDE5aXpKZ3hXTHQyTFlZT0hZck5temZEenM0T21abVpHRGh3SUE0ZVBJakV4RVQ4K09PUEt1OVRzSHlxMGtidDI3Y1BXVmxaK1BISEg1V1dPVGMzVjI2MndKa3paNFIyaHl5VlZOKytmWVdGS3NlTUdRTmJXMXZFeHNhaWMrZk9HRHQyck1LSTBzSmtMNjRGWHk2UEhUc21qQkl0K0RLNWRPbFNORzNhRkIwNmRKQzdCcWV5RStrMldmQzBPSlF0MlBuMDZWT0VoWVhoeUpFanFGYXRHdnIwNllOT25Ub3BkSXdYVkxpK3RMUzAxQmpvOS9YMWhhbXBxZFlEQWtxeVRTRlRrczhJc1ZnTVQwOVBYTGx5QlQxNjlCQ0NEcXIwNjljUHljbkpPSGp3SU1hT0hZdFpzMmJKelY3Y3RHbVQwdk5Pbmp5SkF3Y09vR3JWcW9pSmljRnZ2LzJHcWxXcmFweWRRRlJhN3QyN2gzMzc5bUhTcEVtd3NMREErZlBuY2ZQbVRmVHYzeDkrZm42b1hiczJ4b3daQTBkSFJ5eGZ2aHpWcWxWRHg0NGRjZTdjT2F4Y3VSTGZmdnV0MnIrWEV5ZE80TVNKRXlWUzFvK3h2aVFpN2ZDdjVoTVFHeHVMSjArZVFFOVBEOTkrK3kya1VpbjA5Zld4ZXZWcUlRWFJ0V3ZYc0gzN2RrUkdSc0xaMlJtalI0L0duMy8rQ1g5L2YremR1eGQ5Ky9hRnE2dXIwTEJKU2tvU0dtdXlEbjZ4V0N5a0kzQnpjME5VVkJTaW9xSVV5dE9yVnkrY09uVUt5NWN2aDRXRkJWcTFhb1g0K0hpOGVmTUdUWnMyRlVad0ZyUm56eDZ0cDMrbHBxYmk3Ny8vVnRnZUZSV0Z3NGNQQzUvYnQyOFBUMDlQcmE1SlJGVFMzaVVOa1V4T1RnNnVYTGtDSUQ4QW1wbVpxWGJrdGpybno1OFhSa2lyMnArWGx3Y25KeWRFUlVXaFdiTm0rUHZ2djVXKzJIdDdlME1pa1FESVgxQTJORFFVbzBlUFJvc1dMWXBWTnVCL0tRcGtaWlI5dHJhMkZsTE01ZWJtNHRTcFU2aFlzYUtRSTErWi92MzdvMy8vL3JoMTZ4YW1UcDJLOWV2WG8yYk5ta2hJU0VCMmRuYXh5d2hBNlpvRk1ySWd6OE9IRCtYT2lZaUlRSTBhTllTUmlzMmJOeGZ5T3g4NmRBalBuajJEbDVlWDNFakc0cVlocWw2OU9zYU1HUU5mWDE5czNicFZJVCt6VEhKeU1tYk9uQW1wVklvRkN4YkkvVHpOemMyRlFJTy92ei8rODUvLzRJc3Z2Z0NRMzU1NCt2UXBjbkp5SUpGSUVCSVNJclFUN3R5NW96UXRsYVpaZnprNU9RZ1BEOGMzMzN5ak1yVlVibTZ1M012ZXBFbVRrSjZlTHJjT1JFSkNBcDQvZnc0VEV4TWtKeWZqeFlzWEVJbEVTRWhJd0prelo5Q3dZVU5VcjE1ZDZVaXp1TGc0QkFZR3ltMUxUMDlIWUdBZ1dyUm9vZENCdG5UcFVsU3JWZzJkTzNkVys5MklTTGNVVE5OVEVtcldySW1kTzNmaTlPblQyTHQzTDFhc1dJRnQyN2FoVDU4KytPNjc3NVIyU3VmazVLanRIQ3NKSmRtbTBLU296NGprNUdUTW56OGY5KzdkUThlT0hiVnVqNDBaTXdZbUppYll2bjA3eG8wYmg5NjllMlBBZ0FFd05UVlZDTjZucEtSZzNicDErUHZ2dnpGKy9IaWtwYVZoNjlhdDhQUHpnMWdzUnZmdTNlSHE2c3FGamVtOUN3b0tRbDVlSG54OWZZVjBYdFdyVjhmQWdRT1JtcHFLbjM3NkNmcjYrdWpTcFF1aW9xS3daTWtTaEllSEl6UTBGTjI3ZDlmNDkxSVNhWWhrZEtXK0pQb2NNVmp3Q1hCd2NJQzN0emZNek13UUZSVUZYMTlmOU92WEQ3YTJ0dGk3ZHk4Q0F3TVJFeE1EVzF0YnpKOC9YMWpNZU15WU1lamV2VHZXckZtRFRaczI0ZURCZ3hnNGNDQjY5dXlwZEdaQmpSbzEwTGx6Wi96MDAwOXdkWFZWVzZaRGh3N2g4dVhMd2lJMXNxQ0NpNHVMWENlTGpJbUppZFlkT0s5ZXZWSzYydjIxYTlkdzdkbzE0WFA3OXUwQkFLTkhqMWFZRXVydTdzNFJIMFJVS3ZUMDlLQ25wNGVaTTJkcWxZN3Q1TW1UT0hqd29OSU96SXNYTHdxTHhhNWZ2eDZtcHFaWXZIaXh3dlI0VFRJeU1yQmh3d2FZbVptcG5PRjE2TkFodEduVFJoaDkzYlp0V3h3NWNnVDM3OTlYU0Zjbkc4bWRrNU9EbXpkdkFnQXFWS2p3VGpNZkNxY29rSDF1M0xpeEVDd0lEUTFGVWxJU3pNM044Y01QUDJEanhvMjRkdTJheGhHRE1wVXFWVUo4Zkx6V1pWS1dpMWlUZXZYcUNZc3lBdmxCbnR1M2IrUGJiNzlWT0RZMk5oWmJ0bXhCbHk1ZGhFVjNUVTFOMGFKRkMvVHAwMGRsUUNReU1sSnRYdWtlUFhvZ0xDd01BUUVCYU5HaWhVTHFoZlQwZEhoNGVDQWhJUUh6NXMxVFdDZ09BUFQxOVpHUWtJQ1RKMC9LcFI0NmV2UW95cFFwQTZsVWlxeXNMT3phdFF1NXVia0E4djk5Wkl0VUZxUXBXRkNtVEJsczNMZ1JMMSsreEp3NWN6QjY5R2doT0FIa2oyQ1ZTcVZ5TDNNaWtRaDVlWG00ZE9rU2J0MjZoUnMzYnVESmt5Y1FpVVJvMUtnUlJvMGFoZHExYStQdzRjTTRkZXFVMEc0d05qWkdqUm8xVUsxYU5kalkyS0JWcTFad2NIREExcTFiVWFaTUdlRzdBUGtMUEdkbVpzcWxoeUlpVXFacTFhcG8zTGd4QU9EUFAvOVV1V2lvTXJMMFpZMGJONWFyKzJUS2xDbURIajE2b0d2WHJqaDU4aVIyNzk0TlB6OC9IRDU4R0Z1MmJGRVlGU3VSU0VxMTg2dWsyeFNhRlBVWnNYejVjdHk3ZHc4OWUvYkV1SEhqdEVwRklqTm8wQ0E0T2pwaTJiSmwyTDkvUDJyWHJpMjNRUEhidDI5eDlPaFI3Tm16Qi9yNitsaTRjQ0djbkp5d2E5Y3VBUG16RDQ4ZVBZcERodzVoLy83OTZOaXhJL3IwNlNPc1dVUlUybnIwNkFGN2UzdVltWmtoTURBUVY2OWV4Y1NKRTJGb2FJZ3BVNmJJSGR1elowOEVCUVVoSkNRRXRyYTJHRHg0c01hL2wrS21JY3JMeXhNR3N1cFNmVW4wdVdLdzRCUFJ0R2xUWkdSa1lNR0NCYWhaczZhUWIvTFVxVk13TUREQWxDbFQwTGx6WjRWcG0zWjJkdkQyOXNhWk0yZXdmdjE2SkNZbUFzZ2ZrV0Z1Ym82WW1CakV4c2JDME5BUS8vNzdMOXpkM1dGZ1lJQWpSNDZvTFkrUmtaRmNVRUEyeWxMVmFKQ0NxUmMwcVZtenBrSmFpUDM3OTJQRGhnMXkyMU5UVXdFQTVjcVZVNWpTZXZEZ1FhM3ZSMFJVRkkwYU5TcFNUdHBSbzBZSk9VVUwrK3V2djlDd1lVUGN2SGtUblRwMXd0NjllekZ0MmpRc1diSUVBTFIrQWZiMzkwZEtTZ3BHalJxRnRXdlhLdXkvY09FQ25qeDVnZ2tUSnVEZXZYc0FnSVlORzZKU3BVcll0MjhmNXN5Wm8vUzZRVUZCU0U5UEI1QS9pdkRGaXhjWU9IQ2dWbVVxVEpzRmp2ZnUzUXNMQ3d1MGE5Y09SNDRjd2VQSGorSG41NGNxVmFxZ2RldldXdDJuS09WVFZnYUpSQUt4V0t6eW5FYU5HdUhFaVJONDhlSUZ2dmppQzl5NmRRc1pHUmtLc3k3RVlqRVdMVm9Fc1Znczk3SmpaMmVua002aE1EczdPNDBqMmlkUG5venAwNmNMTDJZRlpXVmxDUytOc2dFRXl2ajcreU1uSndjTkd6WVV0czJmUDE4dURaR2ZuNStRaHVqbm4zL0dsQ2xURUJNVEEzZDNkNFdmWDFwYUdxS2pvNVhleThqSUNLYW1wcmh6NXc3bXpKbUQxYXRYQzUxTXNsa3NzcGM1UHo4L2hJV0Y0ZDkvL3hYT3IxR2pCb1lNR1lLT0hUdWlTcFVxQ0F3TXhJb1ZLN0J3NFVJTUdUSUV0Mi9mUm5oNE9LNWR1NGE3ZCsvaTd0MjcwTmZYaDR1TEM2NWZ2NDdnNEdBTUhqeFliaTJJckt3czFLcFZTK21NU0NLaWdycDM3eTZzRTllb1VTT01HemRPNWJHNXViazRkdXdZWW1KaVlHVmxKZFRUc21lN0tnWUdCdmp1dSsvUXVYTm4vUFhYWHloWHJwelM5Qm1xT3IrVXpmd3FmSjZxWTBRaWtUQlFvTFRhRkNYMWpKZzZkU291WGJvRUV4T1RJcy8rNnRpeEl6dzhQTEI1ODJiY3VuVkxTSG40NE1FRG5EdDNEcWRQbjBaR1JnYWNuSnd3ZWZKa2hiV0JURTFOTVdEQUFQVHExUXZIang5SFFFQ0FNRVB0eHg5L0xORTFuSWlVc2JlM2g3MjlQVjY4ZUlIZmYvOGRYYnQyUllNR0RlU09pWStQUjBCQUFFNmVQSWtxVmFyQTFkVVYrL2Z2eDlDaFE0V09kbFVEZ0lxVGhpZ2tKQVQrL3Y1WXZIZ3hiRzF0UDRuNmtvalVZN0NnbEQxNzlreGhzV0lBZVBIaUJRQW8zU2ZMWDEyWWo0OFBYcjkralVXTEZna1Y0Y3FWSzRVWkF1cTR1TGpBeWNsSm1NNmZuSnlNNk9ob3VYUS83dTd1MkxGamh6RFMwc2pJQ0dmUG5rVndjREFXTFZva0hCY2NISXowOUhTNWtYaXlZTUdGQ3hkdzhlSkZsZVhvMmJPbnhwekNNaU5IamtTdlhyMFUxbVhRMXFsVHAxQzNibDFVcjE2OVdPY1RFUldrYmxHN29xaFRwdzVXcjE2TnUzZnZJaUlpQWxPbVRNSE5temRScDA0ZHpKNDlHNzYrdmtoUFR5L1NnbHlHaG9ZWVBIZ3dxbGF0cXJCUElwRmcwNlpOK1BMTEwxRy9mbjNoeFY0a0VxRkhqeDdZc21XTDBwR0FVcWtVKy9idGc2T2pJeDQ5ZW9TRWhBUmN1SEFCV1ZsWldrMVBMcXJRMEZBOGZ2d1lRNGNPRlFJVUhUdDJSRkJRRUZhc1dJRzZkZXRxUGQxLzVzeVorT2FiYjFUdUR3NE9sbHQvb2FCbHk1WmgyYkpsS3M5dDNydzVEQXdNRUJ3Y2pJRURCeUlvS0FoV1ZsWnlIZTVTcVJRclZxekE0OGVQNWM2OWV2VXFaczZjcWRWM2tObTJiUnRzYlcwVnR0dlkyR0R6NXMxS2d3WFcxdFpZdFdxVjJtRFQ5ZXZYRVJRVXBMRDk1Y3VYQVBJNzB2UHk4aEFURTRPVWxCU3R5bnJ1M0RsaHpRbGxLbFdxaFAvKzk3K1lQWHMybGk1ZGlybHo1d0w0WDBlUTdQZmQydG9hbVptWmFOT21EWm8wYVFJbkp5ZUZXU0RQbno4WEZ0dlUwOU5EbzBhTmhIVWtVbEpTY08vZVBieCsvUnFWS2xYQ3FsV3JVTEZpUmZUdDIxY3VXREJod2dSaEVBVVJrYlljSEJ4VXppeThmdjA2MXE1ZGk3aTRPUFR1M1J1REJ3OHVjcjVzUTBORC9QREREd0R5bnlkMzd0eEJVRkFROVBUME1INzhlR1JuWnl2dC9Cb3laSWphNjc1OCtWTGxNV1hLbEJFNkNFdWpUUUdVM0RPaWZQbnk2TmF0RzJKalkrVUdZNFNGaFNFeU1oSWpSb3hRK3Z6YnZIbXpzSTZmaFlXRkVDaTRmdjA2UER3OEFPVC8ydzRkT2xTWVBTL1R0V3RYdVcyR2hvYm8xYXNYdW5mdmpyLysrZ3Q3OSs3RmhBa1RzSGp4WW1FbUlWRnBrVXFsV0w1OE9jek56WVcvZ2N6TVRGeTZkQWxCUVVHNGZQa3lURTFONGU3dURsZFhWNVFwVXdZdUxpN1l2SGt6OXUvZmozMzc5c0hPemc0dUxpNEtxY09LbW9aSTl0OU9uVG9wblRIN3NkYVhSS1FlZ3dXbExDSWlBaEVSRVNyM0YwN0xvTXErZmZ2dzk5OS9ZK0RBZ1VoS1NzS3RXN2NRRXhPRC92MzdvM2Z2M2tJcUlYVUtqZ0FzUFBMKzBxVkxtRDE3TnNxV0xZc3hZOGFnWHIxNm1EaHhJdlQxOVhIbHloWEV4Y1VKblJVQkFRRW9WNjZjMG1EQmxpMWIxSmFoS0l0cVBYdjJUR0YwcDJ3MGpJR0JnY1kwUXdjUEhvU2RuWjNLMFMxRVJFVXhiZG8wamNlb1doUzFJQXNMQzBpbFV2ajUrYUZhdFdweW5jek5temVIdjc4L0RBME5rWldWQlZOVFU2M0s5c01QUDhETXpBelhyMTlYMkxkejUwN0V4c1ppNnRTcEN2dDY5dXlKZmZ2MndkZlhGNnRYcjFaWVlQYjU4K2Y0OWRkZnNYejVjdlR0MnhkMzd0eEJRRUFBOVBUMDRPN3VybFhadENHUlNMQjU4MmFVTDE4ZXZYcjFrdXZRblRScEVrYU1HSUhseTVmTEJhN1ZLYndZYzFIOC9QUFBjck1ZQ3M5VWtLVVJPbkhpQkxwMTY0Yno1OCtqVjY5ZWNoMFQvdjcrT0hmdUhBWU9IQ2dzdmd3QURSbzB3T2JObTlYZVg1YmVRSFpjcFVxVkFHZ2ZyTkxtdUlDQUFDeFpzZ1RXMXRaNDllcVYzTDdDQzBJWDVkL1oyZGtaYm01dWN0c21UNTRzOTdsbHk1Ym8yYk1uamh3NWdyLysrZ3V1cnE3SXlja0I4TDlSbzY2dXJ1amR1N2VROHVqR2pSc0s5M3I2OUNrQUtFMkxCT1NQdkpQOU96bzdPNk43OSs1Q0o1R011azRyQUlpSmlWRTR4c2JHUmlIdEV4RVJBTXliTnc4WExseEFvMGFOTUh2MjdHS25wcEZLcGJoLy96N09ueitQa0pBUUpDWW1RaVFTb1gvLy9wQktwY2pOelZYNkhxUXVHTzNsNVlVS0ZTcGc5T2pSU3ZjWG5KMWVHbTBLb09TZUVUSlZxMVpGMzc1OWhjK1JrWkd3c0xCQXYzNzlsSDdIalJzM0toMkUwYlJwVTdpN3U2TjI3ZHBvMnJTcDBuTTNiOTZNUzVjdUtieER5em9xdTNYcmhnTUhEZ2hCYTZMU3RHZlBIa1JFUkdEUm9rVW9VNllNbmo1OWlvU0VCQ3hac2dSVnFsVEJ6ei8vakM1ZHVpQXZMMC80dTdHMXRjV3NXYk1RR3h1TG8wZVBJaVFrQkdabVpuajE2cFZjaXNhM2I5OXFsZEpUbGtiMXlKRWptREJoUXBGVE9uN28rcEtJMUdPd29KVDE2TkVERXlkT1ZOanU3ZTJOYytmT0tVMkJVSGprb1VRaUVUcmhaWjBPeHNiRytPS0xMMkJrWklUUm8wZkxkYXFIaG9iaXhvMGJTdStyVEc1dXJuQit1WExsVUs5ZVBZU0ZoV0hDaEFsbzBxUUpSQ0lSYnR5NEFWdGJXOFRIeCtQeDQ4ZjQ1WmRmNUs2aGFYR2JhZE9tNGM2ZE8xcDNmS1ducDBNcWxTck1tcENOaHJHenM0T1BqNC9hYTZTa3BLQkpreVphM1krSVNKT0NVOTNQbnorUHUzZnZZc2lRSVhMckMyaTdLT3FOR3pjUUdSa3BqR1FyU05hZ1RVaElFRHFLVlpGS3BSQ0pSQXFwMkdUKytlY2Y3Tm16QjkyNmRVUDkrdlVWOXB1WW1HRHc0TUZZdTNZdDFxMWJoL0hqeHdQSUg1MjBkZXRXMUs5ZkgxOTk5WlZ3L0xoeDQ1Q1VsSVM0dURoSXBWSzFaZE5HUWtJQ1VsTlRjZTNhTmNUR3htTGl4SWtLQ3p4WHJGZ1J3NGNQeCtyVnEzSHExQ2wwN2RwVjQzVW5UcHlvTnYxT2VIaTR5bUM5aFlXRnhyVU1YRjFkTVczYU5FeWJOZzE1ZVhrS09mc3pNelBSdG0xYkRCNDhXQzVZSUpGSVVMNThlYlhYbG4xLzJYRVNpUVFHQmdZWU5HaVEydlBDd3NMdzlPbFRqY2NCK2FrZ1VsTlQ0ZUhoSVJlQTZkYXRHNFlPSFFvckt5dWtwNmZqNzcvL1JvOGVQWkNSa1lFREJ3NW9ISmxWb1VJRnJUclNSNHdZZ2N1WEwrUDA2ZFBvMmJPbjBBYVJkZUxJT3Exa0MvZXBvK29ZTnpjM0lSMUVwMDZkbE03QThQYjJWbnZ0d21zbEFmbnJKVEZZUUtSYnhHSXhJaU1qTlI1MzRjSUZOR2pRUUZobzlOYXRXMHFQS3poSVFFWTJJalkwTkJSaFlUTjhEZTRBQUNBQVNVUkJWR0ZDaDFlREJnM1F2MzkvdEczYkZ1WExsMGRtWmlZQUtPMzhVamVqenN2TEM4Ykd4bXFQa1NucE5vVk1TVDBqVkhuNjlLbksxQ3Bpc1JoU3FWUWhhQXprZDNwV3FGQUJTVWxKQ0F3TVZIcCtaR1Frakl5TVZPNEg4b01YWXJHNHlDT2ppWXJpeVpNbndqcE12cjYrU0V4TWhGUXF4WkFoUStEdjd5OE04THg0OFNMbXo1K1BCZzBhb0hYcjFtamJ0aTBxVktpQXFsV3I0dWVmZjhhWU1XT1FsNWVIa1NOSHlxMVJjT3pZTWFYWkwxVDVQL2J1UEs2bS9QOEQrT3ZXelMzYUpCUXBhL2Fkc21jZERNTXdaQm5yTU1NUXZpbGphMU5LdGl4aHhpRFpsOURZUm1UZkIxa0dMUnFLRWtXbFZGcnYvZjNSNDU1ZnQzdHZHd2JUNi9sNHpPTlJaN3ZuM05Ibm5QTjV2ei92ei9yMTZ4VTYrcitVOXBLSWlzWTcyUmRBTEJaandvUUowTmJXaHJtNU9jek56UldHZUJYdWxIcisvRGx1Mzc2dE5vcy9KU1VGRVJFUkNBc0x3OE9IRHhFV0ZpYk1nU0NSU05DbFN4Y2NPM1lNRHg0OFFQUG16VkduVGgzY3VYTUhBd2NPeE5XclZ5RVNpWVJobXlXVmw1Y0hmWDM5RW04dnozUXMzR20wZE9sU0FQbEJEVzF0YlloRUl0eThlUlBObWpWVHlJZ0pDd3REU2tvS1N4QVIwVWR4NnRRcGhJYUdxcHlMSUMwdFRlM0VZUHI2K2pBd01JQ2xwU1dhTm0yS25qMTdDbVZmQ291S2lrS1hMbDJLUEk4N2QrNWcvLzc5Y0hSMFZLcXJHeE1UQXc4UEQ1aVltR0RxMUtscWp6RjQ4R0JjdkhnUlI0NGNnYjYrUHNhUEg0L05temZqMWF0WG1EOS92c0sySXBFSTgrZlBoNmFtWnFrbUZKUkxUMDhYMnZjSkV5YmcrZlBuYU5XcUZVSkRROUdvVVNPaHZtbGhBd2NPeFBIangvSGJiNy9CeXNwS1pUbWlmLzc1UjNncHlNM05GVElSVlpHWE5DaXBwS1FrWEw5K0hhbXBxZmpxcTYrRWtqZDM3OTdGaUJFamxJWmRqeHc1RW9hR2hrcmZVZUdNeXFMSXQyM1hyaDJXTEZraTNLZlZpWXVMUTFSVVZMSGJ5YzJmUDE5aFdIaENRZ0tHRHgrTzlQUjBwS2VuSXlvcUN1dlhyeGRlMG5yMDZQSEJPa0IwZEhUZzZla0pFeE1UYUdob0lDc3JDNER5eTF6QmhJcFhyMTdCeU1oSXVOZHYzcndaKy9idEU3Ykp6czVXMjVHa0tsQlErUGlGOWVuVEIwT0dERkZLamlDaThpYzVPVmxsSnIwcTkrL2ZMM2JiZ3UzV25UdDNoREt1Yjk2OGdVZ2tRcE1tVFdCcmE0dHUzYm9wM2UvazdhV3FUdStQNlgyZUtVcXJwUGVJZ3VMajR4RWJHNnYydVNrek0xTTRkbUZ2M3J6Qjh1WExTM1J1eFczWHJGbXpFcGZjSlNvTFEwTkRtSnFhd3N6TURMVnExWUtabVJuTXpNeFF2MzU5aGNUTWV2WHFZZno0OFRoLy9qeldyMStQRFJzMm9Ibno1dWpYcngvNjlPa0RrVWdFVFUxTi9QNzc3NUJLcGNWK3JsUXF4WjkvL29rZE8zWWdOemNYSmlZbWlJNk9WaG9Sd1BhUzZMK0J3WUl2aEx3T1cyRlpXVm1sanBRNk9Ua2hQRHdjQmdZR2FOcTBLY2FPSFF1eFdBeXhXQXhOVFUyMGJOa1NFb2tFVjY5ZVJmUG16ZEcwYVZOY3ZIZ1JRSDQyYmZQbXpWWFdveXVLVkNvdDFUN3lja1ArL3Y1bzNicTFzTHp3U0lHZVBYdml6Smt6dUhyMXF0SXh6TXpNMExWcjExS2RKeEZSY2VMaTRuRHIxaTMwN3QxYlplZHBjSEN3Mms3STBhTkhZK0xFaWREVjFZV1hsNWZhRHZjblQ1NGdKU1ZGSWF0ZmxiUzBOSVNFaENBOVBWMGhXUERzMlRPc1c3Y09lWGw1V0xSb0VWNjhlS0gwY2wrd1hJMjgxdTdPblR0aFpHU0UwTkJROU9qUkE4MmJOMWVhRExFczJUbVJrWkhZc0dFRHdzTENrSmVYQjExZFhUUnUzQmdUSjA3RWpoMDdJSlZLNGVEZ29QYjcwTkRRZ0oyZEhXYlBuZzEvZjMvTW5qMGJ5Y25KUXBrL1IwZEhwS1dsWWRDZ1FRRHlzNXpXcjE5ZnFuT1VENmUrZi84K1ltTmpFUk1USTh3aGRPREFBUnc0Y0FCTm16YkZWMTk5aGVUa1pHSHVvU2RQbmdnalBPU3FWcTJxOGpQMjdkdUh2THc4Yk5teUJaMDZkVktaWVhubzBDSHMyN2NQKy9idEExQjhKbVZaMmRqWUtBUzF2THk4OFBEaFE2WHRDcFloS3FwenZiUUtCdlBsblRqcS9tMWR2MzRkUzVjdVJidDI3WlRLSkFINXowTFRwazJEaVlrSkprNmNpUHIxNjMrdzh5UWlxbEtsQ2padDJsVHNkai8rK0NONjlPaUIwYU5IRjd2dDVzMmJjZmp3WWFIOXM3UzBoSzJ0TGJwMzc2NzJIZ0w4LzcxS1ZhZjN4L0srenhTbExVOENsTzRlQVFDSER4OEdBTFh2ZnVucDZRQ2dzaU8vUm8wYVJkN2ZkdTdjS2N3ZnBLbXBpZlhyMS8rcjN6OVJRVVpHUnRpMmJWdXgyMVdyVmcyalJvM0NxRkdqOFBUcFV4dy9maHluVDU5R2VIaTR3dDlyY1lrZ01wa00xNjlmaDUrZkg2S2pvOUc1YzJkTW56NGRodzRkVWpsaGVYbHZMNG4rS3hncytJSmtaR1RnMGFOSGlJaUlRR2hvS0I0K2ZJaEpreWFWZWdMZ0gzNzRBYnE2dXFoZnY3N1F1WEhvMENFaDRpb1dpOUd5WlV2Y3VuVUxVNlpNUWMrZVBXRnBhWWxuejU3aDRjT0htRDE3ZHFuUFBTc3JTeW5ydFNpUmtaR29WS2tTb3FPajRlYm1Ca3RMUzVYYnpaczNEN2EydGtMWklybEtsU3FoVHAwNkNxTU5pSWcrQkQ4L1AwaWxVbHkrZkJuRGhnMURuVHAxRk5hWE5CdTVxTXl6MDZkUFF5S1J3TXJLcXNoanZIbnpCZ0NVZ3JIeDhmRjQ5KzRkUEQwOVVidDJiYVNtcGdxbDZXN2Z2bzFMbHk0cGxLcXJVcVVLbGk5ZmpyVnIxNkpYcjE0d01qSlNXV0pBbGVUazVHS0hHK2ZrNU9EcDA2Zm8zYnMzdW5YcmhqWnQya0FzRnVQSWtTTjQrdlFwcGsyYlZteXQwdWJObTJQeTVNbm8zYnMzdG16WmdyMTc5d0xJcnlIZnJsMDd0RzNiRm0zYXRJR09qZzU2OXV3SkhSMGRqQnMzRGhNbVRNRDMzMytQRXlkT3dNZkhCOEhCd1hqeTVBbk9uajJMKy9mdm8zSGp4dmpsbDErRXdNUHg0OGRScFVvVjFLNWRHMjNidGtWMGREU0dEaDJLVWFOR3dkRFFFQmtaR1hCeGNVRktTZ3ErKys0N0hEeDRFTC8vL3J2YU90QUZHUmtaSVRzN0d5OWZ2b1NQanc5OGZIeVVKbjJUdjlDVWRETG5EMlgxNnRYQ3ozRnhjWmcxYXhiRVlqRWNIUjNWMW5EK1VPUVRXaGZPL01yS3lzS1dMVnNRR0JpSUZpMWFxTTFtbFVnaytPbW5uL0RiYjc5aDJyUnA2Tm16SnlaTm1sVGtDeVFSVVVtSnhlSVMxOVBXMDlNcjBiWjZlbnFvWHIwNmV2VG9nUjQ5ZXFpY3lGNFYrWHd0cFhtdmVsL3YrMHp4dnRUZEkrVEN3OE1SR0JpSTVzMmJxMzFubEQ4dkZTd2RXUklQSGp6QXJsMjcwS1ZMRjB5Y09CSFRwMCtIazVNVFBEdzhPSUtBUGd1dlg3L0d3NGNQY2YvK2ZVeWZQaDBQSHo1RVNFZ0kyclZyaDhhTkcwTkRRd01XRmhhWU5tMGFKaytlTEdUYkZ5YzNOeGZuenAzRC92MzdFUjBkalhyMTZzSEx5d3Z0MjdjdmNyL3kzbDRTL1Zjd1dQQ1JKU1FrNE9iTm0wckxFeE1UQVVEbE92bGt3WEl4TVRGd2RYVkZiR3dzWkRJWmpJMk4wYlJwVTR3ZVBScnQyclVyOVRrVnpOU1hlL1BtamNMRDA5U3BVNFY2eWMyYU5VT3paczNnNysrUENoVXFsTG9FVVZ4Y0hLS2pvNHZOa0Mzb3pwMDdzTFMwUkx0MjdiQnAweWFWMzVOYzRZNFdJcUtQNWN5Wk03aHc0UUpHang2Tlc3ZHVZZGFzV2ZqcHA1L1FyMSsvRDFhaUpTa3BDY2VQSDBmZnZuM1Z6dk1pSHk3ODRzVUw2T2pvS0czWHZuMTcyTmpZQ0VFRWZYMTlvVFRkdTNmdmNPblNKYVZTZFRWcTFCQnF1QmVjNExjNDU4K2Z4L256NTR2Y3BtSERodGkvZjcvU2R6Um8wQ0FZR1JrVlcyNUpUajdLcmttVEp2amhoeC9Rb1VNSHBXRE41TW1USVpWSzRlbnBDUTBORFpYM3JMcDE2Nkp1M2JxWU5tMGF4b3daZzE2OWVzSEd4Z1oxNjlaRm5UcDFGTDdQZ3djUHd0allHSWFHaGtoTlRZV3pzelBDdzhQeHl5Ky9vRStmUGtJOWY1RkloQjkvL0xIWThrd1ZLbFRBb2tXTE1HM2FOS3hZc1FMcjE2OVgyT2REekFWUlZybTV1VGh4NGdUOC9QeFFxMVl0OU9qUkErN3U3bWpXckJtbVRwMnF0aGEwWEdCZ0lBSURBMHY5dWZMbm5vTGxDbS9ldklsMTY5WWhJU0VCNDhlUHgvZmZmNi93UGFXa3BDZ2N3OXJhR20zYnRrVkFRQUIyN2RxRnk1Y3ZZOVNvVVJneFlnVHJSeFBSWjJmNDhPRnFSNDZyazVLU2d0Mjdkd09Bd251VnZBUmZjV1F5V2JIYnFzckFmZDluQ3JrUGVZK1FpNGlJZ0pPVEV6UTFOVEZ6NWt5MXg1Qy9TNXFabVpYNGMwK2VQQWxmWDErWW1wckMzdDRlK3ZyNmNIWjJ4cUpGaXpCOStuUTRPRGh3RGh2NjEvM3p6eis0ZS9jdXdzTENFQllXaGxldlhnSEluOU5SWHFKNS8vNzkyTGx6SjNSMWRkR3VYVHRZVzF2RHlzb0srdnI2eFk1WWpZbUp3Y21USnhFY0hJeWtwQ1RVcmwwYkxpNHU2TktsaThKeldFNU9UcGxLa3BiRmgyd3ZpYWhrK1BiMGtkMjRjUU0zYnR4UXU3N2dSTWJxbUpxYW9sbXpackMxdFVYTGxpMWhhbW9xckNzNGhLd3dWZXNHRFJxRUdUTm1JRGs1R2E5ZnY0WllMRVp5Y2pLQ2c0TmhZV0dCYytmT3FUMWVjSEF3YXRhc3FYQTkzYnQzRjI0U1NVbEpXTFJvRWZUMDlLQ3RyUTJ4V0l5c3JDemN2bjBidWJtNUplNE1ldm55SmNMQ3dqQnMyRERZMnRwQ0twVmkyN1p0eU0zTnhkU3BVOUdxVlN0VXIxNGRXbHBhME5EUUVENWZLcFZDSnBOQktwVWlMeThQZVhsNWtFcWxzTFcxTGRIbkVoRVY1Y2FORzFpNWNpV2FOR21Dc1dQSFl1alFvWEIzZDhlYU5Xdmc3Kzh2MUhaLy9QZ3hEaDgrTE5SSmw4bGtRbnNrcjZWdmEydXI4bUZkSnBOaHhZb1ZFSXZGYW12UEd4Z1k0UExseTlEVzFzYkpreWZSb0VFRGxkdVZ0bHhjV2ZYczJWTmxPMXN3Qzd5b1VWNGx2VGNVMUxGalIzVHMyRkZwZVdabUpxNWR1NGI5Ky9majhlUEhzTE96RXpxNDVkOTNSRVFFNnRTcGcxZXZYdUhaczJlb1Y2OWVzUk1hQS9rdlorN3U3bmp4NGdWKyt1a240UjQ3YytaTUpDUWtJQ0FnQUUrZlBzWHMyYk9ML2U0TkRBemc2ZWtKUTBORFJFVkZJU2NuQnhLSkJEazVPYmgyN1ZxcE14L2ZWMlptSm5idDJvVlRwMDRoSnljSG8wZVB4cEFoUXlBV2k5R2xTeGVzWHIwYUZ5NWN3UERodzFHaFFnVThldlJJWllabjA2Wk4wYUZEQjRWbFc3WnNVZmc5SUNBQXIxNjlncW1wS2ZUMDlQRHExU3ZzMjdjUFlyRVlEUnMyQkpEL0hMQm8wU0tZbVpsaDNicDFxRmV2SHVMajQ3Rmx5eFpVcWxRSjZlbnB1SFRwa3RKazBXS3hHS05HallLTmpRMThmSHh3L2ZwMWpCdzU4Z04vVzBSRStlTGk0bUJnWUFCdGJXMDhmdndZUU1sTHg2bWJTMFZ1NGNLRmlJdUxnNDZPRGlwVXFJQ3NyQ3c4ZmZvVU9UazU2TkdqaDBLeWxMd0VYM0ZpWTJPTDNUWXdNRkJsb3NLSGVLYjRVUGNJSVArK3RYLy9mdXpac3dlYW1wcHdjWEVSTXBTRGdvTHc4dVZMNk9ycW9rS0ZDb2lMaThQaHc0ZFJzMlpOdFNNUDVONjllNGVyVjYvaTBLRkRlUFRvRVZxMWFvVUZDeFlJZ1Fvckt5c3NYNzRjWGw1ZXNMZTNSN3QyN2ZEMTExK2pmZnYyckl0Ty80cUxGeTlpejU0OXFGMjdOanAyN0lpV0xWdWllZlBtd2pQUnhJa1RNWExrU055K2ZSdFhyMTdGWDMvOWhmUG56ME5EUXdOTm1qUkJwMDZkMExselo0WHMvT2pvYUZ5L2ZoMVhybHhCZUhnNFJDSVIyclJwQTN0N2UxaGJXd1BJSDBsY3FWSWxWS2hRUVVpSUxjMG8yTStsdlNTaWttR3c0Q1ByM3IxN2lTY2JsSHZ3NEFGOGZIeUUzOFZpc2RyU1B3V0hmSmFFL0NIcW4zLytVUWhVVkt4WUVXUEdqSUc5dlgyeHgvRHk4aEorN3R5NXM5RElHeGtaSVRFeEVXRmhZUXFaa1ZXclZzV1VLVlBRdkhuekVwMWo1Y3FWWVdwcUtrU0FSNDRjaVc3ZHV1SFBQLy9FblR0M0VCUVVoSXlNakJKbFg3WnQyNWJCQWlKNmIzZnUzSUd6c3pOcTFxd0pOemMzaU1WaUdCZ1lZTVdLRmJoNjlTck9uajJMeU1oSWFHdHI0OEdEQi9qNzc3L1ZIcXRCZ3dZWU0yYU15bldIRHgvR25UdDNzSGp4WWhnWUdLamNadHk0Y2NMa3JzYkd4cGcwYWRJSHVjYXlNakF3UUwxNjlUN3BPZVRtNW1MUm9rVUlDUWxCYm00dXJLeXNNR3ZXTERScTFFallwblhyMXFoV3JScnM3T3lFWlY5OTlWV0pBZ1UzYnR6QWxpMWJJSlZLTVgzNmRIejc3YmZDT3JGWWpFV0xGc0hOelEwM2J0ekEyYk5uTVh6NDhHS1BLYjhmNzl1M0R3Y09IRkJZOTI5M2NHdHJheU12THc5ang0NUY3OTY5RlRvOHFsYXRDazlQVDBSRlJTbGtqbzRhTlVycE9KYVdsa3JuWHJnaktDc3JTeW16VkNLUndNN09UbmpSTlRFeHdkcTFhMkZ1Ymk2TUNqQTBOTVNGQ3hlRVVUWEd4c2I0K2VlZlZWNVBqUm8xc0h6NWNxU2xwYkVjSVJGOU5MTm56eFpHaTh1VlpkUzNLc2JHeHJoMTY1YlE1b2xFSXBpWW1LQlBuejVLN1c5cDN3ZUw4akU3dkQvVVBTSXVMZzUyZG5aNCsvWXRhdGV1amJsejV5ck1WUk1mSDQ5ZHUzWXBIS05ldlhxWU4yK2V5azdIaUlnSW5EdDNEaEVSRVFnUEQwZHViaTVxMWFxRnVYUG5vbGV2WGtyWjAwMmFOTUhtelpzUkVCQ0FQLzc0QTdkdTNZS21waWJxMUttRGdRTUhZc0NBQWFYL2NvaEthTWlRSVJneVpJaFN3a1JCT2pvNjZOeTVNenAzN2d5cFZJcTdkKy9pMHFWTHVIanhJaDQ4ZUFDcFZDcGs2dnY2K3VMSWtTTUE4dHVkWWNPR1ljQ0FBUXFqY0dReUdTWk9uQ2pNQVNDbjduMUdsYytsdlNTaWttR3c0Q05hdFdvVmpJeU1TbHhUVGE1eTVjcW9WYXNXek0zTmk5MjI4SkRQa21yUm9nWFdyRm1Edkx3OGFHaG9vRTZkT3FoWXNlSjdUMTY0YytkT0FQa2ROM2w1ZVJDSlJLV2VuRkVpa2NEUjBWRWhlNlJHalJxWVBIbXl3bmJ5ejVDUEpwREpaRW9CQkMwdHJUSmVDUkhSLzJ2Um9nV0dEaDJLa1NOSEtuVGlpMFFpNFdHOG9NTHRrdnpoRlZET3NqYzFOY1dSSTBjZ2tValFwazBiV0ZsWkZYbmZHRFJva05yTVFBME5qV0t6YjBwTFcxc2I3ZHExVTVsVmVPREFBYlVURGhhMTdrTVRpOFVZT0hBZ3JLMnQwYWxUSjVXWlRrWkdSdGl4WXdjU0V4TWhsVXFobzZPanNxUkJZZFdyVjRlTmpRMXExS2lCVHAwNkNSbFdCVWtrRWl4ZXZCaEJRVUZLblFUOSsvY3ZNcU5wOE9EQmFOR2loVEJKY3ZYcTFjdVVBVldsU3BWaXl3UVZWclZxVlhoNGVBQUFmdnJwcHlLM3JWMjd0dENwbzZlbnAvU1M2dVhsQlJNVEU2WDl0bTNicGpCU1l1alFvZWpTcFF1eXNyS1FtNXNMc1ZpTVdyVnFLZFYrTHZ3ZFNDUVNuRHg1VXJqUEZ6ZjBYU1FTUVU5UHI4aHRpSWpleC9qeDR4RWZINCs4dkR4aHpyZFdyVnA5a0dQYjI5dkQzdDRlVXFrVVVxa1VtcHFhYXR1OXNyNFBGdWREUGxOOHlIdEVqUm8xTUhic1dPam82S0JQbno1S3oxWGp4bzNEZDk5OWg4ek1UT1RsNVJWN3Z6YzJOc2JKa3lkaGFtcUtiNy85RnAwN2R5NjJ2SkMydGpiR2poMkxFU05HNFByMTY3aCsvVG9pSXlPVlJrNFFmV2hGQlFsVTBkRFFRSnMyYmRDbVRSdlkyZGtoSkNSRTRkKzN2SkpEOSs3ZDBhSkZDNVh0akx6VVprSkNBcVJTS1RRME5GQy9mbjIxRTRxcjhybTBsMFJVTWlMWnB5eU8rNGw0ZUhoQVUxT3pSQ1dBaUlqbzgrZmg0UUVEQTRNaTY5VVNFY21USlBnU1NmVGZJUTk2T2pzN2YrSXpvUytWUEdCUDlMNDhQRHdna1Vqd3l5Ky9mT3BUSVNKU1NWU0NHeDVIRmhBUkVSRlJ1Y0N5UkVSRVZCZ0RCVVJFUlAvdnc5WXFJQ0lpSWlJaUlpSWlJaUtpTHc2REJVUkVSRVJFUkVSRVJFUkU1UnlEQlVSRVJFUkVSRVJFUkVSRTVSeURCVVJFUkVSRVJFUkVSRVJFNVp4SUpwUEpQdlZKL05zOFBEdys5U25RWjhqQXdBQXpaODc4MUtkQlJHWEFkcDJJUGlkOHBpRDY5L0FaZ0w0MHZFZjhkN0U5K3ZMeDc1UCs2MFFpa2FpNGJjVC94b2w4ampRMU5kRzVjK2RQZlJyMEdURXdNUGpVcDBCRTc4SEF3QUF0VzdiODFLZEJSTVJuQ3FKUG9GdTNicC82RkloS2hQZUkvemFKUkFKcmErdFBmUnBVUnZ6N0pDckh3UUt4V0F3Ykc1dFBmUnBFUlBTQkdCb2FzbDBuSWlJcWgwUWlFWjhCaU9pem9LMnR6ZmFJaUw1b25MT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WlLaWNZN0NBaUlpSWlJaUlpSWlJaUtpY1k3Q0FpSWlJaUlpSWlJaUlpS2ljWTdDQWlJaUlpSWlJaUlpSXlyMzE2OWNqUER6OFU1OEcwU2NqL3RRblFFUkVSRVJFUkVSRVJQU3AzYnAxQzQ4ZlA0YUJnUUcrL2ZaYnRHelo4bE9mRXRHL2lzRUNJaUlpSWlJaUlpSWlLdmQwZFhXeFlzVUtYTGx5QmR1MmJZTkVJc0dRSVVOZ1pXV0Z2THc4ekowN0YxbFpXVVVlUXlLUllQanc0YkMydHY2WHpwcm93MkVab3YrZ08zZnVJQ1FrcEZUNzdOcTFDeTlldkhqdno0NlBqMGRPVG83Q01wbE1CaWNuSjZ4ZHUvYTlqMS9ZL2Z2M3NYWHJWZ0JBVGs0T2poOC9qdHpjM0dMMysxS3VWeXFWNHZIang1QktwVXJyY25Oejhmang0eUwzbDhsazhQWDF4YWxUcDFTdXYzLy9Qclp2MzQ2OHZMd1NuOVB1M2J2eDhPRkRsZXNTRWhLd1o4OGV4TVhGbGZoNGhXVmtaQ0FnSUFCWHJsd3A4ekVlUG55SXpNeE1oV1VwS1NsSVNrb3E4ekdKM3NlOWUvZVFrcEpTcG4wUEhEaUFyVnUzNHUzYnR4L2tYQzVjdUFBL1B6OEFRRlpXRms2ZE9nV1pUS1oyKzd5OFBCdzZkRWp0MzJSU1VoSThQVDBSSHgvL1FjNlBpSWpvY3lXVHlaQ2VucTZ3TENFaEFWdTNibFg1dkE0QXo1NDkremRPclVoNzl1ekJqei8rK0tsUFEwRlNVaElTRWhLRTM3T3lzbkR3NEVIY3YzKy94TWZJenM1V3VmemN1WE9ZUDM5K3FmWWgrcEtVOWIyaXBGNjllcVcyVFN1cEw3VzlsTlBRMEVEWHJsM2g0dUlDbVV5R05Xdlc0TjI3ZDlEVTFNU0tGU3ZnNit0YjVIOU9UazdZc1dQSHA3NE1vakxoeUlLUDdOeTVjMlhhcjBlUEhzTFBLU2twdUhyMWFySDc5Ty9mSHdDd2ZmdDJpTVZpdEczYnRrU2ZkZXpZTWZqNyt5TTBOQlNlbnA3SXljbEJWRlJVaWZhMXRMUVVmczdNek1Tc1diTmdabVlHZDNkM1ZLeFlFVUIrSi81ZmYvMkYyclZybCtpWXBmSFBQLzlnLy83OW1EaHhJaDQrZklnTkd6WWdNREFRam82T2FOU29rY3A5UHNmclBYRGdBUEx5OGpCaXhBaUY1UmtaR1pnNmRTb09IRGdBQXdNRGhYVUpDUW1ZT25VcWdvT0QxUjczeElrVE9ITGtDQ1pQbnF4eS9kOS8vNDBkTzNaZzVNaVIwTlRVRkpiZnZYc1h6NTgveDRBQkF4UzJmL1RvRWJadTNZcnZ2dnNPVFpzMlZUcmV4WXNYNGVmbmgwYU5HcUZHalJyRlhyY3FXVmxaMkxkdkgvTHk4dEN3WVVNWUd4dVhhdiszYjkvQzBkRVIxdGJXY0hOekU1YmIyOXNqSmlhbXlPK0xxQ2g5K3ZRcDBYYUYvNDNGeHNiQ3hjVUY3ZHExZzdPemM2aytVeXFWWXUvZXZUQXdNTUNFQ1JOS3RhODZJU0VoT0hYcUZINzQ0UWZjdTNjUHExYXR3dUhEaC9ITEw3L0F3c0lDQUpRQ2E3ZHUzVUpNVEF3YU5Xb0VrVWdrTERjeU1rSkdSZ2JPbnorUFVhTkdmWkR6SXlJaStseDVlSGpneFlzWDhQSHhnWTZPRGdBZ1BEd2N1M2Z2aHFhbUpzYU5HNmV3L2MyYk43Rnc0VUlNSGp3WTA2ZFAveFNuREFCNC9mbzFvcU9qUzd4OVdsb2FBZ0lDM3Z0emh3MGJCajA5UFpYcjFxMWJoNXMzYjJMSGpoMHdORFFFa0IvVXNMQ3d3TXFWSzRzOXRqeTdWMXRiRzNQbXpJR1JrWkd3TGk0dURyZHUzVkxZWGlhVFlkZXVYUWdLQ3NLcVZhdFF0V3JWOTdneW9rOW4rL2J0T0h6NE1OYXZYdzhURXhNQStYMFRwUW0wdFcvZkhnQncrL1p0eE1YRklURXhFYTlmdjBaTVRBeWlvNk9SbnA2TzFhdFg0My8vKzErSmpxZnFIZnRMYlMvbGtwS1NjT3pZTVZ5OWVoV2RPblhDbkRsemhPc29DVU5EUTRYM0pxSXZDWU1GSDVtWGwxZVo5aXNZTElpTGk0T1BqMCt4Ky9UdjN4L3g4ZkY0K1BBaGZ2bmxseEo5VG5oNE9INzk5VmRVcmx3WmpvNk9BUEtqeUNWdG5BdmVGTFMxdFdGblp3ZFBUMDg0T0RqQTI5c2JCZ1lHUXVhOVJDSXAwVEZMUTF0Ylc4aUtiOVdxRlRaczJBQXZMeS9NbWpVTDY5YXRRNE1HRFJTMi8xeXY5OW16WnpoeDRnU2VQSGtDUjBkSHZIejVFa0Irc0FESS96ZVFtcG9LVTFOVFpHUmtJQ1VsUmNqRWlZbUpFWTVUcTFZdDRlZTR1RGhzM0xnUlZsWldzTFcxUlVwS0NyWnMyWUlSSTBhZ1pzMmFLcy9qNGNPSDJMNTlPMjdmdmcxRFEwUFkyTmhBVjFkWFdIL3k1RW1JUkNJTUhqeFk1ZjRYTDE1RWxTcFYwS3BWcXlLdnQ3aVhsUUVEQm1EUG5qMDRjZUlFdW5idHFuYTdTcFVxS1Qzb1g3aHdBYm01dWVqZHUzZVJuMEZVRnF0V3JWSWJDSXVMaTRPOXZiM0NzcFNVRkRnN082Tml4WXF3czdOVDJyNnd3c2UrZmZzMlVsSlNNRzNhdEEvMnNGbXczYlN5c29LdnJ5OFdMMTRNQndjSDdOaXhBem82T2txQlM3bVJJMGNxL0I0VUZDUmtCbWxvY0xBaUVSSDl0MzM5OWRkWXVIQWh2TDI5NGVibUJwRkloRzdkdXFGYnQyN1l2WHMzT25ic0tMeC94TVRFd012TEN6bzZPa3JQcFljUEg4YTZkZXZLZkI1VnFsVEIzcjE3Myt0YWlwS2VubzdkdTNlLzkzSDY5dTJyTWxodzhlSkZYTHAwQ1lNR0RSSUNCZktTSFpzM2I4Ymx5NWZScFV1WElvK3RxYW1Ka1NOSFl0bXlaZmpwcDU4d2I5NDh0R3ZYVHVXMkdSa1pXTDU4T1M1ZnZveWhRNGNxQkJhSXZqUmR1M2JGM3IxNzRlN3VqalZyMWtCTFN3dXZYcjNDZ2dVTFNud01lYi9HaVJNbmNPSENCWmlhbWlJdUxnNGRPblRBakJrelVLOWVQWmlibXdNQWhnd1pnbSsrK1VibGNZNGVQWXJBd0VDVjY3N2s5aklwS1FsT1RrN28zYnMzVnF4WW9kQW5RbFFlTUZqd0x4ZzdkcXhTMUZTZDdkdTNLdzFWYXR5NHNkQ1luemx6QnQ3ZTN2RDE5VldaT1I4VUZJUUtGU3JBM054Y1pZZXNzYkd4ME5BOWYvNGNycTZ1Y0t6S05RQUFJQUJKUkVGVUVJbEVjSGQzUitYS2xRSGtONlpMbHk0dHpTVUt1blRwQWljbko3aTd1MlBWcWxWd2MzTVRocDVWcWxTcHhNY3BhUm1iZCsvZVFTYVRJU1ltQnBxYW10RFMwc0w4K2ZOeDhlSkZWS3BVQ2ZIeDhhaGV2VHFBei90Nlo4K2VEU01qSSt6YXRRc1pHUm00ZnYyNnd2cVpNMmNDQUxadDI0Wno1ODdCMzk5ZldQZkREejhJUDh2L25XUmxaY0hUMHhPR2hvYVlPM2V1ME1uNDExOS9JVEl5RW12WHJvV1dscGF3My9uejUzSDA2RkdFaDRmRDBOQVFreWRQeGpmZmZDT01samh4NGdRQTRPelpzekExTmNYZHUzZHg5KzVkQUVEdDJyWFJ1SEZqeE1URUlDd3NEQTBiTnNTQkF3ZVVyckY2OWVybzFxMGJBSlI0R1BUMjdkdXhmZnQydGV1N2QrK09oUXNYS2l3N2Z2dzREQTBOMGFGRGh4Sjl4c3VYTCtIajQ0T1pNMmZDek15c1JQdFErYVdycTZzMHlrY3VOVFZWNGZlMHREUXNYTGdRYjk2OGdZK1BqOURteUkwZlAxN3BHTUhCd1NwSE1DeFpzZ1JMbGl4UldoNFlHS2p3OFByNjlldGloeVhMZzVDUmtaSFEwTkNBU0NTQ2c0TURuang1Z3JpNE9PanI2K1BJa1NORkhrTk9VMU5US1AzR1lBRVJFZjNYdFd2WER0OS8vejEyN05pQjY5ZXZvMlBIamdDQWFkT21JU1FrQkRkdTNFQ0RCZzBnbFVyaDZ1cUtuSndjTEZteUJBMGJObFE0am9XRmhUQXF2TFF1WGJvRXNiaHNyL0Z2M3J3Uk91ZmxVbEpTY09uU0pRd2NPRkJZVnIxNjlTSkg0M3A3ZStQTW1UTmxHckdia0pDQVZhdFdvWHIxNnBnMGFaTEN1aUZEaHVENDhlTllzMllObWpadHF2VHNWSmkxdFRWKysrMDN1THE2d3NYRkJWdTNiaFhlL2VSa01obm16Sm1EMk5oWU9EazV3Y2JHcHRUblRQUTVxVk9uRHNhUEg0L05temRqNDhhTnNMT3pnNm1wS1hidTNGbnFZODJhTlF0ejU4NkZXQ3hHbno1OVlHMXRqVjY5ZWlsc1kyQmdvSkNVV0hpZE9sOXllNm12cjQvVnExZWpRb1VLWmZwY29pOGRnd1ZmRUpsTWhyMTc5NkpEaHc1bzFLZ1JMbDI2aEJjdlhzRFcxaFpBZnZtYlAvLzhFMWxaV1dvejVXZlBubzMrL2ZzakppWUdjK2JNUVdwcUtseGRYUlVDRHhLSkJHM2F0Q256ZVhidTNCbHVibTVvM0xneGdQK3ZwMWZVamFRd1ZaMW9SU25ZWVM2M1k4Y09WSzVjR2Z2MzcvL3NyeGNBSmt5WWdFcVZLcUZSbzBidzhQQVFqalZzMkREODhjY2ZRdkRoKysrL3gvZmZmNCtvcUNqTW1ERUR4NDRkVXpoT1dsb2EzTjNkRVJzYmk3VnIxMEpmWHg4QW9LV2xoVEZqeG1EdDJyWFl0R2tUcGsyYkp1eXpmUGx5MUtsVEIvYjI5dWpWcXhja0Vnbk9uVHVIMXExYnc5RFFVR0ZrUzFwYW1zTHZRNFlNUWVQR2pYSDgrSEVBUUVSRUJDSWlJcFN1ejhyS1NnZ1dxSnZQWWViTW1lamZ2Ny9DdzRDcVpYS0Z2K09Ra0JEODg4OC9HRE5tVElrZUNqSXpNK0htNW9iSGp4OGpORFNVd1FJcVZra0RYWW1KaVZpd1lBRVNFaEt3Wk1rUzFLbFRSK1Yyam82TzZOR2pCODZkTzRjVksxWUl5My80NFljaU0rcnUzYnVITld2V0tDM2Z2MysvMnV5ZXdncTJBUVVOSERnUU0yYk13TTgvLzF6ay9yYTJ0dkQyOWhaK0wvakM3K2JtaHM2ZE81Zm9QSWlJaUQ1M0NRa0pTRXhNQkFDMGJkc1dNcGtNaG9hR0NBc0xFN1pac0dBQjlQVDBoR1g5Ky9kSGJtNHV4R0t4c016WTJCaFZxMVpGcTFhdGloMkpxODZEQncvS1hFczhLQ2hJWVpUZ3UzZnZzSERoUWtSRVJNREV4RVFwTXo4NE9CZzFhdFJRV1g1VUhUOC9QN1JwMDBibDlXVmxaY0hOelEwWkdSbnc4UEFRRXBQa0tsU29nRGx6NXNEQndRRXVMaTVZc1dKRnNhTzFxMWF0aWxXclZpRXNMRXdwVUFBQUlwRUlNMmZPaEo2ZVhwbkxwQko5Ym9ZUEg0NUxseTdoMnJWckdEOStQUFQwOUZUKyt5L094OGlZL3krMGwyS3htSUVDS3RjWUxQZ1g3Tml4bzB3VG16eDkraFRtNXVaQ1Z2alpzMmZ4N05reklaTTZMaTRPL3Y3K3NMR3hFYkkva3BLU01HblNKTFJzMlZJNHp0eTVjOUcrZlhzTUd6WU1OV3JVd04yN2Q3Rm8wU0prWm1iQzFkVVZIVHAwUUhCd3NOREpxcTZ1WkZHdVhMbWkwUGdERUNiQmxaZkxpWTJOeGViTm05VWVvMmJObWtLSGNNRmE4MFdKam82R3Y3OC81czJiQjIxdGJhWDFGU3BVK0NLdVYyNzQ4T0VBL3IrMDBJc1hMeUFTaWZENjlXc2tKU1ZCVjFjWGFXbHBBUExuYTlEVzFsWXFReFFVRklRN2QrN0F3TUFBaXhZdHd0dTNiNUdXbHFZdzhmTWZmL3loVU43SDI5dGJhWTZMMzM3N0RhMWF0UkltQnhzNGNLQlN6ZlJodzRZQnlBOGcvUG5ubitqYXRhdFNwajhBREI0OFdHRWtnenl3QWdCSGpoeEIzNzU5aFJjQlkyTmpoZlh5WlkwYU5jS3hZOGZRdTNkdnRiVUM5K3paQXdBWU5HaVF5dlVGNWVYbHdkM2RIWThmUDhhUUlVUHcxVmRmRmJzUDBicDE2OVNXOFhyKy9EbnM3T3dRR1JtSkJRc1dRRXRMQzZ0V3JSTG1MMGxKU1ZFS2NNa2ZSQXNIdDZwVXFhSTJnMGYrV1VVcEdIZ283T0xGaXpoeTVBaGNYVjFWdG45VnFsU0JUQ2JEa3lkUHNIRGhRcVY1UStRQmtJNGRPOExQenc4UkVSRll1blFwZkh4OFlHaG9xREo0UzBSRTlDVUxEQXhVR2psYmxpemVFU05HS013bEpwVktzWDc5ZWxoYlc2TjkrL1lsS2ptWWw1ZW4xSW1sYmw2bEZpMWFLTlQvUDNic0dHeHRiYUdob1lHc3JDdzRPVGtoSWlJQ1k4YU1VUW9VNU9Ua1lOKytmVWhOVGNXR0RSdEtOSS9ZcVZPbnNHZlBIdHk3ZHcrclY2OVd1SjdjM0Z5NHU3c2pNaklTVTZaTVFiTm16VlFlbzNuejVwZzhlVEkyYmRxRStmUG53OFBEUTJuRWR0KytmVXZVQVZqVWZGTWFHaG80ZWZKa3NjY2craHhwYUdqQTJka1plbnA2U2tHM0R5MDNOeGZ2M3IxVHU2Nnd6NzI5TE03S2xTdVJtSmdJZjM5L2hmNlArZlBuQzMweHhaMTNjV1hVaUQ1M0RCYjhDN3AyN1ZwazNmV0NMbDI2aEV1WExnRUFGaTFhQkV0TFM4eWJOdy9wNmVuWXRHa1R2djc2YTZIamFkQ2dRZGkzYng5MjdOaUJXYk5tWWRldVhRRHlKMUlwMk5tYW5aMk5talZyQ3N2UzA5T2hxYW1KWmN1V29Ybno1a2hOVGNYR2pSc2hrOG5VMXFrdXpxMWJ0NVF5M0F1TGpJeEVaR1NrMnZWV1ZsWkM1M2xKTTFLclZxMEtmMzkvdEd6WlV1MEQ3SlVyVno3cjZ3ME5EY1hwMDZjeFpjb1VvY084Y0dlYi9DWTVhTkFnSER0MlRPSGh1SEFab3A0OWUrTHUzYnVvWExreURBd01ZR2hvQ0gxOWZSZ2FHa0pQVHc5YVdscVlNMmNPZHUzYWhSWXRXZ0NBMHNONmJtNHVrcE9UWVdwcUtpelQwdEpTTzFwaS8vNzl5TXpNeE9qUm94VW1TcGJMeTh0VG1lbS9iOTgrYk42OEdSS0pCSDM3OWxYN1hRSDV3YkZObXpZaEtDZ0lTNVlzRVVaTXlGMjdkZzMzN3QwRGdHS0hMT2ZtNW1MSmtpVzRlZk1tYkd4c2lzMmdKcElyUE8rQUtyVnExWUtOalEzR2poMHIvTTBrSlNYaDU1OS94dGRmZjEzcWtWTmxVVEJnWEpnOHdGaXZYajJGdi9HQzVITWFlSHA2cWoxT3hZb1ZvYVdsSlFRdTZ0ZXZEeDBkSFloRUlzaGtzcktlT2hFUjBXZHIvZnIxWmQ1WDFjanZxS2dvWEw1OEdVZU9ISUc1dVRtR0RSdUczcjE3S3lUWkZLYnF1YnB3UWcrUS8zeGV1Qk14UGo0ZVo4NmNRYWRPbmVEazVJUUhEeDVnd29RSitQNzc3NVgyMTlMU2dyT3pNNlpQbjQ3Rml4ZGo1Y3FWS3AvejVaNDlld1pmWDE4WUdSbkJ4Y1ZGb1NNdk96c2JIaDRldUhIakJnWU9IQ2drSEtsamEydUxwS1FrSER4NEVOT25UNGVUa3hQcTE2OHZyRmVYa0hYaXhBa2NPSEFBWm1abWlJbUp3Y0tGQzJGbVp2WlI1czRqK3RUa0l3bWlvcUlVRWdoTHFsdTNia29CdFRWcjFnaWpsemR0MmdRZ3Y2Ty9MSjM5bjJ0N1dSd0hCd2VWeTFXVmhDWDZyMkt3NEY5Z1lXR2hNR0Z4VVhSMGRHQmdZSUNNakF6RXhzYWlaOCtlU0U5UGg1T1RFeElURS9IMDZWUE1tVE1INmVucFNFOVBSMlptSms2ZlBvM1dyVnNqSlNVRlJrWkdlUDM2dFhDOHRMUTA1T1hsS1hTZWR1clVDWmFXbHNMRXNMNit2a2hKU1lHcnF5dnk4dkp3NWNxVlVsMWY1ODZkTVd2V0xNeWFOVXZsK3FWTGwrTDA2ZE5ZdjM0OUxDMHRWVzdUdDI5ZnBVYjgyTEZqS3N0c0FQbTE5UVlPSENnTW0wdFBUeGVDQmVucDZWaTZkQ2xHamh5SkprMmFmUGJYKytMRkN3UUZCZUhCZ3dkd2RYVkZ6Wm8xaGZxZjgrZlBSM3g4UEZhdlhpMTBqcytZTVFOdjM3N0ZsQ2xUVUx0MmJhU21wc0xYMTFkNElEY3lNb0t6c3pNeU16UFZYb096c3pPYU5tMktzMmZQQXNpZnMwQmVpa2ttaytIY3VYT1F5V1NvVzdkdXNkOUhUazRPcmw2OWloNDllaWc4eEJlVWw1ZW5kQk0vZWZJa3Rtelpnbjc5K2hVYktBRHlSMko0ZUhoZzRjS0ZjSEJ3d0xKbHk0Ui8xN201dWRpNGNXT3h4d0R5aHo4dlhyd1kxNjlmUjRjT0hUQnYzcndQTm5Fcy9iZDVlWG1oVWFOR2tFZ2tTRWxKd2RTcFU5Ry9mMzloVHBxc3JDeUVoNGNMazUvTFpXZG53OTNkSFFEUXIxKy9VbjJtcW93NFB6Ky85N2lLLzU5UHBXQm1UR0ppSXRhdVhZc3hZOGFnUVlNR0VJbEVxRnk1TXJ5OXZWR3RXaldGL1YrK2ZJa0ZDeGJnM3IxN0NBb0tRck5telNDUlNJUVJQNXFhbWtLd2dZaUk2TDlFM2JOOVdkV3JWdzg3ZCs3RXlaTW5zWGZ2WHZqNCtHRGJ0bTBZTm13WXZ2bm1HNVdkM0RrNU9VclAxWVU3KzErOWVnVi9mMytsVXF1TkdqWEN6cDA3aFRLdDhoSzE2bGhZV0dEcTFLbFlzMllOL1AzOWxlWVlrRXRLU3NLQ0JRc2drOG5nN3U2T0tsV3FLS3hidEdnUlFrTkQwYXRYTDJFdXR1Sk1uVG9WbFNwVnd2YnQyMkZuWjRmdnZ2c09vMGFOZ3E2dXJ0TG95K1RrWlB6NjY2ODRmLzQ4WnN5WWdkVFVWUGo3KzJQanhvM0l6czdHZ0FFRDhPMjMzM0ppWS9yaW5UcDFTbUYrc3VIRGgrUFVxVk1xNXd3c1RuQndzUEJlRVJ3Y2pEMTc5bURjdUhIbzNyMDdBTURVMUJRalJveEE0OGFOMWJaOWp4NDlVcXE0SVBlNXRwZEVWRHdHQ3o2eWloVXJJaVFrQkVPR0RGSEtoRmFsUTRjT2FObXlKZmJzMlFPWlRJWjI3ZHBCSXBFZ0tTbEo2TERSMTllSGhZVUZEQTBOb2F1cmk0MGJOeUkwTkJTK3ZyN3c4L05US0U4aEw0bFRzSDZkU0NRU09zNVBuRGlCOCtmUFkvanc0ZWpTcFlzd2dYSnBGRGV4MWNPSEQxR2hRZ1cxSGM5NWVYbVFTcVZxSTc1ejVzeFIrSDM1OHVYQ3ovSUp1cEtUazJGaFlRRWd2OFRHdFd2WGhBN296LzE2ZS9YcUJYTnpjemc3TzhQZTNoN2J0bTJEam80Tzl1L2ZqM3YzN3FGRml4YjQrZWVmNGVIaGdicDE2eUkyTmhidTd1N1EwOU9EaTRzTFpzK2VqVjkvL1JVLy8veXowT205ZS9kdTdONjlXKzA1amg0OUdtM2F0SUdOalExT256NnRWTEpFUTBNRDNicDFRNmRPbllyOVByUzB0TEJwMHlhOGVQRUNMaTR1bURKbGlrS1pGcGxNQnBsTXBuQ1REZ29LZ28rUEQxcTNicTAyNktKS3k1WXQ0ZUxpQWhjWEY4eVpNd2NyVjY2RWdZRUJ0bS9manVmUG42Tml4WXJDNUszcXpKNDlHNDhlUFVLZlBuM2c0T0JRWklZVWtWeGNYQnhxMXF5SnQyL2Y0dTNidHdDQXVuWHI0dVRKaytqZnY3L3d0MWV6WmszRXhjWEIxTlFVSXBFSVVxa1VucDZlZVBic0dWYXNXRkdtV3FLZW5wN0NDSUNTbHZoUkZXVG8zNzgvWnMrZUxkeUxDcjVvbkRoeEFsZXZYaFhtd01uSXlJQ3ZyeThBQ0pPMnkrbnA2Y0hYMXhmUG5qM0QyYk5uRVJvYXFoQlFrRWdrS29ja0V4RVJmYW5Nek16UXVuVnJBTUNoUTRmdzY2Ky9sbmpmNDhlUG8wS0ZDbWpkdXJYS1VvWmFXbG9ZT0hBZyt2WHJoeE1uVG1EMzd0M1l1SEVqRGg4K2pLMWJ0eXE5SStYbTVoYmIrWFgyN0ZtSVJDS2xVaGlqUjQrR2k0c0xkSFIwNE9ucHFWU0dWSldCQXdmaTh1WEwyTGR2SDZ5dHJaVkdKS2VscFdIZXZIbElTRWlBbTV1YjB1U2tLMWV1Ukdob0tBWU5HZ1E3Tzd0U0plbU1IVHNXOWV2WHg0b1ZLeEFRRUFCTFMwdUZDWXJUMDlOeDlPaFI3Tm16QjVxYW1saThlREdzckt5RUVmZWJObTNDMGFOSEVSZ1lpSUNBQVBUcTFRdkRoZzBUUnVvVGZXa0NBZ0lRSFIwdC9ENTgrSEJNbURCQm1JdmszcjE3OFBEd2dMZTN0NURJTjJ6WU1OamEyZ3JQK1FYSkEyK1BIejhHa0Q5Q3YyQXdybUFaSUZXcVZxMnFWQlhpUzJzdlZYRjJkaGJta1NRcWp4Z3MrTWdHRFJxRXZYdjM0cnZ2dml2MXZqMTc5aFFtNHYzOTk5K0ZTT25aczJkeDRjSUZJWFAxNWN1WHFGNjlPdXJVcVFNek16UGN1blZMT0laOE9KcTV1Ym5TOFI4K2ZJaDE2OVlCK1ArYmdMd0d0U29MRml6QXk1Y3ZTNVhWR2hNVGd4Y3ZYcUIxNjlZUWk4VjQ5dXdaakkyTkZZYkVabWRuQTREYVJyeHdMZm1Dd1lLS0ZTdWlZc1dLZVBYcWxiRHM4T0hETURFeFFjZU9IUlgyKzV5dnQwR0RCdkQxOVVWc2JDd3lNakt3WnMwYW5EOS9IblBuemtYMzd0MnhkdTFhN055NUU3VnExY0tCQXdkZ1lXRUJEdzhQYUd0cnc4bkpDZmIyOW5qKy9EbW1UNSt1TUhGWFVGQ1EwamtXekd6VzBkSEJzbVhMa0oyZExaeVhTQ1JDeFlvVmxXNjBxYW1wQ2c4bUJlbm82RUJYVnhjUEhqeUFpNHNMZkgxOWhXdVdkeHJLcnpjMU5SV2JObTFDbzBhTnNHalJJb1hQNmRTcGsxS21VSzlldlJRQ0wxWldWcGcxYXhaOGZIeHc4ZUpGMUs5ZkgvdjI3VU9MRmkxZ2JHd3NqSllvVEo3cEhCa1ppWEhqeG1ITW1ERWNVVUFsVmxUcElGVkQvNDhmUHc2UlNJUWxTNWJnL3YzN1dMWnNXWWxHNnFoaWFtcGE1UHdGaFdscWFpcGwvdm41K1FuM0VIbFduWHdVV25aMk5vNGNPWUpHalJvSkV4Z0dCQVFVR1hBRThnT25qbzZPV0w1OE9SbzJiQWlaVEFhUlNBUWRIUjJoUFNFaUl2b3ZHREJnQUFZTUdBQUFhTldxVlpGbENmUHk4bkRzMkRIRXhNVEF5TWdJR2hvYUFJQmx5NVlWK1JsaXNSamZmUE1OdnZycUsvenh4eC9RMXRaV21VeFZYT2VYVkNyRjBhTkgwYnAxYXlGaFNxNWp4NDVvMnJRcC92bm5uMUlsTU5qYjIyUHUzTG5DdFJTVW1aa0ppVVNDMmJObnEwdzBjblIweFBYcjExR3BVcVZTenhIV3ExY3Z6SnMzRDM1K2ZyaDM3eDY2ZGVzR0FJaUlpTUNaTTJkdzh1UkpaR1Jrd01yS0N2YjI5a3BsYVhWMWRURnExQ2dNSFRvVXg0OGZ4NzU5KzNEcTFDbFlXMXRqOU9qUlN2T2tFWDN1NUtXQnRtL2ZMc3lMS1pGSWhPZDhlWDErUTBORGhSTENFb2xFYlVuaHQyL2Y0czZkT3dEeTM1VURBd014Wk1nUW5EaHhBajQrUGlVK04zbFM1WmZVWHFyejVzMGI0ZWVYTDEvQ3k4dXJ4R1ZXOWZYMWl5emxTdlFsWUxEZ0k1czBhUks2ZHUySzU4K2ZGenNKMDVVclYyQmlZZ0pMUzB1WW1aa3BsSFFwT0tUcTZkT251SHIxcXZENzFLbFRoWitiTld1R2d3Y1BJalUxRmZyNitvaUlpSUN1cnE1U1ZQYkpreWR3Y25JU09uVGtqYks4ODEwVmVTTmJtazZyQ3hjdUFBQzZkT21Dbkp3Y3pKczNEOGJHeGxpeVpJbFFDaU1uSndjQXlqemJ2SW1KaVJBVUNRa0p3ZVBIanpGNzlteUZoOWt2NFhxclZxMktxbFdyWXUzYXRYanc0QUc4dmIzUnNHRkRaR1ptNHNjZmYwUjJkamFpbzZNaGs4a3diTmd3YUdscDRkMjdkNmhjdVRKV3IxNk41Y3VYSXlFaFFTRllVSnd0VzdaZzM3NTlDQTRPVnBnMFdDYVQ0Y3FWSytqWXNhUHdYWjA1Y3dabnpweFJlNnhxMWFyaGwxOStnYk96TTVZdlh3NVhWMWNBL3g4c2tGK3Z2cjQrdkwyOVVhVktGVnk3ZGszaEdQSWhqK2ZPblJPV1dWdGJJeWNuUjFqV3ZuMTc5Ty9mSHhZV0ZtalNwQW0yYk5rQ2JXMXRPRGc0WVB2MjdVcm45ZWJORzZ4YXRRcHhjWEVBSUdRY0VaVkdjSEN3Mm9tOUN0TFcxb1pJSkVKS1Nnb1dMMTZNdUxnNHJGNjlXbVhBOW1QSXljbUJqbzZPTUZtNjNLWk5tNFQ3aUx4eklENCtIZ0J3OU9oUkpDY253OUhSVWRoKzRzU0ptRGh4b3NJeFFrSkNzSGZ2WHVUbDVRbnp2WFR1M0JscjFxeEJSRVFFbkoyZHNXREJBdWpyNitQdDI3Zkl5OHZEN2R1M2hlQXBFUkhSZjBIZHVuWFZKZ0NFaElSZ3c0WU5pSXVMdzNmZmZZZHg0OGFWK2g0b2tVaUUrNnhNSnNPREJ3OXc5dXhaYUdob1lNYU1HY2pLeWlxeTgrdjA2ZE9JajQ5WFdmTWJ5QzlwT24zNmRDeFpzZ1JyMXF3cDBmbFZyMTRkZm41K0tvTUZ4c2JHV0x0MnJkb2tuTXFWSzZOLy8vNklqWTNGVHovOUpDeS9mUGt5d3NMQ01IbnlaSlg3K3ZuNVFWdGJHd0JnWUdBZ0JBcENRa0l3Yjk0OEFQbi9MeVpNbUtDVUpOYXZYeitGWlJLSkJFT0hEc1dBQVFQd3h4OS9ZTy9ldlpnNWN5YVdMRm1pTkxFejBaZE1QaUs0NEx0OWNjNmVQU3YwcVlTSGgrUFBQLzlFYm00dXZ2NzZhNldSUkh2MjdGRW9YMVNjejcyOUxBa1RFeE9zWGJ2MnZZNUI5S1hoMi91L3dOTFNza1QxMnJ5OXZURnc0RUNodzFST0twWGkvdjM3d3UveURoNzVaSzVBZmczcSt2WHJvMlhMbHREUTBCREs4SVNFaEtCMTY5WUtEMkQzNzkrSGk0c0xKQklKNnRhdGk3Ly8vdnM5cjFDMTNOeGNIRHQyREZwYVdyQ3hzWUdXbGhZY0hSM2g1T1NFZWZQbVlkbXlaZERSMFVGV1ZoWUFxSjE0U2wwTlBMbGF0V3JoOGVQSGtNbGs4UFB6UTgyYU5SV3lWcjZVNjMzKy9Ea2VQbnlJOGVQSDQ2ZWZmc0tWSzFjd2FOQWdsWisxWjg4ZWhkK1hMbDJxTXVwZjJ2cm9VcWtVRnk1Y3dPN2R1eEVkSFkwWk0yWUk1OUN0V3pjTUdUSkVZWHQ3ZTN1RjN6dDA2SUJCZ3diaHlKRWorT09QUC9EdHQ5OEt3WkhDSXltU2twTGc1ZVZWcXZNRGdOOSsrdzI2dXJwbzBxUUpnUHloMFEwYU5GQUtrc2hrTWdRRkJXSExsaTFJVFUyRldDeEdibTR1QXdWVVp1citIZ3Z5OC9PRG5wNGVwazJiaG1yVnFna1QvY2xsWldWOTFFbjIwdFBUaGNDa1hIWjJObVF5bWZEQ1hiRmlSUmdaR2VIWnMyZElUVTNGenAwNzBiUnBVK0Z2UXlhVDRjV0xGOGpNekVSR1JnYlMwOU1SRXhPRGpSczNvbXZYcmpBM044Zk5temVSbFpXRitQaDR5R1F5TEYyNkZCNGVIamg0OENDcVZhdUc1OCtmSXpFeEVRc1dMTUNXTFZ2K3RXQUpFUkhScCtMbTVvWXJWNjZnVmF0V2NIWjJMbk9wRzVsTWh2RHdjRnk0Y0FFWEwxN0VxMWV2SUJLSk1ITGtTTWhrTXVUbDVhbDlsc2pNeklTL3Z6L3ExS21ERGgwNnFOeW1YcjE2R0RseUpIYnQyb1UxYTlhb25NeFRWVGxEVlVxeW5UemIyTXpNVENHWklTd3NEQVlHQmlwTG93RDVpUTZxa3NuYXRtMkxIMzc0QVphV2xtckxLUG41K2VINjllczRlUENnd25KNXgyTC8vdjF4NE1BQnRHclZxdGp6Si9xU3ZIanhBZ0RVamlJQThwT0xvcUtpWUdscENhbFVpa09IRHFGMzc5N1l2bjA3dnZubUcwUkZSZUgzMzMrSHNiR3gwdHliOGpralM1TlFxY3JuMEY0U2tYb01GbndFVDU4K1JVUkVSSm4yalltSndhbFRweFNXZGUzYVZTSGpVNjdnc3FaTm0yTDE2dFhRMWRXRnRiVTFqaDA3Qmt0TFN6eDU4a1Jwd3F0YnQyNUJJcEZnK2ZMbDJMdDM3MGZyUEE4S0NrSmlZaUsrK3VvcjRXYlZwazBiekpzM0Q0c1hMNGFycXl1OHZMeUU2TGU2UnJ5NFNiRGtaV2lPSFR1R1I0OGV3ZFBUVTZFTy9aZHl2WC85OVJkKy9mVlhlSHQ3S3p6NEZsVUtKQ1VsQlQvLy9MUGE5ZHUyYlZOYXBxcWN5dHUzYjNIcTFDbjg4Y2NmZVBueUpXclZxb1U1YythZ1Y2OWV3alpWcWxSUnlpeFFaZkxreWZqcnI3OXc4dVJKREJvMFNCak5VZmhoMzhqSVNIaDU4UGIyeHJWcjE3QnUzVHFWRHg1UlVWRndjSENBaFlXRk1EZUZYUFhxMVpXR1ViOTkreFlPRGc2SWlvcEN6Wm8xNGVycWlsV3JWZ2tqVUlqS3lzL1BUKzNEc2Z5RjJkRFFFQTRPRG1qWnNxVkNkc3l4WThmZzcrK1B6WnMzQy9PdGZHakp5Y2xLay9mSlIwUVVEQ0xVcjE4ZllXRmhXTDkrUFRJeU1wU0dCenM2T2lxVWQ1TzdkT2tTS2xhc0NGMWRYV2hvYU9EVXFWUDQ1cHR2MExwMWE2eFlzUUsxYXRWQ1FFQUFqaDgvanE1ZHUwSWtFcFZwbmdZaUlxTFBSWFoyZHJISlMwRCtLUEhtelp0anpKZ3hTRWxKVVVqc0txaGx5NVpLeStRWnNaY3VYY0xseTVlRkRxL216WnRqNU1pUjZOcTFLeXBYcml6YzA5VzlOMjNkdWhXdlhyM0NyRm16aWl5M09YYnNXUHo5OTk4SUNncEN0V3JWTUhic1dLWDFSYmw4K1RLaW9xS0szYTRvVVZGUmFwK3BDaWM2RkpTUmtZRXFWYW9nTVRGUjZiMVpMaXdzRERvNk9tclhBL25CaSt6c2JJNStwUCtVdi83NkM5V3JWMWRLSGlyb3paczNtRDU5T3JadDI0YlEwRkM4ZlBrUy9mcjFFMGJwVDU4K0hTS1JTQ2hQV2hwZlVudEpST3J4enZnUmhJU0VsR29TbDRMdTNidW4xRkQyNmROSG9kUDM0TUdET0hMa2lNS3lnaDJ4UTRZTXdadzVjK0R1N282cVZhc3ExWTRjUEhnd3Z2NzY2NC9hZ1pPV2xnWi9mMytJeFdLTUdUTkdZVjIzYnQwd2VmSmt2SGp4QXBxYW1rTG51YXFIUVVDNXc5dkp5VW1JYUFQNXBaZTJiTm1DRFJzMm9IdjM3a0oyN0x0Mzc2Q2xwZlhGWE8vOSsvY2hGb3VWT3VRTDF4b3RxTGpKZVV0YWttakVpQkhJemMxRnExYXRNR1hLRkhUdTNMbk05ZnpsRTZhWm1KaEFRME9qMkpFakFHQm5aNGZRMEZBc1hMZ1FQajQrQ3ZWRzc5Ky9EMWRYVnhnYUdzTE56YTFFRC9SNmVucG8wS0FCZXZYcWhhRkRoeFk3OURBeU1oS25UNS9Hd0lFRDN6dExndjdiU2pyQmNPRk10OGpJU0d6WXNBRmp4NDVWQ0JTRWhvWkNRME1Eb2FHaGFvOGx6eEFxaVJjdlhpZzkyS2VscFFGUURCYTBhTkVDTjI3Y3dObXpaekZzMkRDaDdGMXViaTdFWWpGOGZYMlJsSlFFTFMwdEdCa1o0Y0dEQjNCM2Q4Zng0OGVocWFtSnJLd3NPRG82UWs5UEQrUEdqUU1BWVloeDc5NjlzWFBuVHJpNXVjSE16SXdQNkVSRTlFVXJYS3F2S1BmdjN5OTJXM215VEhaMk51N2N1WU1yVjY3ZzJyVnJlUFBtRFVRaUVabzBhUUpiVzF0MDY5Wk5LUUZBL2x5dDZyMHBKQ1FFZ1lHQjZOaXhJNnl0cllzOEIwMU5UYmk2dW1MNjlPbll2bjA3Y25OekZjb1B5dS90NnNURnhTRXFLcXJZN2RTSmo0OUhiR3lzMGdUTWNwbVptUUJVbDFKNTgrYU53aHgyUlNsdXUyYk5tcWt0U1V2MHBUbDM3aHpDdzhPTC9idDgvZm8xTkRRMG9LZW5oODJiTjhQR3hrYWh6MEZEUXdOMmRuWjQvUGl4VXVLcFhPRlJSYXRXclVLelpzMittUGFTaUlyR1lNRkhNSFRvVUF3ZE9sVDQvZEdqUjlpOGVUTm16cHdKTXpNenRmdjE2ZE1IQXdjT3hLeFpzNVRXRmV6MGxYZVVxK3NJYnRXcUZkcTJiWXVRa0JEWTJka3BkYTRXYmtRL2htWExsaUVsSlFValI0NkVxYW1wMHZxQ3cwMHpNaklBUU9sQnJYMzc5bkJ6YzFPNnpzTDE4VXhNVElSSk5RdU9RcmgxNnhaV3IxNk4xYXRYZi9RTzRQZTlYcGxNaG52MzdxRng0OFpLSFdzbEhRYXNTa24zSFRwMEtMNysrbXVGNzNyZHVuVm8zYm8xT25mdVhPclBMWmo5TDMvWUw2ckRVRmRYRng0ZUhuQndjTUNzV2JQZzV1YUd1blhySWlBZ0FQNysvckN3c0lDWGwxZVJ3eWtMbXpOblRvbTNmZm55SlE0ZE9nUXpNek1HQzZoSTY5YXRFK2FBdVh6NU1sYXVYSW5Bd0VBQVVDclRKZmZzMlRQTW56OGZWbFpXR0RseXBNSzZJMGVPNE1pUkkwVis1c0tGQzB0MGJtbHBhWWlQanhjbUZKTlROUnhaSGh3d056ZFhDSUJzM2JvVlVWRlI4UEx5d3UzYnR4VW1GeHMwYUpBUW9MeDkrelppWTJPeGJOa3lwYmE3V3JWcW1EMTdOdGF2WDQvQmd3ZVg2TnlKaUlnK1YxV3FWQkVtRlMzS2p6LytpQjQ5ZW1EMDZOSEZicnQ1ODJZY1BueFllRTYydExTRXJhMHR1bmZ2WG1TaWtQdzlvbkFuZW54OFBKWXNXUUk5UFQzODczLy9LL2J6Z2Z6bmdtVWkxcUp5QUFBZ0FFbEVRVlRMbHNIZTNoNjdkKzhXUmlUOEcwSCt3NGNQQThnZlFhK0tQTGxLVlVkK2pSbzFoQTVFVlhidTNJbHQyN2FoUm8wYTBOVFV4UHIxNjB0VnY1M29TeVIvTDZsVnE1YlMzR1dWS2xYQzMzLy9qZWpvYUloRUlwdzRjUUwxNnRXRFNDUkNWbGFXMnVDQ3VibTVVdCtMdWprTHFsV3JCdURMYUM5TFFpcVZJakV4RVZXcVZDbjF2bkpKU1VuRnpsdEs5TGxpc09CZllHUmtoSXlNREV5Yk5nMy8rOS8vMExObnp3OTYvSnljSEx4Ky9Wcm9wQTRQRHhlR2ZoMDZkQWlkT25VcXNoSDkwTFpzMllKcjE2NmhmdjM2S2t2ZUZKYWNuQXdBQ3FNRkFNWHlNcTlmdjhiVHAwOFJIUjB0L0dkdGJZMmhRNGZDMWRVVk1wa01hV2xwZVBYcUZmVDA5QURrZDVDbHBxWis5T0RJaDdqZXlNaEl2SDM3VnVVd3U2SW1EMHBKU1ZHYU42QzRmVlZsUmsrZVBGbHAyZFdyVjVHYW1scW1ZRUZCOHF6bTRpTDZGaFlXV0w1OE9aeWNuREJ6NWt4VXIxNGR6NTgvUjdkdTNlRGc0UEJSczM3a25ha21KaVlmN1RQb3l4Y1FFSUNBZ0FEMDdkc1g1dWJtd3N0MGhRb1ZzSG56WnZqNitpb0ZoSjg4ZVlMNTgrZWpYcjE2V0xod29kS0luWG56NXFGWHIxNDRjK1lNdkwyOWxUNXowcVJKR0RCZ2dOQ3V5VDEvL2x4cFcvbW90RWFOR3VIU3BVdDQ5KzRkSkJJSkRodzRBQTBORFRSbzBBQkFmb2ZDeXBVckFRQ3BxYWtLRDdFdlg3NUVRa0lDQUtCaHc0WVlQSGd3Ykd4c1lHNXVEbDFkWFp3NWN3YXRXN2RHeDQ0ZHNXUEhEcHc1Y3diQndjR1lObTBhZ1B6QTU5cTFhMkZwYVNrRVVZaUlpTDVrWXJHNHhQVzA5ZlQwU3JTdG5wNGVxbGV2amg0OWVxQkhqeDRsSGcwY0ZSVUZBQXFqY04rK2ZZdUZDeGNpTlRVVm5wNmVwWHIzcVZHakJueDhmUERMTDc4Z09EZ1lyMSsvVmtnVStCakN3OE1SR0JpSTVzMmJxNTNYNzgyYk53QlFaQ2tWVlI0OGVJQmR1M2FoUzVjdW1EaHhJcVpQbnc0bkp5ZDRlSGh3QkFIOXA4am5zWlJLcGJoMTZ4WVdMVm9FQ3dzTExGbXlST205ZSt6WXNmRDM5OGVQUC80SWtVZ0VVMU5UMk52YlExZFhGOTdlM21vVFdyVzB0SlFTNllxYnMrQnpieTlMYXV6WXNWaXlaSWt3T3FFc0pCSkptVWRmRVgxcURCYjhDNHlOamVIajQ0Tmx5NVpoK2ZMbHFGT25EdXJVcWFPd1RWR05VR3BxS3A0OWU0YkV4RVFrSmlZS0hVSXpaODVFZkh3OGtwT1RvYW1waVJNblR1RHMyYlB3OGZGQnpabzFNWGJzV0hoNmVzTE96ZzdPenM0bHFqZXZqa3dtdzl1M2I0c3NUU09UeWJCMTYxYnMzYnNYUmtaR0pTb1prNWVYSjlTU2xFK0FtWmlZaUQvLy9CUFBuejlIYkd3c1ltSmloS2d3a0I5OE1UYzNoNzYrUHViT25ZdEhqeDVoOHVUSjJMRmpCN3k5dmJGNjlXcFVyRmdSVDU4K2hZbUpTYWtmTXYvdDZ3WHlhd3NDcW12eUZaWHBYdHkxRlpjbEw3OCtxVlFLRFEwTllibFVLa1Z5Y3JKQzZhYkF3TUF5ZGY1RlJrWUNBUFQxOVl2Y0xpa3BDVGR2M29SSUpFSnViaTZlUDM4T2tVZ0VmWDE5eE1YRkNablFaU1cvUGxVVHdJYUhod09BMG53SVJISjVlWG53OGZIQmpSczMwTGh4WTRXL1h5MHRMWWpGWXRqYjIyUENoQW13dGJXRlNDVENsU3RYc0hUcFVqUnQyaFN1cnE1SzViQW1USmlBZXZYcUFRQ3NyYTN4MjIrL0tYMXU0WkVJUmJsNDhTSjBkSFRRckZremJOMjZGUUVCQVFEeS8rMVBtREFCUmtaR2lJbUp3Yng1OC9EbXpSdU1HVE1HTzNmdXhONjllNFZBWjJ4c3JOQnVIRDU4R0VlUEhrWGZ2bjFoWUdDQWQrL2U0ZGRmZjBXblRwMHdlL1pzNk9ycVFsZFhGNEdCZ1VJQVFTUVNvVUtGQ2xpelpnMU1UVTA1Y1NBUkVaRUt3NGNQeDRnUkkwcTFUMHBLaWpDWFdZc1dMWVRscjE2OVFuSnlNcVpPbllyMjdkdXIzUGZseTVkcXkzTFdyRmtUdnI2K1dMWnNHYVpNbVZLcWN5cXRpSWdJT0RrNVFWTlQ4Ly9ZdSsrb0tLNjNEK0RmcFFtSWdvSWRyTEZpMTRqR21xQW1Hc1dheEtneGFFdzAxcDhkRzZBb1lvbEdzY1RZVUxFZ0toYXdLNGlGb2xoaVE1b0ZSYkdnSUZKMzJmY1AzcG13YkdGcGl1SDdPY2R6WkdaMmRtWjM5czZkKzl6N1hJM3owbDI1Y2dVQU5JN0t6KzNreVpOd2QzY1hHMExMbHkrUCtmUG5ZOEdDQlJnL2ZqeW1UWnRXcU9kaG9wSkFLcFZpelpvMU9IWHFGUFQxOWVIbTVvYi8vZTkvY0hSMHhPZWZmNjZ5Zzk2Z1FZTXdhTkFnbGZ0cjJMQmhjUjl5b1JWbGVhbXQ5dTNicTUwa25xZzBZTERnQXpFd01NRGN1WFB4OE9GRDFLbFRCNjlmdjhiV3JWdGhiR3dNWFYxZHNiRlMxYVNYdDI3ZGdyT3pzL2kzbVprWkdqVnFoS3BWcTZKbHk1YW9XclVxeXBRcGcwV0xGdUg4K2ZObzFxd1pGaXhZZ0hMbHltSHg0c1ZZc0dBQnBrNmRDanM3T3d3ZlBsenJpVFZYclZxRjFOUlVHQmdZNE9uVHAzajc5cTNhdlArSmlZbFl1WElsTGwrK2pJb1ZLMkxwMHFWSzI4Ykd4bUw1OHVXb1dMRWlqSXlNSUpGSWNQZnVYVHg5K2hRTkdqUVFiMVI2ZW5yWXVYTW5EQXdNVUtkT0hYVHQyaFgxNnRWRG5UcDFVTHQyYlpRdlh4NnhzYkZ3Y25KQ2JHd3N4bzhmai83OSs4UFkyQmhyMXF6QjVNbVQ4ZDEzM3lFa0pBUnQyN2JWNmx3LzV2a0MyYjM0OWZYMTBhUkpFNlgzS2t3YUlrRlVWQlFNRFEwUkV4TURBT0xEZ3REenlOdmJHNDBhTlJLM3YzNzlPcVJTcWRnVEdjaWVSRHYzRFhQTGxpMEtmM3Q3ZStQbHk1ZW9WcTBheXBVcmg1Y3ZYOExMeXd0NmVucEtGWkhNekV4RVJFVGd4bzBidUhMbEN1N2V2UXU1WEE1cmEydjgvdnZ2cUZHakJuYnYzbzFqeDQ3QjE5Y1hsU3BWUXF0V3JWQy9mbjNVcTFjUGxTdFhocm01dWRhVGt0V3BVd2VQSGozQy9QbnowYnAxYXpGUUVoY1hoNHNYTDhMS3lrb2NQa21VMitMRmkzSDE2bFZNbmp3Wk5qWTJ5TXpNeFBYcjEyRnFhZ3FKUklMZmZ2c05sU3BWUW1Sa0pONjhlWU9kTzNmQ3o4OFBmZnYyeGZqeDR4V0NjWUtjT1VDRmhuZE5rcEtTWUdCZ0FIMTlmZHkrZlJ2QXY3L2xseTlmSWpBd0VGOSsrU1gwOWZVeGZQaHc5T3JWQzVtWm1UQTNONGVwcVNuQ3dzS3dhTkVpcEtlbnc4bkpDVFkyTm9pSmljSHUzYnRSdlhwMVdGdGI0L0hqeCtqU3BRdGV2bnlKa3lkUG9tdlhybUk1WUdSa2hFR0RCc0hEd3dQZmYvODlMQzB0WVd0cmk0TUhEMkw5K3ZWbzA2WU5EQXdNOE91dnYrTFdyVnR3Y1hIQit2WHJPY0V4RVJIOUo4WEZ4Y0hVMUJTR2hvYUlqbzRHb0RpUG5DYXE2Z1U1elowN0YzRnhjVEF5TW9LQmdRSFMwOVB4Nk5FalpHWm00c3N2dnhUbkNRS3k1d3phdEdtVHdvZ0NMeTh2UkVSRXdNaklDQzlldk1EMTY5YzFOcGhWckZoUjVRakhvcEtXbG9aOSsvWmh6NTQ5ME5YVmhhT2pvOWlqK01TSkUzaisvRGxNVEV4Z1lHQ0F1TGc0SEQ1OEdEVnExRkE3OGtDUW1wcUt5NWN2NCtEQmc0aUlpRURMbGkweFo4NGNzWk5TdTNidHNIejVjcmk2dW1MS2xDbG8yN1l0ZXZmdXJiWlJsYWlrYzNSMHhKVXJWekIyN0ZoWVdsckN4Y1VGVjY1Y2dZMk5EV0pqWTJGaVlnSTlQVDNvNnVxSy83S3lzcENabVFtcFZJck16RXpJWkRKa1ptYWlSWXNXS3RzZkJKcmFJVlN0YTlXcWxkcVJTU1dsdkNRaTdUQlk4QUZKSkJKeFJJR3BxU25PbkRranBuL1ExZFZGeTVZdFZlWjNidE9tRFJZdlhvd3FWYXFJZ1lHY1hyMTZoVjkrK1FXcHFhbjQ0WWNmWUc5dkx6YWd0bTdkR3V2WHI4ZWlSWXR3K1BCaFZLbFNSU21IblRvSkNRa0lEZzRXLzdhd3NNQ0VDUk5VYml2a3Q2NVRwdzVjWEZ4VU5nNVZybHdaVVZGUnlNek1GSmNaR2hxaVM1Y3VHRDkrdk5oNGEycHFDZzhQRDNHQzNOeVNrNU14WmNvVXZILy9Iak5tekVEUG5qMEJBSDM3OWtWQ1FnSjI3ZG9sVG1hVm40YjJqM1crS1NrcFNFaElRT1BHalZYZU1BdVRoa2pnNHVLQ3VMZzRBTm5YWWV2V3JRRmtmejZYTDEvR2xpMWJJSmZMRlk2elo4K2VDcE5qTjJqUVFLbVhjKzVnUVhwNnV0TG9nekpseW1EQ2hBbW9VS0VDQU9ERml4ZHdkbmJHZ3djUElKVktBV1EvNUF3Yk5neGZmZldWd21pSU9YUG1ZT3pZc1RoMzdod3VYYnFFYytmT2lTTXpBS0JqeDQ0S2dUUk5mdjMxVjd4OSt4YTNiOS9HclZ1M3hPVjZlbnBvMUtpUjF2bGRxWFJxM2JvMUJnOGVqSDM3OW1IbHlwVUFzcThkSWYwTzhPK2NCY3VYTDBkSVNBam16cDJMcmwyN0Z0a3g3TjI3Vnh3dEFHU1BSQkx1QjN2MjdJRlVLaFdQd2RqWVdHRzQvZHUzYjdGdzRVTG82T2pBMWRWVjdQRS9ZOFlNVEpzMlRhRmkzNlpORyt6WnN3ZUFjb3F5UG4zNjROQ2hRM2owNkpIWTIrL25uMzlHWUdBZ01qSXlZR0JnQUQwOVBUZzRPT0QzMzMvSDJiTm50Y3BGU2tSRTlLbVpPblVxWHI5K3JiQXNQeDJWTkxHd3NNRFZxMWZGWjBXSlJJS3FWYXVpUjQ4ZStQSEhINVcyejUxNlNDcVZJakF3RUVCMlE1dTF0YlZXend6RklTNHVEaE1tVE1DN2QrOVF1M1p0ekpvMVMySEVjSHg4UEhidDJxWHdtbnIxNnNIQndVSGxzK0Q5Ky9maDcrK1ArL2Z2SXp3OEhGS3BGRlpXVnBnMWF4WnNiVzJWUm9ZM2FkSUVtemR2aHJlM053NGRPb1NyVjY5Q1YxY1hkZXJVUVo4K2ZaVG1laUlxeWFwVXFZSmh3NGFKSXdVMmJkb0VIeDhmM0xoeEEwRkJRVWhQVDRkTUp0TnFYeHMyYk5DNFhsTTdoQ3FhQW5BbHFid2tvcnhKNURsYkNFc0pGeGNYbENsVEJqTm56dnpZaHdLNVhDNm1nTkdVOGlZdnZyNithTkNnZ2RyZUZ6S1pERUZCUWVqVXFaUEM4b2lJQ0R4Ly9oeGR1blJSZTN4eXVSd1NpVVRqOGNYSHg4UFgxeGMvL2ZSVG5oRml1VnlPakl3TUFKb252ZFhrNnRXck1EWTJWaGtKZi9qd0lhNWZ2NDdhdFd1alZhdFdDdXRLNnZuS1pESzhlUEZDWVhMazZPaG8rUHY3cTV4UFFKQ1dsb1lEQnc2Z2UvZnVDZ0dMSzFldTROcTFhK0pRNHREUVVMeCsvUnA2ZW5xb1g3KytVbTVBNFRvVUNKT1k1dHhmMWFwVmxkSWF4Y1hGb1d6WnN1TEVxU2twS1hqeDRnWFMwOU1obFVxaHA2Y0hLeXNycFJ5aDI3WnR3NXMzYjlDMGFWTzBhdFZLNnprMTB0TFNFQjRlanBpWUdNVEd4c0xlM2w1aDBsWS9Qei9jdlhzM1g1TWIwMytEaTRzTGF0V3FWZXg1SVJNVEUvSHUzVHNBMlEvbXF2TGZKaVltSWlzclN3eVE1WmVUa3hNR0RCaWdsTUxuNGNPSCtPZWZmd0JrNSs1czM3NjlPR0ZYVEV3TURoOCtyTEVoNE1hTkc2aGN1YkpTbnMrVWxCVHMzTGtUdDIvZlJvY09IVEIwNkZCa1pHVGd3WU1IS29jbUM3L3R2TVRHeG5MQ2NDSWlLbll1TGk2UVNDU1lOMi9lQjMzZjQ4ZVBJejQrSGpLWkRIcDZlbWpSb2tXUnA5L0x5c3BDVmxZV2RIVjE4LzJzcU8xelRVRnMyclFKUVVGQldqY20rdmo0d01qSUNEMTY5RkI2enBETDVYai8vajNTMHRJZ2s4bGdaR1NrTVgzcDY5ZXZNWHIwYUZTclZnMHRXclJBeDQ0ZHRVNHZsSkdSZ2VEZ1lBUUhCeU15TWhKdWJtNkZtc0NVS0RjWEZ4ZVltcHBxVExOVkdNbkp5WG1PUmdheTYrc3ltUXhTcVZSbE9TQ1JTSlFtL28ySWlFQ1ZLbFVVbnErTFNra3ZMNGxLRTRrV1B4QUdDNGlJNkpQM29ZSUZKWm53SUVCRVJGU2FmS3hnQVgwOHJQTlFTVlhjd1FJaW9zTFNKbGlnT2ZrWEVSRVJmUkw0MEV4RVJFU2xBZXM4UkVSRXhZZkJBaUlpSWlJaUlpSWlJaUtpVW83QkFpSWlJaUlpSWlJaUlpS2lVbzdCQWlJaUlpSWlJaUlpSWlLaVVvN0JBaUlpSWlJaUlpSWlJaUtpVWs0aWw4dmxIL3NnUGpRWEY1ZVBmUWhFOUlucjI3Y3ZXclpzK2JFUGcvNGZ5L1ZQbjZtcEtTWk5tdlN4RDRPSWlENHhyQVBRaDhDNlAybUQ1UkVWQlQ0WFVYR1NTQ1NTdkxiUit4QUhVaEtWS1ZNR05qWTJIL3N3aU9nVEpKRklVS3RXclk5OUdKUkxyVnExK0wxOHdreE5UVC8ySVJBUjBTZEtJcEdnYytmT0gvc3c2RCtLZFgvS0QxTlRVN1JvMGVKakh3Wjl3dmhjUkI5YnFRMFdHQm9hb212WHJoLzdNSWlJcUlqVXFsV0w1VG9SRVZFcHBLT2p3em9BRVpVSVptWm1MSStJNkpQR09R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lJaUlpSWlJaUlpRW81Qmd1SWlJaUlpSWlJaUlpSWlFbzVCZ3VJaUlpSWlJaUlpSWlJaUVvNUJndUlpSWdLNmQyN2R4LzdFSWlJaUlpSWlJaUlDb1hCZ2c5azE2NWRlUGJzV2FIM0V4OGZqOHpNVElWbGNya2M4K2JOdzVvMWF3cTB6OTI3ZCtQT25Uc3ExNzE0OFFKNzl1eEJYRnhjZ2ZZTkFDa3BLZkQyOXNhbFM1Y0t2STg3ZCs0Z0xTMU5ZVmxpWWlJU0VoSUt2TStpSUpmTDRlRGdBQ2NuSjdYYitQajRZTXlZTVVoTVRQeUFSMVk4NUhJNTNyOS9yN0RzeFlzWDJMWnRHN0t5c2xTKzV2SGp4eC9pMEVURmVUM3YyTEVESjArZUxNemhLYmgxNnhiMjc5K1BwS1NrSXRzbkZaL3c4SERjdTNkUGFYbGNYQndHRFJvRVgxOWZwWFVuVDU3RW1ERmo4dlUrd2NIQjJMaHhvMEw1SnBWSzhlREJnL3dmZEE3aDRlRzRkT2tTNUhKNW9mYWpTbnA2T3Z6OS9iWGE5dEtsUzFpN2RpMmtVbW1SSHdjQUJBVUY0ZFNwVTJyTEpHMFVaem1TbFpXRjZPaG9sY2NubFVvUkhSMmRyLzBWeGZrV3RTTkhqdUQyN2RzcTF5VWtKT0R3NGNPSWo0Ly93RWYxcjdDd01FUkdSaGI2dDZEdU00K0ppVUZnWUtEUzhzREFRTVRFeEJUcVBRc2lKU1ZGN2JyVTFGUzhmUG15VVB0Ly9mbzF2THk4aXFWc0tZamkvUDBXVi9sTW40NlNYaGUrZCs4ZXRtL2ZyckZ1ZWU3Y09TeGZ2dnlESFpNNkNRa0plUEhpaGZoM2VubzZEaHc0Z0Z1M2JtbTlqNHlNREpYTC9mMzlNWHYyN0h5OWh1aS9JaW9xQ3FkT25TcXkvWVdFaEdERmloWDV2cy9mdkhrenovcGVmSHk4MmpwamJpVzkvTTNMclZ1M3NHM2JOZ0JBWm1ZbS9QejhDdlE4OUYvOWZvSHMrNENtTnI2c3JDeXRqL05UdjE0K05yMlBmUUNsZ2Erdkx6dzhQSEQzN2wwc1hyd1ltWm1aV2o5VU5HalFRUHgvV2xvYUprK2VERXRMU3l4Y3VCREd4c1lBc2d1YWtKQVExSzVkTzkvSEZoRVJnVzNidG1IUW9FR3d0clpXV2g4WUdJaXRXN2VpVWFOR3FGNjllcjczRDJULzRMMjh2Q0NUeWRDd1lVTllXRmprNi9YdjNyM0Q5T25UWVdOakEyZG5aM0g1bENsVEVCc2JpOU9uVHhmb3VJckM2ZE9uRVJZV2h2bno1NnRjbjU2ZWpyMTc5Nkp0MjdZd05UVlZ1NTg3ZCs3Zzd0MjdoVHFXNzc3N3JsQ3YxNGFMaXd1ZVBYdUdsU3RYd3NqSUNFQjJBK1R1M2J1aHE2dUxFU05HS0d4LzVjb1Z6SjA3Ri8zNjljUDQ4ZU9ML2ZpSzgzcCs5T2dSZHU3Y2lUWnQydURycjc4dWt1TTlkT2dRTGwrK2pKNDlleGJKL3FoNGJkMjZGWGZ1M01ITW1UUFJ0V3RYY2JtdnJ5K01qSXp3NVpkZktyMG1OalpXL0sybzR1cnFDb2xFb3ZCQUd4SVNBbDlmWC96d3d3L2lNaTh2TDNoNmVtTElrQ0VZTm13WTlQVHlmL3YyOFBEQXpaczNjZno0Y2EyMmo0dUxVeGtjK2VxcnJ5Q1JTQlNXWGJod0FVdVhMa1ZXVmhac2JXM1Y3bE11bDhQVDB4TW1KaVlGT2dkdGJOMjZGUThmUHNSWFgzMEZIWjM4OTRrb3FuSmsvLzc5a01sa0N0OGprTjF3TzNic1dPemZ2MS9wdnZEaXhRdU1IVHMyWC9lMXdwNXZjVmk3ZGkwR0RoeUlwazJiS3ExNyt2UXAxcTVkaTJyVnFxRktsU29xWHg4UUVGQmtuUUVHRGh5b3RHekZpaFV3TURDQWg0Y0g0dVBqdGI3LzV2eU5iOXk0RWRIUjBWaTZkS25TNytIRWlSUHc4ZkZSK2g1ZFhGd3dZTUFBakJzM0xsL244TzdkTzh5Yk53K1ptWmxZc1dLRldQL1Qxdmp4NDlHaFF3Zjg5dHR2U3V0OGZYM3g5OTkvRjZvdWRlSENCV3pldkJrVksxWkVqeDQ5Q3J3ZklMdmVsTFB4VUJOemMzT2x6NklvNndGRlhUNFg5clA1bVBWZCtsZEpyd3Z2M2JzWE4yN2N3SUFCQTlSdUV4NGVqbE9uVG1IR2pCa2E5NVdWbFlXblQ1OFc2RGhNVFUxUnZueDVqZHVzWGJzV1Y2NWN3YzZkTzJGbVpnWUEyTE5uRDJyVnFvVS8vdmdqei9lUXlXU1lOV3NXREEwTk1XUEdERlNzV0ZGY0Z4Y1hoNnRYcnlwc0w1ZkxzV3ZYTHB3NGNRS3JWcTFDcFVxVkNuQm1SQjlmYW1xcXh2VUJBUUh3OHZKQzU4NmROVzZucjYrdlZYMzg1czJiT0hueUpLeXNySlRxdFpwTW56NGRQLzMwazBLNW1KV1ZwVkJmUFhyMEtMeTh2TFM2eDVYMDhqY3ZVVkZSMkxkdkgwYU9ISWs3ZCs1Zy9mcjE4UEh4d2ZUcDA5R29VU054dTlMNi9RTFpkWjNWcTFlcjNmNzY5ZXRZdEdnUi92cnJMN1hQRVlKUC9YcjUyQmdzS0diaDRlSFlzR0VES2xTb2dPblRwd01BWHI1OHFmWEZsL05IWW1ob2lBa1RKbUR4NHNXWU5tMGEzTnpjWUdwcUtvNDBLRk9tVEw2UDcrVEprNUJJSk9qWHI1L0s5WUdCZ1RBM04wZkxsaTAxN3VmaHc0Y2ExMy83N2JmWXMyY1BqaDgvcnJGUUsxdTJyRkxGN2Z6NTg1QktwZWpldmJ2Rzk5Q2tzQTlvZ2w2OWVtSHExS2tBc2tjMi9QMzMzd0N5QzZMY3JLMnRZV05qZzRTRUJKdzZkVXBsOUxkKy9mcFl2MzQ5UWtORHNYdjM3a0lkVzg1Z3djT0hEL0hycjc4V2FuK3FDdWpldlh0ajd0eTVjSE56ZzdPek15UVNDYnAwNllJdVhicGc5KzdkNk5DaEErclhydzhndTVIVTFkVVZSa1pHU3QvZDRjT0hzWGJ0MmdJZm03bTVPZmJ1M2F1MHZDaXU1NHlNREpVOXhFTkRRd0VBQmdZR09IandvTmJIT25EZ1FKWFJkS2xVaXVEZ1lOU3RXMWZyQ0xhaG9TRSsrK3d6cmQrYmlwYWpveU5tenB5SnhZc1hReTZYWS9IaXhRcnIrL2Z2TC81ZitQMUVSVVdoYnQyNkt2ZjM1czBibkQ5L1h1bjM4Zmp4WTVpYW1vb1B6a0QyNy92MTY5Znc5UFJFYUdnbzVzeVpneG8xYXVUcitKT1Nrdko4Y00vcDVzMmJXTGx5cGRMeWJ0MjZRVmRYVjJGWjkrN2RjZjc4ZVp3K2ZWcGpzT0RZc1dPSWlvcENwVXFWVkRhWVRwa3lCYmR1M2NLR0RSdlU3aU92eXFiUVV5VDNNV3FycU82TGp4OC94dkhqeHhFVEU0UHAwNmZqK2ZQbkFQN3Q1UjBYRjRla3BDUlVxMVlOS1NrcFNFeE1GQnRKWTJOanhmMVlXVmxwZkovQ25tOXhrTXZsU2czb0FwbE1CZ0FhQXhzSERoeEFlSGg0a1J4TDdtQkJaR1FrWHIxNmhaRWpSMElpa2VEMjdkdHdjM1BUYWw4NWd3V2ZmZllaOXUvZmo1MDdkeW85YkJTMWRldldpUUVOSHg4ZkRCczJUT3ZYUG5yMENFK2VQRUdUSmsySzYvRFFwMDhmK1BqNFlQUG16ZWpVcVpQR0FDa0F6SjQ5VzZrUlQ3QnExU3BNbVRKRnEvZDFjSEJRS20rSzZ2ZGJYT1d6dmIwOXVuVHBvczNwaVk0ZVBRb2ZINTk4dllhS1QwbXVDejkrL0JoQlFVRVlNV0pFdnU3MzZyeDc5dzZqUm8wcTBHdnQ3ZTAxbGxXQmdZRzRjT0VDN096c3hOOVRtVEpsOE4xMzMySHo1czI0ZVBFaU9uWHFwUEU5ZEhWMU1XVElFQ3hidGd5Ly9mWWJIQndjMExadFc1WGJwcVNrWVBueTViaDQ4U0lHRGh5b0VGZ2crdFRZMmRrVnlYWVRKa3hRZTcvTXlkN2VIb0dCZ2JoMzc1N0dPcDQyVHA4K2pjMmJOMlArL1BsbzNyeDV2bDVia3N0ZmJSZ2FHb3IxNEpZdFcyTDkrdlZ3ZFhYRjVNbVRzWGJ0V3ZIWVMrdjNxNDVNSmtONmVqcU1qWTF4N2RvMUdCb2E1aGtvQUlydWVpbXRHQ3dvUmsrZlBvV1RreE1rRWdrV0xseUlDaFVxQU1ndVhKWXVYVnFnZlhicTFBbno1czNEd29VTHNXclZLamc3TzR0RGE4cVdMYXYxZm9TZXBlZk9uVU8xYXRWdzQ4WU4zTGh4QXdCUXUzWnRORzdjR0xHeHNiaDM3eDRhTm15SS9mdjNLKzJqU3BVcTRnT1B0ZzNUTzNic3dJNGRPOVN1NzlhdEcrYk9uYXV3ek0vUEQyWm1abWpmdnIxVzcvSDgrWE9zWExrU2t5Wk5ncVdsSlFCZzZOQ2hHbDhqbDh0eDRNQUJaR1Jrb0VlUEhtcDdtZ2dqUFdReUdSWXRXb1R5NWN0anhZb1ZDQThQaDVHUmtVS2o0TE5uejdCZ3dRSU1IandZdHJhMkNBd01WQXBhR0JnWUtQeGRrRjVqTzNic3dNNmRPeFdXbFM5ZkhvTUhEMWI3bXYzNzk2Tm16WnBvMTY1ZHZ0NnJiZHUyR0Rac0dIYnUzSW5nNEdCMDZOQUJBREJ1M0RpRWhZVWhORFFVOWV2WFIxWldGcHljbkpDWm1Za2xTNWFnWWNPR0N2dXBWYXNXZXZYcWxhLzNGbHk0Y0VFcFFsNlUxM05xYXFyR2hzcWdvQ0FFQlFWcGZid0RCdzdVMlBBUkVSR2hkY05JN2RxMXNXblRKcTNmbTRxV2lZa0psaXhaZ2xtelpvbEJtMlhMbGluMFRvMkxpOFBNbVRNQlpKY3I5Ky9mUjdkdTNWVHU3OFNKRThqS3lsS282TW5sY2tSRlJTazE3QmtZR0dEU3BFbG8zTGd4VnExYWhjdVhMK2Q3Tk5HclY2OVF1WExsZkwwRytMZGNPblhxbEppMlFGTUFOdmU2c21YTDR0Q2hRN2g3OXk3V3IxK1B6cDA3bzNIanh2am5uMzhRSEJ5TVgzLzlWYXlVNW15QVc3RmloY0orQWdNRGNlVElrVHlQVnlxVlFsZFhOOThWM2FLK0wwNmRPaFVWSzFiRXJsMjdrSktTZ3VEZ1lJVnRKMDJhQkFEWXZuMDcvUDM5NGVIaElhN0wyVGlUMTMyaG9PZGJYSVNISUhVOW1ZVDFtb0liN3U3dUd0OGpKQ1FFOCtiTncrVEprOUduVDU5OEhkLzU4K2VocTZ1ck5LSkwwK2U4YTljdWhlOEhBR3h0YlhIdDJqWHMyclVMbjMvK09SbzNiaXlPaGtoUFR3Y0FsYU1qY2c2dk5qRXhVYW9INU9ibjU0ZXpaOCtpYytmT2VQUG1EWGJ1M0lubXpadWpXYk5tZVo0cmtIMitSa1pHK1B6eno3WGF2aUQwOVBRd2V2Um9MRnk0RUh2MjdNbXpjZkdISDM1QTkrN2RrWnFhaXRXclYrUGJiNzlWT3A4MWE5YWdjZVBHQUlDREJ3OWl3NFlONG5lVWtKQ2cxUE90cUgrL3hWVStWNnhZTWM4QVlHNmFScWJTaDFkUzY4SUE0T25wQ2VFQlZjY0FBQ0FBU1VSQlZETXpNd3dhTkVoY3Bxb0RqRERDWGRVNmEydHIxS2xUUjJHWnFyTFcxOWNYcTFldlZqbEtMcTlPV2k5ZXZNQ3FWYXRRcFVvVi9QTExMd3JyQmd3WUFEOC9QNnhldlJyVzF0Ymk4N002TmpZMitPdXZ2K0RrNUFSSFIwZHMyN1pOcVJGSkxwZGp4b3daZVBMa0NlYk5tNmN3T3BUb1U1UlhKME52YjIvNCtQamt1VjI1Y3VVQVFPemhucGY0K0hpTkkrTFZqWjVNVDA4WE83YmV1SEVEeWNuSmFqdFRhVkpTeTE5dFV4dW1wcVpDTHBjak5qWVd1cnE2ME5mWHgrelpzeEVZR0lpeVpjc2lQajRlVmFwVUtYWGZiMXhjblBoODhPYk5Hd0QvZHB5eXNyTEMxcTFiRVJRVWhJMGJOeUlzTEN6UEVSV0NvcnBlU2lzR0M0cEpiR3dzWnN5WWdhU2tKRGc1T1NrTUt5cFRwZ3hhdDI1ZDRIMTM3TmdSenM3TzRrT1VrQXMvUHc4VE9YdUxKaWNuSy93OVlNQUFORzdjR0g1K2ZnQ0ErL2Z2NC83OSswcjdhTmV1bmZoUXBXNitoRW1USnFGWHIxNEtoYkdxWllMYzV4QVdGb2FvcUNnTUh6NWNxeUZVYVdscGNIWjJSblIwTk83ZXZTc0dDMGFPSEtueGRiNit2c2pJeUVEOSt2VXhZOFlNalkwdU1wa01TNWN1UlZSVUZOemQzV0ZwYVlrMWE5WWdMaTRPNjlhdGc3bTVPWURzbm1DbXBxWVlNV0lFYnR5NGdUMTc5c0RDd2tMclNIRmhWS3hZVVdPZTlQMzc5Nk4rL2ZwYTUxSi84ZUlGWHI5K0RRQm8wNllONUhJNXpNek1GRktVekprekIrWEtsUk9YOWVyVkMxS3BGSHA2ZXVJeUN3c0xWS3BVQ1MxYnRzeXpWNTg2dDIvZlZzb3hWNVRYczZtcHFWS2prZkJBWkdkbmg0a1RKK2I3bUhQL1BxUlNLZWJObTRmS2xTdUxJMVcwVVpEUlExUzBURTFOc1hidFdyRThzckN3VUhnb3paa0hOeVltQnNuSnlmampqejhVaHRQYjJ0ckN3Y0VCZm41K3FGNjlPckt5c3NUZnlLdFhyNUNTa3FMMCt4SllXbHBpMnJScHFGNjl1cmkrVnExYWVhWWxTVWxKd1pzM2I0cXNkL0hreVpPMTNsWmZYeDlaV1ZsWXRHZ1JxbFdyaGxtelpxRk1tVEpJUzB2RHRXdlg4UDMzMzZ0OFhZc1dMUlQrMWphWHYxRHU1RmRSM3hlQjdKNDZaY3VXUmFOR2pjUVJhSW1KaVJnOGVEQU9IVG9rQnZtSERSdUdZY09HNGNHREI1ZzRjYUxLQmh4MUNucSt4VVhJdmFydW1JVFJrSVU1NWx1M2JrRWlrZUNMTDc3STErdGtNaGxPblRxRmJ0MjY1VHNsb2lxLy8vNDdybDY5aWt1WExxRng0OFpLRGRpcWhuSWZPM1lNeDQ0ZEE1QjkzMVNWdmt3UUZoWUdkM2QzVksxYUZWT21URUZ5Y2pMR2pSdUhCUXNXNE04Ly94VHJPT3BrWldYaCtQSGo2TmF0RzI3ZXZLa3l2WTlRanFpNzV0UUZZL2J1M1lzclY2NklaVnVuVHAxUXQyNWRIRHg0RUgzNzl0V1kza080L3ljbUptTDE2dFZvMHFTSk9FSWdQM2x0Y3lycTMyOXhsYzhKQ1FrS0k0ZTA4VitZOCtxL29LVFhoYU9pb2hBUUVJQkpreWJCeU1nSVQ1NDhRY1dLRmJGNjlXcTErMUcxN3ZmZmYxY0tGcng5KzFhcE1lenQyN2NBc2p0cDVjNEpyVWw2ZWpxY25aMlJrcElDRnhjWHBmcUxnWUVCWnN5WWdXblRwc0hSMFJFclZxeklzLzVicVZJbHJGcTFDdmZ1M1ZQWjIxUWlrV0RTcEVrb1Y2NWNnZFBxRXBVa3dqMDJMUzFONWJ4RFFsMHI5NXlQZ21yVnFxbXNoLzMrKys4RlBxYWNuZTF5Tmg0Zk9IQUFNVEV4Y0haMmhrd21RMGhJQ09yVnF5ZmVDNFZ5VmRWOXRWR2pScEJJSkNXKy9QMzU1NS96dFE5Vm5TcDI3dHlKQ2hVcVlOKytmYVh1KzUwNWM2YlMzQWZDWjdSNDhXSjRlM3RqL1BqeFNFaElRSFIwTktLam8xVUdQMXExYW9WbHk1WVYrZlZTV3BXY3A4di9rQnMzYm1EQmdnVklTMHVEazVNVDJyZHZqOU9uVDR1TjNrS0VMejh1WGJxazlBTVRKbThUSHY2ZVBIbUN6WnMzcTkxSGpSbzFGQnJvKy9UcEEzdDdlNFZ0aE43b3ljbkpPSGJzR0RwMzdxelUweDhBK3ZYckIzMTlmZkZ2SVhBQlpFOXMrUFhYWDRzRmlJV0ZoY0o2WVZtalJvM2c2K3VMN3QyN3F4Mnl2bWZQSGdEYURjV1N5V1JZdUhBaG9xT2pNV0RBQUszendMOTgrUkpidG13Uks1SjU5YzZNakl4RWFHZ28zTnpjeEFkMUJ3Y0hqQmt6QnQ3ZTNoZzdkaXdPSERpQWtKQVFyRnExQ2taR1J1alFvUU42OXV5SlhidDJLWHcycXVTbmtVaFZQdDdpNE9Qam85UUx6OVBUTTkvNytlR0hIekI2OUdqeDc2eXNMS3hidHc0Mk5qYjQvUFBQdGVvWks1UEpWUGJFTE1yck9hZXNyQ3g0ZTN0RFIwZW53UE5DNUw3K2ZYeDhrSktTZ3BFalJ5cXQyN1p0R3hvMGFJQ09IVHNXNkwyb2VLU25wK1BSbzBkbzBLQ0JRdVZMVXcvYWtKQVFWS3hZVWV3aFAyN2NPTmpiMjR1TmcwS2xTT2hobnRPWk0yZHc1c3daclk1dDFhcFZLblBENXlUMElveUtpdEpxbjNrUkdoQmpZMlBoNysrdmtJYkZ5OHNMeWNuSlNyMEYrL2J0aTNyMTZvbjNyRWVQSHNIWTJGaWg0VXpkN3pDMzFOVFVQTzhMMnFTZk8zcjBLQXdORGNXL2k2TWNFY29ONFR5ZlBYc0dpVVNDVjY5ZUlTRWhBU1ltSmtoT1RnYVEvZjBZR2hvcXBTRXFydk10RGtMQVRGMlBlU0VQYTJIbVY3aDI3UnFhTjIrZTd6UVNseTlmeHBzM2J4UjYzUmFHaVlrSlZxOWVqYXBWcXdLQU9LL1NpUk1uRUJ3Y3JERFBrckMrZmZ2MitPYWJid0JBWTgrbGE5ZXV3Y25KQ1lhR2hsaTRjQ0hLbFN1SGN1WEtZZTdjdVpnM2J4NW16cHlKcFV1WGF1eWxmdm55WmJ4NjlRbzlldlNBbDVjWFFrSkMxRzZycmtGUlhiQWdOallXLy96emovaTNSQ0xCMEtGRHNXalJJbmg2ZW9vajV1UnlPWktTa3ZMZE96NCtQaDRtSmlZQS9tMlVGSDRYNmhyUGkvTDNXMXpsczRlSGg5SW9GZm8wbFBTNjhQcjE2MUc3ZG0zMDd0MGJVcWtVam82T2tNbGtPSEhpaE5KSUxxR1hxYllqbXJkdjM0N3QyN2VyWERkaHdnU3Q5Z0ZrQjVNWExseUl5TWhJakJrelJtM2RwVm16WmhnOWVqUTJiZHFFMmJObnc4WEZSV2tFL2RkZmY2MTJnc3FjTk4wYmRYUjBjUExrU2EyUG42aWt1WFhyRnViTW1hTjJ2YnJuRkU5UFQ1V0JOU0YxWTFoWUdHcldyS25VVU9ydjc0L0l5RWlWY3lEbGJFd2VPblNvV0RZMGI5NGNseTlmeHYzNzk1R1ltSWgzNzk3aC92MzdTdmRYVmZmYkkwZU93TWpJcU1TWHY3bnJlK284ZlBnUUhoNGVjSEJ3VUZrZno3M2Ywdkw5NXZ3dWhVNmFwMCtmUmt4TURLWk1tWUkrZmZxZ1g3OSsyTDkvUHlwVXFLRHczT251N280T0hUcWdiZHUyWWtlZzRycGVTaHNHQzRyQisvZnZvYXVyaTJYTGxxRlpzMlpJU2tyQ3hvMGJJWmZMOHpWaFNFNVhyMTdOc3hFNU1qSVNrWkdSYXRlM2E5ZE9JVmlncjYrdjl1RnQzNzU5U0V0THc5Q2hRMVdtQ3BESlpDcWpsVjVlWHRpOGVUUEtsQ21UNXlTd2NYRngyTFJwRTA2Y09JRWxTNVlvNWRZTUNnckN6WnMzQVNEUElhaFNxUlJMbGl6QmxTdFgwTFZyVjYyanBuSzVITXVXTFVOeWNqTDY5Kyt2TUFKRW5VYU5HdUh2di85R2VucTZRb1BPNU1tVFVidDJiY1RHeHVMSmt5ZUlpNHREUmthR3VFM2Z2bjNSdFd0WHNhR3NmUG55S2o5L1RUMkFjaXRNZExnZzFxMWJWK0RYcXBxbjQ4R0RCN2g0OFNLT0hEbUNtalZyWXZEZ3dlamV2YnZHQmtOMTExNXhYTThBY1Bic1djVEZ4Y0hXMWhZUEh6N0VUei85cFBiWWNsUDFFSmFjbkl6ZHUzZWpjZVBHS252Rjd0NjlHNzE2OVdLd29JVFp2WHMzdkwyOU1XUEdESVdld0t0V3JWSktReVEwa3AwL2Z4NFpHUm13c3JLQ1hDNUhlbm82YXRldUxUWndybHExU3VsOU5tL2VqS2lvS0N4WnNrVHJ0RExhRFBNVWdzM3g4ZkY0OU9nUmF0V3FwZFcrQVNqMURNbnB5cFVyOFBUMFJKY3VYVkM3ZG0zSTVYSWNQWHBVNVFpR3JWdTNxdHgvem9wdTdkcTF0Um9XcktlbnA3WVI4OWl4WTlEWDE5ZllRQkFRRUlEazVHU2xTbmxSbFNOMzc5N0ZtVE5uTUdiTUdERTRuTHRDTDFRKzdlenM0T3ZycTlEb2tUc05VWEdkYjNFUWVqbXA2d1FnOUVDTmk0dlRHUERXSnZpUjF6YTV5MkNoQTRLcWRGeEN3RWFWbkNPR2NoTUNCUURFY3Z2bXpadVFTQ1FxeS9GcTFhcmxXYjZmT1hNR2YvenhCd3dNRExCNDhXS0ZYcjV0MjdiRnJGbXo0T2JtaHNtVEoyUDI3TmtxVXd6SjVYSXhSYUdabVJrV0xWcWtzRDQxTlJYZmYvODlhdGFzaVlpSUNGU3ZYaDNmZlBNTmZ2enhSN1hIRlJnWWlQZnYzNnV0MzNYcDBnWERodzlIMzc1OXhXTVFIZzd6U2kyVlcrNDVZUUROd1ZtZ2FPc0J4VlUrVDUwNlZhR01lLzc4T1I0K2ZLaVFhak05UFIzWHIxOUh3NFlOODZ6LzBvZFhFdXZDZm41K3VIMzdOdjc0NHc5SUpCSWNPSEFBc2JHeG1EWnRXcEhNWnpOeDRrUjgrKzIzQ3N2OC9Qemc3dTZPZmZ2MktUM0RDUUhSbkRJeU11RGk0b0xRMEZEMDZkTkhZN3BVQVBqKysrK1JrSkNBQXdjT1lQejQ4WmczYjU3Q3ZGM3FPc2dkUDM0YysvZnZoNldsSldKall6RjM3bHhZV2xweWRDNzlwNjFidDA1TWw2ekoyYk5uVmM3VFpHTmpJOTQvcFZJcHRtM2JodWpvYUh6MTFWY1lQbnc0cWxXckJpQzdJOVM1YytkVU5pYmIyOXVqVWFOR2VQbnlKWktTa3NTRzZQcjE2OFBJeUFoSGpoeEJVbElTcWxldnJsQW4yYjkvUDQ0ZE82YnlPU0YzZzNwSkxIOEJhUDNjWHFsU0pYaDRlS0JGaXhiNUd1SDZYLzUrMzc5L3I1QzJVMGhERkI0ZWpnVUxGcUJtelpyaXZBdG56cHhCNjlhdHhXZWk5UFIwckY2OVdtRlo3cyt0b0RqQk1ZTUZ4ZUtMTDc1QWd3WU54QitRdTdzN0VoTVQ0ZVRrQkpsTWhrdVhMdVZyZngwN2RzVGt5WlBWcG4xWXVuUXB6cHc1bzdFUStmcnJyN1VlOHArWm1ZbkxseS9qeXkrL1ZEdVpxa3dtVXlwRVQ1NDhpUzFidHVDYmI3N0pNMUFBWkk5MGNIRnh3ZHk1Y3pGdDJqUXNXN1pNZkNpU1NxWFl1SEdqVnNlYm5wNk9SWXNXSVRnNEdPM2J0NGVEZzRQV0QzRWVIaDY0Y2VNR2pJeU0xRTZJcFVybHlwVzFhc2pROUdBN2RPaFFsZW1SOGp0dmdhWTVJSXFhTmplcC9LaFhyeDQ4UFQxeDh1Uko3TjI3Rnl0WHJzVDI3ZHN4ZVBCZzlPM2JWMlhGUGpNelUrdmV4OEwyQmJtZWdleEdyeTFidGtCZlh4OGpSNDZFWEM3UE0wQno5dXhaUkVSRXFPM3h1bkhqUnJ4Nzl3NUxsaXpSK2h6bzQvdnh4eDhSRXhPREpVdVc0UFhyMStKRHJvbUppVUxqVkZKU0VvRHNOQmN4TVRHUVNDU1F5V1JpanNxYzEwWHVIbldabVpsNDhPQUJXcmR1clhVK2NtMWR1M1lOT2pvNjBOZlh4NFVMRi9JVkxGQlZqZ205UG80ZlB3NGZIeDlzM2JvVkN4Y3VSRmhZR09MajR6RnIxaXdjUDM0Yzd1N3VZc3FWbkdWYmFHZ281czZkQzJ0cmE4eVlNVU5oTWxCaEF2SGNxVHFFM3NWQWRxT2dxbnVpWEM2SG41OGZMQ3dzTktaS3VuYnRHdExTMHJUdTNaN2ZjdVRaczJjNGNlSUVidCsrRFNjbko5U29VVU04Lzltelp5TStQaDUvL3ZtbjJNQXljZUpFdkh2M0RtUEdqRUh0MnJXUmxKUUVkM2QzOFY3Mm9jKzNNSVJnZ0xyR2Q2RlhlRXhNVEo3N2F0T21EZHEwYVNQK0xjeHprZk1oNXNhTkd3Z05EVlZZRmhZV2hyQ3dNSVY5aFlTRWFPeFFNV0RBZ0R5UFIzRHExQ21GM3UyNVI1M0o1WEt0OTVWVFptWW1ObTdjaU1PSEQ4UE16QXd1TGk1aUo0YUVoQVRvNnVyQzFOUVVYMzc1SmNxVUtRTlhWMWZNblRzWGRuWjJHRFZxbEVJNmovUG56MnY4ak0rZlA0K3NyQ3kwYTljT0VSRVJhTnUyTFFJQ0FqUUdDNDRlUFlyWTJGaTFBVDJKUktJd0ZGOGlrYUI1OCtiWXQyK2ZXRWZUVm43bkxOQ2tJUFdBRDFVK1g3NThXZUhjZ095eWJ2NzgrWEIyZG1iSGdSS29KTmFGQXdJQ3hMejhRdDduRmkxYTRPdXZ2NFpjTGxkS1ZTRnNJNHoweWtsVm9GZEhSMGNwNkNEY1QxU3R5eTBoSVFFTEZpekEzYnQzWVd0cnE3S0hxU3BqeDQ1RjJiSmxzV1BIRGt5WU1BR0RCZzNDanovK0NCTVRFNlZSVlcvZXZNR0dEUnNRRUJDQWlSTW5JaWtwQ1I0ZUh0aTRjU015TWpMdzdiZmZvbi8vL3B6WW1QNlRDdHV3bWJPK3BhZW5oelZyMXNEWDF4ZmJ0bTNEdVhQbk1INzhlUFRwMHdkWldWbHEyNVNFQ2MyRGdvSWdrVWdVT2pxTUhEa1NDUWtKbURKbENpWk1tS0R3K3hXeWJtZ3puMDlKTEg4RndyT1JLc0s4TDhLSXlmZnYzNHZCZ3ZmdjMyUHAwcVVZTW1TSTJuU3gvK1h2OTlLbFMrS2NlRGtKcVo5ZnZYcUYwYU5IdzkzZEhkSFIwUXBaR1lSblEzWGxlbEZmTDZVTmd3WEZRQ0tSaUlHQzQ4ZVBJeUFnQU45OTl4MDZkZXFrTnRxblNWNk54M2Z1M0lHQmdZSGEzcVV5bVV6akR6ODNmWDE5Yk5xMENjK2VQWU9qb3lQR2pCbWowSkFqbDhzaGw4c1ZDc2tUSjA1ZzVjcVZhTldxVmI1eVdiZG8wUUtPam81d2RIVEVqQmt6OE1jZmY4RFUxQlE3ZHV6QTA2ZFBZV3hzakpTVUZJMzdtRHAxS2lJaUl0Q2pSNDk4OWFEeDkvZkhuajE3WUdabUJybGNqbm56NXVIMDZkTjQrUEFoNHVMaThzeUZyT2w3MmJadEczYnYzbDJnQ1l1QjdNODRyNkcxNnM1VDJ5QkxaR1JrbnRzT0dEQUFsU3RYaHFXbEpWcTFhZ1hnMzRkMmJmbjUrY0hBd0FDdFdyVlN1STRFK3ZyNjZOT25ENzc1NWhzY1AzNGN1M2Z2Rmh0THRtM2JwblRkU3FYU2ZBVUxDbkk5Q3p3OVBmSDY5V3Q4KysyMzRsQStZZmhlYmxLcEZCczJiRUJFUkFTYU4yK3VNczFCV0ZnWVRwdzRnYUZEaDZwdHNLQ1N5ZERRRUFzV0xNQ3laY3Z3K1BGamNibTZ5ZDBQSGp5SWhnMGJJaW9xU3N4ekRVQmozc1BRMEZDa3BLVEF3c0pDYVRMYzNIUjBkTFNlb1B6OSsvZTRmdjA2cksydFlXWm1ocE1uVDJMWXNHRmFCMVZWVFhBczBOUFR3NmhSbytEcTZvcDc5KzdCeDhjSHRXdlhSck5temZEbzBTTXhwMlpPa1pHUldMWnNHYXBXcllyMDlIU01HalVLM2J0M2g3Mjl2Y0xuazFjdllsVVNFeE1obDh2elRIbVNtWm1acjE3MitTMUhiRzF0VWJObVRjeWZQeDlUcGt6Qjl1M2JZV1JraEgzNzl1SG16WnRvM3J3NWZ2LzlkN2k0dUtCdTNicDQ4dVNKbUdyRzBkRVJVNmRPeFlZTkcvRDc3NzlyL0o2SzYzd0xRMmhFMzdsekorcldyYXQwTHhWeXJ3cXBGRFZwMHFTSlVrTjhjSEN3d2pLWlRJYlEwRkNGWmFtcHFRckJBcWxVaXIvLy9odTZ1cnBpSTFsdXJxNnU0di9uekptRHI3LytXcHdFMDkvZlgrRis3dTN0alljUEg0cC81ejdHckt5c2ZFODRIUjRlamhVclZ1RFJvMGVvVzdjdUZpeFlvREJxNFljZmZoQW5lUU95TzZhc1hyMGFDeGN1eE9IRGh4RVFFSUFoUTRhZ2QrL2VBSUMvLy80YjVjcVZ3N3QzNzFTK240K1BEenAxNmlRR0dEcDM3b3dqUjQ0Z1BEeGM1U2pMckt3c1JFUkVhRjN1Q0FZUEhvekRodzlqNTg2ZFlyQWdKaVlHRHg0OEVCc3E3OTY5QzExZFhaUXRXMVo4a0M1S2hha0hDSXF5Zko0NGNTTEN3OE1WbHFucWdKSTdyVUZCNjVSVU5FcHlYWGo4K1BGSVRFeUVxYWtwbGl4WmdxZFBuMkxxMUttUVNDUjQrZklsaGc0ZHF2SzRWS1czVTNXZHJWNjlXbTBqV0Y0akJBRGdqei8rd04yN2QyRm5aNGNKRXlia3Ezejg2YWVmOE5sbm4ySEZpaFh3OXZaR2d3WU5GQ1lvZnYvK1BZNGVQWW85ZS9aQVYxY1hpeFl0UXJ0MjdiQnIxeTRBd0taTm0zRDA2Rkg0K1BqQTI5c2J0cmEyR0R4NE1HclhycTMxTVJDVmRJNk9qbHBkMDBGQlFkaTBhWlBhOVhmdTNNR0xGeS9RclZzMzJOblpvVk9uVHRpNGNhUFkwSnd6VjcwNjkrN2RRNDBhTlJSU2gxV3JWZzNidDIrSHVibTV5cEZIZVNuSjVXOXVNMmJNVVBnNzU3T1RtWmtaZ096Z3B0QnhLekF3RUVGQlFSbzcyLzZYdjkrZVBYc3FwQStYeVdSd2RuYkc0OGVQOGZmZmY0dkhJM3lPT1R1VFBYcjBDQUNVdnRmaXZGNUtFd1lMaXRHZE8zZXdkdTFhQVArbUcralFvWVBhVkF4ejVzekI4K2ZQMWE1WEpUWTJGcytlUFVPclZxMmdwNmVIeDQ4Znc4TENRcUYzbVRCOFBuZWhscFNVcFBDd201T1JrUkZNVEV4dysvWnRPRG82d3QzZFhkeW5NSG1oc0wra3BDUnMyclFKalJvMXdvSUZDeFFLMUMrKytFSXBpbWhyYTZzUTJHalhyaDBtVDU2TWxTdFhJakF3RUo5OTlobTh2THpRdkhseldGaFk0Tnk1Y3lxUFVYamdqNHlNeElnUkl6QjgrSEN0SzU5aFlXRll0bXdaOVBYMXNYRGhRaXhmdmx4czRIQjNkOGMvLy95RGpoMDdZdno0OFVxTmV4a1pHZUx3S0hXRW5wVzVKMnBSUlZVK3VjdVhMK2VaKzA3ZFEyUHUvR3pxUEg3OFdLSFJVNVV1WGJxZ2N1WEsrUGJiYjhYaHh5MWJ0dFNZbjFRbWs4SFgxeGV4c2JHb1dMR2kyUE5vMmJKbEd0OUxUMDhQZmZ2MlJjK2VQWEhvMENFWUdocXFESENwdTBFWDFmVXN1SDM3TnZidDJ3Y2c3OG5EWTJOajRlcnFpdWpvYUF3ZE9oUS8vL3l6VWcvZWx5OWZpcU1KaGc4ZkRrRDkvQlNQSHo5V1dtZGlZb0p1M2JwcFBBNHFYam82T3BnMWE1YjQ5N3AxNjJCaVlvSTllL2JnL2Z2M0dETm1ER1F5R1pLVGs4VkdjbGRYVnp4NzlneHBhV2t3TVRIUjJCQW01TTA5ZXZRb2poNDltdWV4YUp0bjE5L2ZIMUtwRkowN2Q0YTV1VGt1WExpQTBOQlEyTmpZYVBYNnZIVHIxZzNlM3Q3NDg4OC84ZURCQTZWS3NpQWxKUVVIRGh3UWc3U3VycTZ3dExSRVlHQWdObTNhaEpFalIyTGF0R21RU0NRcXo4L0h4d2QvL2ZXWHhtTjU5dXdaQU5WcFpuTEt5TWhRV1JrdXluS2tmdjM2Y0hkM3g1TW5UNUNTa29MVnExY2pJQ0FBczJiTlFyZHUzYkJtelJwNGVuckN5c29LKy9mdlI2MWF0ZURpNGdKRFEwUE1temNQVTZaTXdkT25UekYrL0hpMUV6SVc5bnlMdzZ0WHJ3QmtIOVBpeFl1eGRPbFNoVjdhVVZGUjBOWFZSVVJFQkZKU1V2S2NuTHNvQ0NrNSt2ZnZyelFoV3ZQbXplSHM3S3lVeXNmUzBsSmMxcUJCQTRXSnVJVUhzUjA3ZG9pcGZuS1cyY0ljSWFySytBY1BIaWdzNzkyN04zYnUzSWxkdTNaQkxwZWpiOSsrQ3Vtck5LbFhyeDcrK3VzdmJONjhHVWVQSHNYR2pSdVJsWldGK1BoNHZIbnpCci85OWh2V3IxK3Y5THBMbHk0aEppWUdreVpOd3QyN2R3RmtkOTZvWExreTl1M2JCMGRIUjZYWENOOVhmbnZWVjZoUUFiMTc5NGFQanc5Q1EwUFJybDA3bkQ5L0hydDM3eGEzOGZQemc1K2ZINnlzckRCMTZsUUFCWnV6b0tqckFUa1ZWZm1zbzZPRGVmUG1pWFh6MDZkUFk4K2VQUXAxLzFldlhtSG16Sm1ZT0hHaStMQkxIMTlKcmdzTGpVaW5UcDFDVEV3TXhvMGJKOTQzeXBjdkR3Y0hoM3lkYTI0alJveFFxb01HQkFSZ3g0NGRXTE5talZMZEpuZXdmL3IwNlFnT0RrYlpzbVcxbmxOT1lHdHJDd2NIQjJ6ZHVoVTNiOTRVSnlHL2YvOCt6cDQ5aTVNblR5SWxKUVh0MnJYRGxDbFRsRko3bUppWTRNY2ZmOFRBZ1FQaDUrY0hMeTh2bkRwMUNqWTJOaGc2ZEtqUzNHRkVueUp0UnZnSTIybHk2TkFoQkFRRVlOZXVYYkMzdDBlblRwMHdlL1pzY2YzNzkrK1Y1Zy9KTFhmdmIwSGZ2bjFoWTJOVG9NNHJKYm44elMxM0daY3pXR0JzYkF4alkyT0ZTWXNQSHo2TXFsV3Jva09IRG1yMytWLytmcVZTcWZnOEEyU25yUTBPRHNhTUdUUEU5TjE2ZW5vNGUvWXM2dGF0aThqSVNHUmxaVUZIUndlUmtaRW9VNmFNVW52amg3aGVTZ01HQzRwSlRFeU13c09BY05FSkJZUXFRcUdqelJBc3dmbno1d0VBblRwMVFtWm1KaHdjSEdCaFlZRWxTNWFJUDNTaDBTcjNEL2ZzMmJNNGUvYXMybjFYcmx3Wk0yZk94UHo1ODdGOCtYSTRPVGtCK1BlaFN0aGYrZkxsNGVibUJuTnpjd1FGQlNuc1E2aFkrdnY3aTh0c2JHeVFtWmtwTHZ2ODg4L1JxMWN2MUtwVkMwMmFOTUdXTFZ0Z2FHaUlhZE9tcVV5eDgvYnRXNnhhdFFweGNYRUFJUFlnMFZaWVdCZ2NIUjBobDhzeGUvWnNwY0xPMGRFUjY5ZXZ4N2x6NTNEdDJqWFkyOXRqd0lBQllpRGk5dTNiQ2cyR21naU53cHBvNmlrMmF0UW9NUUl0dUhidEdnSUNBZ3EwUDBHUEhqM0V5bmQrMWExYlYrMG9sckN3TUt4ZnZ4NXhjWEVZTkdnUVJvd1lvZldJRmtHWk1tWEU5QUp5dVJ5M2I5L0d1WFBub0tPamc0a1RKeUk5UFYzbERicW9ybWNndXlIQ3pjMU42MVFTWThlT2hhbXBLVmFzV0lIbXpac3JyYy9JeU1DaVJZdkVCZzdoK05YMTBycHo1NDVTcjFzckt5c0dDMG9Bb1J4SVRFd1VBMzN0MjdlSHM3TXp2dm5tR3pSczJGQXNlMDFOVFdGcGFZbVltQmlrcGFXaFpzMmFhdmNiRnhlSDRPQmdkTzNhRmNIQndiQzN0MWZaTXlNOVBSMi8vdnFyMXZjSnVWeU9RNGNPUVY5Zkg3YTJ0akEyTmthRkNoV3dhOWV1SWdzV1NDUVMvUExMTDNCd2NFQ2xTcFVVNW5RUXhNYkdZc0tFQ1VoSlNVR1hMbDNRdjM5L0FNQ1RKMDlRdDI1ZE9EazU0Y0NCQTZoVXFSSSsrK3d6Yk42OFdTa04wWUFCQS9KTUZSTWRIUTBBR2o5cklQczNxU29JV0pUbENKQTlrcVJTcFVwWXMyWU5idCsrRFRjM056UnMyQkJwYVduNDlkZGZrWkdSZ1ljUEgwSXVsMlB3NE1IUTE5ZEhhbW9xS2xTb2dELy8vQlBMbHkvSGl4Y3YxQVlMQ251K3hVSDQzdHpjM0RCMzdsek1uejhmZi83NUoyclZxb1dVbEJSRVIwZkQxdFlXcDA2ZFFsQlFFR3h0Yll2OW1GSlRVekZnd0FEVXExZFBhVjNGaWhYeCtQRmpoZlNSdVptYW11YjUrYWtxejFVdHUzSGpCbTdjdUNIKzNiTm5UN1JvMFFMbnpwM0RwRW1URk5JdWFjUEl5QWdUSjA3RTExOS9qWU1IRDJMZ3dJSFl1blVyUm93WUFVdExTNlh0cFZJcE5tL2VqS1pObThMYTJsb01Ga2drRXZUcDB3ZmJ0bTFUT2JyZyt2WHJBS0R5SHBlWGdRTUg0dENoUTlpelp3L2F0V3VIa1NOSFl1VElrVWhNVE1UZ3dZTXhZOFlNOGVINjl1M2JBQW8yWjBGUi8zNEZSVkUrQysraG82T2owRWxFcU9QbGZJMXdIT2JtNXZsNkpxQVBweVRXaFJNU0VyQmh3d2EwYU5GQ3ZNY0sreXBvT2F1dnI0OXUzYnJCMnRwYTZWb1VVc2RXcjE1ZHFYenMxcTJiUWkvWUNoVXFvRmV2WG5qeTVJbEN5cmlMRnkvaTNyMTdHRDE2dE1vT1gxdTNiaFZ6bHB1YW1vcUJnckN3TVBFWnBtN2R1ckMzdDFkcWFQdm1tMjhVbHBVcFV3WURCdzdFdDk5K2kwT0hEbUh2M3IyWU5Ha1NsaXhaa3E5VXRFUWxrYllUN09abHpwdzVzTEd4Z1llSEJ4WXNXSUEyYmRvb3pOT1RrSkNRNTF3Nml4Y3ZWcGtad3RyYUdoWVdGa3FkS2RWMXNqUXpNMVBaY2FJa2xyLzVVYlZxVmJHdUhCWVdodWpvYUV5ZE9sVmpRLzkvK2Z0OS9mcTF5dnBkemlDTHM3TXpxbGF0aXYvOTczK1lOR2tTN3QyN0IydHJhNFNFaEtCcDA2WWF2K1Bpdmw3K3kvaEpGSU5idDI3QjBkRVJaY3FVUWQyNmRmSFBQLzhVeS90SXBWTDQrdnBDWDE4ZlhidDJoYjYrUHFaUG40NTU4K2JCd2NFQnk1WXRnNUdSRWRMVDB3RkFxYkR0MHFXTFVzT0xNREdub0gzNzlyQ3pzOE9SSTBkdzZOQWg5Ty9mWHd3KzVPNUJtWkNRb0RDTVgxdC8vZlVYVEV4TXhCeHRmZnIwUWYzNjlaVWFSK1J5T1U2Y09JRXRXN1lnS1NrSmVucDZrRXFsK1FvVW5EdDNEc3VYTDRkY0xzZmN1WFBScVZNbnBXMU1UVTB4ZS9ac2RPM2FGWC8rK2FlWS8zTDY5T21vV2JNbVdyVnFCVDgvdjN5ZG81Qy9YSnVKTzNQcTJyV3IwdWVRbXBxcU1WandzVGc3TytQU3BVdG8yYklsNXMrZlgrRGh2WEs1SE9IaDRUaC8vandDQXdQeDh1VkxTQ1FTREJreUJISzVIREtaVEdYRm9haXU1OHpNVERnNU9TRStQaDVEaHc0VmV6OGVQbnhZN1RGblpHU2dUcDA2ZVBEZ2dkaWpWR0JuWndkWFYxZmN2WHNYVmxaV0NnMmdxZ0k3UFhyMFFLOWV2Y1RlbFZUeVpHUmtxQngybnp2MTFPblRwMUczYmwzY3YzOGZLU2twS2hzcUJkN2V1ZUcyZFFBQUlBQkpSRUZVM2dDeWN6NGFHaHJpK1BIajZOKy92MUtGNWZEaHczajM3cDJZTnpJdkFRRUJlUFRvRVhyMjdDbm14Ky9idHk5MjdOaUJ3TUJBOGNGYkUwMFRIQXZNemMwaGtVaFF0bXhabFEvOFZsWlcrT1dYWDlDMGFWT1ltWm1welRldXFhRlBtMENvMEtDcEx1ZW5JRDA5WFduU05LQm83NHNBOFBUcFU5eTVjd2MvLy93emZ2dnROMXk2ZEVsbDJnZmczOGwzQlV1WExzWEtsU3MxbmtkaHo3YzQzTHAxQzVVcVZSTG5KWm80Y1NMbXpKa0RkM2QzWEw5K0hWS3BGRDE2OUVCRVJBVE9uajM3UVlJRmRuWjJLRnUyck5qQklxZUVoQVJzM2JvVlRaczJWUWdXUkVkSEsxMlBaY3VXVlp0M1ArZjFPWFRvVUZTdVhCbC8vdm1ud2pZOWV2VEFnQUVETUc3Y09JWGxMVnUyeE5hdFd3czFFV21EQmczRXhyTWZmdmdCNWNxVlU1cTNBY2hPci9ma3lSTk1uejVkYVoyZG5SMzI3ZHVIMWF0WHc5M2RYYUg4Q1FrSmdibTVlWUh1N1ZXclZvV05qUTJDZzROeDU4NGRqUk5ibHkxYkZzMmJOOGVrU1pQRUlmcTU1eXg0OSs0ZG5KMmRsVHBURlBYdlYxQVU1YlBRZVNncEtVbWhIcEI3MUFUdzcraWMxNjlmS3l6WDE5ZFhTRTFGSmMvSHFndG5aV1dKbzFlblRKbUNSNDhlSVRZMkZna0pDZWpYcjU5Q3B5MU5hdGV1TGVhaEZsN3p4UmRmSURFeFVXa2ZFUkVSQUxKSEt1V2U1K0NMTDc1QVJrWUcvUDM5WVdGaElZNUlzclMwVkVqYmR1L2VQWmlhbWlxTTNNcHAwNlpOS29ONGJkcTB3YWhSbzlDZ1FRTzFBVmFoZCtxQkF3Y1VsZ3NOZ2IxNjljTCsvZnZSc21WTHRaOEgwYWVpc0JQZ0NpUVNDYnAzNzQ3T25UdGo3OTY5TURZMkZ1djFRZzl3VmUwbnVhbnJIS3VwSTJYdWRmUG56OWZxT1VYd3Nkc2lCUGZ1M2RPNGZ5c3JLMFJIUjBNdWwyUHIxcTJvVWFOR25pT3Uvc3ZmYjVVcVZlRHE2b3BGaXhiQjNOd2N6czdPcUZtekpqdzhQTEI3OTI2TUd6Y09IVHQyUkljT0hhQ2pvNE5LbFNyaC9QbnpzTEN3UUhoNHVOWno0T1JXVk5mTGZ4bURCY1hnNnRXcktGT21ESll2WDQ2OWUvY1dXN0RneElrVGVQMzZOWHIyN0NuMjZHamR1alVjSEJ5d2FORWlPRGs1d2RYVlZZem01UzdVek0zTmxTWndVMlgwNk5FSUNRbkJ5Wk1uWVdkbkp6N3c1SzY4VmF4WVVYeVFjM056UTFCUUVOYXVYYXV5VjlTREJ3OHdiZG8wMUtwVlMybWl6U3BWcWlpbDVubjM3aDJtVFp1R0J3OGVvRWFOR25CeWNzS3FWYXVVZXA2cUk1ZkxzV1hMRm5oNWVjSFkyRmlNcW1yeXhSZGZ3TnJhR2l0WHJzVGx5NWN4ZHV4WS9QVFRUeGd5WkVpK2gxZUZoSVRBeTh0TG5NbjlVNUtSa1pIblRRL0lmbGhvMXF3WmhnOGZqc1RFUk55OGVWUGxkaTFhdEZCYUprVHRMMXk0Z0lzWEw0bzM1V2JObW1ISWtDSG8zTGt6S2xTb0lPWTNWbldETHFycitkbXpaNGlNakVTUEhqMWdiMjh2Qmd1RWxHTHFoSWFHSWpRMFZHbDUrZkxsY2VuU0pRd2VQQmdHQmdZS3FSZm8wek4vL254MDZOQkJUUGMxZVBCZ1RKbzBTVzFsdGttVEpsaTdkaTNTMHRMVVZtYmk0dUp3L1BoeGRPclVDVFZxMU1CUFAvMkVVYU5HWWUvZXZRb1ZxOGpJU0hoNmVxSlRwMDVhQlVsVFVsS3dhZE1tNk9ycUt1eG40TUNCT0hqd0lOYXRXNGZXclZ2bm1TTThyOTY4Y3JrY0sxZXVSTFZxMWZEa3lSTWNQSGhRS1ljNzhHOXU1SVNFQkFDQWc0T0RWZzNGM3Q3ZStQdnZ2L1BjTGpFeEVTRWhJVEEyTnRhWUtpVTlQUjFaV1ZrcUc4K0wrcjRZRWhLQ0RSczJ3TTNOVGFGQlExTTVrSmlZbU9kRTZzSjJoVDNmb3BhZW5vN3c4SEJ4VWxZckt5czRPRGpBMGRFUlhsNWVpSWlJUUlVS0ZkQzhlWE4wNjlZTjI3ZHZ4Nk5Iai9JMTRYWkJhSnJRVWdqdzVrN2xGQkFRb0JTWXQ3S3l5bk9TM29jUEgrTGx5NWY0NnF1djhuV01oUWtVNUtadUZNU05HemV3Wjg4ZTlPclZTMldEZmRteVpURml4QWlzWDc4ZUd6WnNFQ2VYUzBwS3dyMTc5elRtMDgxTC8vNzlFUndjaklNSEQyb01GdFNwVXdkLy9QR0h4bjJWSzFkTzVUWkYvZnNGaXE1OFRrcEtBcERkUVVaVk9qVlY1YXk3dTd2QzN6bm5yS0FQcTZUWGhjK2NPWU1iTjI1QVQwOFBJMGVPRkVmR1dsdGJvMSsvZmxwMzVobzZkS2dZTE5EMk5hdFdyZEs0M3NiR1J1MDk2c0dEQjJwSHoyUmtaRUF1bDZ1OGQ2V2twTURjM0J5dlg3L0dxVk9uVkw3KzNyMTdNREl5VXJzZXlBNWVaR1Jrc0NjcGZmSUtPd0d1RUJUUFNXZ1FGdFlsSkNSQUtwVWlLU2xKNWZaQTluMVlVLzFueFlvVlNzdjgvUHpnNysrdnRFNW92QzNwNVc5dWVUVmVDeW0zZlgxOUVSRVJnY1dMRitkWkIvd3ZmNytCZ1lGWXRHZ1J1blRwZ3FsVHA4TFkyQmdlSGg3WXUzY3ZaczJhSlQ0ckNpTXZ1bmZ2anNPSER5TWxKUVdHaG9aS0k5by94UFZTV3ZET1dBejY5ZXVIM3IxN3E4eEZYMVNTazVQaDRlRUJQVDA5cFNoZGx5NWRNSHIwYUR4NzlneTZ1cnBpc0tDZ0RRVkdSa1pZdkhneHFsYXRDaDBkSGJVakZYS2FNR0VDN3Q2OWk3bHo1MkxseXBVSytTTnYzYm9GSnljbm1KbVp3ZG5aV2FzS1dybHk1VkMvZm4zWTJ0cGk0TUNCZVE3OWlveU14Smt6WjlDblR4OFlHQmpBemMwTnQyL2ZSdVhLbGNVSkpiVmhhbXFLQlFzV3dOZlhGMy85OVJlZVBuMEtpVVNDUVlNR2lROSsrWkY3QWp0dEpxOSsvdnk1d3JJblQ1N2srMzBMNDgyYk55cDdJS3B5NjlhdFBMY1Z6amtqSXdQWHIxL0hwVXVYRUJRVWhMZHYzMElpa2FCSmt5YjQvdnZ2MGFWTEY2VUdIdUhhSzB5alYxN1hjODJhTmJGNDhXSTBiOTVjb1llMHB1K3FSNDhlK09tbm56Qml4QWlsZFRLWkRFK2ZQc1d3WWNQZzRlRlI0T09tajA4cWxlTHExYXVvWExreWV2ZnVMUTdCRkNwV09RbnBQMXExYW9YRXhFUmtaV1dwelQyOVpzMGE2T2pvaUhQYlZLbFNCYU5HamNMR2pSdFJvMFlOZlBubGwzaisvRG5telpzSGMzTnovTzkvLzlQcWVOM2QzZkh5NVV0ODk5MTNxRmF0bXJpOGJObXlzTGUzeDlxMWErSG01Z1lYRnhlVm93RmtNcGxDN20xVkV4d0QyZm5nNzkrL0QzZDNkMXk0Y0FFN2R1ejRLQ216ZHV6WWdmVDBkUFRyMTA5alFGZW82T2Z1Q1prZjJ0NFhiOTI2QlQwOVBhVUdURTBUWFd2YmFQd2h6MWRiRnk5ZVJFWkdoa0xxaC9idDIyUDI3Tmt3TWpMQ3dZTUhNWHo0Y09qbzZPQ2JiNzZCcDZjblBEdzh4SFF3SDhNLy8vd0RRME5EcFdEQkw3LzhnaUZEaHVSN2YxNWVYZ0NnTUFGblNSQWJHd3NYRnhkVXJWb1ZZOGVPVmJ0ZHYzNzlFQmdZaUNOSGpxQjgrZkw0K2VlZmNlblNKV1JsWmVVN2RabGNMb2Vqb3lQczdPelF0bTFiakJvMUtzK0o3NTQrZmFvMCthL1FnMW5WeUtPQ2pFekpUNzIycU1wbkllL3UrdlhyVWI5K2ZSdy9maHdyVjY3RWtTTkhZR1JrQkI4ZkgzaDZlbUxqeG8wS2RXYTVYSTd6NTgralE0Y09IMnplRVZKVzB1dkNWbFpXYU5XcUZXcldySW1hTld2Q3lzb0tWbFpXQ3RmU2Q5OTlCM3Q3ZTdYSEpPUjNGdVNlMzBWdzZOQWhiTisrSFkwYU5VSjRlRGpxMWFzSFEwTkRPRG82cXJ3WHFYdk9pNCtQeDVNblQ5VDJZazFMU3dPZyt0NzE5dTFibGZVUlZmTGFybW5UcGg5azdoeWk0bFRZQ1hDMTZaUWp1SGJ0R3E1ZHU2WnlYYU5HalRRMkpxdHFlTDF5NVlyYWRVREpMMzl6Mjc1OXU4TGY4K2JOVStpWTFiUnBVMnpac2dYcjE2OUh0MjdkeEE0R3FhbXAwTmZYVjFsbS9wZS8zMmJObW1INjlPbmk2QXE1WEk1ZHUzYWhZOGVPaUkrUGg2dXJLMkpqWThWSml1M3M3SERnd0FHY1BIa1NQL3p3ZzlJY0M4VjF2WlJHREJZVUEwMDkySXJLc21YTGtKaVlpQ0ZEaGlnMEFnbHlEdWNVR3JRS1V4SEsyZXRQcUx4cGVtZ3hNVEdCaTRzTHBrMmJoc21USjhQWjJSbDE2OWFGdDdjM1BEdzhVS3RXTGJpNnV1WXJoN0s2U1ROVmVmNzhPUTRlUEFoTFMwczBhdFFJOSsvZlIrZk9uVEZseWhTVUsxZE82LzBJK3ZUcGd4WXRXb2dOUE83dTd1SUV5MEQyZzJ4aVlxTFNCSW1DL2Z2MzQ5aXhZL251RVZZU0psWXhOemRYZWRQSjdkZGZmOFdYWDM2Sm9VT0g1cm50NXMyYmNmandZZkZhRWlhUDdOYXRtOFpHTk9GYUxteWpWMTdYYzFFT1NjN2RxNXMrWFpHUmtaQktwV0psUjhpOW1Ic0NVWWxFSWphd201aVlvRmF0V2pBd01GQjViemgyN0JqQ3dzTHc0NDgvS3FRY0d6Um9FS0tpb3JCa3lSSThlUEFBcDA2ZGdrd213OUtsUzdVcU4vZnYzNDh6Wjg3QTB0SVNQLy84czlKNk96czcrUHY3SXlRa0JPdldyVk01OFZOeWNuS2VnYm43OSs5ank1WXRHRFpzR0JvMGFJQmF0V3JCMzk4ZjY5YXR5ek1Ic0p1Ym04YWhzdmx4NGNJRkhEMTZGQ1ltSm5tbWFFcE9UZ1pRdUhzaWtIYzVJcGZMY2ZQbVRUUnUzRmpwZnBrN2NKeGZIK0o4SHo5K2pQVDBkTlN2WDEvcjEvajUrY0hZMkJoZmZQR0Z3dktPSFR0aTNMaHhNREV4d2FCQmd3QmszMXQ2OU9pQjQ4ZVBJeVFrcE1qbTBNZ1B1VnlPZ0lBQXBLV2w0ZWJObTRVdSt5OWV2SWd6Wjg2Z2JkdTIrZnJjaXR2ang0K3hkdTFheUdReUxGaXdBTStlUFZNS0dPUzhKb1ZjM3A2ZW5xaFlzU0xxMXEyTGpoMDc1bnV5M2Rldlh5TTRPQmhtWm1iNC9QUFA4ZU9QUDJyY1BpVWxCZGV2WDFjN240K3E4cUtnYWF5MHFkY1daZmtzVEx5Y2UvSlZnWjJkSGM2ZE80ZUZDeGZDemMwTlJrWkd1SGp4SW5idTNJa0hEeDVnOU9qUmF0TzNVZkVyNlhYaHhvMGI1L25Nb0tPams2K1IwYmxISGNwa01telpzZ1hlM3Q3NCtlZWZZV1ptaHZEd2NNeVpNd2VPam81d2RuYkcvUG56TlI1N1RrSjZ6ODZkTzZ0Y0wzUjJVM1h2cWw2OXVzWUdITS8vWSsrK282SzZ1amFBUDhQUXBhbFlFQlFWTlhiQlhrRmZKUW14UkkwYVN6VFIxOFNDNWRPb0tJb05LOWlOdlRjVUViRmd3eG9MVVFSakFoWlVqQVFrQW9JZ1Rjb3czeCtzdWEvREZBYWxtWGwrYTdrU2JyOHdYTzQ1KzV5OUR4N0V2bjM3VUt0V0xZakZZbXphdEtsTUF1WkVaU0UvUHg4dlg3NEU4TCswZGNVVkZ4Y256S3FyWGJ0MmtSMmlnWUdCV0w5K1BabzFhNFpWcTFhVjZXeWNpdjc4bFduWHJoMFdMbHlva0VLNmNQOVB6Wm8xSVJLSllHUmtKRGNMSVRRMEZPdldyY09hTld1RVVmVGE4UE0xTmphV0N3cklNb2VFaElUZ24zLytRYjE2OWVSbUQ1aWFtcUpHalJxSWlZbFJHb0FvamMrTHRtS3c0Qk8wYTljdS9QYmJiMmpRb0lIU1RxREMzcng1QTBEeHBlOUR5VG9laXVwRXNyVzFoYmUzTitiTm00Y3BVNmFnUm8wYWVQbnlKUndkSGZIenp6K1g2aWdPV1VYMW1qVnJvbUhEaHRpNmRXdVJCU0NMOHY0MDJjSi9CTmF0VzRlSER4L0MwdEpTYVRvU1dZQ2l1SVhxdkwyOUZVWTdsalZkWFYyTmM3aVptcHBxdEszc0lkK2pSdy8wNk5GRFpmSE93bVRwSWxRMXRqK0VwcDluSWxuUmFWbUJ6NGlJQ0loRUlodzdka3lvQnhBVUZJVE5temNMSS9WLysrMDNQSC8rSFByNitvaUppWkY3Qmp4OStoU2JOMitHblowZFJvNGNxWEMrYWRPbUlUSXlVc2hsdjJqUklvMSt2d0lEQTdGOSszWVlHUmxoNGNLRlNnTzdJcEVJYytmT3hjU0pFM0h5NUVsa1oyZGo2dFNwY2krSE1URXhSUmE1aW8yTlJhZE9uWVNBbUlHQkFTWk9uSWk3ZCs4S2VjQlYrZkhISHhVS0VpcHo0Y0lGWWJTMk10ZXZYeGR5TmMrYU5hdklhNWFOOEMycHY0bUE4dWZJMDZkUGtaYVdwdlJGVmwzZ09EVTFWU0hQK3Z2SzRuNmxVaW1tVEprQ0t5c3JZU1JQVWNMQ3doQWVIbzRoUTRZb2ZPYTJiTm1DNk9oby9OLy8vWi9jZFl3YU5RcS8vdm9ydkx5OHNHblRwakxQeDM3dDJqWEV4OGZEeXNvS0sxZXV4THAxNjRvMUsxUTI4eTgvUHgvWHJsMkR0N2MzVEUxTk5aNzlVMWJpNCtPUmxaV0ZwVXVYb203ZHVuajc5aTJtVHAwS29HQUUyWTBiTjRTdmdZS0dscmUzTnpaczJDQVVSbGVWT2tncWxTcWRtUVFVTkZZQnFFd3pKV3ZJWHI1OEdTZFBua1JpWWlLT0hqMktQbjM2eUcxWHVHWkJTVlAxKzF1U3orZUhEeC9Dd3NKQzVlK3JXQ3lHaDRjSHBrNmRpaGt6WmlBM054Y3ZYcnhBeTVZdDRlN3VyckpEbGNyR3AvUXVuSmVYaHlkUG51RGh3NGQ0OE9DQmtFN3NZOFRHeG1MbHlwVjQ4dVFKSmsyYWhLKy8vaHFCZ1lFQUNtWmhlM3Q3WS9iczJmanBwNS93My8vK0Z5NHVMbXBueVQxKy9CZ0JBUUZvMGFLRnlqemNzbm9laFVlTkZpVWlJZ0tIRGgxQzE2NWRNWHIwYUxpNnVtTGV2SG53OVBUa0RBTDZWMGhKU1ZGSVhiZDQ4ZUppSFdQV3JGbkMvNnY3MjVxYm00dDkrL1lKcVp3ZlBIaUFFU05Hb0cvZnZ1alRwNDlDN2FEUzhLazhmOTlQcGYzNjlXdEVSMGZqeFlzWHdyOE9IVHBnNE1DQldMQmdBYVJTS2RMVDA1R1ltQ2owRS8zenp6OTQrL1l0eEdJeFJvOGVMWGZzZi9QUEZ3Qk9uejZOQmcwYW9HM2J0aGd5WkFpV0xWdUdpUk1uS3J3UFptZG5ZOUdpUllpTGkwT3RXcld3ZlBseXJGeTVVbTZBVG1sOFhyUVZnd1VWaEZRcVJWcGFtc29HbDJ5YlBYdjI0TWlSSTZoU3BZcEdLWHdrRW9tUXE3RndaM2xBUUlES0thYnFQSDM2RkFDRXpqRlZrcE9UY2ZmdVhZaEVJdVRsNVFrcGZNek16QkFYRjRjR0RSb1UrOXp2azBWY016SXlGRjRrWlZQWVpRM1VqdzBVRkdYQmdnV1lPWE1tbGk1ZGl0emMzSTh1Mk5pNmRXdnMzcjBiVmxaV0pSN1psZVVMVi9kWksyMkRCdzh1OWdpNTFOUlVJYyszckxQMmZhWDllUzVwNm9yTi9mUFBQMHJYNitqb1ZMalVGdHJrL3YzN3NMR3hnWVdGQmZMejh4RVlHSWpHalJ2TGZYYVNrcEtFR1FReE1USHc4dkpDang0OUVCOGZqNFVMRjJMZHVuVXdOVFZGWEZ3YzVzMmJKM1FRdlo5YUxUVTFGVUZCUVFnSUNFQmlZaUk2ZHV5SVI0OGVZZkhpeGVqVnF4ZSsvdnBycGFPV0pSSUpkdS9lamFOSGowSmZYeCtMRmkxU213dStXclZxV0xKa0NkemMzSEQrL0hsRVJVVmgxcXhacUZ1M3JqQXFYcGE3V0pXZVBYc3FQTzg2ZCs2TXpwMDdDeDBKcWxTdFdsV2pBS3Fxa2JwNWVYbll1M2N2amg0OUNwRkloQmt6WmhRWmZNak56UldlRThwZURrdnlPWExuemgwQXlxZmRxcnR2VlIwanBYRy9xcng0OFFJWkdSbEM3WUdpNU9ibVl0dTJiVEEyTmxZb1ZIbjQ4R0VFQmdhaVM1Y3VDbWt1TEMwdE1YNzhlS3hac3dZelpzeUF0N2UzMHRtU3BTRXRMUTNidDIrSHBhVWxObTdjaUZtelptSENoQW5DQ0NOWnptOFpxVlNLN094c1NDUVNHQmtaWWYzNjliaDQ4U0pFSWhGV3JWcUZJVU9Hb0ZHalJwZzBhVktwcHFIOEVPM2F0WU9Ua3hPcVZxMEtvT0J6S211QVpXVmw0Y2FOR3dvTnNscTFhcW1kK1NNYm9Sd2JHNnZ5OHl5cjJWWDRlYlY3OTI2RWhZVWhLaW9LUU1Ic1RIdDdlN2k0dUh6QTNmMVBTZjMrbHZUek9TOHZEeUVoSVVYT3pNakt5b0tYbHhmbXpadUh1TGc0OU92WEQrUEhqeTh5OVNaOW1rcnlYZmpLbFNzSUR3L0hreWRQOFB6NWMrVGw1VUZYVnhjTkdqVDRxTUV3NmVucE9IVG9FRTZjT0FFek16T3NYTGxTNlF5c2F0V3FZZjM2OVZpNWNpWFdyMStQbzBlUDR1dXZ2MGFQSGowVVpsVkdSa1lLdjEvcWNudkxVbGZJMGpwcTRzS0ZDOWk0Y1NPc3JLd3diZG8wbUptWndjUERBNHNXTFlLcnF5dCsvdmxuamVxYUVGVms3OWVKbE1uUHo4ZnQyN2R4N3R3NS9QampqM0o5SDdkdjM4YWRPM2ZRdFd0WDJOdmJhNVR1TWpNekU1Y3VYWUt2cnk4U0VoTFFvVU1Ieko0OUczLy8vVGY4L1B5d2YvOSsrUGo0b0VlUEhoZzhlUEFuMStGYWtzL2ZwS1FrbkQxN0ZpOWZ2a1JzYkN4aVltS0VHUWhBd2MrclRwMDZNRE16ZzV1Ykc1NDhlWUt4WThmaXdJRURXTEZpQmRhdFd3ZGpZMk5FUjBlalpzMmFzTEd4MGFxZnI0R0JBWTRlUFNxM1RGbk5uSVNFQkN4ZXZCaFBuanpCakJrejRPRGdnR25UcG1INjlPbVlQbjI2UXUwQytuZ01GcFNqdFd2WElpc3JDL3I2K25qNThpVlNVbEpVTmpCVFUxT0ZRcnRWcWxUQnlwVXJGYmFOaVltQnQ3YzNxbFNwQWlNakk0aEVJang4K0JBdlg3NUVvMGFOOE5sbm44bHQzNnhaTTRWQ2ZidDI3Wkw3MnMvUEQ0bUppYkN5c29LcHFTa1NFeFBoNitzTFhWMWRoZVBsNXViaXlaTW51SC8vUHU3ZXZZdUhEeDlDS3BXaVdiTm1tREJoQXF5dHJlSGo0NE96Wjg4aU1EQVExYXBWZzRPREF4bzJiQWc3T3p0VXIxNGRWYXRXMWJoenZGNjllb2lPam9hSGh3ZGF0MjR0ZEg3SHhjWGg1czJicUYyN2RwbU55amN6TTRPWGx4ZG16WnFGU3BVcUlTVWxCYnE2dWpBeU1rSldWaGJDdzhPTE5ackZ5TWhJWmVNN0pTVUZVcWtVSmlZbUVJbEVpSXFLVXZzOWUvcjBLVHc5UFdGaVlnSjlmWDFocEorbTA0UlZpWXVMZzdtNU9Rd05EWVVHdjZiVG0yV0JIbFhtenAyTHVMZzRHQmtaUVY5Zkg5bloyWWlPamtadWJpNTY5T2lodE9aRVNYK2UxVWxJU0lDZW5oNU1URXlFRVFiRmJjeXJLeHgzLy81OTNMOS9YMkU1Z3dYbEp5OHZEK0hoNFVKdVhSOGZIengvL2h4TGxpeEJiR3dzY25OemtadWJpeHMzYnFCZXZYcUlpNHVEbTVzYnFsU3Bndi83di85RFVsSVNKa3lZZ09uVHAyUFJva1ZZc0dBQjB0TFM0T25wQ1d0cmF5UW5KK1BPblR1NGVmTW13c0xDSUpGSVlHOXZEM2QzZHpSdjNoenA2ZWs0Y09BQVRwOCtqUXNYTHNEVzFoYWRPM2RHOCtiTjBiSmxTN3g2OVFwcjFxekJvMGVQWUdKaWdnVUxGbWlVVXVXenp6NkRsNWNYNXMrZmo2ZFBuK0tubjM3Q2xDbFRVTDE2ZGNUSHg2TnYzNzU0OXV3WnpNM044ZXpaTStqcTZzcjkvbjVNT3Aya3BDU05pdFNucHFZcUxJdUlpTUQ2OWV2eDRzVUxtSmlZd04zZFhTRU5YRlJVRkdiTW1BRXpNek1ZR3h0RFYxY1hjWEZ4ZVB2MkxVeE5UWlVHZFV2eU9SSWNIQXc5UFQwMGJkcFU0VHpGL2I2VjF2MnFJcHRGbzJtd1lPdldyZmpycjc4d2NlSkVJYmdqRytCdytQQmhOR3JVQ0c1dWJrcjNkWEZ4UVZSVUZFNmVQSW1KRXlmQzA5UHpnenB6VWxOVFlXaG9DTEZZWE9UZnhaeWNISGg1ZWVIMTY5Znc4UENBdWJrNVZxOWVqWTBiTndwNVhYZnYzbzE5Ky9aQkpCSkJLcFVLcVFmSGpSdUg4UEJ3QkFjSFk5aXdZYWhYcng1V3JseUpzTEF3ZE8zYUZlSGg0Y0x2aXE2dUxzUmlNY1JpTWZMeTh1RG01b2JjM0Z5Y09uVUtlWGw1eU0zTlJaOCtmWW85Y3ZaRHlBSUZKYVZwMDZZSURBekUzTGx6MGJselo0WHZkMEpDQXE1ZnY0NXExYW9wekVwSVNFaUFTQ1RDc0dIRDBMNTllelJ1M0JnaWtRaEJRVUZLaTVIS0JvQW9XOWVrU1JQaGZha2tmbitsVW1tSlA1K3ZYYnVHdExRMHVZWnNmbjQrZ0lJWkI2R2hvYmg1OHlZeU1qS0U0dk9iTm0zQ3FWT25jTzNhTlRnNk9xSnQyN1pvMEtBQnFsZXZYcTZEUFVoZVJYa1h2bno1TWlJaUl0QzhlWFA4OE1NUGFOYXNHUm8xYWlSM0xiNit2bXBuNmIzdnpaczNPSHIwS002ZVBZdk16RXowNnRVTEV5Wk1VRHV3UnBhQ05pZ29DTHQyN2NMV3JWdXhiZHMyZE9yVUNRc1dMRUJPVGc2T0hqMkt3NGNQUXl3V3krWGdQbi8rUEY2OWVpWFhWamw1OGlTc3JhMVZ6anlReWNyS1FuQndNSTRmUHk0RUh0M2QzWVZyYmQrK1BieTl2YkZzMlRKTW16WU5iZHUyeFZkZmZZVjI3ZHB4VmpGOThwNC9mNDdMbHkvajBxVkxTRTVPUnUzYXRSRVRFeVBYbVJ3WEY0YzdkKzRnTURBUVptWm1jSFIwUkk4ZVBkQ2lSUXU1dnljSkNRbTRmLzgrN3R5NWc1Q1FFTHg3OXc0MWE5YkVuRGx6aER6MVRaczJ4WUlGQ3hBWEZ5ZmtqUThLQ2tMNzl1MHhlUEJndFcwUFpYV0hBQ0E2T2xybCtscTFhcUZKa3laSzk2c296MTlkWFYwY09IQUErdnI2cUZldkhweWNuR0JuWjRkNjllcWhidDI2TURNelEweE1EQllzV0lDWW1CaTR1cnFpZi8vK01EWTJ4b1lOR3pCMTZsUU1IandZZCs3Y1VVamhxaTAvMzl6Y1hFZ2tFaGdZR0FpcGwyUkJqL3o4Zkp3N2R3N2J0MjlIVGs0T1pzMmFoVjY5ZWdFb3lPNHhkKzVjTEZ1MkRGZXVYTUdZTVdOVURuVDdtTStMdG1Ld29Cd2xKeWZqOXUzYnd0ZVdscFpLODBZREJSMkw5KzdkUTcxNjllRHA2YWswcUZDOWVuVThlL1pNTHZXRG9hRWhIQjBkNGVycXF0QzRhTlNva1VMeHZzS05xdXpzYklWUldnWUdCcGcwYVpJd2xUb2hJUUVMRnk3RVgzLzloYnk4UEFCQS9mcjFNV0xFQ1B6blAvK1I2L1IyZDNmSCtQSGpjZVhLRmR5NmRRdFhybHlSYS94MTZkSUZDeGN1VlBvOUtPekhIMzlFU2tvS0lpSWlFQjRlTGl6WDFkVkY0OGFOeXp3TmdMbTVPYlpzMlFJZEhSM3MzYnNYaHc0ZGtsdi9zU1BtWkM1ZHVvUnQyN2JKTFpNVnhsSEd5c3BLU01zRUZEeDRXN1JvZ2Y3OSszL1VkVXlmUGgxSlNVbHl5NHJLVWE0cFMwdExoSWFHQ28xcGtVaUVtalZyd3RuWldXWE80NUw2UEd2Q3g4Y0haODZjRWI3VzBkRXBkaTduOS9mWEZEc0l5azlFUkFReU16UFJwRWtUL1BISEg5aS9mei82OU9tRERoMDY0UERodzlpelp3OTBkSFJRcjE0OWpCZ3hBck5tellKSUpNTHk1Y3RoYkd3TVkyTmp6Smt6QjRzWEw0YWZueDkrL1BGSDVPYm1vazJiTnJoMDZSSldybHdKb0NCUStQbm5uNk52Mzc1eW8xTk5URXd3WWNJRURCbzBDTWVPSGNQNTgrZHgrUEJoMk5uWlllM2F0Y2pNek1Telo4L1FxRkVqdUx1N3c5cmFXdU43YTlTb0VUWnYzb3pWcTFjaklTRUJQWHIwd05HalI2R2pvNFB1M2J0ajBxUkpRanFBVHAwNlFTUVNvVVdMRm5KcFM1UUpEdy9IbFN0WFZLN2ZzV09IUmprbGxibC8vejVldkhpQjFxMWJZOGFNR1VxRG56WTJOcWhVcVJMZXZYdUg5UFIwNU9mbnc5RFFFTjI2ZGNQMzMzK3Y5SGUrcEo0am1abVpTRTVPUnBNbVRaUytpQlkzRFZGcDNhOHFFUkVScUZXclZwRXpTMlRTMHRKZ2IyOHY5M2NsSWlJQ1I0NGNRZVBHamJGOCtYSzErYUpkWFYyaG82T0QzMy8vWFdrd1dLWm56NTRLZ1FSbloyZTBhdFVLVzdac2tXdUl0R2pSUXVWeFpKMy8vZnIxRTFJSG1waVlZTTZjT1JnN2RpekN3OE9SbXBvcU5GN3k4L09GbVFiT3pzNklqbzdHb0VHRGhEUUFkZXZXaGIrL1AwSkRRM0hod2dXaEFGNVJxbGV2L3NubW9lL1ZxeGVlUFh1R29LQWcrUHY3SzZ6WDFkVkZreVpOTUduU0pJVkFncHVibTlLL1owVVZJbFcyZnVyVXFjSjdaa245L3BiMDg5blgxeGZWcTFlWEMyUkVSa1lDQUdiUG5nMERBd08wYTlkT1NEVmtZbUlDTnpjM0RCdzRFSDUrZmdnS0NrSmdZQ0JzYkd5d1pjc1dkbkJXSUJYbFhkak56UTBtSmlacU84QTZkdXlJN3QyN3Exei8va3dpQXdNRC9QSEhINmhUcHc3R2pSdFhyQUR1NTU5L0RpY25KMXk0Y0FHWExsM0M5OTkvajFldlhtSFNwRWxJUzB0RDNicDE0ZWJtSmpmRFBENCtYcUhkWkdkbmg5bXpaeXU5cDhqSVNGeTllaFdSa1pGNC9QZ3g4dkx5VUx0MmJiaTV1YUZuejU0S3o1ZW1UWnRpNTg2ZDhQUHp3NGtUSnhBYUdncXhXSXg2OWVxaFQ1OCtDclBlaUNxNlE0Y080ZEtsUzRpTmpZV2VuaDQ2ZCs2TXI3NzZDZzRPRGdxZi80RURCMkxBZ0FHSWlJakFsU3RYY1BYcVZXSGc1b3daTTJCblp3ZFhWMWVoRnB0WUxJYURnd05jWEZ6UXBVc1hwU1BWYTlXcWhjbVRKK083Nzc3RHNXUEhjUHIwYVlTRWhHREVpQkVxQzZrWFZhZE0yWG9YRnhlVndZS0s4dncxTnpmSDNyMTdVYk5tVGFYUHEvVDBkRXliTmcwWkdSbVlPWE9tVU1pM2I5KytTRTVPeHFGRGg0VDNHOWxnSW0zNytUNTU4a1N1NzA1UFQwOTRqMSs4ZURGdTNicUY2dFdyWSs3Y3VYS0RzQ3d0TGJGMUhjN1RBQUFnQUVsRVFWUmh3d1pzMmJJRlo4K2VoVVFpVVRrZ3N6US9MLzlXSW1uaGVkWmF3TlBURStibTVtcW5QcGFVSjArZTROV3JWMHJ6MkFNRkRWWlp2bGQxSFlIeDhmRUlEQXpFeUpFamk0eUFTYVZTSVErc3FpTEVkKy9lUmMyYU5SVkdyOGZGeGFGU3BVckN5TURNekV3a0pDUWdPenRibU5KYXUzWnRoVkh5ZS9ic3daczNiOUM4ZVhNNE9EaG9QR3I5M2J0M2VQejRNWjQvZjQ2WW1Cajg4TU1QY2lrbnpwdzVnNGNQSHhhcnVQR0hHRE5tREdKaVlrb3NIKzZ6Wjg5dzY5WXQ0V2RyYlcyTjd0MjdxeHpwR0JJU2d0RFFVRXljT0xISVk3OTY5UW9oSVNISXljbUJSQ0tCaFlVRm5KeWMxRFllWmIvbStmbjUwTkhSS1pGTzUzUG56aUUrUGg0U2lRUzZ1cnBvMWFwVmlSWUdCZ3F1Tno4L0gyS3hXTzAxbC9UbitYMUhqaHhCczJiTjVEcWVvcUtpOE9qUkkrVGw1VUZIUndmTm16ZFgyOEVsRXg0ZWpnY1BIaWgwWnRESDgvVDBoS09qWTZuT3ZIajY5Q21xVnEyS3lwVXI0L1RwMCtqVHA0L0todm5seTVmUnNtVkxoV2RoYUdnb1dyUm9vZkJzM3JkdkgyeHRiZEdwVXllMXhlTmwzcjE3aDVzM2I2Smx5NWJDREtxblQ1L0N6czZ1eU5FeTZtUm1ac0xZMkJoNWVYazRlL1lzK3ZYcmg4ZVBIK1B0Mjdjd05qWkcwNlpOTlQ1K2NIQXdqaDQ5aW5YcjFza3R6OGpJd09iTm05RzdkMitsbys0THUzdjNMcTVkdXliM2QwQXFsU0lzTEt4RVgvSksramtpa1VpUWtKQWdsMVluS2lvS1Y2OWV4ZGl4WTFWZXg3dDM3K0R2NzQ5ZXZYb0pBd05LNDM3VkdUbHlKTHAyN1lweDQ4WnB0SDFlWGg0eU1qSVVVa2FGaElUQTN0NWU0NUU3V1ZsWlFsQmg2ZEtsNk5hdG04cjNwOEx1MzcrUGUvZnVRU0tSb0ZLbFNuQnhjVkVJa0NRbUppSXFLZ3B0MjdaRlRrNk9NQXV6dU5MUzBvVFpmYXJrNWVVSi8yU05UZUIvUVYrUlNBUmRYVjJOTzM2ZG5aMVJ1M1p0dFlHbXdzTEN3dUR1N282ZE8zZXFuSzNvNStlSDdkdTNsMW85Z0xKU211OEJIL3Q4dm5QbkR0NjlleWYzOStuaXhZc0lEQXhFLy83OTBhbFRKN1dmZzh6TVRQejU1NStvVWFPR3hnRThiZVBwNlFteFdBeDNkL2N5UFc5RmVoZFdaLzM2OVdqYnRxM2EyV0xyMTY5SCsvYnRoZlIyNzk2OVUvdTVQSGZ1SERadTNJZ2pSNDVvbE1veklDQUFSa1pHY0haMlZ1aWNra3FseU1qSXdMdDM3NFJVYitxT21aU1VoTEZqeDhMS3lncXRXclZDbHk1ZE5BNW81T1RrNFBidDI3aDkremFlUG4yS0ZTdFdsUGpNSzlKdW5wNmVzTFcxeGFoUm8wcnRIRWVQSGtWWVdCaTZkKytPYnQyNkZhc3VWWFoyTm03ZXZJbkxseS9EemMwTjV1Ym04UGYzeDRzWEwrRGc0SUIyN2RvSmVmUTFsWmFXaHVQSGo2TnIxNjZ3czdNVGxqczdPMlBreUpHbDhyMzRWSjYvUUVIN1Q5YU9LdXpGaXhmNC9mZmZVYmR1WFdId29iYjlmTE95c25EOStuV2hiNlZseTViQ3dMZkV4RVFFQmdaaTZOQ2hhZ2NlUFhqd0FGWldWZ3FwNzJUSzR2UHlLUkZwOElGbXNJQ0lpRDU1WlJFc0lDSWlvb3FudklJRlZIN1VGVmNuS2s5bEVTd2dJdm9ZbWdRTFBuejRJUkVSRVJFUkVSRlJHV0tnZ0lpSXFQUXdXRUJFUkVSRVJFUkVSRVJFcE9VWUxDQWlJaUlpSWlJaUlpSWkwbklNRmhBUkVSRVJFUkVSRVJFUmFUa0dDNGlJaUlpSWlJaUlpSWlJdEp4SUtwVkt5L3NpeXBxbnAyZDVYd0lSVWFueDhQQW83MHNvYzN5dUV4RVJGZEMyOXdDK0ExQlo2TnUzTCt6dDdjdjdNcWlDNC9PSVNMdDhpdTljSXBGSVZOUTJ1bVZ4SVJXUnViazVXclZxVmQ2WFFVUkVKY0RSMGJHOEw0R0lpSWpLaVZnc1JwY3VYY3I3TXVoZlNpUVN3ZGJXdHJ3dmd6NFJ0cmEyL0x3UTBTZE5hNE1GRmhZV2NISnlLdS9MSUNLaUVzRG5PUkVSa2ZiUzFkWGx1d0FSVlFpMnRyWjhIaEhSSjQwMUM0aUlpSWlJaUlpSWlJaUl0QnlEQlVSRVJFUkVSRVJFUkVSRVdvN0JBaUlpSWlJaUlpSWlJaUlpTGNkZ0FSRVJFUkVSRVJFUkVSR1JsbU93Z0lpSWlJaUlpSWlJaUloSXl6RllRRVJFUkVSRVJFUkVSRVNrNVJnc0lDSWlJaUlpSWlJaUlpTFNjZ3dXRUJFUkVSRVJFUkVSRVJGcE9RWUxpSWlJaUlpSWlJaUlpSWkwSElNRlJFUkVSRVJFUkVSRVJFUmFqc0VDSWlJaUlpSWlJaUlpSWlJdHgyQUJFUkVSRVJFUkVSRVJFWkdXWTdDQWlJaUlpSWlJaUlpSWlFakxNVmhBUkVSRVJFUkVSRVJFUktUbEdDd2dJaUlpSWlJaUlpSWlJdEp5REJZUUVSRVJFUkVSRVJFUkVXazVCZ3VJaUlpSWlJaUlpSWlJaUxRY2d3VkVSRVJFUkVSRVJFUkVSRnFPd1FJaUlpSWlJaUlpSWlJaUlpM0hZQUVSRVJFUkVSRVJFUkVSa1paanNJQ0lpSWlJaUlpSWlJaUlTTXN4V0VCRVJFUkVSRVJFUkVSRXBPVVlMQ0FpSWlJaUlpSWlJaUlpMG5JTUZoQVJFUkVSRVJFUkVSRVJhVGtHQzRpSWlJaUlpSWlJaUlpSXRCeURCVVJFUkVSRVJFUkVSRVJFV283QkFpSWlJaUlpSWlJaUlpSWlMY2RnQVJFUkVSRVJFUkVSRVJHUmxtT3dnSWlJaUlpSWlJaUlpSWhJeXpGWVFFUkVSRVJFUkVSRVJFU2s1UmdzSUNJaUlpSWlJaUlpSWlMU2Nnd1dFQkVSRVJFUkVSRVJFUkZwT1FZTGlJaUlpSWlJaUlpSWlJaTBISU1GUkVSRVJFUkVSRVJFUkVSYWpzRUNJaUlpSWlJaUlpSWlJaUl0eDJBQkVSRVJFUkVSRVJFUkVaR1dZN0NBaUlpSWlJaUlpSWlJaUVqTE1WaEFSRVJFUkVSRVJFUkVSS1RsR0N3Z0lpSWlJaUlpSWlJaUl0SnlEQllRRVJFUkVSRVJFUkVSRVdrNUJndUlpSWlJaUlpSWlJaUlpTFFjZ3dWRVJFUkVSRVJFUkVSRVJGcU93UUlpSWlJaUlpSWlJaUlpSWkzSFlBRVJFUkVSRVJFUkVSRVJrWlpqc0lDSWlJaUlpSWlJaUlpSVNNc3hXRUJFUkVSRVJFUkVSRVJFcE9VWUxDQWlJaUlpSWlJaUlpSWkwbklNRmhBUkVSRVJFUkVSRVJFUmFUa0dDNGlJaUlpSWlJaUlpSWlJdEJ5REJVUkVSRVJFUkVSRVJLVDFObTNhaE1lUEg1ZjNaUkNWRzkzeXZnQWlJaUlpSWlJaUlpS2k4aFlhR29xb3FDaVltNXVqZi8vK2FOV3FWWGxmRWxHWllyQ0FpSWlJaUlpSWlJaUl0SjZKaVFsV3JWcUZXN2R1WWQrK2ZUQXdNTUNBQVFQUXZuMTdTQ1FTdUxtNUlUczdXKzB4REF3TU1IandZSFRvMEtHTXJwcW81REFOVVNtVFNxWEl5TWlRVzVhUWtJQTllL1lnUHo5ZjZUNS8vLzEzV1Z5YXdOZlhGN3QyN1NyVmMremN1Uk1oSVNHbGVvN3lJSlZLc1hIalJnUUZCU2xkSHg0ZWp2Mzc5ME1pa1doOHZObXpaMlBCZ2dVcXR3a0lDTUM0Y2VPUW1wcjZRZGRNUkVSRVJFVEZWOUhiZG4vODhRZmk0K1BWYmhNZkg0K0lpSWd5dWlKRlpkSDJMTXJ6NTgrTHZjKzdkKy93NDQ4L1l0KytmUUNBeTVjdkl5WW1SdVA5azVPVGtaQ1FJSHlkblowTmYzOS9oSWVIYTN5TW5Kd2NwY3V2WHIyS09YUG1GR3NmK3ZSVjlPZFJjYVNtcGhiNSsxVFc5NnVqbzROdTNicGgvdno1a0VxbFdMOStQYkt5c2lBV2k3RnExU3BzM0xoUjdiOTU4K2Jod0lFREgzeCtvdkxFbVFXbHpOUFRFLy84OHcvV3JGa0RJeU1qQU1Eang0L2g0K01Ec1ZpTVVhTkd5VzEvOSs1ZHpKMDdGMTkvL1RWY1hWM0w1Qm9EQXdOUnFWSWwvUGUvL3kyMWMvajYra0lpa2FCOSsvWkZicHVWbGFWeTNaRWpSK0RqNDFQa01ZWVBINDdSbzBjWDZ4by94TGx6NTNEcTFDbU1IVHRXNmZvLy8vd1RCdzRjd05DaFF5RVdpNFhsOSsvZng4dVhMOUc3ZDIrNTdTOWV2SWl3c0RCNGVIZ29QVjUyZGphT0hEbUN0bTNid3R6Y1hPVjFQWGp3QUE4ZlB2eUFPL3Fmd1lNSGY5VCtSRVJFUkVUL0poVzliVGRqeGd5TUhEbFM3anJ5OC9PaG8vTy9NWUtuVDUrR3I2OHZMbDY4cVBaWXFhbXBTRXRMZzFRcWhVUWlnVVFpUVc1dUxuSnpjNUdkblkzczdHeGtaV1VoTXpNVEdSa1pTRXRMUTFwYUdsSlNVdkRtelJza0pTVmg2dFNwNk5peG85eHhTNkx0K2VqUkk0MjJNekV4UWUzYXRlV1diZCsrSGNlUEg4Y3Z2L3lDQmcwYWFIeE9zVmlNRnk5ZW9FbVRKc2pPenNiQmd3ZVJsSlNFbjMvK0dVNU9Ua1h1LzhzdnYrRHUzYnM0Y09BQUxDd3NBQUNIRHgrR3JhMHRWcTllWGVUK3N0SE1ob2FHbURsekpxcFVxU0tzaTR1TFEyaG9xTnoyVXFrVWh3NGR3dm56NTdGMjdWcFVxMVpONDN1bFQwTkZmeDRCUUY1ZUhsNi9mbzM0K0hpOGUvZE81U2o3NDhlUHc4ZkhSKzF6cWF6dk56azVHWUdCZ1FnT0RrYm56cDB4YytaTTRieWFzTEN3Z0Vna0t2WjVpU29DQmd0SzJWZGZmWVc1YytkaXhZb1ZXTGh3SVVRaUVSd2RIZUhvNkFnZkh4OTA2dFFKRFJzMkJBREV4TVJnMmJKbE1ESXlRcTlldmVTT2MvTGtTZnp5eXk4ZmZCMVZxMWJGa1NOSEZKWkxwVklrSlNXaFRwMDZIM3hzb0dBMFExRmlZMlBWYm1ka1pJU09IVHVpWDc5K0tyY1pOR2dRQU9Dbm4zNVN1YzMyN2RzVmxqazdPeGQ1Zlpwd2NYSEI5T25UQVJTOGxHM2J0ZzN0MjdmSGtDRkRrSnFhaWwyN2R1SGJiNytGdGJXMTB2MGZQSGlBL2Z2MzQ5NjllN0N3c0lDVGt4Tk1URXdBRkx5UXk2N2QwOU5UWWQ5bXpacWhRNGNPU0U1T1JsQlFrTkxaREEwYk5zVG16WnNSRWhLaVVWQkZIUVlMaUlpSWlJaitwNkszN1pTNWVQRWlkdTdjQ1E4UEQ3UnMyVkxqY3h3NmRBZ0JBUUVLeTNWMWRhR3ZyeS84TXpBd2dLR2hJUXdORFdGa1pBUkRRMFBVcjE4ZnpaczNSMTVlbnR5K0pkWDJuREpsaWtiYmRlalFBVXVXTEJIT3ZXM2JOdmo3KzJQdzRNSEZDaFFBZ0o2ZUhrUWlFU1FTQ1F3TURMQnUzVHA0ZUhoZzZkS2xrRWdrK005Ly9xTnkzK3ZYcitQR2pSdm8xNitmRUNpUXBTalp1WE1uYnQ2OGlhNWR1Nm85djFnc3h0Q2hRK0hsNVlXZmZ2b0pzMmZQUnR1MmJaVnVtNW1aQ1c5dmI5eThlUk1EQnc2VUN5elF2MGRGZkI0ZE8zWU1kKy9lUlVwS2loQTRsRXFsQUFvKzh6NCtQakExTmNXYk4yK0svYmtzcWZ2VlJISnlNdWJObTRkZXZYcGgxYXBWUXA4TmtiWmdzS0NVdFczYkZpTkdqTUNCQXdkdysvWnRkT3JVQ1FBd2NlSkVoSVdGSVNRa0JBMGJOa1IrZmo0V0xGaUEzTnhjTEYrK0hKOTk5cG5jY1d4dGJlSGk0dkpCMTNEanhnM282aXIvVWI5OSt4YTV1YmxJU2tyQ29VT0hpbjNzcGsyYndzSEJBY3VXTFN0eTI5dTNiK1AyN2RzcTE5ZW9VUU1kTzNiRTdObXpoV1VyVnF4QXg0NGQwYjE3ZHdCQWRIUTBBUFVkMmNxQ0JjT0hEMWQ3YlZLcEZQNysvc2pKeVlHenM3UEtrUmVOR2pVQ1VERENmK25TcGJDd3NJQ2JtNXNRTWI1ejV3NmVQbjJLRFJzMlFFOVBUOWp2MnJWck9IMzZOQjQvZmd3TEN3dU1IVHNXZmZ2MmhiR3hNWUNDa1NKTGxpeUJtWmtaVnExYWhjZVBIOFBJeUFqMTY5Y1hqdkhQUC85ZzBhSkZHRFJvRUhyMjdJbnIxNjhyQkVIMDlmWGx2aTVxeEpBeSsvZnY1M1E1SWlJaUlxSkNLbnJiVGlZN094c0dCZ1lBQ21ZMHA2ZW55N1VyaWlNZ0lBQmlzUmg2ZW5vUWk4VnlJMlcvK3VvcjlPL2ZYKzFBcnZlVlZOdHo2OWF0aUlxS2dyZTNONlpPbllvbVRab0FLSmkxRUJnWWlLMWJ0d0lBS2xXcUJLQmc1dnFxVmF0dy9mcDFqQjQ5dXNpMm9TcjYrdnBDQU1UYzNCeGVYbDQ0ZVBBZ3VuVHBvbktmaElRRXJGMjdGalZxMUZDWVRURmd3QUNjT1hNRzY5ZXZSN05telZDNWNtVzE1Ky9Rb1FPMmJ0MktCUXNXWVA3OCtkaXpadzlxMUtnaHQ0MVVLc1hNbVRNUkd4dUxlZlBtYVRUcmdUNU5GZkY1WkcxdGpaaVlHRFJwMGdSUlVWRzRmZnMyZnZubEYxU3JWZzJWSzFlR1NDVEN5Wk1uc1hmdlhreWJOZzJPam81bGZyK2FNRE16dzdwMTZ4VDZWNGkwQllNRnBTUWhJUUZKU1VrQWdEWnQya0FxbGNMQ3drSnV5cVM3dXp0TVRVMkZaUzR1THNqTHk0T3VycTZ3ek5MU0V0V3FWWU85dlQzczdlMC82Rm9pSWlKVTVuQjcvZm8xQUNBcUtncFJVVkhGUHZhZ1FZUGc0T0JRWktlMHM3TXpCZzBhaEhIanhoVjV6SjQ5ZXdyL3YyTEZDdGphMmdyTDl1elpJN2Z0dm4zN2NPellNWncrZlZydE1ZdEtTUlFZR0lpY25CdzBiTmdRTTJmT1ZEdGRMRDA5SFlzWEwwWnNiQ3cyYk5nQU16TXpBQVdqVGI3NzdqdHMyTEFCTzNic3dNU0pFNFY5dkwyOVVhOWVQVXliTmcwOWUvYUVnWUVCcmw2OUNnY0hCNWlhbW1MbHlwVjQ5dXdaTm03Y0NCc2JHMnpZc0FGeGNYSFl0R2tUcWxhdENxQmd5ckM1dVRsR2pScUYrL2Z2NC9EaHc3QzB0RlE3RTRPSWlJaUlpRDVPUlcvYnZSOGM4UGYzeC9Qbno3Rnc0VUpJSkJMY3VYTUhkbloyUWo1dzJYMG9TK1hUdUhGamhYYVF1aEcxdWJtNUNyTUgxQ21wdHFlZG5aMlF1clpXclZxd3M3TURBS0d6WGZZMUFFUkdSbUxseXBWNC9mbzEzTjNkMGFOSEQ3bGpGbmNHK3BVclYzRGx5aFc1WmI2K3ZnQ0FIVHQyb0c3ZHVzTHk3T3hzTEZ5NEVKbVptZkQwOUJRR2lzbm82K3RqNXN5WitQbm5uekYvL255c1dyVksrRG1xVXExYU5heGR1eGFQSGoxU0NCUUFnRWdrd3BRcFUyQnFhb3BhdFdvVjY5N28wMUNSbjBlZE9uVVNPdkg5L1B4dysvWnRoYzc2ZnYzNklURXhFWjZlbmhnd1lFQ1JmVVFsZmIrYWtNMmdJdEpXREJhVWtvQ0FBQnc3ZGt4dTJjR0RCNHQ5bkcrLy9WWXVIMzUrZmo0MmJkcUVEaDA2b0YyN2RocmxRSk5JSkNvZmRJbUppUUNBeVpNbmYxU25jMnBxYXBHRnN1TGk0bkRyMWkyVjY5V055RkFsTnpjWDc5NjlLL1orNzB0TVRNU3VYYnVFRjZ1aXZxZm56NS9INzcvL0RuTnpjeXhhdEFocGFXbElUMCtYZTFFK2NlSUV1blhySm55OVlzVUt0R25UUnU0NFc3ZHVoYjI5UFFZTUdJQ1FrQkNzV0xFQ05qWTJBSURaczJkajNMaHg4UFB6dy9qeDQrSHY3NDg3ZCs1ZzdkcTFNREl5UXFkT25mRDU1NS9qMEtGRCtPS0xMOVMrVkFZR0Jtcjh2V2pXckpuRzJ4SVJFUkVSYVlPSzNyWWJQbnc0SmsyYUJBQm8yYklsZ29PREVSa1pLZFFkaUl5TVZFamRveXlWejZsVHA1VG01RmJYb1I0UUVLQTBYUkVnbjhJVktMbTJwNmFDZ29Ld2V2VnExSzFiRjVzMmJWS29Yd0NvVDIvN3ZxU2tKUGo3KzZOYnQyN0NUSWJDM2srcmtwZVhoOFdMRitQcDA2Y1lOMjRjbWpkdnJuU2ZGaTFhWU96WXNkaXhZd2ZtekprRFQwOVBZVWFFekJkZmZLRnk4Ti83MVAyY2RIUjBjT0hDaFNLUFFSVmZSWDhlRlVVa0VtSHMyTEd3c2JIQnVuWHIwS3BWSzdYYmw5Yjlxcko2OVdva0pTVmg3OTY5K09HSEg0VGxjK2JNUVhwNnVrYm5LU3F0R0ZGRngyQkJLZHUwYWRNSDc2dXNDTXRmZi8yRm16ZHY0dFNwVTZoVHB3NEdEUnFFWHIxNnlhVzhLVXdpa2FpY3Fpb2IzV0ZwYWZuQjF3a0FMMTY4d01LRkM5VnVFeHdjak9EZ1lKWHJQeVJsenNlU1NxWHc4dkpDZW5vNit2ZnZqOGFOR3hlNXozLys4eC9jdjM4ZmxTdFhocm01T1N3c0xHQm1aZ1lMQ3d1WW1wcENUMDhQTTJmT3hLRkRoNFM4b0lWZkR2UHk4dkRtelJ0WVdWbWhjZVBHMkw1OU83S3pzNFVSUHdBd2RlcFUxSzFiRnpFeE1ZaU5qVVZjWEJ4eWNuS0ViZnIyN1Fzbkp5Y2tKQ1FBS0pncXA2em84ZnIxNnpYK2ZreVlNRUhqYlltSWlJaUl0RWxGYk5zbEppYmk3ZHUzd29qWmhnMGJ3c2pJQ0tkT25jTGJ0MjlScTFZdElXOC9VSkJUL096WnM5aTllN2ZDc1EwTkRaV2U4LzAwc2U5YnNXSUYyclp0cXpJbmVPR1I3U1hWOXRSVWl4WXRNSExrU0F3ZE9sVDRua2trRXF4YnR3NERCZ3hBL2ZyMU5hN1RGaGNYQjM5L2Z6UnQybFNvbzZkS1RrNE9QRDA5RVJJU2dqNTkraFM1L1pBaFE1Q2NuQXgvZjMrNHVycGkzcng1Y2pVVmR1N2NxWFMvYytmTzRkaXhZN0N4c1VGTVRBem16cDBMR3h1YkltY24wTDlEUlh3ZS9kLy8vUjhlUEhnZ3Q4MzdRYXozKzN5Ky9QSkxORy9lSERZMk5uank1RW1SMTF6Uzk2dkt6ei8vckhUNTh1WExQL2o4Uko4YUJndEttU3pIZlVteHM3UER3WU1IY2VIQ0JSdzVjZ1JyMXF6QnZuMzdNR2pRSVBUdDIxZnBpMEZ1YnE3S0I3eHNPcGNzMWMySGF0bXlKYzZjT2FOeWZlL2V2VEZ3NEVDRlBJM0t5RWFjeUdSbFpTRXhNVkZsNWZtUHFUQy9kKzllM0w5L0gwWkdSaW9MUkJWV3BVb1ZlSGg0cUozUjRPSGhnV2JObWdsVFZLOWR1NGJXclZzREtBaFFYTDE2RlZLcFZNZ2RXcjE2ZFkybXdJNFpNMGJsdXVIRGh5dE50MVRjSU16Ky9mdUx0VDBSRVJFUmtUYW9pRzI3WjgrZVFTUVNvVjY5ZXNLeTBhTkhJems1R2RPbVRjT2tTWlBrUnRTYm1wb0NnTkpSOXFxOG55YjJmU3RXckVEdDJyVlZyaStzcE5xZW1yS3lzc0ozMzMwbmZDMlZTckZxMVNwY3Zud1pMVnEwS0ZZZEI5bG8vNHlNRExYYkpTY25ZOUdpUlhqNDhDRjY5dXlwY1RIbThlUEhvMUtsU3RpL2Z6OG1UWnFFYjc3NUJzT0dEWU9KaVluQ3orck5temZZc21VTHJsMjdoc21USitQdDI3Zll1M2N2dG0zYmhweWNIUFR1M1J2OSsvZG5ZZU4vdVlyNFBCbytmRGhTVWxJQUZNd0llUGJzR1diT25DbXNEd29LUW1ob0tHYk1tQUY5ZlgwaHM0SW1TdnAraVVnMUJndEtpWTJORFJ3Y0hBQUF4NDhmeDVZdFd6VGU5OHlaTTlEWDE0ZURnd09zcmEwVjF1dnA2YUZQbno3NDhzc3ZjZTdjT2ZqNCtHRGJ0bTA0ZWZJazl1elpvekNMSUM4dlQyV3dRUGF5STV1MldoeSt2cjdDQzRoSUpDcHkrcG1Pam81R1U5UUtGNXc2ZGVvVVRwMDZCUmNYRjRXaVQ3bTV1ZERSMFNubWxSZTRldlVxRGg4K0RBc0xDMGlsVXN5Yk53OFhMMTdFaXhjdkVCY1hoODZkTzZ2YzE4ZkhCejQrUG1ydm9YWHIxbkJ5Y3NLbFM1ZXdhdFVxdWZVNk9qcHdkSFNVTzRlNlR2MDllL2JBeDhmbmcyZGZTS1hTSXFldWlzWGlEem8yRVJFUkVkRy9XVVZ1MnoxNjlBalcxdFp5cVd1c3JLeXdiOTgrVksxYUZWOSsrV1Z4YjFjcFpUVU9nSUtPYTJYcmxLWHFLWW0yNTRNSEQ1Q2RuWTBYTDE0QUtBaVd5UHp6eno4QWdIdjM3Z25MWkFPMjh2UHo0ZVhsaGN1WEwyUGl4SW40L1BQUGhXMGtFa21SNXpjek00TllMQlk2UWxWWnZYbzFIajU4aUg3OSttSFNwRW5GR3RnMmN1UklOR2pRQUt0V3JZS2ZueDhhTldva1Y2QTRJeU1EcDArZnh1SERoeUVXaTdGa3lSSzBiOTllS0JhOVk4Y09uRDU5R2dFQkFmRHo4MFBQbmoweGFOQWd1VG9LOU9tcnlNK2o5dTNiQXlqb3A5bThlVE9BZ21DanJLL2grdlhydUhIakJ1TGo0N0Y0OFdLbG1SSEs4bjVWOGZEd2dLZW5wOGJiRS8zYk1GaFFTbnIzN28zZXZYc0RBT3p0N2RXK0VFa2tFZ1FHQmlJbUpnWlZxbFFST3IrOXZMelVua05YVnhkOSsvYkY1NTkvamhNblRzRFEwRkJwdWlGMXdZSU9IVHBvOUlCKzM5bXpaNUdRa0NBVXU5SzBLTlN4WThjVWNzMFZkdWJNR2JtSHNvZUhCeHdkSGVIczdJenExYXZqMTE5L2xkcytQVDM5ZzZaWmhvV0Z3Y3ZMQzNwNmVsaThlREc4dmIyUm1wb0tBTmk0Y1NQKy9QTlBkT25TQmE2dXJtcUw0SncvZjE1aDJmc3Y1RVpHUnZEeThrSk9UZzV5Y25JQUZBUldqSTJOaFo5VlRrNE8zcng1by9aNlpTL1c4Zkh4UmQ2YnNrSlh3Y0hCUmFhSktvODBVRVJFUkVSRUZWMUZidHRGUlVVcDdaanYyN2N2T25UbzhGRkZPdDhmbEtWcWhQeTFhOWR3N2RvMWhlWEsyaFlsMGZaY3ZueTVYSnRveDQ0ZEN2dTR1Ym5KWFVkbVppYVdMVnVHdTNmdllzYU1HZmppaXkrRTlWRlJVUmcvZm55UjEzSHg0a1ZVcVZKRm1CMmh5b3daTTNENzltMVVxbFJKTGlDaGlaNDllMkwyN05uWXZYczMvdmpqRHpnNk9nSW9LTko4K2ZKbFhMaHdBWm1abVdqZnZqMm1UWnVta003SnhNUUV3NFlOdzhDQkEzSG16Qm40K3ZvaUtDZ0lIVHAwd1BEaHcxWFdXcUJQUzBWK0hzbmN1blZMNk1PWU9YTW0yclZyaDJIRGhzSFIwUkhHeHNaWXVIQWhwazJiaGxXclZoVTVBNllzN3Jldzk0T0NyMTY5d3JKbHl5Q1ZTalhhMTh6TURFdVhMaTNXK1lncUdnWUx5a0Q5K3ZWVlRuRU1Dd3ZENXMyYkVSY1hoMisrK1FhalJvMVNXVjlBRlFNREEzejc3YmNBQ2thUVIwUkU0TXFWSzlEUjBjSGt5Wk9SbloydE1salFwazBiaGNLN1JibHg0d2JldkhranZIaXF5bUVKQUJFUkVRZ01ESVJJSklLTmpRMUdqQmloOXRoNmVucm8yTEdqM0RJckt5dGhXZUZnUVdKaW9qQ1ZWbE5oWVdHWVAzOCtwRklwNXN5Wm8vRFNOSC8rZkd6ZXZCbFhybHpCdlh2MzhNTVBQMkRBZ0FFZmxPNW8xNjVkOFBYMXhjV0xGK1hTS0VtbFV0eTZkUXVkT25WQ1JFU0UzQXV0T3U5UG8xVkZYYWYvbURGallHRmhJYmZzM3IxN1NsL3dpWWlJaUloSVhrVnIyeTFkdWhTWm1aa0t4Mm5XckJrc0xTMFZCaHVwR29Sa1lXRWhOd2hMV1NyYlBuMzZZT0RBZ1dxdi8vang0d2dNREZTNnJpVGFucXRYcjRaRUlzR0RCdy9nNWVXRnVYUG5DdWxKQWdJQ2NPTEVDZXpidDAvWS84V0xGL0QwOUVSeWNqS1dMRm1DZHUzYXlSM2YwdEpTcnNqeGpSczM4T2pSSTZXRmoydldyQ25NWGxDbGN1WEtjSEZ4UVd4c3JOd3hidDY4aVVlUEhtSHMyTEZLMjVXN2QrOFdha2FZbTVzTGdZS3dzRENodlYyL2ZuMzg4TU1QNk5TcGs5eStYMzc1cGR3eUF3TUREQnc0RUwxNzk4YUpFeWR3NU1nUlRKa3lCY3VYTDljNDlTNTlHaXJhODBqRzM5OGZPam82eU0vUFI1czJiYkI3OTI3azVPVGcrKysvUjl1MmJlSHA2WW5kdTNjckZQTXU3L3RWcG1iTm10aXdZY05ISDRmb1U4SmdRVGxhdUhBaGJ0MjZCWHQ3ZTNoNGVIenc5RUNwVklySGp4L2oxMTkveGZYcjE1R1ltQWlSU0lTaFE0ZENLcFZDSXBHVWFKR2o5UFIwdVE1NlZUa3FIejU4aUkwYk42SnAwNmI0NG9zdnNHN2RPdFN0V3hkMmRuYkNOdG5aMlRodzRBQ3FWcTJLQVFNR0ZQdGEvdnJyTDVpYW11TGV2WHRvMGFLRjJ1STdBSERseWhWNGUzdERLcFZpN3R5NVNxdlVtNXViWTg2Y09YQnljc0s2ZGV1RWZKQXpac3hBblRwMTVMWXQ3clRlL1B4OC9QcnJyL0R4OGNHTEZ5OHdlZkprOU8zYlYyMjlCMlVpSXlQeC9QbHp1TGk0RkdzL0p5Y25oVUpqV1ZsWkRCWVFFUkVSRVgyRThtemJHUnNiS3oyV3VvRkdoZGZKWm5UTFpHWm1LaHpYek14TUxuLytwRW1UMEsxYk42RXpVYlpOU1NyYzlwVE5vdjc3Nzc4QkZCUlJsclZ2Wk52SnZnNEpDY0dpUll0UXUzWnQvUExMTDNKcFNMS3lzbUJrWkFSemMzTzVJc2R4Y1hGNDlPaVIwc0xIZGVyVXdZVUxGeUNSU0lwTTRXcGpZeU4zakVlUEhzSGMzQnhEaGd4UnV2Mk9IVHVVemdKcDA2WU54b3daZzBhTkdxa010T3pldlJ1M2I5K0d2NysvM0hKWlI2K0xpd3VPSFRzR2UzdDd0ZGRNL3g3bCtUd0tDd3ZENDhlUDBibHpad1FIQjJQRWlCRklUazZHbjU4ZnZ2enlTOVNvVVFNT0RnNVl2Mzc5QjZlVUxxeWs3cGVJQ2pCWVVBcHljbkpVNW5SODM2MWJ0OUNpUlF0ODk5MTNTRTFOeFI5Ly9LRjB1MWF0V2lrc2swVjFiOXk0Z1pzM2J3b1A3Ull0V21EbzBLSG8xcTBiS2xldWpLeXNMQUNRZTRBL2Zmb1VrWkdSSDNSdmZmcjBRWHA2ZXBGRnFhNWZ2dzR2THkvWTJ0cGl5WklsTURFeHdjbVRKN0Zod3dhc1diTUdZckVZTjIvZXhOYXRXeEVmSDQrV0xWdWlkKy9leFpvbSsvejVjNlNrcEVBaWtjRE56UTArUGo2b1ZxMGEyclp0cTFBb1J5cVZDcVA4alkyTjRlN3VqZzRkT3FnOWZ1Zk9uZEdzV1RPc1diTUd3Y0hCR0Q5K1BFYU9ISW1oUTRjSzI3dy9ha1htKysrL1YxaVdscGFHb0tBZ25EaHhBcTlldlVMdDJyVXhjekYwNnhvQUFDQUFTVVJCVk9aTTlPelpVNk42RDRYZHVYTUh2cjYrK1BycnI0dTFIeEVSRVJFUmFhNml0KzNVS1Z3M0RTaEkrM3IxNmxXRmRZVTcxMUpUVTR0TUdSUVZGWVVXTFZxbzNhYTAycDZ5Tks3cXJ2R3p6ejdEb0VHRE1ITGtTTGtSeHNlT0hjUHAwNmV4ZHUzYVloVUJidENnQWM2Y09ZUG56NStqWWNPR3hiaVRna0Z1cW9wSzUrVGtRQ3FWQ2pNTDNwZVptWW1xVmFzaUtTa0pRVUZCU3ZkLzlPZ1JqSXlNVks0SENvSVhPVGs1SlRMU21zcFBSWDhlNWVmblkvdjI3V2pZc0NHYU4yK080T0JnQUlDcnF5dWNuWjJGWUY5R1JnYVNrNU9GZjArZlBnVUFlSHQ3SXlrcENVbEpTVml4WWdWTVRVMUwvWDZKU0JIL1VwU0NOMi9lWU1hTUdScHRHeDRlWHVTMnNyUXlPVGs1K1AzMzMzSHIxaTM4OXR0dlNFbEpnVWdrUXRPbVRURmt5QkE0T2pvcXZPeGtaMmNEZ055TFIwaElDUGJ1M1Z1TU8vb2ZGeGNYWkdSa29GNjlla3JYWjJWbENZV1ZnSUtIdld4RXl2VHAwekYxNmxSNGUzdmoxYXRYZVBEZ0FSd2NIREJ6NXN3aUg5cFpXVm00ZWZNbUJnNGNpTkdqUndNb3lGOEpBTjI3ZHhmT0J4VGtzWHkvbUc5OGZEeFdyRmlCaUlnSVZLOWVIWjZlbmlxbnJoVm1ibTZPUllzV0lUQXdFRnUzYnNYTGx5L2xwbzBXSHFXdnlyZmZmb3U4dkR6WTI5dGozTGh4Nk5LbGk5eHh2dm5tRzd4OSsxYWpZNzJ2Y0wySW91b09QSGp3QUs5ZXZaSmJGaHNiVyt6ekVoRVJFUkZwZzRyZXRsTkhXUnZyN3QyN0t0ZTk3OVdyVndvRHNONlhrNU9Edkx3OHVWU3J5cFJXMnpNNk9ocTZ1cnBxQjdHWm01c0xiVWVacTFldll2djI3ZWpjdVRNcVY2NWNyT3RwM3J3NUFPQ1BQLzRvVnJBZ1BqNGVzYkd4U21lMUE4QzdkKzhBUU9uM01pVWxCZDdlM2hxZHA2anRtamR2cm5JV0NuMGFLdnJ6eU5mWEY4K2ZQOGZDaFFzUkZ4Y25MTmZSMGNIZXZYc1JHeHVMTjIvZUNQVWNDM3YwNkJHcVZLa2kvTTZYMXYwU2tYb01GcFNDcWxXcktpMjBWTmlQUC82SUhqMTZZUGp3NFVWdXUzUG5UcHc4ZVZKNGtXalVxQkdHREJtQzd0MjdxeTNBSzh0ZitmNkx4NkJCZzlDblQ1OGl6Nm1NckVPNzhBZ09xVlNLeTVjdlkvZnUzWGo5K2pYcTFLbUR2Ly8rVys1bDVMUFBQc1BFaVJPeGNlTkdHQnNiWTgyYU5XcEhvcVNucHdNb0tKcDE0c1FKWkdkblkrUEdqVEEzTjhlTEZ5OXc1c3dadEduVEJvMGJONVlMRmdBRnVUTHYzcjBMZDNkM3ZIMzdGcEdSa2VqV3JSdW1UWnRXN0JvSFFNR29sbGF0V2lsOHJ6VXQ3anh3NEVCODlkVlhjc0dGWDM3NUJRNE9EdWpTcFFzMmJ0d0lpVVFpckh2eTVBbFNVMU1WY21yS0hEdDJER2ZQbnNYdTNidUxkUi9GTGV4RFJFUkVSS1ROS25yYnJqUmtaMmNqTGk0T25UdDNWcm1OYk1CUlVTUHpTNlB0Q1JSMDJOdmEyaFpycFB6NTgrZXhkdTFhTkczYUZIUG16Q2xXVFRxcFZJcTZkZXVpUm8wYXVIbnpKZ1lOR2lTc3UzLy9QZzRjT0lEeDQ4Y3JEU0tjUEhrU0FOQ3RXemVseDViVmtWRFdrVityVmkyMUhad0hEeDdFdm4zN1VLdFdMWWpGWW16YXRLblVQeDlVZmlyeTgwZ3FsU0lnSUFBdFdyUkFseTVkNE9mbko3ZDk5ZXJWVWJWcVZWU3RXaFZWcWxTUisrK3BVNmZnNStlbjBMK1JsNWRYNHZlcmlmejhmQ1FsSlJXWlVVT2Q1T1JrdVVHc1JKOFNCZ3RLZ2E2dXJzWTUwa3hOVFRYYTF0VFVGRFZxMUVDUEhqM1FvMGNQalVlMC8vWFhYd0FLQ2pmSkdCZ1lmSEFOZzZpb0tBQVFpdVRtNWVVaEtDZ0l4NDRkUTB4TURLcFZxNGJseTVmaitmUG4yTDU5dThMK1RrNU95TXpNeEs1ZHU3QjkrM1pNbVRKRjdvVXFJeU1EeDQ0ZHc3MTc5L0Q0OFdNQUJkL1BBUU1Hb0Z1M2JtalVxQkZTVWxLd2NPRkM2T25wWWZMa3lYanc0SUhDZWRMVDAzSHYzajNrNStlalljT0cyTHAxcTBLOWdlSlNObTFVV1dmOW1ERmpGSmFOSFR0V1lWbHdjRERldm4yTExsMjZLUHc4MTYxYmg0Y1BIOExTMGxJdWQ2aU1MT0NoYWlxckt0N2UzcWhldlhxeDlpRWlJaUlpMGxZVnZXMVhHaUlpSWlDVlN0RzRjV05oV2ZmdTNlVm1aOHRxcm0zYXRBbmg0ZUVZTUdBQUdqZHVqUHIxNjZONzkrN0NkaVhaOXBTSmpvN0dzMmZQbE5ZVlVFWXFsZUxRb1VQWXQyOGY3TzN0NGVucHFmU2Fjbk56aGRRcUFRRUJlUG55SldKall4RWJHNHRtelpwaHpwdzU2Tm16SjN4OGZQRDA2Vk9oSGZ2MzMzL2p6ei8vVkRwYSt2SGp4MElIcXF3UWMyRXBLU2tBVU94aXJ4RVJFVGgwNkJDNmR1MkswYU5IdzlYVkZmUG16WU9ucHlkbkVQeExWZVRua1Vna1F1L2V2ZEdqUncrbDIwK2ZQbDNsc1ZUVm5peU4rOVhFeUpFanNYejVjbUgyeEljd01EREFxRkdqU3VSNmlNb2Fnd1dmaU1HREI4c1ZqdEpFYW1vcWZIeDhBQUF0VzdZc2tlc0lDd3NEOEwrY2xtS3hHTkhSMFlpUGo4ZTMzMzZMRVNOR3dNaklDTStmUHhmMnljek14SzFidDNEKy9Ibms1ZVZoL2ZyMXNMYTJ4cG8xYStEcTZvcDI3ZHFoVjY5ZWFOMjZOUXdORGVIcjZ3c3JLeXNNR3pZTWpvNk9jaStsTVRFeDhQRHdRSHg4UEJZdFdnUnJhMnNoV0NDVlNvWHRrcEtTb0tlbko3eFlmbXlnUUpXaU91dGxvMVh5OC9QbGl2Zms1K2ZqelpzM1FzNit3aFlzV0lDWk0yZGk2ZEtseU0zTlZWbEVXbE90VzdmRzd0MjdZV1ZseFR5VlJFUkVSRVRscUtLMDdWVDU5ZGRmSVJhTDRlRGdJQ3liTzNjdWdJSzIzZjc5KzNIcTFDbGg1dlNKRXlkdzVjb1ZmUGJaWi9qbW0yOHdlL2JzRXJtT3dtMVBtWU1IRHdLQVJtMmsxTlJVTEYrK0hHRmhZWEIwZElTYm01dGN2Ymh0MjdZaE1qSVNyMTY5d3V2WHI0VTI1ZWJObTJGZ1lBQXJLeXMwYU5BQTdkdTNCd0I4L2ZYWDhQZjN4NFlORzdCMjdWcm82dXJpeVpNbjBOSFJnWjJkbmR5NUl5TWpNVy9lUElqRllreVpNa1hsTmNwU1E2bEwrMVRZaFFzWHNISGpSbGhaV1dIYXRHa3dNek9EaDRjSEZpMWFCRmRYVi96ODg4OUMyaVFpZFVyeWVUUnExS2hpemRpcHFEcDI3SWlPSFR1VzkyVVFsUnYyR3BhaHVMZzRtSnVidzlEUVVCZ2xvV2xoMjZLcXhNK2RPeGR4Y1hFd01qS0N2cjQrc3JPekVSMGRqZHpjWFBUbzBVUGpIUDFBUVU3RjA2ZFB3OFRFQkpVcVZZS0JnUUhFWWpHZVBYdUdFeWRPUUZkWFY1aVNLaEtKTUdIQ0JBd2JOa3h1eEljc2hkRGl4WXR4NTg0ZDVPVGt3TkxTRWdNR0RBQlFNQVd6WmN1V09IandJQzVjdUlDUWtCQVlHUm5oeUpFajJMdDNyOExvZDRsRWdwTW5UMkwzN3QzUTA5UEQwcVZMMGJwMWF3RC9HMm5pNStlSE5tM2E0TzNidDdoNTh5WWFOV3BVWm4rb25qMTdCa05EUXlGSUlvdU15NmJsK3ZuNXlZM00rZjMzMzVHWGw2Y3kxNldabVJtOHZMd3dhOVlzVktwVUNTa3BLZERWMVlXUmtSR3lzcklRSGg1ZXJORWlSa1pHS2dNYktTa3BrRXFsTURFeGdVZ2tRbFJVRkFNS1JFUkVSRVJxVlBTMjNlWExsNVV1ajQ2T1ZybStWcTFhc0xTMHhPWExsOUd1WFR0aE5uTjJkallpSWlJUUhCeU1LMWV1SUQwOUhYMzc5c1drU1pPZ282T0RiNzc1QmhjdlhvU3ZyeStXTFZ1R25UdDM0cHR2dm9HTGkwdVJLWEdLMC9ZRUNuS09YN3QyRFczYnRsWG9uSCtmVkNyRitmUG5zWFBuVHFTbHBlR0hIMzdBaUJFakZMWjcvZm8xWHIxNmhUcDE2cUJ6NTg2b1hiczJiR3hzWUdOamcrclZxeXUwSjZ0VXFZTC8vdmUvMkx4NU16dzhQREIwNkZEODl0dHZhTlNva1pDNy9kMjdkemg2OUNnT0h6NE1zVmlNK2ZQbkN3R1A4K2ZQNDlXclZ6QXhNWUcrdmo3aTR1Snc4dVJKV0Z0YnE1eDVJSk9WbFlYZzRHQWNQMzRjVDU0OGdiMjlQZHpkM1dGbVpnWUFhTisrUGJ5OXZiRnMyVEpNbXpZTmJkdTJ4VmRmZllWMjdkcHBYT2VDUGswVjVYbFVWdjB2SDNPL1JGUTA5Z2lXb2VuVHB5TXBLVWx1V2R1MmJVdmsySmFXbGdnTkRSVnlvb2xFSXRTc1dSUE96czRZTm14WXNZNWxhbXFLbzBlUHlvM1VsN0d3c01DNGNlTVVPdk1MVHcyVlZaOFBEUTFGOSs3ZDRlenNqRmF0V3NuOThUQTNONGVycXl0R2p4Nk40T0JnNU9ibXd0allXR2tuK0xadDJ4QVFFSUJXclZwaDVzeVpjaVB5MjdScGd5NWR1dURreVpNNGNlSUVBTURhMmhyang0OHYxbjEvREU5UFQ2R0FqMGdrRWdJWnpzN09DQTRPeHE1ZHUrUytuNGFHaHZqODg4L1Y1Z0UxTnpmSGxpMWJoR0pBaHc0ZGtsdnY0dUpTSXRkKzZkSWxiTnUyVFc2WmJPUU1FUkVSRVJFcHF1aHR1eFVyVmhSN3ZZdUxDMnJVcUlHY25Cd01IVG9VY1hGeFdMUm9FYUtqb3lHUlNLQ3JxNHYyN2R2ajIyKy9SZE9tVFlYOWRIVjE0ZUxpZ2krKytBSlhyMTdGd1lNSHNXWExGbHkrZkJtYk5tMVNleDNGYVh2bTVPVEF4OGNIaG9hR21EeDVzdHJqM3JoeEEydldySUdscFNWV3JGZ2h0TThLYzNkM0wzWUg1NEFCQTVDV2xvYURCdzhpTkRRVXdQOVMwY2JGeFdIU3BFbElTMHREM2JwMTRlYm1oZ1lOR2dqN3hzZkhLN1RyN096c01IdjJiS1dkdHBHUmtiaDY5U29pSXlQeCtQRmo1T1hsb1hidDJuQnpjMFBQbmowVnJyMXAwNmJZdVhNbi9QejhjT0xFQ1lTR2hrSXNGcU5ldlhybzA2Y1BldmZ1WGF4N3BVOURSWDhlbGJUU3ZGOGlBa1JTWlgrVi8rVThQVDFoYTJ0YjV2bkR6cDA3aC9qNGVPRkZxMVdyVnJDM3R5L1JjK1RuNXlNL1B4OWlzZmlqb3JxSmlZbkl6YzJGUkNLQlJDSkJmbjQrS2xXcXBIUjBoVEtSa1pGNDh1UUpuSjJkUzJRVVEwcEtDdTdmdnkrWC83S3duSndjNU9Ua1FFOVByOWg1TWNlTUdZT1ltQmkxeGFQZWQvZnVYZHk3ZHcvanhvMERBSVNFaENBcEtRbTZ1cnBvMkxDaHdsUlpxVlFxVjl4R0xCWVg2L3FlUFh1R1c3ZHVRU3FWUWlRU3dkcmFHdDI3ZDFjNUF5QWtKQVNob2FHWU9IRmlrY2QrOWVvVlFrSkNrSk9UQTRsRUFnc0xDemc1T1hIMENSRVJFUkZWZUxMODg3Tm16U3JUODFiRXRwMnpzek5Hamh6NVVlMWNpVVNDb0tBZ1lXRFMzcjE3a1o2ZWp1Yk5tNk5ObXpiQ2JJT2lydnZTcFV1b1diT21SaW1UaXRQMlRFcEtRa3hNak5MdmRVUkVCQ0lpSWpCMDZGQUF3SlVyVitSbVNKUzA2T2hvaElhR29tYk5tdWpTcFl1d1BDQWdBRVpHUm5CMmRsWm85MG1sVW1Sa1pPRGR1M2VRU0NRd01qSVNaZ1lvazVTVWhMRmp4OExLeWdxdFdyVkNseTVkTkU0dmxKT1RnOXUzYitQMjdkdDQrdlFwVnF4WThWRUZXNmxvbnA2ZWNIUjBoSk9UVTVtZXR5SStqL3o4L0xCOSszYU4rbGoyN05rREh4OGZqZnRqeXVKK2lmNnRSQnI4QWpOWVFFUkVSRVJFUkorazhnb1dFSlVWMllBeHF2aktLMWhBUktRcFRZSUY2cE9URVJFUkVSRVJFUkZSdVdDZ2dJaUl5aEtEQlVSRVJFUkVSRVJFUkVSRVdvN0JBaUlpSWlJaUlpSWlJaUlpTGNkZ0FSRVJFUkVSRVJFUkVSR1JsbU93Z0lpSWlJaUlpSWlJaUloSXk0bWtVcW0wdkMraXJIbDZlcGIzSlJEOTYvVHQyeGYyOXZibGZSbEVSRVJFcEVYWXRpTXFlV3piZlJnK2o2Z2ttSnViWThxVUtlVjlHZlF2SlJLSlJFVnRvMXNXRjFJUjJkcmF3dGJXdHJ3dmcraGZRU1FTOGZlSmlJaUlpTXFGZ1lFQk9uVG9VTjZYUWZTdndMYmRoM04wZEN6dlM2Qi9BWE56OC9LK0JOSnlXaDBzY0hKeUt1L0xJQ0lpSWlJaW9vOWdhR2pJdGgwUmxUcytoNGpvMzRBMUM0aUlpSWlJaUlpSWlJaUl0QnlEQlVSRVJFUkVSRVJFUkVSRVdvN0JBaUlpSWlJaUlpSWlJaUlpTGNkZ0FSRVJFUkVSRVJFUkVSR1JsbU93Z0lpSWlJaUlpSWlJaUloSXl6RllRRVJFUkVSRVJFUkVSRVNrNVJnc0lDSWlJaUlpSWlJaUlpTFNjZ3dXRUJFUkVSRVJFUkVSRVJGcE9RWUxpSWlJaUlpSWlJaUlpSWkwSElNRlJFUkVSRVJFUkVSRVJFUmFqc0VDSWlJaUlpSWlJaUlpSWlJdHgyQUJFUkVSRVJFUkVSRVJFWkdXWTdDQWlJaUlpSWlJaUlpSWlFakxNVmhBUkVSRVJFUkVSRVJFUktUbEdDd2dJaUlpSWlJaUlpSWlJdEp5REJZUUVSRVJFUkVSRVJFUkVXazVCZ3VJaUlpSWlJaUlpSWlJaUxRY2d3VkVSRVJFUkVSRVJFUkVSRnFPd1FJaUlpSWlJaUlpSWlJaUlpM0hZQUVSRVJFUkVSRVJFUkVSa1paanNJQ0lpSWlJaUlpSWlJaUlTTXN4V0VCRVJFUkVSRVJFUkVSRXBPVVlMQ0FpSWlJaUlxTC9aKy9PNDZxcUUvK1B2eThnU0lvb2FMamducGFhaWJtUXBaaWpxQWphdU9NNkxhWWxhajlUUnhOY0tmV3JacGxwWXhocUFtb3V1T2FXbGdwRkxwVVRJMUpUTnVIUWlPT09LTXZsL3Y3d3dSMXYzQXNYQlRYdjYvbFg5NXpQNTNNK2g5T2p6am52OC9sOEFBQUE0T0FJQ3dBQUFBQUFBQUFBY0hDRUJRQUFBQUFBQUFBQU9EakNBZ0FBQUFBQUFBQUFIQnhoQVFBQUFBQUFBQUFBRG82d0FBQUFBQUFBQUFBQUIwZFlBQUFBQUFBQUFBQ0FneU1zQUFBQUFBQUFBQURBd1JFV0FBQUFBQUFBQUFEZzRBZ0xBQUFBQUFBQUFBQndjSVFGQUFBQUFBQUFBQUE0T01JQ0FBQUFBQUFBQUFBY0hHRUJBQUFBQUFBQUFBQU9qckFBQUFBQUFBQUFBQUFIUjFnQUFBQUFBQUFBQUlDREl5d0FBQUFBQUFBQUFNREJFUllBQUFBQUFBQUFBT0RnQ0FzQUFBQUFBQUFBQUhCd2hBVUFBQUFBQUFBQUFEZzR3Z0lBQUFBQUFBQUFBQndjWVFFQUFBQUFBQUFBQUE2T3NBQUFBQUFBQUFBQUFBZEhXQUFBQUFBQUFBQUFnSU1qTEFBQUFBQUFBQUFBd01FUkZnQUFBQUFBQUFBQTRPQUlDd0FBQUFBQUFBQUFjSENFQlFBQUFBQUFBQUFBT0RqQ0FnQUFBQUFBQUFBQUhCeGhBUUFBQUFBQUFBQUFEbzZ3QUFBQUFBQUEyTVZvTk43ckxnQUFnREpDV0lDN0lqOC9YNTkrK3FreU16UHZ1SjBEQnc3b3lKRWp0OTFHWEZ5Yy92R1BmMWpkbDVHUm9iVnIxeW85UGQydXRrd21rNjVkdTFhb2paVXJWeW8vUDk5cW5WOS8vYlZrSFFZQUFBQnd6LzBSN3YxTDgxbkhtbFdyVmlrc0xFd21rNm5FZGE5Y3VYTGJ4eTJKdFd2WDZ1V1hYNzRyeDdMWGhRc1hsSkdSWWY2ZG5aMnRUWnMyNmZ2dnY3ZTdqWnljSEt2YlAvLzhjNzN4eGhzbHFnTUFnQzB1OTdvREQ3cHZ2dmxHa3lkUExuRzkzYnQzeTluWnVReDZWTHlyVjY4cUlpSkN1Ym01V3Jod29SNTY2S0U3YmpNeE1WSHZ2UE9Pamh3NW9wa3paOXBkejJReTZjS0ZDL0wyOXBaMDh5dVdqejc2U0FhRFFkSFIwWEoxZGJVby84c3Z2OGpIeDBmdTd1NVcyL3ZoaHgrMGN1Vks5ZTNiVjgyYU5TdTAvOUNoUTRxT2p0WmpqejJtbWpWckZ0dS95TWhJL2ZiYmIxcTBhSkg1bUtkT25WSmNYSnljblowMWZQaHdpL0pIang1VmVIaTRubnZ1T1lXRmhkbjFOd0FBQUFCdzc5M3Y5LzZsL2F4ampaK2ZuMkpqWS9YRkYxK29VNmRPZHRmYnQyK2ZsaXhab3Rtelo4dlB6OCs4L1p0dnZyR3JmbzBhTlZTalJnMjd5djczdi8vVkw3LzhZbmZmTWpNenRXSERCcnZMMjlLdlh6OTVlSGhZM2ZmKysrL3I2TkdqV3JObWpTcFhyaXpwWnFoUnQyNWR2ZjMyMjhXMmJUUWFOWG55WkpVdlgxNlRKazJTbDVlWGVWOTZlcnFPSFR0bVVkNWtNaWsyTmxhN2QrL1dPKys4bzJyVnF0M0JtUUVBSEFsaHdWMFNIaDZ1aGcwYkZsdnUwMDgvMWNhTkcrOUNqMnhidW5TcFRwNDhLVW1LajQvWGtDRkQ3cmpORGgwNnlOL2ZYNG1KaVVwS1N0SlRUejFsVjcyUkkwZnE0WWNmMWx0dnZTVkpLbGV1bklZT0hhcEZpeFpwMDZaTkdqUm9rRVg1U1pNbXljZkhSKysvLzc3Vjl2YnMyU09Ed2FEbm5udk82djVEaHc3SjI5dmI0Z2EyS0QxNjlGQjRlTGptelp1bm1UTm55bUF3S0NBZ1FBRUJBWXFMaTFPN2R1M1VxRkVqU1ZKYVdwcm16SmtqZDNkM2RlblN4YUtkclZ1MzJ1eXpQYnk5dmJWdTNicmJyZzhBQUFDZ2FQZjd2WDlwUGV2TW16ZFArL2Z2TDdMTW5EbHpOR2ZPSEp2NzkrM2JaL0g3eVNlZlZLVktsUlFSRWFFNWMrYm9pU2Vla0NTN1A2d2JObXhZb1RDbXRGeTdkazF4Y1hGMzNFNjNidDJzaGdXSERoM1M0Y09IMWF0WEwzTlE0T2JtcHY3OSsydkZpaFZLU0VoUSsvYnRpMnpiMmRsWm9hR2htajkvdmthT0hLa3BVNmFvZGV2V1ZzdG1aV1Zwd1lJRlNraElVSjgrZlN5Q0JRQUFpa05ZY0pmNCtQaW9kdTNheFpiejlQUzhDNzJ4YmVmT25kcS9mNzg2ZE9pZ2l4Y3ZhczJhTlhyaWlTZlV2SGx6dStvdldiTEU1ajRYRnhkVnJseFpSNDRjMGRHalI2MldlZnJwcDlXcVZTdno3K3JWcSt2RWlSUEt5OHVUaTh2TmYxMjdkZXVtZGV2VzZaTlBQbEd2WHIxVW9VSUZTVGVIZGw2NmRFa2RPblFvMU82dVhic2tTUWNPSEZDTkdqWDAzWGZmNmJ2dnZwTWsxYXRYVDAyYU5GRmFXcHBTVWxMMDZLT1BXZzFzZkh4OEZCQVFZTEd0ZGV2V0dqSmtpTmFzV2FPa3BDUzFhOWRPa2pSNjlHZ2RQMzVjUjQ0Y1VhTkdqWlNmbjY4Wk0yWW9OemRYYytmTzFhT1BQbXJSVHQyNmRSVVVGR1R6YjFlVXc0Y1BtLzgyQUFBQUFNckcvWHJ2WDlyUE9pTkhqalIvTURaNzltdzVPenZydGRkZVU4V0tGUXZWdTNyMXF1Yk9uU3RuWjJmTm5EblQ1dWg0YjI5dnpaa3pSK1BHamRPMGFkTzBZTUVDTlc3Y1dKTFV1M2R2OWUvZjMrWTVEeDQ4dUxnL2kxV1hMbDB5djV3dmNQbnlaUjArZkZnaElTSG1iVDQrUG9YQ2pWc1ZoQ2RGbGJFbEl5TkQ3N3p6am54OGZQVFNTeTlaN092ZHU3ZDI3dHlweFlzWHExbXpacXBTcFVxUmJmbjcrK3R2Zi91YlpzeVlvZW5UcDJ2bHlwWHk4Zkd4S0dNeW1UUnAwaVNkT1hOR0VSRVI2dGl4WTRuN0RBQndiTHhodkV2R2pSdDNyN3RRck9QSGoydkpraVdxWHIyNnhvOGZyOHpNVEkwZVBWcXpaczNTdSsrK0sxOWYzMkxiMkxadFc3Rmx0bS9mYm5OZnRXclZMTUlDZjM5L0pTVWw2WnR2dmxIYnRtMGxTVTVPVHVyZnY3OFdMMTZzK1BoNERSMDZWSktVbkp3c1NlYXZWRzYxYU5FaTh6OW5abVphL083ZHU3ZWFOR21pblR0M1NwSlNVMU9WbXBwYXFJMjJiZHVhYjZBek1qSjAvdng1U1ZLclZxMWtNcGxVdVhKbHBhU2ttTXRQblRwVkhoNGU1bTFCUVVIbTBLTmdXOVdxVlZXdFdqWDUrZm5aUFpyaDk1S1RrMjNPa1FvQUFBRGd6dHp2OS82bC9hemo1ZVZsL2hyOWpUZmUwTlNwVS9YSko1OW94b3daRm5XeXM3TTFjK1pNNWVUa2FQYnMyYXBYcjE2UmZhOVRwNDZtVHAycWp6LysyT0lsdnJ1N2U1bE1rN043OTI2RmhvYWFmMSsvZmwzaDRlRktUVTFWOWVyVkMzMlp2Mi9mUHRXc1dkUHFGRTYyUkVkSDY4a25uN1I2UFF2K1BsbFpXWXFNakN3MHZhK3JxNnNtVFpxa0NSTW1hUHIwNlZxNGNLSGMzTnlLUEY2MWF0WDB6anZ2S0NVbHBWQlFJRWtHZzBIanhvMlRoNGZIYlU4MUJRQndiSVFGZDhuOVBnM1JOOTk4b3hrelpxaDgrZkthUFh1MlBEdzg1T0hob2ZEd2NFVkVST2l2Zi8yci91Ly8vcyt1MFJIMTZ0VlRWRlJVcWZUcjZhZWYxbnZ2dmFlREJ3K2F3d0xwNXVpQ2YvLzczK3JSbzRkNTI5ZGZmeTBuSnllMWJOblNhbHNoSVNGNi92bm5MYmIxNjlkUDBzMmI2azgvL1ZRZE9uUlFlSGg0b2JyUFBmZWN5cFVyWi80ZEh4OWY2RHJGeE1TVStQd0dEaHlvRVNOR21IL241K2RyNmRLbDh2ZjNWNXMyYldRd0dJcHR3MmcwRmxxN0FRQUFBRURwK0NQYys1ZldzMDVnWUtEVjR5WWtKTmpjSjBsanhvd3B0QzArUHI3UWFJUzJiZHZhZmE2MjJPckhFMDg4WVRILy80NGRPelJnd0FBNU9Ua3BPenRiRVJFUlNrMU4xZENoUXdzRkJibTV1VnEvZnIydVhMbWlaY3VXcVdyVnFzWDJZKy9ldlZxN2RxMU9uRGloZDk5OTErS2M4dkx5Tkh2MmJQMzQ0NDhhTldxVUhuLzhjYXR0TkcvZVhDTkdqRkJVVkpUZWVPTU5SVVpHbWtmT0YraldyWnRkSDRjVmRYMmNuSnkwWjgrZVl0c0FBSUN3NEM2NW42Y2grdXl6ei9UMjIyL0wxZFZWYjczMWx1clhyMi9lMTdwMWEwMmVQRm56NXMzVGE2KzlwamZlZUVOdDJyUzVhMzN6OHZMU2swOCtxVU9IRGlrc0xNejhOVWE1Y3VVMGF0UW9jN25jM0Z4OStlV1hhdEdpaGMyL1libHk1V3p1KytTVFQzVGp4ZzBOSGp6WTZ0QlpvOUZvZGFxZnBVdVgzczVwU1pMVlJjNU9uejZ0aElRRWJkdTJUWFhxMUZHL2Z2M1VwVXNYaTZEQzNyNEJBQUFBS0QzMzg3MS9hVDNyUkVkSDIzdEt4YXBRb1lKeWMzT1ZuWjF0M3VicTZuckhIenI5UGhTUmJwN2o3Ny9jUDN2MnJQYnYzNitubjM1YUVSRVJTazVPMXZQUFAyOTFUYjV5NWNwcDJyUnBDZ3NMMDV0dnZxbTMzMzdiNXBSS2t2VHJyNzlxeVpJbDh2THkwdlRwMHkyQ2dweWNIRVZHUnVySWtTTUtDUWt4aHphMkRCZ3dRQmN1WE5DbVRac1VGaGFtaUlnSVBmTElJK2I5SzFhc3NGcHYxNjVkMnJoeG8zeDlmWldXbHFidzhIRDUrdm9XT3pvQkFJQ2k4SWJ4THJrZnB5SEt6YzNWOHVYTHRYWHJWbFd1WEZtUmtaRjY3TEhISk4yYy85L1oyVm1lbnA3cTFLbVQzTnpjTkdmT0hJV0hoNnRYcjE1NjhjVVhDOTJNbFpVZVBYcm8rUEhqMnJWcmwvcjI3V3Uxek1HREI1V1ptVm5rMXhTMkZBUU5uVHAxc3JncHU1WFJhTFI2MDE0d3oyWnBhZGl3b1dKaVlyUm56eDZ0VzdkT2l4WXQwdXJWcTlXdlh6LzE3Tm5UNm8xZmJtNXVrUThVQUFBQUFPN2NIL0hldjZUUE9nVWZ1R1ZsWmVucTFhc2xQaWNQRHcrTDU4Uk5temJwbzQ4K012OGVQSGl3WG5qaGhSSzNlNnZmdit3L2QrNmNWcTFhcFNlZmZOSmkrMk9QUGFhWW1CaDk4c2tuU2t0TDArdXZ2MTdrV2hGMTY5YlZLNis4b3NXTEYydlZxbFdGMWhnb2NPSENCVTJkT2xVbWswbXpaOCtXdDdlM3hiNVpzMmJwNU1tVDZ0eTVzOTN2QVY1NTVSVlZxRkJCSDMvOHNjYU1HYU8rZmZ0cTBLQkJxbGl4WXFHUERpOWV2S2dQUHZoQVgzenhoY2FPSGFzclY2NW8xYXBWV3I1OHVYSnljaFFjSEt3Ly8vblBMR3dNQUxndGhBVmx6TW5KU1U1T1RwbzZkYW9hTkdoUWJQbGR1M1pwMDZaTkZsOG03TisvWDdHeHNhWFdwK2pvYUowNmRVb0xGeTdVdi83MUx6Vm8wRUN6WnMxUzllclZ6V1VHRGh5bzJyVnJtNzhzZWZycHA3VjQ4V0xObmoxYlc3ZHUxUmRmZktIUTBGRDE2TkdqekVPRDl1M2J5OGZIUnhzMmJGQklTRWlobTJhVHlhUzFhOWZLMDlOVHp6NzdiSW5iTDFldW5LS2lvdlRiYjc5cCt2VHBHalZxbEdyVnFtWFJ2c2xrc3JncDkvWDFOVTkzdEhuelpuM3d3UWQySDIvbnpwMXlkWFZWeTVZdExZNXphMzlDUWtMVXZYdDM3ZHExUzNGeGNlWlFaK1hLbFlXK0pNckx5eU1zQUFBQUFNcklIL25lLzNhZWRRcjYvZUdISDlwOW5BSmp4b3pSYzg4OVovNzk5Tk5QbStmV256Tm5Ub25iczhlQkF3ZGtNQmpVdm4xN2krMkRCdy9XOU9uVDVlN3VycmZlZXN0aWJUeGJRa0pDbEpDUW9QWHIxOHZmMzcvUTlFR1ptWm1hTW1XS01qSXlOSFBtekVLTFY3Lzk5dHM2ZWZLa2V2WHFwVEZqeHBSb3VxVmh3NGJwa1VjZTBjS0ZDN1Zod3dZMWJ0ellZb0hpYTlldWFmdjI3VnE3ZHEyY25aMzE1cHR2cW0zYnR1WjNCVkZSVWRxK2Zidmk0K08xWWNNR2RlN2NXZjM2OVN0MkxRa0FBRzVGV0ZERy9QejhTalEzNE1pUkl6Vnk1RWlMYlptWm1VcExTeXUxUHExZXZWcXhzYkV5bVV6cTJiT25SbzBhWmRkUXhZWU5HK3B2Zi91YlZxeFlvZTNidDJ2NTh1WEt6OC9YZ0FFRFNxMXYxamc1T1duSWtDRmF0R2lSTm0zYXBNR0RCMXZzMzcxN3QzNzk5VmVOR2pXcXlCdm5LMWV1NkpkZmZyRzZ6OTNkWFJVclZsUnljckttVDUrdUpVdVdtRU9Rdkx3OGlrREJuUUFBSUFCSlJFRlVTYkpvT3pnNFdNSEJ3Wkp1WG1OcmMzUVdNQnFOMnJGamg5TFMwdVRsNVNVbkp5ZEowdno1ODRzOGJ4Y1hGL1hzMlZOZHUzYlZsaTFiVkw1OGVhdERqZ2tMQUFBQWdMTHpSN2ozTDgxbm5WdnQyN2V2eUg0WE1CcU42dDY5ZTZIdGRlclVVWjA2ZFNUWkRndCsvdmxuN2QyNzE2N2ovRjUrZnI2MmI5K3VsaTFiRmxva3VWMjdkbXJXckpuKytjOS9XbDBNMkpieDQ4ZHI4dVRKNW10M3F4czNic2pOelUydnYvNjZubjc2NlVMN0owNmNxS1NrSkZXb1VFRmR1M1l0MGJsMDd0eFpVNlpNVVhSMHRFNmNPR0ZlY0RvMU5WWDc5Ky9YbmoxN2xKV1ZwYlp0MjJyOCtQR0YxbFdvV0xHaUJnMGFwRDU5K21qbnpwMWF2MzY5OXU3ZEszOS9mdzBlUEZoTm1qUXBVWDhBQUk2SnNLQ00zTTUwT05ZODl0aGpXckpraWNYWEdYZnF1KysrMDRFREJ6UnUzRGk3dnE2NGxidTd1OGFPSGF0dTNicHA4K2JONnRPbmozbGZUazZPSkpYSi9Qa0Z4NHVOalZWQVFJQjhmWDBsM1J6bUdSVVZwUm8xYXFoWHIxNUZ0ckYvLzM3dDM3L2Y1djZISDM1WWYvM3JYelZ0MmpRdFdMQkFNMmJNa1BTL0cyaGJjMnMyYU5EQTVxaVI0OGVQYTlteVpVcFBUMWZmdm4wMWZQandFdjk5M056Y05IRGdRRWszdi94SlRrN1dnUU1INU9Ua3BMRmp4eW83TzV1d0FBQUFBTGdMN3RkNy83SjYxaW10NTlxaUpDVWxLU2twNmJicWZ2YlpaenA3OXF6Vk5TRWthZXpZc1FvTEM5UGN1WE8xZVBGaXU2NkhqNCtQb3FPanJZWUZWYXRXMVh2dnZXZHp4RUNWS2xVVUZCU2tNMmZPV0h3RW1KQ1FvSlNVRkkwWU1jSnEzZWpvYUpVdlgxN1N6WFVNQzRLQzQ4ZVBhOHFVS1pKdS9ydjMvUFBQcTEyN2RoWjF1M2Z2YnJITnpjMU5mZnIwVVhCd3NMWnMyYUoxNjlacDNMaHhtanQzYnFHRm5RRUErRDNDZ2pJeWFkS2tZc3NzV0xCQXJWcTEwcC8rOUNlYlpjcGl3V00vUHo5RlIwY1h1V0JUY1JvM2JteSthU21RbVprcDZXYWdVTnFjbkp6MCt1dXY2N1hYWHRPYmI3NnA5OTU3VDg3T3pwb3paNDR5TXpNVkhoNWU3RUpaQVFFQjZ0Mjd0OFcyOGVQSFcveCs2cW1uMUt0WEwyM2J0azFidG16Um4vLzhaK1htNWtxeS9iV05MVE5uemxSaVlxTDgvUHcwYmRxMDJ4NythVEtaZE9yVUtSMDhlRkNIRGgzU3VYUG5aREFZRkJvYUtwUEpKS1BSeUNKV0FBQUF3RDEwcisvOXkrcFpaLzM2OVhiMU96OC9YNE1HRGJLcjdPOFZ0NDZCcmNEaXhvMGJXclZxbGVyWHI2K25ubnJLYXBtR0RSc3FORFJVc2JHeFdyeDRzU1pNbUdCMys3ZFRybUFraHErdnIvcjM3Mi9lbnBLU0lrOVBUNXVqOHFPaW9xdyt6N1pxMVVvdnZ2aWlHamR1YlBORHYram9hQ1VsSlduVHBrMFcyd3VDcDZDZ0lHM2N1RkYrZm43RjloOEFBTUtDTW5McmtNT0RCdy9xSC8vNGgvN3lsNytvUW9VSzV1MExGaXhRblRwMVNqdzhzVFRjU1ZCZ3k5bXpaeVhKWW9HbjB0U2tTUk1OSHo1Y3ExZXYxcHc1YzFTcFVpV2RPSEZDQXdjT3RHdUVoTGUzZDZFNUo2MFpNV0tFdnY3NmErM1pzMGU5ZXZVeWo1Z291SG5MeWNsUlNrcEtzZTBrSmlhcWVmUG1HanAwcUM1ZnZxd1RKMDVZTGRlaVJZdEMyd3ErSWpwOCtMQVNFaExNRHduTm16ZFhhR2lvT25Ub29DcFZxdWo2OWV1U1JGZ0FBQUFBbElFL3lyMS9hVDNyL0Y1Qm1GQWNvOUZvVjdsYm1Vd203ZDY5VzA1T1RqSWFqVGFmVVF2Sy9ON0tsU3QxN3R3NXZmYmFhMFd1RFRCczJERDkvZTkvMSs3ZHUvWHd3dzlyMkxCaGhmWVhKU0VoUWFkUG55NjJYRkZPbno1ZGFLSGlBams1T1RLWlRPYVJCYmZLeXNxU3Q3ZTN6cDgvYjNPcXBwU1VGTG03dXhjNWxaT3ZyNjl5Y25MS1pCWUFBTUNEaGY5VDNBVjc5KzdWeVpNbkM2MUZJQlc5SGtHbFNwWEtaR1JCV2ZucHA1OGtTWFhyMWkyell3d1pNa1JwYVdrNmNPQ0FKT21aWjU3UlN5KzlWS3JIS0ZnQXEzcjE2bkp5Y2xKMmRyYWsvOTJVWDd4NFVSTW5UclNycmUrLy83N1lzZ1ZmbitUazVPamJiNzlWWW1LaXZ2cnFLMTI2ZEVrR2cwRk5temJWZ0FFREZCQVFJQzh2TDR1NkJYMnpkbU1KQUFBQTRNNDhhUGYreFQzci9ON1FvVU52KzFoRk9YSGloQTRjT0tEeDQ4Y3JOemRYRXlkT1ZNdVdMZlg4ODg5THV2bUNmdTNhdFpvN2Q2NHFWYXBVcVA3eDQ4Y1ZIeCt2ZHUzYXlkL2Z2OGhqT1RzN2E4YU1HUW9MQzlQSEgzK3N2THc4aTVFTXc0Y1BMN0orZW5xNlRwOCtYV3c1Vzg2ZVBhc3paODRVV29DNXdJMGJOeVJaSDZGLzZkSWxMVml3d0s3akZGZnU4Y2NmTjY5VkFRQ0FMWVFGWlN3OVBWM0hqaDFUbHk1ZHJLYjQrL2J0czdsb1ZISERNZTgzeDQ4Zmx5UTFhOWFzekk1eCtmSmw4M1JIa3ZUYmI3L3A5T25UTnVjTnZWMjNCaDRGTjI4Rk45RGUzdDZLaW9vcXRvMlhYMzVablRwMUtyUWdzelVyVnF6UTFxMWJ6Y2RxM0xpeEJnd1lvR2VmZmJiUVFsMjN5c3JLa2xRMlV6OEJBQUFBanU1QnZQY3Y2bGxIdWhtUTFLeFpVMTI3ZHRYdzRjUDF6VGZmcUVPSERxcFlzYUlXTEZnZ0Z4Y1hqUjA3MXVMNTFtUXlhZUhDaFhKMWRTMXlsSURKWkZKTVRJeldyRm1qdG0zYlNwSVdMVnFra3lkUFdpeVFYSzVjT2YzNDQ0OEtEdy9Yd29VTExmcDM5dXhaelowN1Z4NGVIdnAvLysvLzJYWE9ucDZlbWo5L3ZzYVBINis0dURqemlJUzdNVUo3NjlhdGtxUU9IVHBZM1gvdDJqVkpzdm9pdjJiTm1rVXVNaDBURTZQVnExZXJaczJhY25aMjF0S2xTM2syQkFEY0VjS0NNaFlkSGEzOC9Id2xKQ1NvWDc5K3FsKy92c1grM3IxN2EvVG8wZmVvZDZYbjZ0V3JPbkxraUNwV3JHalg4TmVTeXN2TDA0NGRPL1R4eHg4ck16TlRBd2NPbExPenM5YXVYYXZSbzBjcktDaElvYUdoOHZIeEtmVmpGNFFUQlYvd3VMaTQyRDBIcVllSGgxMWxQVHc4NU9Qam8wNmRPcWxUcDA2cVdiT21YZTJmUG4xYTBzMkZ0Z0FBQUFDVXJnZjkzdi8zenpxU3RHelpNdjM3My8vV3NtWExsSmlZcUVXTEZxbEpreWFxV0xHaUFnTURGUkVSb1l5TURNMmNPVk51Ym03YXNHR0RuSjJkTlhMa1NEMy8vUE5LVGs0dXRJWmZRU2l4ZWZObTVlVGtxSC8vL25yaGhSZjAwVWNmNmJQUFB0T2dRWU1VRkJSa0x1L3Y3NjlYWDMxVnk1WXQwNXR2dnFsWnMyYkp5Y2xKVjY5ZVZYaDR1SzVjdWFLMzNucXIwT2lMb3RTc1dWT0xGaTNTWC8vNlYrM2J0MC8vL2U5L05YLysvRHY1OHhYcjFLbFRpbytQVi9QbXpkVzRjV09yWlM1ZHVpUkpGbE1XMnlNNU9WbXhzYkZxMzc2OVhuamhCWVdGaFNraUlrS1JrWkdNSUFBQTNEYkNnakswZi85K0hUeDRVSU1IRDlheFk4ZjAybXV2YWVUSWtlcmV2ZnNETjFmZ3hvMGJsWk9UbytEZzRCSXZCRnlVSzFldWFQZnUzZHF5Wll2T25UdW4rdlhyYS9iczJlWkFvbTNidGxxeVpJbDI3TmloWGJ0MjZhbW5ubEpnWUtEYXRHbFRhTjdOK1BoNHhjZkhsN2dQUC83NG95UlpIZjVhV3ZyMzc2K0JBd2VXcU03bHk1Y1ZGeGNuU1hyaWlTZktvbHNBQUFBQVNsbFozUHVYMXJQT21UTm5kT2pRSWIzNDRvdVNWR2d0QUQ4L1AwMmZQbDJKaVlubTBRT0hEaDJTbTV1Yit2VHBveEVqUnVqZGQ5K1ZqNCtQeGJROUJ3OGVsSFJ6eEVCRVJJU2VldW9wclYyN1Z1dldyVlBYcmwzTng3dFY3OTY5OWV1dnYyckhqaDFhdm55NVhuMzFWWjA3ZDA0WEwxN1VLNis4b2padDJsZzlwLy84NXo4Mm4wbHIxYXFsSlV1V2FQNzgrUm8xYWxSSi9sUWxscHFhcW9pSUNEazdPMnZjdUhFMnl4MDllbFRTelhVRjdMVm56eDR0V2JKRU5XclUwUGp4NDFXcFVpVk5telpOczJiTlVsaFltQ1pNbUZBbUgvRUJBQjU4RDlZYjYvdklrU05IOVBiYmI2dHAwNllhTm15WSt2VHBvOW16WjJ2eDRzVmF0V3FWZVdHcm4zNzZTVnUzYmpVdjJHUXltV1EwR3BXZm42Kzh2RHpsNXVacXdJQUJOaGVjdWgvODhzc3YyckJoZzl6YzNFcDgwMnROVmxhV2poNDlxczgvLzF4ZmYvMjE4dkx5VkxObVRVMmFORW1CZ1lFV042ek5talhUQng5OG9DKysrRUpyMTY1VlltS2lFaE1UNWVibXBoWXRXaWdrSkVUdDJyVXpsMzNxcWFjc2p2WFJSeDlaL042d1lZUE9uVHVuR2pWcXlNUERRK2ZPbmRQNjlldmw0dUtpUng5OXRNaCtwNmVueTlQVFUrWExsemV2MzJEdmRiTzJZTmV0d3NQRGxaNmVMbmQzZDdtNnVpbzdPMXYvK3RlL2xKdWJxMDZkT3BYNk5Fd0FBQUFBYkx2Zjd2MUw2MWxuNWNxVmNuTnpVNDhlUFNUOUwwUTRldlNvZVowRFB6OC8rZm41S1M4dlQxOS8vYlZTVTFQMThzc3ZTNUtDZzRQMTIyKy9LVDQrWHIxNjlWTGx5cFVsU2ExYXRkTGpqeit1Q1JNbXlOZlhWN0d4c1ZxMWFwV2VlZVlaVFpnd3dlYmZJaXdzVEQvLy9MTTJiOTZzdW5YcnFrZVBIb3FLaXJJWVViQisvWHI5OE1NUGNuZDNWMFpHaHI3OTl0c2lQNmJ5OHZMU3ZIbnpiTzYvVXpkdTNOQW5uM3lpdFd2WHl0blpXZE9uVHplUE9ObTllN2YrODUvL3FHTEZpbkoxZFZWNmVycTJidDJxV3JWcTJSeDVVT0Q2OWV2Njhzc3Z0WG56WnYzd3d3L3k4L1BUMUtsVHpkZW9iZHUyV3JCZ2dlYk1tYVB4NDhlcmRldlc2dEdqaDlxMGFjTWFkd0FBdXhFV2xJRnZ2LzFXMDZaTlU2MWF0VFJ6NWt5NXVMakkwOU5UQ3hjdTFKZGZmcWtEQnc3b3h4OS9WUG55NVpXY25LeS8vLzN2TnR0cTFLaFJtUzBxVlZyMjdObWozTnhjaFlXRnlkdmIrNDdiTzNic21ONTg4MDFKTjc5Y2VlNjU1L1RNTTg4VStxcWxnTUZnTUEvaFBYSGloRDc5OUZNbEppWXFOVFZWcjczMm1ybGM0OGFORlJvYWFsSDM5emZRMmRuWmhiN0ljWE56MDVneFkxU2xTcFVpKy8zNjY2L3IvUG56RnR0YXQyNWQ5TW5hcVdyVnFqcDI3Smp5OC9NbDNUem42dFdyS3pBd1VJTUdEU3FWWXdBQUFBQ3d6LzEyNzE4YXp6b21rMG4rL3Y1cTJiS2xQRHc4Sk4wTUlUcDI3S2dQUC94UUgzNzRvZFZqKy92N0t5UWt4UHo3cFpkZVVzK2VQYzFCUWNFNXZmUE9PNUp1Zm13V0Z4ZW50bTNiS2lJaW9zand4TVhGUmRPbVRkT3JyNzZxdzRjUEt5Z29xTkRVUTNsNWVUcDA2SkNrbTBGTXMyYk5OSDc4ZUp0dGxxWDA5SFNOR1ROR1Y2OWVWYjE2OVRSNThtUTk4c2dqNXYxbno1NVZiR3lzUloyR0RSdHF5cFFwVnY4T3FhbXArdnp6ejVXYW1xcFRwMDRwTHk5UHRXdlgxdVRKazlXNWMrZEN6OGhObXpiVmloVXJ0R0hEQm0zWnNrWEhqaDJUczdPejZ0ZXZyNUNRRUFVSEI1Zk5pUU1BSGhnR2s4bGt1dGVkdU5zaUl5TVZFQkNnamgwN2xrbjdScU5SSzFhc1VHaG9xRHc5UFlzdGJ6S1psSitmTDVQSlpQN25BczdPenZka3lxTEF3RURWcmwxYjBkSFJkcFUvZVBCZ3FmNDlQL3ZzTXpWdDJ0VHUrVHQvNzhhTkc3cDQ4YUpxMUtnaDZYOWZ3dFN1WGR1aVhIcDZ1aXBVcUdDK1RsbFpXY3JJeUZCMmRyYnk4dkxrNHVLaTJyVnIyelhuNDY1ZHUzVDI3RmtaalVhNXVMaW9SWXNXOHZQenU2MysyNUtmbjYvOC9IdzVPenZiREU4QUFBQUFSeEVaR1NsUFQ4OGlwM2twQy9mVHZmL2RlTmJKek13MEw4UjdLdzhQajl1YUgvK25uMzVTblRwMTdKN0NOajA5WFRWcTFMRDVkeWg0bGpZWURLWCtuQlFWRmFXdnZ2cks3bWZqK1BoNHVidTdLekF3c05CQ3p5YVRTZGV1WGRPTkd6ZGtOQnJsN3U1ZTVIUzM1OCtmMTRnUkkxU2pSZzIxYU5GQ3p6enpqTjNUQytYazVDZ3BLVWxKU1VuNjhjY2ZOVy9ldkZMNXVBOEE4TWRsc09OL2tvUUZBQUFBQUlBL3BIc1ZGZ0IzUzBFSUFnREFuYkluTENoNnNrUUFBQUFBQUFEY0V3UUZBSUM3aWJBQUFBQUFBQUFBQUFBSFIxZ0FBQUFBQUFBQUFJQ0RJeXdBQUFBQUFBQUFBTURCRVJZQUFBQUFBQUFBQU9EZ0RDYVR5WFN2TzNHM1JVWkczdXN1QVBlY3A2ZW54bzBiZDYrN0FRQUFBTncybnUyQTB0ZXpaMC81K2ZuZDYyNEFBRXFad1dBd0ZGZkc1VzUwNUg0VEVCQndyN3NBM0hPZW5wNzN1Z3NBQUFEQUhmUDA5RlNMRmkzdWRUZUFCNExCWUZEZHVuWHZkVGNBQVBlSVE0WUZIVHQydk5kZEFBQUFBQUNVZ3NxVksvT01Cd0FBVUFwWXN3QUFBQUFBQUFBQUFBZEhXQUFBQUFBQUFBQUFnSU1qTEFBQUFBQUFBQUFBd01FUkZnQUFBQUFBQUFBQTRPQUlDd0FBQUFBQUFBQUFjSENFQlFBQUFBQUFBQUFBT0RqQ0FnQUFBQUFBQUFBQUhCeGhBUUFBQUFBQUFBQUFEbzZ3QUFBQUFBQUFBQUFBQjBkWUFBQUFBQUFBQUFDQWd5TXNBQUFBQUFBQUFBREF3UkVXQUFBQUFBQUFBQURnNEFnTEFBQUFBQUFBQUFCd2NJUUZBQUFBQUFBQUFBQTRPTUlDQUFBQUFBQUFBQUFjSEdFQkFBQUFBQUFBQUFBT2pyQUFBQUFBQUFBQUFBQUhSMWdBQUFBQUFBQUFBSUNESXl3QUFBQUFBQUFBQU1EQkVSWUFBQUFBQUFBQUFPRGdDQXNBQUFBQUFBQUFBSEJ3aEFVQUFBQUFBQUFBQURnNHdnSUFBQUFBQUFBQUFCd2NZUUVBQUFBQUFBQUFBQTZPc0FBQUFBQUFBQUFBQUFkSFdBQUFBQUFBQUFBQWdJTWpMQUFBQUFBQUFBQUF3TUVSRmdBQUFBQUFBQUFBNE9BSUN3QUFBQUFBQUFBQWNIQ0VCUUFBQUFBQUFBQUFPRGpDQWdBQUFBQUFBQUFBSEJ4aEFRQUFBQUFBQUFBQURvNndBQUFBQUFBQUFBQUFCMGRZQUFBQUFBQUFBQUNBZ3lNc0FBQUFBQUFBQUFEQXdSRVdBQUFBQUFBQUFBRGc0QWdMQUFBQUFBQUFBQUJ3Y0lRRkFBQUFBQUFBQUFBNE9NSUNBQUFBQUFBQUFBQWNIR0VCQUFBQUFBQUFBQUFPanJBQUFBQUFBQUFBQUFBSFIxZ0FBQUFBQUFBQUFJQ0RJeXdBQUFBQUFBQUFBTURCRVJZQUFBQUFBQUFBQU9EZ0NBc0FBQUFBQUFBQUFIQndoQVVBQUFBQUFBQUFBRGc0d2dJQUFBQUFBQUFBQUJ3Y1lRRUFBQUFBQUFBQUFBNk9zQUFBQUFBQUFBQUFBQWRIV0FBQUFBQUFBQUFBZ0lNakxBQUFBQUFBQUFBQXdNRVJGZ0FBQUFBQUFBQUE0T0FJQ3dBQUFBQUFLSWJKWk5LMWE5Y3N0bVZrWkdqbHlwWEt6OCszV3VmWFgzKzlHMTByMHViTm0vWGRkOStWU2x2bno1L1gyclZyWlRRYTc2aWRDeGN1S0NNancvdzdPenRibXpadDB2ZmZmMjkzR3prNU9WYTNmLzc1NTNyampUZEtWQWNBQU54RVdBQUFBQUFBUURFaUl5TTFjZUpFWGI5KzNienQxS2xUaW91TFUweE1US0h5UjQ4ZTFZZ1JJN1IwNmRLNzJjMUNQdmpnQXgwOGVMQlUydnJzczg4VUhSMnRiZHUyM1ZFNzc3Ly92bDU2NlNWZHVuVEp2RzN0MnJWYXRXcVZYZldOUnFNbVQ1NnNOOTU0UXhjdVhMRFlsNTZlcm1QSGpsbHNNNWxNaW9tSjBZc3Z2cWh6NTg3ZFVkOEJBSGlRdWR6ckRnQUFBQUFBY0wvcjBhT0h3c1BETlcvZVBNMmNPVk1HZzBFQkFRRUtDQWhRWEZ5YzJyVnJwMGFOR2ttUzB0TFNOR2ZPSExtN3U2dExseTRXN1d6ZHVsWHZ2Ly8rYmZmRDI5dGI2OWF0dTZOektjclJvMGR0N3F0VHA0N2MzZDBWR3h1cldyVnF5V0F3V0MzbjQrT2pPblhxV04xMzZOQWhIVDU4V0wxNjlWTGx5cFVsU1c1dWJ1cmZ2NzlXckZpaGhJUUV0Vy9mdnNnK09qczdLelEwVlBQbno5ZklrU00xWmNvVXRXN2QybXJackt3c0xWaXdRQWtKQ2VyVHA0Kzh2THlLYkJzQUFFZEdXQUFBQUFBQVFERmF0MjZ0SVVPR2FNMmFOVXBLU2xLN2R1MGtTYU5IajlieDQ4ZDE1TWdSTldyVVNQbjUrWm94WTRaeWMzTTFkKzVjUGZyb294YnQxSzFiVjBGQlFiZlZoOE9IRDh2RnBmQmovT1hMbDR1c2w1T1RZN09NbTV1YnlwY3ZiLzQ5ZGVyVVl2dHgvZnAxaFllSDI5emZxMWN2alIwN3R0RDJqSXdNdmZQT08vTHg4ZEZMTDcxa3NhOTM3OTdhdVhPbkZpOWVyR2JObXFsS2xTcEY5c0hmMzE5Lys5dmZOR1BHREUyZlBsMHJWNjZVajQrUFJSbVR5YVJKa3licHpKa3ppb2lJVU1lT0hZczlOd0FBSEJsaEFRQUFBQUFBTm1Sa1pPajgrZk9TcEZhdFdzbGtNcWx5NWNwS1NVa3hsNWs2ZGFvOFBEek0yNEtDZ3BTWGx5Y1hGeGZ6dHFwVnE2cGF0V3J5OC9PVG41L2ZiZlVsT1RuWjZ2b0kvZnIxSzdMZTNyMTd0WGZ2WHF2N3JMM1k3OWF0bTRZTkczWmJmUnc2ZEtqVjdkbloyWm81YzZheXNySVVHUm1waHg1NnlHSy9xNnVySmsyYXBBa1RKbWo2OU9sYXVIQ2gzTnpjaWp4V3RXclY5TTQ3N3lnbEphVlFVQ0JKQm9OQjQ4YU5rNGVIaDJyV3JIbGI1d01BZ0NNaExBQUFBQUFBd0liNCtIaHQzTGpSWXB1MU5RcUtNM0RnUUkwWU1jTDhPejgvWDB1WExwVy92Ny9hdEdsamMwcWZXeG1OUnJtNnVscmQxNkpGQ3ozNzdMTVcyMjdjdUtIbHk1ZXJWYXRXVnFmMldieDRzZFcySG5yb0lmUEw5NnRYcjJycDBxVjY5TkZIMWJ0M2IzT1pNMmZPS0RJeVVuMzY5RkhuenAydGpuZ29rSmVYcDltelordkhIMy9VcUZHajlQampqMXN0MTd4NWM0MFlNVUpSVVZGNjQ0MDNGQmtacVFvVktsaVU2ZGF0bTgwRnBXOFZHQmhvYzUrVGs1UDI3TmxUYkJzQUFEZ2F3Z0lBQUFBQUFJcHhKd3NWaDRXRkZkcDIrdlJwSlNRa2FOdTJiYXBUcDQ3NjlldW5MbDI2cUZ5NWNqYmJNUnFOTmwvSzE2MWJWeUVoSVJiYjB0TFN0SHo1Y3JWczJiTFFQc2w2V0xCeDQwYTV1YmtwUHo5ZnUzYnRVblIwdEs1ZHU2YUhIMzVZa3N3akpyS3lzdVR1N3E2RkN4ZHF6Wm8xQ2cwTlZWQlFrUGJ0MjJmUlhrNU9qaUlqSTNYa3lCR0ZoSVFVT3dwaXdJQUJ1bkRoZ2padDJxU3dzREJGUkVUb2tVY2VNZTlmc1dLRjFYcTdkdTNTeG8wYjVldnJxN1MwTklXSGg4dlgxN2ZZMFFrQUFPQi9DQXNBQUFBQUFDaEc0OGFOUzdXOWhnMGJLaVltUm52MjdORzZkZXUwYU5FaXJWNjlXdjM2OVZQUG5qMnR2dVRPemMwdE1rejR2YlMwTkVsU3JWcTE3SzdqNGVHaGd3Y1BhczJhTlVwTFMxUHo1czAxZHV4WTFhOWZYL3YzNzlmOCtmTVZHQmlvaVJNbjZ0MTMzOVhSbzBjVkhSMnR4WXNYYThPR0RYcisrZWYxN0xQUHltQXc2TUtGQzVvMWE1Wk9uanlwenAwN2E5eTRjWGIxNFpWWFhsR0ZDaFgwOGNjZmE4eVlNZXJidDY4R0RScWtpaFVycW5idDJoWmxMMTY4cUE4KytFQmZmUEdGeG80ZHF5dFhybWpWcWxWYXZueTVjbkp5RkJ3Y3JELy8rYzhzYkF3QWdCMElDd0FBQUFBQXNNSFgxMWN0VzdhVUpHM2V2RmtmZlBDQjNYVjM3dHdwVjFkWHRXelowdW9MKzNMbHlpa2tKRVRkdTNmWHJsMjdGQmNYcCtYTGwydnIxcTFhdVhKbG9WRUVlWGw1SlFvTHZ2MzJXMGtxY29xZzM0dUtpdExHalJ0Vm8wWU5UWnMyVFFFQkFlWnpXYng0c1dyWHJxMDllL2FvY3VYS2V1bWxsOVNtVFJ1MWJ0MWErL2Z2VjNSMHRKWXVYYXBXclZxcFVxVktldnZ0dDNYeTVFbjE2dFZMWThhTXNXdXFwUUxEaGczVEk0ODhvb1VMRjJyRGhnMXEzTGl4eFFMRjE2NWQwL2J0MjdWMjdWbzVPenZyelRmZlZOdTJiUlViRzJzK2orM2J0eXMrUGw0Yk5teFE1ODZkMWE5ZlA5V3JWOC91UGdBQTRHZ0lDd0FBQUFBQXNDRTRPRmpCd2NHU0pEOC9QNDBaTThabVdhUFJxQjA3ZGlndExVMWVYbDV5Y25LU0pNMmZQNy9JWTdpNHVLaG56NTdxMnJXcnRtelpvdkxseTF0OXdWK1NzQ0F6TTFPZmZmYVpuSnljTkh2MmJFMllNRUdkTzNjdXR0NmdRWVBrNit1cmJ0MjZ5Y1hGUlhsNWVmcnd3dzhWSHgrdnpwMDdhOUtrU2RxOGViT2lvcUtVbXBxcVNaTW02ZUdISDFhWExsM1V2bjE3cGFXbHFWS2xTcEtraVJNbktpa3BTUlVxVkZEWHJsM3Q2bmVCenAwN2E4cVVLWXFPanRhSkV5Zk1vVVZxYXFyMjc5K3ZQWHYyS0NzclMyM2J0dFg0OGVOVnRXcFZpL29WSzFiVW9FR0QxS2RQSCszY3VWUHIxNi9YM3IxNzVlL3ZyOEdEQjZ0Smt5WWw2ZzhBQUk2QXNBQUFBQUFBQURzMGFOQkFEUm8wc0xyditQSGpXclpzbWRMVDA5VzNiMThOSHo2OFJGLzBTNUtibTVzR0Rod29TVEtaVEVwT1R0YUJBd2ZrNU9Ta3NXUEhLanM3Mis2dzRMMzMzbE5tWnFZaUlpTDAxVmRmYWQ2OGVUcHo1b3orOHBlL0ZGbXZVcVZLNW5Ea24vLzhweFl1WEtpZmYvNVp3NGNQMTdCaHd5UkovZnYzbDYrdnIrYlBuNitYWG5wSmd3Y1BWcDgrZlZTK2ZIazFhdFRJM0ZhVktsVVVGQlNrTTJmT2FPVElrZWJ0Q1FrSlNrbEowWWdSSTZ5T05vaU9qbGI1OHVVbFNaNmVudWFnNFBqeDQ1b3laWXFrbTlmaStlZWZWN3QyN1N6cWR1L2UzV0tibTV1Yit2VHBvK0RnWUczWnNrWHIxcTNUdUhIak5IZnVYTFZ1M2RxdXZ5VUFBSTZDc0FBQUFBQUFnRHN3YytaTUpTWW15cy9QVDlPbVRidnRxVzVNSnBOT25UcWxnd2NQNnRDaFF6cDM3cHdNQm9OQ1EwTmxNcGxrTkJxTFhiQTNQejlmUzVjdTFlZWZmNjVPblRxcFk4ZU9DZ2dJVUlVS0ZSUVRFNk96Wjg5cXdvUUpjbloydHRuRzVjdVg5ZkhISDJ2bnpwM3k4UERRbkRsekNyMVliOWV1blQ3ODhFTzkrKzY3aW82TzFxWk5tOVN6WjA5MTc5NWRQajQrRm1WOWZYM1Z2MzkvOCsrVWxCUjVlbnBxd0lBQlZvOGZGUlVsVjFmWFF0dGJ0V3FsRjE5OFVZMGJOMWFyVnEyczFvMk9qbFpTVXBJMmJkcGtzYjBnaUFrS0N0TEdqUnZsNStkbjgvd0JBSEJVaEFVQUFBQUFBRmlSazVPamxKU1VZc3NsSmlhcWVmUG1HanAwcUM1ZnZxd1RKMDVZTGRlaVJZdEMyd3BHRUJ3K2ZGZ0pDUW5tZ0tCNTgrWUtEUTFWaHc0ZFZLVktGVjIvZmwyU2lnd0x6cDQ5cTRVTEYrcTc3NzVUeTVZdE5YSGlSRW1Td1dEUTJMRmo1ZXJxcW8wYk4rcnExYXVhUG4xNm9mb1hMbHpRNXMyYnRXM2JObDIvZmwxZVhsNGFObXlZc3JLeWRPalFJYXZIN05hdG15cFZxcVQ5Ky9jckppWkdzYkd4YXR5NHNjYVBINitHRFJ0YXJYUDY5T2xDQ3hVWHlNbkprY2xrTW84c3VGVldWcGE4dmIxMS92eDU3ZDI3MTJyOWxKUVV1YnU3Mjl3djNRd3Zjbkp5U2p6eUF3Q0FCeDMvWndRQUFBQUF3SXFMRnkrYVg3Z1g1L3Z2dnkrMjdMNTkreVRkZkNIKzdiZmZLakV4VVY5OTlaVXVYYm9rZzhHZ3BrMmJhc0NBQVFvSUNKQ1hsNWRGM2V6c2JFbXkraEpka3E1ZXZhcFhYbmxGbVptWjZ0R2poOGFPSFZ2b1pmaW9VYU5rTkJxMVpjc1cvZjN2ZnkvVXhySmx5M1R3NEVFMWFkSkU1Y3VYMTdmZmZxdkZpeGZiZGY2U05HUEdETVhIeCt2S2xTczJSMWVjUFh0V1o4NmNVZnYyN2EzdXYzSGpoaVRKM2QyOTBMNUxseTVwd1lJRmR2V2x1SEtQUC82NEhucm9JYnZhQWdEQVVSQVdBQUFBQUFCZ2hiZTN0Nktpb29vdDkvTExMNnRUcDA0YVBIaHdzV1ZYckZpaHJWdTNtbCtLTjI3Y1dBTUdETkN6eno2cmF0V3EyYXlYbFpVbHlmcExkRW55OFBEUXE2Kytxb29WSytycHA1KzIyYzZycjc2cURoMDZxSG56NW9YMmpSbzFTajE2OU5DVFR6NnBaY3VXNmR0dnY5WEdqUnVMUGFkVnExWnB4NDRkYXQrK3ZkcTNiNi9jM0Z5YjB4eHQzYnBWa3RTaFF3ZXIrNjlkdXlaSlZsL2sxNnhaMHh5NFdCTVRFNlBWcTFlclpzMmFjbloyMXRLbFMyMyt2UUFBUUdHRUJRQUFBQUFBV09IaTRtTDMrZ01lSGg1MmxmWHc4SkNQajQ4NmRlcWtUcDA2cVdiTm1uYTFmL3IwYVVsUzFhcFZiWmJwMnJWcnNlMFVUSEZrVGJWcTFRb0ZGcDZlbnNXMitmdEZsMjB0d256cTFDbkZ4OGVyZWZQbWF0eTRzZFV5bHk1ZGtpUlZxRkNoMk9QZUtqazVXYkd4c1dyZnZyMWVlT0VGaFlXRktTSWlRcEdSa1l3Z0FBREFUazczdWdNQUFBQUFBRGlLL3YzN2E4V0tGUm95WklqZFFjSGx5NWNWRnhjblNYcmlpU2RLcFI4RmF5QTRPZDJkMXdLcHFhbUtpSWdHVlZGMkFBQVRHVWxFUVZTUXM3T3p4bzBiWjdQYzBhTkhKZDFjVjhCZWUvYnMwWlFwVTFTalJnMk5IejllZGVyVTBiUnAwM1RxMUNtRmhZVXBPVG41anZzUEFJQWpZR1FCQUFBQUFBQWxrSjZlTGs5UFQ1VXZYMTQvL2ZTVEpNblYxZFd1dXNXOW5BOFBEMWQ2ZXJyYzNkM2w2dXFxN094cy9ldGYvMUp1YnE0NmRlcWtCZzBhM0ZhZnIxNjlxa1dMRnNuRHcwUHU3dTc2NXovL0tVbnk4ZkVwc3Q2T0hUdUtiYnRnMUlNMU4yN2MwQ2VmZktLMWE5ZksyZGxaMDZkUE40L0EyTDE3dC83em4vK29Zc1dLY25WMVZYcDZ1clp1M2FwYXRXclpISGxRNFByMTYvcnl5eSsxZWZObS9mREREL0x6ODlQVXFWTlZxVklsU1ZMYnRtMjFZTUVDelprelIrUEhqMWZyMXEzVm8wY1B0V25UeHVhNkR3QUFPRHJDQWdBQUFBQUFTdUQxMTEvWCtmUG5MYmExYnQyNlZOcXVXcldxamgwN3B2ejhmRWszcHcycVhyMjZBZ01ETldqUW9OdHUxOFBEUTk5OTk1MHlNek1sM1F3dFdyVnFwYUNnb0NMcmxXU0I0OTlMVDAvWG1ERmpkUFhxVmRXclYwK1RKMC9XSTQ4OFl0NS85dXhaeGNiR1d0UnAyTENocGt5WllqVlVTVTFOMWVlZmY2N1UxRlNkT25WS2VYbDVxbDI3dGlaUG5xek9uVHZMWURCWWxHL2F0S2xXckZpaERSczJhTXVXTFRwMjdKaWNuWjFWdjM1OWhZU0VLRGc0K0xiUERRQ0FCNUhCWkRLWjduVW5BQUFBQUFBb3FjaklTTld0VzFmRGh3Ky9xOGZkdFd1WHpwNDlLNlBSS0JjWEY3Vm8wVUorZm42bGVvejgvSHpsNStmTDJkbTUwRXZ3My92cHA1L2s2ZWxaNUhvR3YyL2JZREFVMmU2dVhidVVsSlNrV2JObUZkdGVVV1hqNCtQbDd1NnV3TURBUW9zZW0wd21YYnQyVFRkdTNKRFJhSlM3dTd0NVpJQTE1OCtmMTRnUkkxU2pSZzIxYU5GQ3p6enpqQjUvL1BGaSt5ZEpPVGs1U2twS1VsSlNrbjc4OFVmTm16ZFAzdDdlZHRVRkFPQkJZQ2p1aGtLRUJRQUFBQUNBUDZoN0ZSYmczakdaVE1XR0p3QUFvREI3d2dJV09BWUFBQUFBQUg4SUJBVUFBSlFkd2dJQUFBQUFBQUFBQUJ3Y1lRRUFBQUFBQUFBQUFBNk9zQUFBQUFBQUFBQUFBQWRIV0FBQUFBQUFBQUFBZ0lNem1Fd20wNzN1QkFBQUFBQUFKUlVaR1htdnV3QUgwTE5uVC9uNStkM3JiZ0FBY0VjTUJvT2h1REl1ZDZNakFBQUFBQUNVaGJwMTY2cHUzYnIzdWh0NFFCa01Cdjc5QWdBNERNSUNBQUFBQU1BZlZ0MjZkZFd4WThkNzNRMEFBSUEvUE5Zc0FBQUFBQUFBQUFEQXdSRVdBQUFBQUFBQUFBRGc0QWdMQUFBQUFBQUFBQUJ3Y0lRRkFBQUFBQUFBQUFBNE9NSUNBQUFBQUFBQUFBQWNIR0VCQUFBQUFBQUFBQUFPanJBQUFBQUFBQUFBQUFBSFIxZ0FBQUFBQUFBQUFJQ0RJeXdBQUFBQUFBQUFBTURCRVJZQUFBQUFBQUFBQU9EZ0NBc0FBQUFBQUFBQUFIQndoQVVBQUFBQUFBQUFBRGc0d2dJQUFBQUFBQUFBQUJ3Y1lRRUFBQUFBQUFBQUFBNk9zQUFBQUFBQUFBQUFBQWRIV0FBQUFBQUFBQUFBZ0lNakxBQUFBQUFBQUFBQXdNRVJGZ0FBQUFBQUFBQUE0T0FJQ3dBQUFBQUFBQUFBY0hDRUJRQUFBQUFBQUFBQU9EakNBZ0FBQUFBQUFBQUFIQnhoQVFBQUFBQUFBQUFBRG82d0FBQUFBQUFBQUFBQUIwZFlBQUFBQUFBQUFBQ0FneU1zQUFBQUFBQUFBQURBd1JFV0FBQUFBQUFBQUFEZzRBZ0xBQUFBQUFBQUFBQndjSVFGQUFBQUFBQUFBQUE0T01JQ0FBQUFBQUFBQUFBY0hHRUJBQUFBQUFBQUFBQU9qckFBQUFBQUFBQUFBQUFIUjFnQUFBQUFBQUFBQUlDREl5d0FBQUFBQUFBQUFNREJFUllBQUFBQUFBQUFBT0RnQ0FzQUFBQUFBQUFBQUhCd2hBVUFBQUFBQUFBQUFEZzR3Z0lBQUFBQUFBQUFBQndjWVFFQUFBQUFBQUFBQUE2T3NBQUFBQUFBQUFBQUFBZEhXQUFBQUFBQUFBQUFnSU1qTEFBQUFBQUFBQUFBd01FUkZnQUFBQUFBQUFBQTRPQUlDd0FBQUFBQUFBQUFjSENFQlFBQUFBQUFBQUFBT0RqQ0FnQUFBQUFBQUFBQUhCeGhBUUFBQUFBQUFBQUFEbzZ3QUFBQUFBQUFBQUFBQjBkWUFBQUFBQUFBQUFDQWd5TXNBQUFBQUFBQUFBREF3UkVXQUFBQUFBQUFBQURnNEFnTEFBQUFBQUFBQUFCd2NJUUZBQUFBQUFBQUFBQTRPTUlDQUFBQUFBRHVJemR1M05ETEw3K3MxYXRYUzVMMjc5K3Z0TFMwSXV1WVRDWmR1M2JOWWx0R1JvWldybHlwL1B4OHEzVisvZlhYMHVtd25kYXZYNitQUHZxb1ROb09EQXpVc21YTHpMK1hMVnVtd01EQU1qblduWHBRcnk4QTRJK1BzQUFBQUFBQWdQdUlzN096ZnZubEY1MC9mMTdaMmRtS2lZbFJXRmlZRGg0OGFMTk9aR1NrSms2Y3FPdlhyNXUzblRwMVNuRnhjWXFKaVNsVS91alJveG94WW9TV0xsMWFKdWRnelk0ZE8zVDA2Tkc3ZHJ6NzFZTjZmUUVBZjN3dTk3b0RBQUFBQUFEY3I4YU9IYXRUcDA3ZGNUdjc5dTJ6dTJ5NWN1VmtNQmhrTkJybDV1YW1kOTk5VjlPbVRkTmJiNzBsbzlHb1AvM3BUNFhxOU9qUlErSGg0Wm8zYjU1bXpwd3BnOEdnZ0lBQUJRUUVLQzR1VHUzYXRWT2pSbzBrU1dscGFab3paNDdjM2QzVnBVc1hpM2EyYnQycTk5OS8vN2JQMDl2YlcrdldyU3UwM1dReTZmejU4NnBUcDg1dHQxMFd1TDRsWSt2NkFnQWVESVFGQUFBQUFBRFkwSzFiTnozNTVKTkZsdG14WTRldVhMbWl3WU1IbDlweFhWMWRsWmVYSjBueTlQVFUvUG56RlJNVG8yZWVlY1pxK2RhdFcydklrQ0ZhczJhTmtwS1MxSzVkTzBuUzZOR2pkZno0Y1IwNWNrU05HalZTZm42K1pzeVlvZHpjWE0yZE8xZVBQdnFvUlR0MTY5WlZVRkRRYmZYNThPSERjbkd4L3ByaHlwVXJ5czNOMWZuejV4VWJHMXZpdHBzMmJhcG16Wm9wT0RpNFJQVnNUVVVVSHgrdmloVXJjbjFMb0tqckN3QjRNQmhNSnBQcFhuY0NBQUFBQUlDU2lveU1WRUJBZ0RwMjdIaFArL0hpaXk4cUxTMnQySy9MUzNNTy9haW9LTldyVjA4WkdSazZmLzY4SkNrL1AxL0hqaDFUMjdadExjcGV2WHBWSGg0ZTV0L0p5Y25LeTh1VG41K2ZlVnZWcWxWVnJWcTFPK3JUaXkrK3FQejhmSzFhdGFyUXZwOSsra212dlBMS2JiZmRyMTgvdmZ6eXkvcjAwMCt0N2wrOGVMRjY5KzZ0MGFOSFM3cTVaa0Y4Zkx4ZWUrMDFxK1c3ZCs5dTk0dHZydTlOUlYxZkFNRDl6MkF3R0lvclF5UU1BQUFBQU1CZE1ITGtTTHZLblQ5L1hwczJiVktIRGgzVXBFa1RxMlc4dkx3azNmeENmdVBHalJiN3JNMWhYNXlCQXdkcXhJZ1I1dC81K2ZsYXVuU3AvUDM5MWFaTkc5bnhma0ZHbzFHdXJxNVc5NTA3ZDA3U3pXbC9ldlhxVmVMK0ZRZ0pDYkc2ZmZIaXhTVXFYeFljK2ZvQ0FCNE1oQVVBQUFBQUFOaGgzYnAxcWxTcGtucjA2SEZiOWZ2MzcyOVh1ZlQwZEczYXRFbE5telpWdjM3OTdLcHpKd3ZaaG9XRkZkcDIrdlJwSlNRa2FOdTJiYXBUcDQ3NjlldW5MbDI2cUZ5NWNqYmJNUnFOTnIvVy8rOS8veXZwNWhmdTl5dXU3KzFmWHdEQWc0SC95Z01BQUFBQVlJZVBQdnBJdFd2WHZ1Mlh5ZmFxVUtHQ0pPbmF0V3QyMTJuY3VIR3A5cUZodzRhS2lZblJuajE3dEc3ZE9pMWF0RWlyVjY5V3YzNzkxTE5uVDdtNXVSV3FrNXViYS9ObGM4RlVPdDdlM3FYYXo5TEU5YjM5NndzQWVEQVFGZ0FBQUFBQVVBbysvdmhqcTl0YnRHaWhGaTFhU0xyNWRYWnhLbFdxSkdkbloxMjZkS25Zc3I2K3ZtclpzcVVrYWZQbXpmcmdndy9zN3UvT25Udmw2dXFxbGkxYnFsYXRXb1gybHl0WFRpRWhJZXJldmJ0MjdkcWx1TGc0TFYrK1hGdTNidFhLbFNzTGZXV2VsNWRuODJWeXdZdnhNV1BHMk4yL0F1dlhyemRQeTNQa3lCRmxaR1RZWFhmSGpoMkZ0bFdwVXNYbVFzSkY0ZnJhdnI0QWdBY0RZUUVBQUFBQUFLVmd6Wm8xTnZlMWFOSEM3a1YrOSszYkp5OHZML1BYK0VVSkRnNVdjSEN3Sk1uUHo2L0lsL0ZHbzFFN2R1eFFXbHFhdkx5ODVPVGtKRW1hUDM5K2tjZHdjWEZSejU0OTFiVnJWMjNac2tYbHk1ZTNPaDFOVVMrVC9mMzk1ZW5wV2V6NTNPclRUejlWUmthR0tsYXNhTjRXSHgrdlk4ZU8yZDJHdGJVTUhudnNzZHNLQzdpK2hBVUE4S0FqTEFBQUFBQUFvQlRzMjdldnlQMVZxMWExV0FUMzhPSERTa2xKc2Jvd2J2WHExZlhiYjcrVjZQZ05HalJRZ3dZTnJPNDdmdnk0bGkxYnB2VDBkUFh0MjFmRGh3OHY4Znp6Ym01dUdqaHdvQ1RKWkRJcE9UbFpCdzRja0pPVGs4YU9IYXZzN0d5Ykw1TmJ0V3FsVnExYWxlaDRodzhmMXNXTEZ5MFcxWjA3ZDY3VnNvR0JnVmEzRjNkTlNvTHJhL3Y2QWdBZURJUUZBQUFBQUFEY0JaNmVuaGFMNEthbnB5c2xKY1hxd3JoMTZ0VFJuajE3WkRRYTVlenNmRWZIblRsenBoSVRFK1huNTZkcDA2YXBYcjE2dDlXT3lXVFNxVk9uZFBEZ1FSMDZkRWpuenAyVHdXQlFhR2lvVENhVGpFYWoxYm51YjFkbVpxWThQRHhLcmIyeXh2VUZBUHpSRVJZQUFBQUFBSENmZWVTUlI3Uno1MDc5L1BQUGF0U29rZFV5T1RrNVNrbEpLYmF0eE1SRU5XL2VYRU9IRHRYbHk1ZDE0c1FKcStVSzV0Mi9WY0VYNW9jUEgxWkNRb0w1QlhMejVzMFZHaHFxRGgwNnFFcVZLcnArL2Jxay85L2UvYjEyWFQxd0hIOTkzSWZOTVVkajZQeUJoWlo0c2FLOENDK1VwaDlrRjRFUXdyUWZrRVFoZG10MEkrR1ZmOEFnWW1CNUlSaGVLS0xpaFhkZWlES0lpYit1MUtLc0pVcUNsU202c2EyTEw0NzhPdDFuYXFrN2o4ZmwyZm04ZHo0YzJPRDlmSFBldWVkbThzV0xGM1ArL1BsNnZ1NTkxcTVkbTcvKyt1dVpmaUh5NDVnTyt3dkE5Q01XQUFBQXdEUG10ZGRlUzVLY09YUG1nVGVUcjErL25zOC8vN3l1NjUwN2QyN1N1WGVQMlJrYUdzcXBVNmR5NHNTSjlQZjM1L2ZmZjArbFVrbG5aMmMyYk5pUXJxNnU4UmNPMzNYbnpwMGt5Y3laTThmSHZ2dnV1K3phdGF1dTlmMi90OTkrT3pkdjNzeml4WXZIeDI3Y3VGSFhPZi8vOU5OUFAwMDQzdGJXbHJhMnRrZGEyNU13SGZZWGdPbEhMQUFBQUlCbnlOallXQll0V3BTNWMrZm0rUEhqNmVucEdmL1o2ZE9uczN2MzduejY2YWRadkhoeHZ2bm1tMG12dDJuVHB0UnF0WHp3d1FlVHp0MjVjMmNPSFRxVTI3ZHZKMG1XTGwyYURSczJaUFhxMVprelo4NERQM2ZyMXEwa1NYTno4L2hZVDA5UDFxNWRPK252bk1pZmYvNlpKUGU4RlBubzBhUDU2cXV2cG5TZFRaczJUVGorNFljZlp1UEdqWSswdHNjMVhmWVhnT2xITEFBQUFJRC8yUER3OFBqUkxnY09ITWl2di82YXdjSEJEQTRPNXRWWFg4M1dyVnV6WnMyYTdObXpKeGN2WGh4Lyt2em5uMy9PMmJObk16UTBsR3ExV3ZmNTlLMnRyWFhOYlcxdHpkeTVjMU9yMVZLcjFiSmd3WUs2cnYvamp6OG0rZDlMZnU5cWFtcDY1R05yZnZqaGh5UzU1K24vdDk1Nks2Kzg4c3FFODdkczJUTGhlRzl2NzRUakhSMGRqN1N1ZXBXd3Z3Qk1QMklCQUFBQS9BZDI3TmlSOCtmUDU4cVZLN2wyN1ZyR3hzYVNKSDE5ZldscWFzcjgrZk96Wk1tU0xGKytQRW55emp2dlpQLysvZm55eXkvVDI5dWJhcldhQ3hjdVpNYU1HUSs4YWY2NDFxOWZuM2ZmZlhkS24vbmpqeit5WjgrZUpNbnJyNy8rUk5aeDh1VEpKTG5uQm5oN2UvdDl4K05NNXU1eFAvOEYrd3ZBODA0c0FBQUFnQW5zMjdjdlgzLzk5VDFqdi96eVM3cTd1eWVjLzZEeHUxYXZYcDByVjY3a3BaZGV5b29WSy9MaWl5OW00Y0tGV2Jod1lUbzZPbEtwVk82WjM5N2VuazgrK1NSOWZYM1p0bTFiM252dnZmVDM5MmZwMHFVUFBUdis4dVhMZWVHRkZ6Sno1c3p4Si9RYkd4dnIrY3FaTVdQR1EzLyt4UmRmNVBMbHkybHViazVqWTJQdTNMbVRTNWN1WlhoNE9MVmFMUysvL0hKZHZ5ZEpybDY5bXNPSEQyZldyRmxwYVdsSlUxTlRHaG9hOHYzMzMrZmd3WU9wVnF0WnNXSkYzZGViS3Z0N3Z5ZTV2d0E4ZjhRQ0FBQUFtRUJuWjJkZDU4RFg2Nk9QUHJydmh2RmsxcTFibHhzM2J1VGJiNy9Od01CQWt1VGpqejkrNkdjKysreXorMTRFL09hYmIwNXRzUTh3ZS9ic0RBd01aSFIwTkVsU3FWUXliOTY4ZEhkMzUvMzMzNS9TdFZwYlc3TjM3OTd4Si9EL3FhMnRMWnMzYi81WGp3dXl2L2Q3a3ZzTHdQT25NamJSZjJVQUFBQjR4bTNmdmoxZFhWMVp0V3JWMDE3S3YrN1NwVXNaR0JqSXZIbnpzbkxseW9mT1BYTGtTSzVldlpxUmtaRlVxOVc4OGNZYldiWnMyUk5keitqb2FFWkhSOVBRMEREbEcrVC85TnR2djJWNGVEZ2pJeU1aR1JuSjZPaG9XbHBhSm53U2Z6cWJydnNMd0xPalVzY2ZkTEVBQUFDQTUxSkpzUUFBNEhIVUV3c2VmbGdkQUFBQUFBQXc3WWtGQUFBQUFBQlFPTEVBQUFBQUFBQUtKeFlBQUFBQUFFRGh4QUlBQUFBQUFDaGM5V2t2QUFBQUFCN1ZzV1BIY3V6WXNhZTlER0FDMjdadGU5cExBR0FLeEFJQUFBQ2VTMTFkWFU5N0NRQUEwMFpsYkd4czdHa3ZBZ0FBQUFBQStIZFVLcFhLWkhPOHN3QUFBQUFBQUFvbkZnQUFBQUFBUU9IRUFnQUFBQUFBS0p4WUFBQUFBQUFBaFJNTEFBQUFBQUNnY0dJQkFBQUFBQUFVVGl3QUFBQUFBSURDaVFVQUFBQUFBRkE0c1FBQUFBQUFBQW9uRmdBQUFBQUFRT0hFQWdBQUFBQUFLSnhZQUFBQUFBQUFoUk1MQUFBQUFBQ2djR0lCQUFBQUFBQVVUaXdBQUFBQUFJRENpUVVBQUFBQUFGQTRzUUFBQUFBQUFBb25GZ0FBQUFBQVFPSEVBZ0FBQUFBQUtKeFlBQUFBQUFBQWhSTUxBQUFBQUFDZ2NHSUJBQUFBQUFBVVRpd0FBQUFBQUlEQ2lRVUFBQUFBQUZBNHNRQUFBQUFBQUFvbkZnQUFBQUFBUU9IRUFnQUFBQUFBS0p4WUFBQUFBQUFBaFJNTEFBQUFBQUNnY0dJQkFBQUFBQUFVVGl3QUFBQUFBSURDaVFVQUFBQUFBRkE0c1FBQUFBQUFBQW9uRmdBQUFBQUFRT0hFQWdBQUFBQUFLSnhZQUFBQUFBQUFoUk1MQUFBQUFBQ2djR0lCQUFBQUFBQVVUaXdBQUFBQUFJRENpUVVBQUFBQUFGQTRzUUFBQUFBQUFBb25GZ0FBQUFBQVFPSEVBZ0FBQUFBQUtKeFlBQUFBQUFBQUFBQUFBQUFBQUFBQUFBQUFBQUFBQUFBQUFBQUFBQUFBQUFBQUFBQUFwZmtiaHFGL1c0MWYzOU1BQUFBQVNVVk9SSzVDWUlJPSIsCgkiVGhlbWUiIDogIiIsCgkiVHlwZSIgOiAibWluZCIsCgkiVmVyc2lvbiIgOiAiIgp9Cg=="/>
    </extobj>
    <extobj name="ECB019B1-382A-4266-B25C-5B523AA43C14-5">
      <extobjdata type="ECB019B1-382A-4266-B25C-5B523AA43C14" data="ewoJIkZpbGVJZCIgOiAiMTg2NjA3MjY0NzE3IiwKCSJHcm91cElkIiA6ICI0MDI4MDQwNDYiLAoJIkltYWdlIiA6ICJpVkJPUncwS0dnb0FBQUFOU1VoRVVnQUFBaTBBQUFLeENBWUFBQUNmVFp4S0FBQUFDWEJJV1hNQUFBc1RBQUFMRXdFQW1wd1lBQUFnQUVsRVFWUjRuT3pkWjJCVVpkcUg4Zi9NcEljU1FoTUkwanZTSWdpQ1NKVW1SVUNSRW54dGE5KzFzS3VJSzBIWGd1S3FxK3VLYTBHcUFvb2dWVUE2QXRKN0oyQ29BUUloaldRbTgzN0lNaktHRWlESm1TZHovVDR4N2N3OUtPSGluT2Vjc2JuZGJyY0FBQUI4bk4zcUFRQUFBSEtEYUFFQUFFWWdXZ0FBZ0JHSUZnQUFZQVNpQlFBQUdJRm9BUUFBUmlCYUFBQ0FFWWdXQUFCZ0JLSUZBQUFZZ1dnQkFBQkdJRm9BQUlBUmlCWUFBR0FFb2dVQUFCaUJhQUVBQUVZZ1dnQUFnQkdJRmdBQVlBU2lCUUFBR0lGb0FRQUFSaUJhQUFDQUV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kFxd2VBSUJ2ZWY3NTU1V1NrbUwxR0lWV1NFaUlQdnp3UTZ2SEFJeEV0QUR3a3BLU29nNGRSbHM5UnFHMVlNRmpWbzhBR0l2RFF3QUF3QWhFQ3dBQU1BTFJBZ0FBakVDMEFBQUFJeEF0QUFEQUNFUUxBQUF3QXRFQ0FBQ01RTFFBQUFBakVDMEFBTUFJUkFzQUFEQUMwUUlBQUl4QXRBQUFBQ01RTFFBQXdBaEVDNEFiNW5abmVkM095RWhUVnBicmhyZnJkR1pjOXJIMDlPUWIzbjVhMmprbEpoN0oxWE96c2x4WG5BZEEvZ3V3ZWdBQTVudnp6YTU2NFlXcENna3BJa25hdTNlTlVsUFBLanI2YmlVa0hGU1pNbFVrU1ltSlIzVCtmS3B1dXFsNmptMWtaYm0wWk1sWXRXMzdvT2UrNTUrdnA4aklDcGQ4eitQSDkrdmYvejRndTkzeGgvdjNhYzJhYWVyZWZjaFY1MTZ4WXBJeU05UFZwY3VmSlVubno2Y3FPRGpNODNoNmVyTGk0alpxMjdiRk9ueDRoMXEydkY4Tkd0eWx3TUJnU1ZKbVpyb0NBME91K2o0QThnYlJBdUNHWldhbUt5U2tpQ1pOR3FaZHUxWW9PZm0wQWdPRDljTVBiNnRZc2RMNjYxOS9rTTFtMDRFREcvVE5ONjhvTEt4NGptMmNQNStxcEtRRXRXeDV2NEtDUWlWSkZTclUwWXN2enBBa3ZmRkdadzBiTnRmei9OallObDdCY3ZEZ0psV3ExRkJseTFaVFd0bzVPWjBaQ2dnSVVsemNSbFd1M09nU001L1hqeitPVW9rUzViVjY5ZmVTcEZPbjR0V3g0MlBxMGVPdm50dFJVWFgxd3c5djY2V1haa3FTUm8zcXJlVGswNUtra3ljUDZaLy8zT2FaRjBEK0lsb0E1SW5ObStlclI0Ky82cTIzRnNubGNpbzRPRnh1ZDVZZWV1Z2oyV3cyU2RLU0pWL3J5U2UvMHVyVjM2bHYzK0Z5T0g3L0ViUjkreEpWcjk3TUt3QXV2QzQzdnZ6eXozSzVNaFVRRU9UWm5pUWRPclJGSDMyMFQrSGhFVjdQbnpyMU5RMGE5STZhTnUwbFNVcEpPYU5Sbys1UnUzWVBlNTVUb1VKdHI5Y2tKNTlXUmthYVltTVhTNUtHRDcrVFlBRUtFTkVDNExyRnhXM1VoQWt2S1M1dW83Ny8vZzExN3o1RUowOGU4aHoraVl2YjZIVjQ1OGtueHlnNE9FenZ2MytmZHV4WTVyVXRseXRUTDc3NG8xY0U3TisvVHJHeGJTUkpCdzl1OXZ6NlVnSUNBdlhjYzk4cUl1SW1yL3RmZjcxRGptQlp2MzZXaWhZdHFSMDdscWwrL2ZaeU9BTDB5U2NQNnYvKzd3TVZLUklwS1h2UHo5dHZkMU5XVnBiMjdmdFZzYkZ0VktaTUZkbHN2eThGdkphb0FuRGppQllBMTYxeTVVWWFObXl1WW1QYmVQWSt6Si9meUhNbzVZK0hjSUtEdzNUaXhBRTFiOTVYL2Z1LzZiV3Q5UFJrdVZ5Wlh2ZFZxM2FyL3ZyWEh5UmQrdkRRSDQwYTFkdXpwK1dDVTZkKzg3cDk5dXdKbFM1ZFNVMmFkTk9HRFhOMDlPaHUvZmpqZStyYjkrK3FWS21oMTZ6RGh5L1N0bTJMTldwVWIvM3BUNk5Wdm53dHZmMzIzYm44M1FHUTE0Z1dBSGtxTG02akp5amk0amJtZVB6MDZjUGFzR0dPZHUxYTZYVi9jdkpwM1hubllNOEMyclMwYzlxMWEyV3U5N1NrcGlacCtQQ2ZQWXVCTC9qKyt6ZThiaGN2WGtiRmk1ZVJKS1drSkdydDJ1bDY0SUYvZXZiUXhNZHZWMVJVWGMvek4yMmFwK3JWbStuZ3djMWF1UEJ6dWQxdXoyTVgveHBBL2lOYUFOd1FseXRUTGxlbWR1MWFlY2t6ZlZ3dXA5ZmFsZHExVyttZGR6WjRicDgrZlZnQkFVSGFzbVdCMStzVEV1TFV0dTFER2pqd2JVbFgzdE9TbGVWU1ZwWXpSN0JJVXUvZXczTGNkL2p3RG4zenpkKzFkZXZQcWxTcGdUNzQ0SDZ2OS8zNDQvMnkyZXphc21XQmJydXRqdzRlM0t3V0xlN1Z6VGZYMTlpeEwzaWUrOGRUdlFIa0w2SUZ3SFZidE9oTFRaMzZtZ1lNZUZ1bFNsWFV1Ky9lNDltTElVbGx5bFRSbTI5MjF2UFBUMVZXbGxOdnZ0blY2NVRpQ3hvMjdDUzczYUVhTlpwNzd0dXpaN1dhTk9ucXVYMmxRTmkyYlpFYU5lcHkxWGxkTHFkMjcxNnA1T1RUZXV5eHovVHh4NE05aDdJdWlJMXRJNXZOcnNURW83TFo3S3BXN1ZiUGUxZW9VRWN1bDlNVFRDa3BpVmQ5VHdCNWgyZ0JjTjF1dTYyUG1qWHI3Vm5vK3ZiYmF6Vjc5b2VxVXFXSlNwVzZXZXZYejlMdHQvZnpQUDdXVzJzdXU2MVBQbmxRcFV0WDh0dytlZktRMnJkL3hITTdLOHNsbDh1cCtQanRPbnYydU5mZW04V0x4K2loaHo2KzZyd09SNERxMUdudHViMXYzOW9jaDV3dUJFcElTTGpxMTIvbmVlOExRa0tLYU1pUTdGT2taODE2LzZydkNTRHZFQzJBbjNqbGxWZFVzV0pGM1h2dnZZcU1qTXlUYlY1OHZSV1hLMU5yMXZ5Z3FsV2pWYnQySzBsU28wYWQ5T0dIL2ZYS0t6OWRkaHNiTjg3Vi9QbWpWYXhZS2MrWk9TZFBIbExyMWpGZXordmMrV25aN1haRlJkWFJxbFZUZE5kZFQwcVMxcXlacGw2OWh1WTRReWczdW5WN1ZyMTZ2ZVIxMzZKRlgwcVNRa09MZWU2N2VDL1BDeTk4ZDlIcm43dm05d1J3L1d4dVZwSUJmcUZseTVaYXVYS2xBZ01EMWJ4NWMvWHMyVk1EQmd4UXVYTGx2SjczMkdPUHFVT0gwZGU4L1hQblRxbElrY2djcHdHbnBDUXFQTHpFRlY5NzZsUzhJaVBMZTUxT25GdHBhZWNVR2xyMG1sOTNMYzZmVDFGd2NIaWViR3ZCZ3NjMGV2UzEvLzRDNEx1SEFMK1RtWm1wWmN1V2FjaVFJYXBZc2FLYU4yK3VOOTk4VXdjUEhyeWg3Ull0V3ZLUzF5MjVXckJJVXNtU1VkY1ZMSkx5UFZnazVWbXdBTGd4SEI0Q2ZOaHJyNzJteE1TOFdld1pGeGVYNHo2WHk2WFZxMWRyOWVyVkdqWnNtSjU3N2prNW5jNDhlYis4bEo2ZXJNREFFSzkxTEpmeng3T1ZYSzVNT1J5QitUa2VnQUpDdEFBK2JQanc0ZnJnZ3cveVpGdkJ3Y0U1N2dzSUNGQ0hEaDNVc1dOSDNYenp6ZXJidDY4ZWUreXhQSG0vRzVXZW51dzVoZGxtcyt2dHQ3dHAyTEI1bnNjdjlXV0ZHemZPMVlrVEIvVExMNU05MTFBNWUvYUVIbjc0WTgraVdnRG1JbG9BSC9lWHYvd2xUN1l6ZWZKa0hUaHdRRUZCUWVyU3BZdnV1KzgrZGVyVVNTVkxsc3lUN2VlMUdUUGU5WHgva0pUOXJjNFhuK2x6OHVRaHZmYmFNdjN5eXhTdFh2MmRUcDM2VGFWTFYxYWRPcTNWdWZQVGF0YXN0MncybTZaUEgrbDFHallBY3hFdGdKL28ycldybm5ycUtYWHQybFVSRWRkK3BrMUJTazlQVm1MaVVjWEdMbFpxNmxudDI3ZFdwVXRYVXZIaVpiUjQ4UmpkY2NjZ2JkZ3dSK0hoSmRTdDI3TnEzcnlQRGgzYXFzYU5zNi9Wc216WmVPM2Z2MWJWcWpWVll1SlJWYWhReCtKUEJDQXZFQzJBbnhnMkxPZVZZWDJWM2U3UWdBRnZhY3VXQmZyeHgvYzBlUEI3V3J4NGpESXkwdFN1M2NQYXRtMnhicjIxaCtkQ2RTdFdmS1AxNjJmcCsrL2YwS3V2THRTcFUvRzY5ZGFlWHRzRFlEN09IZ0xnYzRLQ1FyVm16VFFkT2JKYmRydEQyN1l0VWxSVVhjWEVqTktubno2aWloWHI2Y3N2bjVFa1pXYWUxODgvZjZIWTJNVnlPQUlVR0JpczlQUmt6MWxGZHJ0RHAwN0ZXL2x4QU9RUjlyUUE4RWxWcXpiUjl1MUxsWloyVGl0WFRsWlFVS2dXTHZ4Y0RrZWd5cGV2cFppWWR5Vko4ZkhiVkxac05hL1hwcWFlOVZyLzh1cXJkK2psbDJkem1BZ3dITkVDd09lY1BuMVl4WXVYVmZ2Mmo2aGJ0MmNsU1JNbXZLZ0JBOTZXeldiVHVYT25WS3hZYVVsU2xTcE5QSzl6dTkyYVB2MGRIVHEwUlZMMjZjLzE2clZSelpvdENCYWdFQ0JhQVBpY0M5LzJQR0pFV3cwZnZraVNkT0RBQnMvRjYxNS92WVBlZm51dFo2MksyNTJsMk5nMk9uUG1tTzYrKzNuMTZQRlhyd3ZkalJzM3BJQS9BWUQ4d0pvV0FEN0o3WFo3WFlmbDRpdm1ob1lXODFwY20vM055NHZWdW5XTUhJNEFUN0FrSmg2VjIrMVdSa1phd1EwT0lOK3dwd1dBVDBwTFM5TFpzOGU5MXFaYytIVktpdmRWZ252MHlONlQwcWZQSzE3M0p5ZWYxcWhSOTZoSGo3L2w2NndBQ2diUkFzQW5oWVVWMThpUjZ5LzUyTEZqZTcxdU4yelk2WkxQcTFpeG52N3hqMTh1K1oxSUFNekQ0U0VBeHJucHB1cTVmaTdCQWhRZVJBc0FBREFDMFFJQUFJeEF0QUFBQUNNUUxRQUF3QWhFQ3dBQU1BTFJBZ0FBakVDMEFBQUFJeEF0QUFEQUNFUUxBQUF3QXRFQ0FBQ01RTFFBQUFBakVDMEFBTUFJUkFzQUFEQUMwUUlBQUl3UVlQVUFBSHhMU0VpSUZpeDR6T294Y2kwdUxrNlZLMWUyZW94Y0N3b0tzbm9Fd0ZnMnQ5dnR0bm9JQUpkbXM5bkVIOUVyQ3d3TVZHWm1wdFZqQUNnQUhCNENZRFM3M2E2c3JDeXJ4d0JRQUlnV0FFWnpPQnh5dVZ4V2p3R2dBQkF0QUl4R3RBRCtnMmdCWURTNzNVNjBBSDZDYUFGZ05QYTBBUDZEYUFGZ05LSUY4QjlFQ3dDakVTMkEveUJhQUJqTjRYQnd5alBnSjRnV0FFWmpJUzdnUDRnV0FFYmo4QkRnUDRnV0FFWWpXZ0QvUWJRQU1CcHJXZ0QvUWJRQU1KckQ0WkRUNmJSNkRBQUZnR2dCWURRVzRnTCtnMmdCWURRT0R3SCtnMmdCWURRVzRnTCtnMmdCWURTaUJmQWZSQXNBbzdHbUJmQWZSQXNBbzdHbkJmQWZSQXNBbzdFUUYvQWZSQXNBbzdHbkJmQWZSQXNBb3hFdGdQOGdXZ0FZallXNGdQOGdXZ0FZalQwdGdQOGdXZ0FZaldnQi9BZlJBc0JvUkF2Z1A0Z1dBRWJqbEdmQWZ4QXRBSXpHUWx6QWZ4QXRBSXpHNFNIQWZ4QXRBSXhHdEFEK2cyZ0JZRFNpQmZBZlJBc0FvN0VRRi9BZlJBc0FvN0VRRi9BZlJBc0FvM0Y0Q1BBZlJBc0FveEV0Z1A4Z1dnQVlqV2dCL0FmUkFzQm9SQXZnUDRnV0FFWmpJUzdnUDRnV0FFYmpsR2ZBZjlqY2JyZmI2aUVBWEpyTlpoTi9SSFBhdEdtVHVuZnZycXlzTEowOWUxWjJ1MTJob2FHeTIrM2F1M2V2d3NMQ3JCNFJRRDRJc0hvQUFMaFc5ZXZYVjBaR2hvNGZQKzY1THlrcFNTMWJ0aVJZZ0VLTXcwTUFqT053T0RSdzRNQWM5OTk5OTkwV1RBT2dvQkF0QUl6VXUzZnZIUGNOR0REQWdra0FGQlRXdEFBK2pEVXRsK2R5dVZTeFlrVWRQWHBVa3RTd1lVTnQzTGpSNHFrQTVDZjJ0QUF3a3NQaDBQMzMzKys1ZmRkZGQxazREWUNDUUxRQU1OYkZoNGo2OSs5djRTUUFDZ0tIaHdBZnh1R2hLM081WENwZnZyekN3c0owNE1BQnE4Y0JrTTg0NVJtQXNSd09od1lNR0tDa3BDU3JSd0ZRQUlnV0FFYnIzYnUzenA4L2IvVVlBQW9BMFFMQVNBa0pDZnI2NjYrVmxwYW1CeDk4ME9weEFCUUExclFBUG93MUxUazVuVTR0WExoUTgyWk5WOGVLeVFxeVMzTU9ocXZOWGQzVXFWTW5CUVlHV2owaWdIeEN0QUErakdqeHRuLy9mbzBmUDE0UjZYRWFXRHRWSlVPemYyL09ucmRwNHM1UUhiRkZLU1ltUmpWcjFyUjRVZ0Q1Z1dnQmZCalJraTAxTlZVelpzelErcFUvcTIrTlZEVzdLZk9Tejl1VUVLaHZkNGVxZHBNNzFMdDNieFVwVXFTQUp3V1FuNGdXd0ljUkxkS0dEUnYwemFSSnFsL2toUHJXU0ZQb1ZWYmluWGRKMC9hR2FtMWlwTzdyZDcrYU5XdFdNSU1DeUhkRUMrREQvRGxhVHA4K3JVbVRKaWxoM3dZTnFwT3E2aEd1YTNyOW9TU0h4dTBJVlZpRitobzRjS0RLbENtVFQ1TUNLQ2hFQytERC9ERmFYQzZYbGl4Wm9sblR2MWZiOHVmVXBVcTZITGJyMjFhV1c1cC9NRmcveFJkVnh5N2QxYUZEQndVRWNOSWtZQ3FpQmZCaC9oWXRodzRkMHJoeDR4UjZicDhHMVVsVG1iQ3NQTm51NlhTN0p1d0kxYW1nbXpWNDhHQlZyVm8xVDdZTG9HQVJMWUFQODVkb1NVOVAxOHlaTTdWcXlYejFycDZxRnVVeVpMdk92U3VYNDNaTDYwOEVhdkx1VURWcTBVNDllL1pVV0ZoWTNyNEpnSHhGdEFBK3pCK2laY3VXTFpvNFlZSnFCQjlYdjFxcENzL255NnlrT2FYdjlvUnE4N2xTdXIvL0FEVnAwaVIvM3hCQW5pRmFBQjlXbUtQbHpKa3ptakpsaWc1dFg2MkJ0ZE5VTzlKWm9PKy8vNHhENDNhRXFXVFZSdXJmdjc5S2xpeFpvTzhQNE5vUkxZQVBLNHpSa3BXVnBlWExsMnY2dEtscVZlYXN1bGROVjREZG1sbGNXZExjZzhGYWVMaVl1bmJ2cGJadDI4cmhjRmd6RElDcklsb0FIMWJZb3VYdzRjT2FNR0dDZEhLWEJ0VkpWZmtpZWJQUTlrYWRUTE5yM0k0d0pZZFZWa3hNakNwWHJtejFTQUF1Z1dnQmZGaGhpWmFNakF6Tm1UTkhTeGZNVm8rcXFXcGRJZThYMnQ0b3QxdGFmU3hRMys4TlY5TTdPcWg3OSs0S0NRbXhlaXdBRnlGYUFCOVdHS0pseDQ0ZG1qQit2RzYySDFILzJta3FHdVRibnljbDA2WXB1ME8xTTYyTUJnd2NxQVlOR2xnOUVvRC9JVm9BSDJaeXRKdzdkMDVUcGt6UjNrMi9hRUR0Vk5VdlZiQUxiVy9VN2tTSHh1OElVNFhhVFhYZmZmZXBSSWtTVm84RStEMmlCZkJoSmtaTFZsYVdWcTllcmUrbWZLdmJTcDVScjJwcENqUjBiYXN6UzVwMUlFUkxqeGRYOTU2OWRlZWRkOHJtYThlMUFEOUN0QUErekxSb09YYnNtQ1pPbktqMEk5c1VVemRWRll2NnhrTGJHM1VzSlh1aHJqT2l1bUppWWhRVkZXWDFTSUJmSWxvQUgyWkt0R1JtWnVxbm4zN1N6L05tcW11bFpMV3I2SHNMYlcrVTJ5MHRQeEtrR2Z2RGRYdmJUdXJXclp1Q2dvS3NIZ3Z3SzBRTDRNTk1pSlk5ZS9aby9QanhLdXY4VFFOcXB5b2l4TGZudlZIbk1tejZabGVvRGpqTGFkQ2dRYXBidDY3Vkl3RitnMmdCZkpndlIwdHljckttVFp1bXJiOHUxZjIxMHRTNFRLYlZJeFdvYmFjQ05HbG5xS3JjMGtKOSsvWlY4ZUxGclI0SktQU0lGc0NIK1dLMHVOMXVyVjI3VnBPL25hUW14VStyZDQwMEJSdTYwUFpHWmJxazZmdEN0T3BVQ2ZYdWU1OWF0R2pCUWwwZ0h4RXRnQS96dFdoSlNFalF4SWtUbFhSb3N3YlZTVk9WNGk2clIvSUpoNVB0R3JjOVRJNHl0VFZvMENDVksxZk82cEdBUW9sb0FYeVlyMFNMMCtuVXdvVUxOVy9XZE4xVk1WbDNWVG92T3pzVXZMamQwcUw0WU0yT0MxZWJ1N3FwVTZkT0Nnek01NitzQnZ3TTBRTDRNRitJbHYzNzkydjgrUEdLU0kvVHdOcXBLaG5LajR3ck9YdmVwb2s3UTNYRUZxV1ltQmpWckZuVDZwR0FRb05vQVh5WWxkR1NtcHFxR1RObWFQM0tuOVczUnFxYTNlUmZDMjF2MUthRVFIMjdPMVMxbTl5aDNyMTdxMGlSSWxhUEJCaVBhQUY4bUZYUnNtSERCbjB6YVpMcUZ6bWh2alhTRkJwUTRDTVVDdWRkMHJTOW9WcWJHS243K3QydlpzMmFXVDBTWURTaUJmQmhCUjB0cDArZjFxUkprNVN3YjRNRzFVbFY5UWpyRnRxZXo4eFNjS0E5MTgvUGNydGwvOE9aTzJrWkxvVUdYZnJVcHVSMHAwSUNIUXB3WEgxeGp0UGw5bnBlcGl0TGdZN2N6M1lveWFGeE8wSVZWcUcrQmc0Y3FESmx5dVQ2dFFCK1I3UUFQcXlnb3NYbGNtbkpraVdhTmYxN3RTMS9UbDJxcENzWGY1ZDc3RDU2VGpYTEZaVWtiVHA0Umd1M25ORHpkM3V2NWRoN0xGazNsd3BUVU1DbC83SmZ0TzJFYnJtNXVFb1ZEWllrOVJpNVhGOCsyVlNsaWdZclBkT2w3bTh2MTd4WFdzdHVzeW4rVkpxaVNvWjZ2YjdXWCthb1hJa1FyL3QrTzVXcTNSOTJsZU4vcTRhVDA1MHFFcEs5MnlqMXZFdjNqRnFoZWNOYWU1NmZudWxTeUIrK0tHbnV4bU02Y0NKRmszLzV6ZlBmNHNUWjgvcjQ0U1pxVnovMzhaSGxsdVlmRE5aUDhVWFZzVXQzZGVqUVFRRUI3TUlDcmdWL1lnQS9kK2pRSVkwYk4wNmg1L2JweFNacEtoT1d1KzhMT253NlRiMUhyVkJva0VOeENTbGE4WHA3VllnTTFUY3JEcWx1VlBFY2V5Y2l3Z1AxcDlGck5lYXBaaHIwMFdyRm4wcVZKRzJNTzZOR2xTTWtTUVB2cUtSSDIxZFZYRUtLc3R4dWxTb2FyQTBIRXRXZ1VvUXlYVm15MjJ4S1NzdlVZNSt0MWVUbld5ZzgrUGNmWWRWdktxSlpRKy93bXZITzRZczh3U0pKNzg3WXFTWGJFenkzOXg5UFVadllSYi8vWHB4TTFiTFgybW5LTDcvcHU5WHgrdTFVcWlxWERsZnJPcVgxZE9mcTZ0MHNTamFiTkhMNlRwVXBIbndOdjh1UzNTWjFxbnhlVFcvSzFJU2xrN1ZxMVNvTkhqeFlWYXRXdmFidEFQNk1hQUg4VkhwNnVtYk9uS2xWUythcmQvVlV0YWh4YmQ4WFZDRXlWRTkxcXE2T0RXN1Nlek4zcVVKa3FBNmRURlg1RXFIcTB2Z214VTdacW4vY2Y0dm4rYVdLQm10WTcreEwzbzkvNWpiUC9XMWlGMmx4YkZ1dmJkLzI4Z0k1WFc2MWlWMmtuWWZQS2U2VGJwN0hQcHk5UjE4ODBkUXJXQ1RwYXZ1amt0T2RPcHFZcnNXeGJYVTJOVk5yOTUxV3BkTGhLbE04V0dNV3gyblFIWlUwWjhOUmxRZ1AwclBkYXFwUDh5aHRQWFJXWFJwblgzTmwvTEtEV3J2L3RKcFdpOVRSeERUVnFWQXM5NzlaRjRrTXlkTFRqVkswL3NSZWpmN2dMVFZxMFU0OWUvWlVXRmpZZFcwUDhDZEVDK0NIdG16Wm9va1RKcWhHOEhHTmFKR3E4T3U4bk1qR3VETWFmR2RseiswWmE0L295VTdWNWJEYmRPcGNodTU1ZDRYZUdkUlFOY29Wa2RzdG5YZit2a1ptOGJZVGFsUHYwb2RYYnEwYUtadE5tdm5TSFdvVHUwakJBZG1IYkdadk9LcDdtMWZVVFJFaE9WNno1K2c1cjcwbWtuUlRSSWd1SEYxejJHMTZhMEFETGRoeVhPLzl1RXZ2RFc2a01Zc1BLQzNEcFlmYlZkWGliU2ZVNDlZS0N2dmY1WDIvV2ZHYlpxMC9vamUrMzZHRnI3WlIvS2swOWJ5MWdtZmJqaHU0VUkzTkprV1h6VlRka3BuNmJzODh4UTVmcC92N0QxQ1RKazJ1ZTV1QVA4ajlTaklBeGp0ejVveisrOS8vYXZLWEgrcUJLci9wb2ZyWEh5eVNQSHRtM0c2MzF1MVAxT0hUcVdvM1lySGF4QzdTNGROcGFsR3pwS3FVQ2RleUhRbnErSThsNmpGeXVUSmQyWWVmSHZsMHJkenU3UEJwRTd0SS81eTVXOG5wVHEvdFh2dytwNU16VkMrcXVHcFhLS3I5eDFOMDRFU0tKS24vaDZ2VUpuYVJLa1NHNm1oaXV0ZnJqcDlOVi9OaEMvVDV6L3NWR3VUUXREWHgybjNrbkJ4Mm14WnRPNkc2VWNVMUtxYVJIdm4wVjlXcldGelBmTGxlVXZZaTRDOSszcS9Gc1cwVjRMQXBPTkN1NVBSTUZmM2ZhVlFPZS9hNm1oc1ZHaUFOcXBPbXgyc2UwWS9qUDlISEgzK3NVNmRPM2ZCMmdjS0tQUzJBRHl0U3BFaWVmcGROMDZaTjFhMVZBNzF5MjdrYi9yNGdwOHV0Tlh0UHEwM3NJcVdjZDZsczhSQzkzdThXVFZzVHIzdGJWTlRHdURQYUhwK2tBSWROZDlRcHJRVi92MU50WWhkNXpycUpLaGtxbTAxcVZEa2l4K0VodC92M2NNbHdacW5URzB0MTZHU3E3aG0xUXNYK0Z3NTMxaTJ0RWZmVjE2Uy9OSmNrN1RpY3BQZCszS1hQSDIvcTJjN2VZOG1xZnRQdjEwZHBVcldFbG01UDBMazBweWF2L0UyaFFRNTl2bkMvQWgxMjFTcGZWTy9HTkpRa2JZcy9xMnBsdmErcmNqWTEwMnRQemgydi9xelpMOTl4M1llSkxsWTF3cVdYbTUzVGUrczI2SzIzNGpScTFLZ2IzaVpRR0JFdGdBODdkKzVjbm03djVNbVRHajkrdk43NWRZdGk2cVNwOGcxOGQxQ0F3NlpscjdWVGVxWkxjemNlazkxbTA3Y3JENmwwc1dCOXR6cmVzNzdsVXM2a1hQbENkVzVKRjFJdEtNQ3VlY05hcTAzc0lyM1IveGJWTEZkVXBZdmxYQVM3WXVkSmJUNTQxaXNzTmgwOG81OWZiYVBHVlVybzhPazBsUzBlb2tmYVY5V3ozYkxQYkhweHdtYTlQYUNCYkRicDFMa016M2FiVkNueCt5eHU2WjNwTzdYbDBGbEoyYkhXcGw1cHRhanB6cE5na2JLL3UyajhqakRaUzlmU0N6RXhlYkpOb0RBaVdnQS9VcXBVS1QzNzdMTmF0V3FWUHZsdXFwcEdKT2p1cXVuWGRmRzRwVHNTdERIdWpKcFZqOVN4TStscVdpMVNZeFlmMDUrNzFOVG9CZnNVRkdEWGM5MjhUM3ZPY2t0dlR0dWh2M1N0Y2NWdFh3aVdMMzQrb0hvVmkzdnV2NjE2U2YxejVpNzlyV2Z0SEs5NXVGMVZQZExlKzB5Y3UvNnhSSTMvRnlBVklyTURxdTJJeFZvMHZJMGthY09CUk04ZW5RNnZMOWJhdHp0NjFxcGt1Yk1YQWg4N2s2N243NjZsdi9hbzdYWFlhc2k0VFZmOERMbHgzaVhOalF2UjBoT1I2dG5ySHJWdTNmcnFMd0w4R0d0YUFEL1V2SGx6eFk1NFRTa1YyaXIybCtMYWxCQ2dhNzBjVE9zNnBkV2xVVG1kVERxdjcxZkhxMGE1SW1wUnM1UktGUXZTQzNmWFVydjZaYlJtNzJuUDg4K21abXJGenBPNnJYcGtqak4vcE93OUhhdjNaSy9ubVB4OEMwblNRMjJyNk44UC83NDROZE9WcFJKRmd2VCtyTjA1WHYvSG8yanhwOUp5TE5oMXU2V1FpeTVZZC9IRjZJcUZCbm90cm5XNjNGb2MyMVl4clNzcHdHSHpiUDlvWXJyYzd1d0wxMTB2dDF2YWNTcEFyNjh1cHVPUkxSVTc0aldDQmNnRkxpNEgrTG5kdTNkcndvUUpLdWM2cEg2MTBsUWk1TnArSkR6MXhYcUZCTnJWc0ZLRVJpL1lyOENMcnMzaXluTHI0NGVicUdHbDdPdXdURngrU09mU01qVisyY0ZMbm4xenk4M0Y5ZEZEMlpIUzVjMmxtdm5TSFhMWWJVbzU3MVN0djh6Um0vMXYwZUE3Syt2VmI3ZnF0MU9wK3VTUjZCeFh2TjBZZDBiLytXbXZ0c2NuYWVUQUJycTlWaW5QWTJkVE05VjJ4R0xQdXBpTG5VN08wT1pSblR5MzUyMDZwazROYjhyeHZHMi9uZFhEbjY3VjMzclVVdS9ib3E3cDkwcVNrakpzbXJvN1ZQdWM1ZFcvZjMvVnIxLy9tcmNCK0N1aUJZQ2NUcWRtejU2dEpRdm5xWHVsSkxXT3lsQnV6K2k5ZU5Gc1hocTM5S0FHdExwWkRydE5XVzYzcHY5NlJQYzArLzJVNHl0ZDVuLzMwWE1xSGhhb3NzVnpuaHA5T1g5Y3RIc2wxL09aczl6U3FxTkIrbjVmRVRWdjNWNjlldlhpaXJqQU5TSmFBSGdjUDM1Y1k4ZU9sZlBFVHNYVVNWTlVVZXUrZTZnd09aWmkxNFFkb2NxSXFLRkJnd2FwWXNXS1ZvOEVHSWxvQVpERHNtWExOR1A2RDdxOTVFbDFyWkordzZkSCs2dE1sL1RUb1dBdFBGcEMzZTd1b2ZidDIxczlFbUEwb2dYQUpTVW5KMnZTcEVrNnNHMk5CdFZPVmQyU1RxdEhNc3FlUklmRzd3eFgyZXFOTldEQUFFVkVSRmc5RW1BOG9nWEFGVzNmdmwwVEowNVVaZnRoM1ZzelRjV0QrWkZ4SmNrWk5rM2JGNnB0cVdYVnIxOC9OVzdjMk9xUmdFS0RhQUZ3VlptWm1ab3hZNForV2JKQTkxUkwxdTNscnUzTEZmMkIyeTJ0UFI2b0tYdUxxbkh6MXVyVHA0K0Nnb0tzSGdzb1ZJZ1dBTGwyNU1nUmpSMDdWbzdFUFJwWU8xWGxpMlJaUFpKUFNFaTFhZUt1TUNXRlZsRk1USXdxVjY1czlVaEFvVVMwQUxnbWJyZGJpeGN2MXN3ZnA2dE4yVVIxcnBTdVFEOWRxSnVaSmYxOEtGZy9IWTVReDg1ZGRkZGRkOGx1NTVxZFFINGhXZ0JjbDdObnoycml4SWs2dkd1ZFl1cW1xbFlKL3pvOWV2OVpoOFp0RDFOa2xZWWFPSENnSWlNanJSNEpLUFNJRmdBM1pQUG16Wm8wYVpKcWh4eFQ3K3BwS2hwVXVIK2twR1pLTS9hSGFuMVNHZDE3NzcxcTJyVHAxVjhFSUU4UUxRQnVXRVpHaHFaTm02WmZWeXpTdlRXUzFheHNacUZicU90MlN4c1RBdlhON25EVnY3V1Y3cjMzWG9XRTVQNkt1d0J1SE5FQ0lNOGNPblJJNDhhTlU5aTVmUnBRSjAxbHd3ckhRdDNUYVRaTjJoV21rMEdWTkhEZ1FGV3ZYcHh0bUdrQUFDQUFTVVJCVk4zcWtRQy9STFFBeUZOdXQxdno1OC9YdkRrejFiSDhHWFc0K2J3Q0RGMmI2c3lTbHNZSGFlYWg0bXJYc2JPNmR1M0tRbHZBUWtRTGdIeVJtSmlvQ1JNbUtHSGZSZzJ1bTZwcUVXWXQxRDEwenFGeDIwTVZXcjZlWW1KaVZMcDBhYXRIQXZ3ZTBRSWdYNjFidDA2VEowOVd3eUxIMWJOYW1zSURyWjdveXRLZDBzd0RJVnAxdXBSNjkrNmoyMisvM2VxUkFQd1AwUUlnMzZXbnAydnExS25hdkdhWit0Vk1VWk15dnJkUTErMld0cDRLME1SZDRhclJvTG42OWV1bjhQQndxOGNDY0JHaUJVQ0IyYjkvdjhhUEg2OFM1K1BVdjFhYVNvWDZ4a0xkTStkdG1ydzdWUEdxcUFFREJxaDI3ZHBXandUZ0VvZ1dBQVhLNVhKcDNyeDVXakJ2dHJyZWZGWnRvekxrc0dodHE4c3RyVGdjcE9seFJYVkgyN3ZVdlh0M09SeCtlbmxmd0FCRUN3QkxuRHg1VXVQSGo5ZTUzN1lvcGs2YUtoY3YySVc2aDVQdEdyOGpUTFpTdFJRVEU2Tnk1Y29WNlBzRHVIWkVDd0JMclZxMVN0OS9OMVZOSXhKMGQ5VjBoUWJrNy91ZGQwbHo0MEswOUVTa2V2YTZSNjFidDg3Zk53U1FaNGdXQUpaTFRVM1Y1TW1UdFdQOVNnMm9uYUlHcFp4NXZsRFg3Wloybmc3UWhGMWh1cmxPVS9YdjMxOUZpeGJOMnpjQmtLK0lGZ0ErWS9mdTNab3dZWUxLdVE2cFg2MDBsUWpKbXg5UFNSazJUZDBkcW4zTzh1cmZ2Ny9xMTYrZko5c0ZVTENJRmdBK3hlbDBhdmJzMlZxeWNKNjZWMHBTNjZnTTJhOXpyMHVXVzFwMU5FamY3eXVpNXEzYnExZXZYZ29JeU9malR3RHlEZEVDd0NjZFAzNWNZOGVPbGZQRVRzWFVTVk5VMFd0YnFIc3N4YTRKTzBLVkVWRkRnd1lOVXNXS0ZmTnBVZ0FGaFdnQjROT1dMVnVtR2ROLzBPMGxUNnBybFhRRlgrV001RXlYOU5PaFlDMDhXa0xkN3U2aDl1M2JGOHlnQVBJZDBRTEE1eVVuSjJ2U3BFazZzRzJOQnRWT1ZkMlN6a3MrYjAraVErTjNocXRzOWNZYU1HQ0FJaUlpQ25oU0FQbUphQUZnak8zYnQydml4SW1xYkQrc2UydW1xWGh3OW8rdjVBeWJwdTBMMWJiVXN1clhyNThhTjI1czhhUUE4Z1BSQXNBb21abVptakZqaG41WnNrQzlxaVlyeU9IVzFMMUYxYmg1YS9YcDAwZEJRVUZXandnZ254QXRBSXgwNU1nUmpSMDdWbE9tVExGNkZKOFdHQmlvTjk1NGc3VTlLQlNJRmlBUE9KMU9EUm8wU0h2MjdMRjZsRUxydWVlZTA2QkJnM0xjSHgwZGJjRTBaaGt3WUlCZWVPRUZxOGNBYmhnWExBRHlRRkpTRXNGaWtmWHIxNHQvZTEzYXhJa1Q5ZDU3NzFrOUJwQm5pQllnRDBWR1JtcisvUGxXandFQWhaSkZYd2dQQUFCd2J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mlCWUFBR0FFb2dVQUFCaUJhQUVBQUVZZ1dnQUFnQkdJRmdBQVlBU2lCUUFBR0lGb0FRQUFSaUJhQUFDQUVZZ1dBQUJnQktJRkFBQVlnV2dCQUFCR0lGb0FBSUFSaUJZQUFHQ0VBS3NIQUlCcjllNjc3MnI1OHVXZTJ6MTc5cFFrTld6WVVLKzk5cHBWWXdISVowUUxBT05FUmtacXhvd1pudHNYZmgwZEhXM1ZTQUFLQU5FQ3dEZzlldlNRdytHUXkrWHkzT2R3T1BUd3d3OWJPQlZNTjNqd1lHM2J0czNxTVh4YXRXclZOSG55Wk12ZW56VXRBSXhUdW5ScHRXdlh6dXUrNk9ob1ZhaFF3YUtKVUJnUUxGZTNiOTgrUzkrZlBTMEFqRFJ3NEVETm56L2ZjN3RYcjE0V1RvUENaTjI2ZFZhUDRKTjg0ZkFyZTFvQUdLbFRwMDV5T0J5U0pMdmRyb0VEQjFvOEVYekp0OTkrcS9qNGVLdkhRQjVqVHdzQUk5MTAwMDFxM2JxMUZpMWFwTWFORyt2bW0yKzJlaVQ0a0hmZWVVZVNWS3RXTFhYcDBrV3RXclZTbFNwVkxKNEtONG85TFFDTTFiOS9mMGxTOSs3ZExaNEV2bXJYcmwzNjRJTVAxTGR2WC9YdDIxZGZmdm1sOXV6WlkvVll1RTVFQ3dCamRlblNSWkk0TklSY09YRGdnUDc5NzMvci92dnZWOCtlUFRWNjlHanQyTEZEYnJmYjZ0R1FTeHdlQW1Dc3FLZ29QZjMwMDZwZXZiclZvL2kwaVJNbmF1TEVpVmFQNFZQaTQrUDEyV2VmNmJQUFBsUFpzbVhWdFd0WHEwZENMaGdkTGYzNzk5ZnUzYnV0SHNNb2xTdFgxbmZmZldmMUdQQmh6ei8vdkZKU1Vxd2U0NW84OXRoalZvK1FheUVoSWZyd3d3OEw1TDBxVmFxa3dNQkFaV1ptRnNqN21Tb3pNMU1KQ1FsV2o0RmNNRHBhQ0packZ4Y1haL1VJOEhFcEtTbnEwR0cwMVdNVVdnc1dGRnhndFd6WlVxdFdyU3F3OS9NbFZ6czl0MHlaTW1yWnNxVTZkZXFrVzIrOVZUYWJUVE5ueml5ZzZYQzlqSTZXQ3ppblBuZDg0Ung3QUxCSytmTGwxYXBWSzNYdTNGa05HemEwZWh4Y2gwSVJMUUFBWEVxbFNwWFVxbFVyZGVuU1JYWHExTEY2SE53Z29nVUFVT2c4K09DRDZ0S2xpNnBWcTJiMUtNaERuUEtNcXpwMjdCaUxkd0VZNWVtbm55WllDaUgydE9DUzR1UGp0V3paTXMyZE8xZGJ0MjZWSlBYcDA4ZmlxUUFBL294b2djZUJBd2UwZE9sU3paMDdsek96QUFBK2gyanhjM3YyN05IU3BVczFaODRjSFRod3dPcHhBQUM0TEtMRkQrM1lzVU5MbGl6Um5EbHpydWxiVURsbEdnQmdKUmJpK3FIazVHUWxKQ1RvL1BuelZvOVM2TER3RHdEeUQzdGEvRkRUcGszVnRHbFR1ZDF1YmRxMFNYUG56dFh5NWN0MTlPalJLNzZPaS9nQkFLeEV0UGd4bTgybVJvMGFxVkdqUnBLazdkdTNhODZjT1ZxK2ZMa09IVHBrOFhRQUFIZ2pXdUJSdDI1ZDFhMWJWeSs4OElMMjd0MnIyYk5uYTlteVpkcS9mNy9Wb3dFQVFMVGcwcXBYcjY0Ly8vblArdk9mLzZ5REJ3OXF6cHc1Vm84RUFQQnpMTVRGVlZXcVZFbVBQLzY0MVdNQWdERisvdm5uYTM3TndZTUg5Y0lMTDBpU1RwdzRvZjc5KytmMVdNWmpUd3NBQUhsc3hJZ1JhdGV1blNTcGJkdTJxbENoZ3RmanUzZnYxcG8xYTd6dVc3QmdnU0lqSXlWSjgrZlB6OVVYUExwY0xqVnIxa3hseXBTNTVPTW5UcHpRbWpWcjVIQTRydWRqK0J5aUJRQ0FmQlFRRUtEeDQ4ZDczZGV4WTBldjIyNjNXei8rK0tOaVkyT1ZsWldscVZPbktqRXhVYi84OGt1TzdYWHMyRkhQUC8rODEzMlhPNFJmMks2dlJiUUFBSkJITHB6SWtKcWFxcDQ5ZTJyNjlPbHlPcDE2NktHSHZKNlhsSlRrZGZ1WFgzN1I0Y09IMWFoUkk4MmFOVXNsUzViVXRHblQxTFJwVS8zNjY2OVhmZDh1WGJyazZlZndWVVRMTlZpMWFwV0Nnb0xVcEVtVEFudlA5UFIwUGYvODgzcmxsVmRVdm56NUFudGZBTUMxZSsrOTl5UkpkOTU1cDZaUG42NWh3NFlwSkNSRUFRRUJxbGl4b2pJek0zWHc0RUdGaDRmcmdRY2UwTmRmZnkxSit1eXp6eVJKNTg2ZDAwY2ZmYVNSSTBmbTZ2MXNOcHVLRkNseTJUMHRkOTU1cDJ3Mld4NThNdDlBdEZ5RHVYUG5xbmZ2M3A3YlRxZFR6WnMzVituU3BTVkpaODZjOGRxVmw1R1JvUll0V3FoSWtTSmUyMGxPVHZhNkx6azUrYkxISEVOQ1FsUzdkbTE5L1BISGV2UE5OL1A2SXdFQThrRldWcGJtejUrdmRldldhY2FNR1pLa0J4NTRRSkkwYWRJa1NmSXN0SjAzYjU3UzB0SWtaYTlSR1RSb2tCbzJiT2paMWgvM29vd1pNMFpseTVaVlZsYVd1blhycHJDd3NNdnVhUWtMQzFPM2J0MEt6Um1nUkVzdXRXL2ZYcUdob1ZxN2RxMk9Ieit1WDMvOVZSa1pHWXFJaVBEOHo5Q2lSWXNjcjdQYjdWcXlaSW5uOW9WRlV4ZmY5OGRqanBjS0hiZmI3WFVNTkRrNVdTdFdySkRkemdsZ01GOXk4bWtGQjRjck1EQllrcFNXbHFTZ29GQTVISUY1L2w0dVYyYStiQmVRcElVTEYycnAwcVZLUzB2VHZIbno1SFE2OWVpamozbzk1MEs4WExpSTUvVHAwL1hvbzQ5cTZOQ2hpb2lJMEtCQmc3eWVmN25nY0x2ZE9uSGloTmZWeWtlT0hLbW5ubnJLODNmSWhiOXpDZ3VpSlplQ2dvSTBaTWdRMWFsVFIvLzNmLzhuS2Z1TEIvKzRZdnY4K2ZNS0RnNitvZmZLeU1qUTNMbHpyN2phT3pvNldtNjMrNGJlQi9BVk0yZitVelZydGxDalJwMlZrcEtvWmNzbXFHelphb3FPdmxzcEtZbVNwUER3RWpsZWQvVG9IcFVyVitPaTI3dFZybHhOcitjOCsyeHRSVVRjNVBXY0lVT21xVWFOMi9McDA4Q2ZUWmt5UmRIUjBRb1BEOWVvVWFPMGFORWl0VzdkV2xMMkVvUGs1R1IxNnRSSmtyUm8wU0pKMHAvKzlDYzFhdFJJUTRjT3ZlSDNuekZqUnFHK1JBWFJjZzNDd3NJMGR1eFlTZEtHRFJ2MDhzc3ZleTJ1dXV1dXU5U2hRd2ZWclZ0WG8wZVBscFM5aS9EQ2FXOFh1OVI5Z0Q4NmMrYVlWcS8rWGhzMnpOWVBQN3l0SmsyNmFkT21lVXBLU3RDUFA0NlMwNW1oMXExalZLRkNiWDM3N2F1U3BOVFVzN3JubnBmMTVaZlBxR0xGZW9xTDI2aktsUnNwT2ZtMDNuMTNrOWN4L05LbEsydllzTG1lMjdHeGJRZ1c1SnRQUC8xVWtqeG5DMzMyMldlZTlTcVNGQmNYcHpGanhuaHVqeDgvWGw5ODhVV2V2UGZwMDZmbGREcFZ0R2pSUE5tZUwvSzdhRWxLU3ZJY084eXRzbVhMU3NyK29zRXFWYXJvNTU5L1Z1blNwVFZ3NEVEMTY5ZlA4N3dSSTBab3hJZ1JYcSsxMisxZUZ4bTZzS3Z1NHZzSzJ5bHB3TFhZdE9rbnZmSEdMOXF5WllGS2xxeW9uVHVYYStqUTJVcEpPYU1sUzc1V3IxNHZ5ZVhLbE0xbTEvRGhpL1Q2NngwMGF0Um1TZExTcFdNMWRPaHN4Y2EyVVd6c1lzWEd0c214NlBEQWdmV0tqVzNqdVIwWHQxRXVsMU1PaDkvOStJTUZMcXhmT1hEZ2dQN3lsNzhvS2lwS28wYU55bkhkbGl2NTQzcVZmL3pqSDRxT2pwYk5abFBObXIvdldmejIyMjhWRWhLaTNyMTdxMmZQbnVyUm80ZEtsQ2pCNFNHVHZmZmVlNW81YytZMXZhWmx5NVk2ZWZLa2V2WHFKVWs2ZWZLa29xS2lOR25TSk0vL2tCYzBidHpZczJEVzVYSXBNUERhanAxblptWkt5bmtPUDFCWUZTdFdTdSs4MDFPWm1lbHl1OTFLUzB2UzJyWFpDeGVUa2hMMDY2OC9LQ3FxbnA1NDR2ZC9qYnJkYnRsc05oMDh1Rm14c1cwVUY3ZlJLMHd1T0hVcVhvODg4b21hTisvcnVXL3IxcCsxZCs4YTFhcDFlNzUvTmtDU2xpOWZycmZlZWt1dnZmYWFSbzRjcVlVTEY2cElrU0xxMmJObnJpNzZkcmsxTFhhN1haTW1UZEtSSTBjMFpzd1lMVjY4V0Y5Ly9iVmNMcGVtVHAycXZuMzdxbG16Wm5ya2tVZnkraU5aeHUraTVWSjdRM0tqUzVjdUdqNTh1T3JYcjYrZVBYdEtrdDU4ODAxOTlkVlhHalZxbE9mMmhiMHlVdmI2bG95TWpFc0d5T1dpSkNVbFJXRmhZVmU5QlBUUW9VTUwxV2xzOEY4TEZueW0yTmpGZXVXVjJ4VVlHS1Nnb0ZCSjJZZUErdmQvVTZHaFJWV3ExTTA2ZUhDelB2LzhTZjMyMjFhOS9QSnR1dWVlb2FwVXFVR09QUzBYKytTVEIrVnlaV3J1M0krOTdvK0wyNmgzM3RtZ01tV3FGTlRIaEo5SVRVMVZWbGFXQWdJQ0ZCOGZyMy8vKzkvYXQyK2Yvdld2ZjZsYXRXcVNwTUdEQit1TEw3NVEzNzU5MWIxN2Q4WEV4Rnp6UDNCVFUxUDFyMy85UzVzM2I5Ymh3NGZWdFd0WGZmUE5ONTRyNnI3NDRvdDY1cGxuTkczYU5BMGZQbHpoNGVINjczLy9xMkxGaXVYNVp5NUlmaGN0MTh2cGRHci8vdjA2Y09DQTU3N0dqUnZyd3c4LzFPN2R1NVdTa3FMMTY5ZnJtMisrOFR5ZWxKU2tXclZxYWNLRUNaNzdMaHdlbWo5L3Z1ZStpdzhQSFQ1OFdEZmQ5UHVpd2N0NTY2MjNidlFqQVQ3aDZhZXoxNG1GaDBkbzZORFpudnRqWTl2bzFsdTd5MmI3L1F5NTExOWY3Z2tVU1JvOStsR3ZQUzEvWEp3ZUhCeW12LzF0dWlScHdvUVhOWERnU00rMkNSYmtoMEdEQnVuVXFWUHEzYnUzWEM2WGF0V3FwUkVqUmlnb0tNanJlUTgvL0xDYU4yK3VYYnQyZVlMbDRZY2Z6ckc5UzkwblphK3hyRisvdnRxMWE2ZEdqUnJsMlA2RjV3d2NPRkQzMzMrLzFxMWJaM3l3U0VSTHJwdzhlVkxCd2NIcTJyV3IxcTVkNi9YWUs2KzhvaGRlZUVFdWwwdnZ2Lysrd3NMQ1BJOGRQbno0bW81YlN0TFdyVnRWdDI3ZFBKa2JNRUZvYVBZUDBndUhlaTVJU0Rnb2w4dXBnSUNjUDR5bDdOT2svL25QN1NwZXZJeGlZOXZvNzM5Zm9JU0VPSy9uWElnWXB6TkRtWm5uODJWKzRHTGZmLys5MSswTFo1dGVNSG55Wk0rdjY5V3JwM3IxNm5sdVgrcXNueXVkQ1hUMzNYZm5haWFIdzFGbzFyVndrWTljV0xod29lcldyYXV3c0RDMWJ0MWFMcGRMVXZZWFhvMFpNMGJCd2NHeTIrMmFOV3VXRGg0ODZIbmR4bzBidmY2SHpJMTU4K2FwWmN1V2VUby9ZSUkvN2lVcFZlcG1qUnpaUTI1M2x1Yytwek5EUllwRTZ2VHB3enAvUGxYdnYzK2ZaMC9MNjY5MzBKUXBJK1J5T1QzUHo4cksvdlh1M2Ird2hnVW9CTmpUa2dzelpzelFrMDgrcVNsVHBtajA2TkdxWHIyNlB2cm9JODJjT1ZQOSsvZFhiR3lzVWxOVE5YNzhlRDM2NktOcTM3NjlYbmpoQmMyYU5Vc2ZmL3p4SmJmcGRydmxjcm1VbUpnb3U5MHVtODJtSlV1VzZNaVJJMnJidG0wQmYwTEFlcFVyTi9RNlBDVHBmMmNEWmYvYjZ1REJUZnJ0dDIxNjdybkpuak4vTGh3bXVuREk2TlNwMzVTZWZzNXpUWmVISHZwWWJuZVdWcS8rVHIxNnZhUWxTNzVXY25LaTE2SmVBT1lnV25KaDlPalJucXNMOXVuVFIzYTdYZW5wNlhyaWlTY1VFSkQ5VzFpc1dERTkrZVNUZXVLSko1U1ptYW50MjdjcktpcEtsU3RYOXRxV3pXWlRhR2lvc3JLeTFLcFZLem1kVHJWcTFVcDJ1MTJsU3BYUzBLRkRyM2xCRmxBWTdOMzdhNDZGdEJmdlphbFVxYUVxVmNxK3RQbUdEWE0wZGVvSUJRYUdlQjYvOE5vV0xlNVZwMDVQU1pMUzA1UDEvZmR2cUZ1MzUxU2lSSG5kZWVjRDJyVnJoZDU0bzdPR0RwMlY0MEowQUh3YjBaSUxGMTlTLzhKbDgwTkNRaTc1WEp2TnBxQ2dJRFZvME1CelZ0SEY3SGE3bGk5ZkxpbjdXejJkVHFjblVxNzFVQkpRbUR6NTVGZUtqdlkrUm4vNDhJNUxQcmR4NHk1cTNQankzMnFibVptdTNidC9VWkVpa2VyVDUrOWVqOVdxMVZLdnZiWk1kdnZWVHpVRjRGdUlsbnoweCs4UCtpT2J6Y1plRmVCLy9oZ3NrbFNoUXAzcjJsWmdZSWpxMWJ2OFlkYUxMK3NQd0J3c3hBVUFBRVlnV2dBQWdCR0lGZ0FBWUFTaUJRQUFHSUZvQVFBQVJpQmFBQUNBRVlnV0FBQmdCS0lGQUFBWWdXZ0JBQUJHSUZvQUFJQVJpQllBQUdBRW9nVUFBQmlCYUFFQUFFWWdXZ0FBZ0JHSUZnQUFZSVFBcXdmSUM5SFIwVmFQQUFBb0pQZzd4WGNadmFlbFNwVXFWbzlnbktpb0tLdEhBQUNmVkxObVRhdEg4SG1WSzFlMjlQMk4zdE15ZGVwVXEwZTRwQXVWdm03ZE9vc25BUURrMXFSSms2d2V3Y3ZMTDcrc2VmUG1hZGl3WWVyZHU3ZlY0L2dFby9lMEFBQUEvMEcwQUFBQUl4QXRBQURBQ0VhdmFRR1E5MEpDUXJSZ3dXTldqMUZvQlFVRldUMENZQ3lpQllDWER6LzgwT29SQU9DU09Ed0V3R2pSMGRGY1Z3UHdFMFFMQUFBd0F0RUNBQUNNUUxRQUFBQWpFQzBBQU1BSVJBc0FBREFDMFFJQUFJeEF0QUFBQUNNUUxRQUF3QWhFQ3dBQU1BTFJBZ0FBakVDMEFBQUFJeEF0QUFEQUNFUUxBQUF3QXRFQ0FBQ01RTFFBQUFBakVDMEFBTUFJUkFzQUFEQUMwUUlBQUl4QXRBQUFBQ01RTFFBQXdBaEVDd0FBTUFMUkFnQUFqRUMwQUFBQUl4QXRBQURBQ0VRTEFBQXdBdEVDQUFDTVFMUUFBQUFqRUMwQUFNQUlSQXNBQURBQzBRSUFBSXhBdEFBQUFDTVFMUUFBd0FoRUN3QUFNQUxSQWdBQWpFQzBBQUFBSXhBdEFBREFDRVFMQUFBd0F0RUNBQUNNUUxRQUFBQWpFQzBBQU1BSVJBc0FBREFDMFFJQUFJeEF0QUFBQUNNUUxRQUF3QWhFQ3dBQU1BTFJBZ0FBakVDMEFBQUFJeEF0QUFEQUNFUUxBQUF3QXRFQ0FBQ01RTFFBQUFBakVDMEFBTUFJUkFzQUFEQUMwUUlBQUl4QXRBQUFBQ01FV0QwQUFGeUxiNy85VnUrODgwNk8rNk9qb3oyL2Z2REJCL1gwMDA4WDVGZ0FDZ0I3V2dBWXBXWExsbGQ5VHBjdVhRcGdFZ0FGaldnQllKU29xQ2pWcWxYcnNvOVhxbFJKMWFwVks4Q0pBQlFVb2dXQWNhNjBKNlZWcTFZRk9BbUFna1MwQURET2xjS0VRME5BNFVXMEFEQk9sU3BWVktWS2xSejNseTlmWG5YcTFMRmdJZ0FGZ1dnQllLU3VYYnZtdUk5RFEwRGhSclFBTU5JZGQ5eVI0NzdPblR0Yk1BbUFna0swQURCU2pSbzFGQlVWNWJsZHBrd1pOV3pZME1LSkFPUTNvZ1dBc1M0K1JKU2I2N2NBTUJ2UkFzQllyVnUzOXZ5NlU2ZE9GazRDb0NCd0dYOEF4cXBkdTdiS2xpMnJ6TXhNM1hycnJWYVBBeUNmRVMwQWpHV3oyZFMxYTFlZFBIbFNOcHZONm5FQTVET2lCWURSV3JkdXJaU1VGS3ZIQUZBQWlCWUFScXRmdjc3Y2JyZlZZd0FvQUVRTEFLUFo3WnhQQVBnTC9yUURBQUFqRUMwQUFNQUlSQXNBQURBQzBRSUFBSXpBUWx6QUR6MysrT1A2OWRkZnJSNERGNmxYcjU3R2poMXI5UmlBVDJOUEMrQ0hDQmJmczIzYk5xdEhBSHdlZTFvQVA3WnUzVHFyUjRDazZPaG9xMGNBak1DZUZnQUFZQVNpQlFBQUdJRm9BUUFBUmlCYUFBQ0FFWWdXQUFCZ0JLSUZBQUFZZ1dnQkFBQkdJRm9BQUlBUmlCWUFBR0FFb2dVQUFCaUJhQUVBQUVZZ1dnQUFnQkdJRmdBQVlBU2lCUUFBR0lGb0FRQUFSaUJhQUFDQUVZZ1dBQUJnQktJRkFBQVlnV2dCQUFCR0lGb0FBSUFSaUJZQUFHQUVvZ1VBQUJpQmFBRUFBRVlnV2dBQWdCR0lGZ0FBWUFTaUJRQUFHSUZvQVFBQVJnaXdlZ0FBdUpLc3JDeWxwcWJxN05tek9udjJyTTZjT2FQVHAwK3JkT25TdXUyMjJ6elBHejkrdkxwMjdhckl5RWpQZlhQbnp0V0JBd2YweEJOUFdERTZnRHhHdEFBR1c3SmtpU0lpSWxTL2ZuMDVIQTZyeDdsaGlZbUpldXFwcDVTV2xxYTB0RFNscEtRb1BUMWRSWXNXVldSa3BJb1hMNjRTSlVxb1pNbVNhdHk0c2VkMWNYRnhtakJoZ3U2Nzd6NnY3ZFdwVTBmdnZQT09talZycHVqbzZJTCtPUGtxSVNGQksxZXVWTStlUGEwZUJTZ3dSQXRnc0huejVtbmV2SGtxVWFLRU9uZnVyRFp0MnFoUm8wWUtDRER6ajNhSkVpVTBZc1FJaFlhR0tqdzhYQXNYTHRUWXNXUDE5Ny8vWFUyYk5wVWtuVGh4UWs2blUrWExsL2U4YnR5NGNYcmdnUWNVRkJTa2poMDdTcEtjVHFleXNySVVGQlNrbDE1NnlmUGNWMTk5VlhmY2NVZkJmckE4Y3Zqd1lhMVlzVUp6NXN6UjVzMmJKWWxvZ1Y4eDh5Y2JBQytKaVltYU5HbVNKazJhcEdMRmlxbGp4NDVxMjdhdG9xT2pGUlFVWlBWNDE2UkdqUnJhdjMrLzNuNzdiWlVyVjA3anhvMVQ4ZUxGSlVrelo4N1VSeDk5cEVjZmZWUjkrL2FWbFAwWCticDE2L1RpaXkvcXE2KyswcFFwVXhRUkVhSFhYbnROTzNiczBQang0K1Z3T09SeXVZemNHM1h3NEVFdFc3Wk1jK2JNMGM2ZE82MGVCN0FVMFFJVU1rbEpTZnJ1dSsvMDNYZmZLVHc4WEczYXRGSDc5dTNWdEdsVGhZV0ZXVDNlVlkwY09WSlRwMDVWNDhhTmxaNmVybGRmZlZYbnpwM1R5Wk1uVmJGaVJYMzIyV2VxVkttUzUvbnZ2LysrL3ZTblAyblBuajJhUFh1MlltSml0RzdkT3MyZlAxOWZmdm1sSEE2SHpwdzVvMmVlZVVaZmZmV1ZFWHVoOXU3ZDZ3bVZmZnYyV1QwTzRETjgvMCt2d1FyYk1YU1lKeVVsUmJObXpkS3NXYk1VSEJ5c08rKzhVeDA2ZExCNnJDdTY2NjY3MUt4Wk01VW9VVUl1bDB1VEowL1c4ZVBITldUSUVCVXRXbFFuVDU3MFJFdFdWcGEyYjkrdWZmdjJLVDQrWHA5Ly9ybVNrcElVR3h1ck45NTRRelZxMUpEYjdWWm9hS2hLbGl5cGlSTW5hdkRnd1JaL3dzdjc5Tk5QTlhmdVhQMzIyMis1ZmcwL1orQlBpSlo4VUs5ZVBXM2J0czNxTVFBdldWbFpPblBtakU2ZE9pVzMyeTJieldiMVNKZlV1SEZqblRoeFFtUEhqdFhHalJzMVlNQUFkZTdjV1hhN1hYdjM3dFdRSVVNVUV4T2pQbjM2eUc2M2EvYnMyZnIyMjI5MTlPaFJOV3pZVUsrKytxcUtGaTJxRVNOR0tDTWpRd0VCQVVwS1NsTDE2dFUxWnN3WTllalJReEVSRVZaL3pCemNicmNTRWhLVW1abHA5U2p3SWNIQndhcFNwWXJWWS9nTW05dnRkbHM5QklEcjgvTExMMnZldkhtWGZUdzBORlJObWpSUjI3WnQxYUZEQnhVdFdsVFM3Lzg2WDdkdVhZSE1lUzFlZXVrbExWeTRVR0ZoWVdyUW9JSFMwOU9WbHBhbTFOUlVwYWVuNi96NTgwcFBUMWUvZnYzMHpEUFBhT1hLbFJvMWFwUmVldWtsblRoeFF1M2J0MWRZV0ppYU4yK3VsU3RYeW02M3EyblRwdnIxMTErMVpjc1cxYXRYVDNhN2IxMmk2dUwvSG02M1cxdTNidFhzMmJPMWN1Vkt4Y2ZIWC9HMXZ2amZFTWd2N0drQkNwbnc4SEExYTlaTUhUcDBVSnMyYlJRU0VtTDFTTmVrYTlldWF0ZXVuWW9WSzZaaXhZb3BQRHhjZmZ2MjFaSWxTeFFVRktTQWdBQWxKQ1RvYjMvN214SVRFN1YwNlZKVnJGaFJTNWN1VmJseTVSUVVGS1JqeDQ0cElpSWlSNXpjY3NzdEZuMnEzTFBaYkxybGxsczhzKzdjdVZOejVzelI4dVhMRlJjWForMXdnTVdJRnFBUUtGYXNtSm8zYjY2T0hUdXFWYXRXeHAweGRMSFdyVnRyeVpJbCt2VFRUL1hsbDE5NndpTXNMRXlmZlBLSmpoOC9ybUhEaHVtcnI3NlNKQTBkT2xTcHFhbmFzMmVQZHUzYXBZU0VCTTJmUDE4TkdqVElzZTJsUzVjcUtTbEpkOTk5ZDRGK3BodFJ1M1p0MWE1ZFc4ODk5NXoyNzkrdk9YUG1hTm15WmRxelo0L1Zvd0VGam1nQkROYThlWE4xNmRKRkxWcTBNT0tzbU54WXVuU3BZbU5qTlhMa3lCeDdTbUppWWpSa3lCQTkvdmpqK3VjLy82bGl4WXBwNE1DQkNnZ0lVTDE2OVZTdlhqMXQzTGhSbjMvK3VmN3puLzk0WG1lejJlUnl1UlFYRjJmMDcxUFZxbFgxMUZOUDZhbW5udEtSSTBjMFo4NGNxMGNDQ2hScldnQS81S3RyV243NDRRZDkvUEhIR2pWcWxPclVxU09YeTZYVTFGVDE2TkZESzFldWxKUjkwYmhYWDMxVk8zYnMwSC8rOHgrVktsWEtFeUxEaHcvWG1qVnJGQnNiNjNXSi8yZWZmVlpidDI2VnpXYlQ2TkdqVmJWcVZVcyszK1g0Nm44UHdOZVkrMDhPQUlYTzRjT0g5ZGxubjZscTFhcmF0bTJiSG4vOGNRVUVCS2hmdjM2ZTV3UUVCT2dmLy9pSEpreVlvR0xGaW5udE9YbjAwVWMxYk5pd0hJZkhQdmpnZ3dMN0RBRHlEM3RhQUQvRXYreDlDLzg5Z056eHJmUCtBQUFBTG9Ob0FRQUFSaUJhQUFDQUVZZ1dBQUJnQktJRkFBQVlnV2dCQUFCR0lGb0FBSUFSaUJZQUFHQUVvZ1VBQUJpQmFBRUFBRVlnV2dBQWdCR0lGZ0FBWUFTaUJRQUFHSUZvQVFBQVJpQmFBQUNBRVlnV0FBQmdCS0lGQUFBWWdXZ0JBQUJHSUZvQUFJQVJpQllBQUdBRW9nVUFBQmlCYUFFQUFFWWdXZ0FBZ0JHSUZnQUFZQVNpQlFBQUdJRm9BUUFBUmdpd2VnQUExb21PanJaNkJBRElOZmEwQUg2b1hyMTZWbytBUDZoV3JaclZJd0EreitaMnU5MVdEd0VBMStQQ25xSjE2OVpaUEFtQWdzQ2VGZ0FBWUFTaUJRQUFHSUZvQVFBQVJpQmFBQUNBRVlnV0FBQmdCS0lGQUFBWWdXZ0JBQUJHSUZvQUFJQVJpQllBQUdBRW9nVUFBQmlCYUFFQUFFWWdXZ0FBZ0JHSUZnQUFZQVNpQlFBQUdJRm9BUUFBUmlCYUFBQ0FFWWdXQUFCZ0JLSUZBQUFZZ1dnQkFBQkdJRm9BQUlBUmlCWUFBR0FFb2dVQUFCaUJhQUVBQUVZZ1dnQUFnQkdJRnVELzI3dTNFQ25yUG9EalAzUDIxTVlRU1YwVndTNTBzNVRJaGhVUlpMcExCVzY1MkJZUmxIWFJRaGtHS1ozcExsQnNLWWdnSkVyQ0RsdExHaFpFSWwxRXBDeFN0bDExMFpRZDFDeTNJZ0FBQ1J4SlJFRlVpTnpTa3NURHpuc1JPN2p1MGZkOVoyWi8rdmxjelR6UC85bjVMWUo4ZVE2ekFLUWdXZ0NBRkVRTEFKQ0NhQUVBVWhBdEFFQUtvZ1VBU0VHMEFBQXBpQllBSUFYUkFnQ2tJRm9BZ0JSRUN3Q1FnbWdCQUZJUUxRQkFDcUlGQUVoQnRBQUFLWWdXQUNBRjBRSUFwQ0JhQUlBVVJBc0FrSUpvQVFCU0VDMEFRQXFpQlFCSVFiUUFBQ21JRmdBZ0JkRUNBS1FnV2dDQUZFUUxBSkNDYUFFQVVoQXRBRUFLb2dVQVNFRzBBQUFwaUJZQUlBWFJBZ0NrSUZvQWdCUkVDd0NRZ21nQkFGSVFMUUJBQ3FJRkFFaEJ0QUFBS1lnV0FDQUYwUUlBcENCYUFJQVVSQXNBa0lKb0FRQlNFQzBBUUFxaUJRQklRYlFBQUNtSUZnQWdCZEVDQUtRZ1dnQ0FGRVFMQUpDQ2FBRUFVaEF0QUVBS29nVUFTRUcwQUFBcGlCWUFJQVhSQWdDa0lGb0FnQlJFQ3dDUWdtZ0JBRklRTFFCQUNxSUZBRWhCdEFBQUtZZ1dBQ0FGMFFJQXBDQmFBSUFVQ3ZVZUFHQ3U5dXpaRTU5Ly92bWs3UU1EQTVYWFYxMTFWU3hmdnJ5V1l3RTFJbHFBTkJZdVhCaHZ2dm5tcE8ybmJ0dTBhVk10UndKcXlPVWhJSTNGaXhkSHNWaWNkbjlyYTJ2Y2NNTU5OWndJcUNYUkFxUlJLQlNpdTd0NzJ2M1hYSE5OTkRRMDFIQWlvSlpFQzVES1RUZmROTzIrRlN0VzFIQVNvTlpFQzVES2tpVkxvclcxZGRMMjV1Ym11UEhHRzJzL0VGQXpvZ1ZJcGJHeGNjcW5nNVl1WFJwTlRVMTFtQWlvRmRFQ3BETlZ0TXgwMlFnNE80Z1dJSjNPenM1b2FXbXB2RzlxYXZMZExIQU9FQzFBT2kwdExSUHVYK25zN0l6enp6Ky9mZ01CTlNGYWdKUk9QYlBpQmx3NE4vaEdYQ0NscFV1WFJtTmpZNHlOalVWWFYxZTl4d0ZxUUxRQUtZMS8rKzNodzRkbi9KWmM0T3doV29DMHVycTY0dURCZy9VZUE2aVJCZVZ5dVZ6dklZRGE2dS92ajcxNzk5WjdERTdSMGRFUlc3ZHVyZmNZTUsrNUVSZk9RWUpsL2hrWkdhbjNDRER2dVR3RTU3RGg0ZUY2ajBEOCs4ZzJNRHRuV2dDQUZFUUxBSkNDYUFFQVVoQXRBRUFLb2dVQVNFRzBBQUFwaUJZQUlBWFJBZ0NrSUZvQWdCUkVDd0NRZ21nQkFGSVFMUUJBQ3FJRkFFaEJ0QUFBS1lnV0FDQUYwUUlBcENCYUFJQVVSQXNBa0lKb0FRQlNFQzBBUUFxaUJRQklRYlFBQUNtSUZnQWdCZEVDQUtRZ1dnQ0FGRVFMQUpDQ2FBR0lpTC8vL3J2ZUl3Q3pFQzFBVlczWnNpVzJiOTgrWVZ1NVhJN0hIbnNzdnZ6eXkxbVAvK3V2djJMRGhnMnpyaHNiRzR1Tkd6Zkc4ZVBISzl2Mjc5OGZIMy84OGF6SG5qeDVNbGF0V2hXLy92cnJyR3VCK2luVWV3RGc3UGIxMTEvSEF3ODhNR0hid01CQUxGcTBLTjU3Nzcxb2EydUxpeSsrdUxMdjJMRmowZGpZT09IOXJsMjdKaHgvK3BxSWlLKysraXIyNzk4ZkRRME5sVzJYWEhKSlBQUE1NOUhWMVJXRnd1VC83bTY3N2JhSWlEaHg0a1FjT25Rb0huend3VWxyVGc4dW9INUVDMUFWYjcvOWRnd05EY1dQUC80WUJ3NGNpRUtoRUcrOTlWWnMzTGd4VHB3NEVVODk5VlQ4OHNzdjhjUVRUOFNUVHo0WmJXMXRFUkZ4M1hYWHhhNWR1K0xDQ3krYzltZFB0V2I3OXUyeGN1WEt1T1dXV3lhdFg3bHlaZVgxQlJkY0VJT0RneEVSOGR0dnY4VVhYM3d4NCtjQTg0ZG9BYXJpcnJ2dWlpdXZ2REplZmZYVmVQSEZGK1BBZ1FPeFpzMmFPSHIwYUdWL1JNVG82R2c4L2ZUVHNYcjE2dWp0N2YydlBtdDBkRFIyNzk0ZDY5ZXZqNzYrdmprZmQvejQ4Um5YbjNxcENhZy8wUUpVeldlZmZSYkxsaTJMM3Q3ZUdCZ1lpSnR2dmpudXZ2dnVTZXRLcGRML0ZBaXZ2LzU2UkVTMHRyYkd2bjM3NHJubm5wdDI3UXN2dkJEdDdlMFJFZEhRMEJEdnZ2dnV0R3VkYVlINVJiUUFWYk43OSs3WXNtVkxiTjI2TlM2Ly9QTFl2SGx6ZlBqaGh4RVJjZGxsbDBWYlcxdjA5L2ZINXMyYjQ2V1hYcW9jTjlVbG51a0NvbFFxeFNlZmZGSjV2MlRKa2puZmgrSk1DK1FpV29DcUdCMGRqUjkrK0NIV3JGa1RQLy84Yy9UMjlrYWhVS2ljMmVqcjY0dnZ2LzgrK3Z2N28xUXFWWTRiSGg2ZThITU9IandZM2QzZEUrNDk2ZXpzckx6ZXVYTm5QUHp3dzdGcDA2YUlDR2RhNEN3bVdvQ3F1T2lpaXlxUE5QZjI5c2JRMEZEMDlQVEV2ZmZlTytOeFV6MFpkTHJoNGVFNGR1eFlSRVRjYzg4OVVTd1dLOUZ5cG1kYXhwOGdtbTQvTUgrSUZxQW1qaHc1RXMzTnpmSEdHMjlFUkV4N1dXWXVUdy85K2VlZnNYejU4aGdlSG81aXNUaHBmM2QzZDdTMHRFemEvczgvLzFRdUpRME5EY1cyYmR2aW80OCtpblhyMXNXT0hUdmltMisraVEwYk5sUWVqLzcwMDA5ang0NGQwZFBUYzhhL0wvRC9KMXFBcXRpelowOE1EUTNGNzcvL0hqLzk5RlBjZDk5OWNlalFvYmovL3Z1ci90bC8vUEhIaFB0Y3hvMWY3amx5NUVpODhzb3I4Y0VISDhRNzc3d1Q2OWF0aTU2ZW5oZ1pHWW4zMzM4Lzdyenp6dWp2NzQ5SEgzMDAxcTlmSDRzV0xZcnJyNysrNm5NRE14TXRRRlVzWHJ3NHJyamlpaWdXaTdGNjllb1lIQnlNdnI2K2VPMjExeUxpM3pNdE05MVBVazJEZzRPeGJObXlhRzF0allhR2hqaDgrSEFVaThWNC9QSEhZOEdDQlZFcWxXSmtaQ1RhMjl2aitlZWZqNTA3ZDRvV21BZEVDMUFWVFUxTjBkVFVOR243eVpNbjQralJvOUhjM0J5bFVpbk9PKys4eW5lM2pEdVRwNGVtTWpZMk51VzlLdVAzcUt4WXNhSnkzOHdkZDl3UnQ5OStleXhjdUxDeXJsd3V4ME1QUFJTRlFpRTZPanFpbzZOanpwOE5WSTlvQWFydTFsdHZqWWlJbnA2ZStPNjc3Mkxmdm4zeDdMUFB4clp0MitMYmI3K05WYXRXVmRhZS92VFFWTWJ2YVRuVjFWZGZYWGw5N2JYWHhzc3Z2enpwdUVjZWVTUWlJaTY5OU5MS3RyVnIxOGJhdFd2UDdCY0M2bUpCdVZ3dTEzc0lvTGJHSHhtZVN5QlFmZjQ5WUc3OGxXY0FJQVhSQWdDa0lGb0FnQlJFQ3dDUWdtZ0JBRklRTFFCQUNxSUZBRWhCdEFBQUtZZ1dBQ0FGMFFJQXBDQmFBSUFVUkFzQWtJSm9BUUJTRUMwQVFBcWlCUUJJUWJRQUFDbUlGZ0FnQmRFQ0FLUWdXZ0NBRkVRTEFKQ0NhQUVBVWhBdEFFQUtvZ1VBU0VHMEFBQXBpQllBSUFYUkFnQ2tVS2ozQUVEOWRIWjIxbnNFZ0RsenBnWE9RUjBkSGZVZWdkTzB0N2ZYZXdTWTl4YVV5K1Z5dlljQUFKaU5NeTBBUUFxaUJRQklRYlFBQUNtSUZnQWdCZEVDQUtRZ1dnQ0FGRVFMQUpDQ2FBRUFVaEF0QUVBS29nVUFTRUcwQUFBcGlCWUFJQVhSQWdDa0lGb0FnQlJFQ3dDUWdtZ0JBRklRTFFCQUNxSUZBRWhCdEFBQUtZZ1dBQ0FGMFFJQXBDQmFBSUFVUkFzQWtJSm9BUUJTRUMwQVFBcWlCUUJJUWJRQUFDbUlGZ0FnQmRFQ0FLUWdXZ0NBRlA0RHlZZ3IvaUFrbGdVQUFBQUFTVVZPUks1Q1lJST0iLAoJIlRoZW1lIiA6ICIiLAoJIlR5cGUiIDogImZsb3ciLAoJIlZlcnNpb24iIDogIiIKfQo="/>
    </extobj>
    <extobj name="ECB019B1-382A-4266-B25C-5B523AA43C14-7">
      <extobjdata type="ECB019B1-382A-4266-B25C-5B523AA43C14" data="ewoJIkZpbGVJZCIgOiAiMTg2NjA3MjY0NzE3IiwKCSJHcm91cElkIiA6ICI0MDI4MDQwNDYiLAoJIkltYWdlIiA6ICJpVkJPUncwS0dnb0FBQUFOU1VoRVVnQUFBaTBBQUFLeENBWUFBQUNmVFp4S0FBQUFDWEJJV1hNQUFBc1RBQUFMRXdFQW1wd1lBQUFnQUVsRVFWUjRuT3pkWjJCVVpkcUg4Zi9NcEljU1FoTUkwanZTSWdpQ1NKVW1SVUNSRW54dGE5KzFzS3VJSzBIWGd1S3FxK3VLYTBHcUFvb2dWVUE2QXRKN0oyQ29BUUloaldRbTgzN0lNaktHRWlESm1TZHovVDR4N2N3OUtPSGluT2Vjc2JuZGJyY0FBQUI4bk4zcUFRQUFBSEtEYUFFQUFFWWdXZ0FBZ0JHSUZnQUFZQVNpQlFBQUdJRm9BUUFBUmlCYUFBQ0FFWWdXQUFCZ0JLSUZBQUFZZ1dnQkFBQkdJRm9BQUlBUmlCWUFBR0FFb2dVQUFCaUJhQUVBQUVZZ1dnQUFnQkdJRmdBQVlBU2lCUUFBR0lGb0FRQUFSaUJhQUFDQUV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kFxd2VBSUJ2ZWY3NTU1V1NrbUwxR0lWV1NFaUlQdnp3UTZ2SEFJeEV0QUR3a3BLU29nNGRSbHM5UnFHMVlNRmpWbzhBR0l2RFF3QUF3QWhFQ3dBQU1BTFJBZ0FBakVDMEFBQUFJeEF0QUFEQUNFUUxBQUF3QXRFQ0FBQ01RTFFBQUFBakVDMEFBTUFJUkFzQUFEQUMwUUlBQUl4QXRBQUFBQ01RTFFBQXdBaEVDNEFiNW5abmVkM095RWhUVnBicmhyZnJkR1pjOXJIMDlPUWIzbjVhMmprbEpoN0oxWE96c2x4WG5BZEEvZ3V3ZWdBQTVudnp6YTU2NFlXcENna3BJa25hdTNlTlVsUFBLanI2YmlVa0hGU1pNbFVrU1ltSlIzVCtmS3B1dXFsNmptMWtaYm0wWk1sWXRXMzdvT2UrNTUrdnA4aklDcGQ4eitQSDkrdmYvejRndTkzeGgvdjNhYzJhYWVyZWZjaFY1MTZ4WXBJeU05UFZwY3VmSlVubno2Y3FPRGpNODNoNmVyTGk0alpxMjdiRk9ueDRoMXEydkY4Tkd0eWx3TUJnU1ZKbVpyb0NBME91K2o0QThnYlJBdUNHWldhbUt5U2tpQ1pOR3FaZHUxWW9PZm0wQWdPRDljTVBiNnRZc2RMNjYxOS9rTTFtMDRFREcvVE5ONjhvTEt4NGptMmNQNStxcEtRRXRXeDV2NEtDUWlWSkZTclUwWXN2enBBa3ZmRkdadzBiTnRmei9OallObDdCY3ZEZ0psV3ExRkJseTFaVFd0bzVPWjBaQ2dnSVVsemNSbFd1M09nU001L1hqeitPVW9rUzViVjY5ZmVTcEZPbjR0V3g0MlBxMGVPdm50dFJVWFgxd3c5djY2V1haa3FTUm8zcXJlVGswNUtra3ljUDZaLy8zT2FaRjBEK0lsb0E1SW5ObStlclI0Ky82cTIzRnNubGNpbzRPRnh1ZDVZZWV1Z2oyV3cyU2RLU0pWL3J5U2UvMHVyVjM2bHYzK0Z5T0g3L0ViUjkreEpWcjk3TUt3QXV2QzQzdnZ6eXozSzVNaFVRRU9UWm5pUWRPclJGSDMyMFQrSGhFVjdQbnpyMU5RMGE5STZhTnUwbFNVcEpPYU5Sbys1UnUzWVBlNTVUb1VKdHI5Y2tKNTlXUmthYVltTVhTNUtHRDcrVFlBRUtFTkVDNExyRnhXM1VoQWt2S1M1dW83Ny8vZzExN3o1RUowOGU4aHoraVl2YjZIVjQ1OGtueHlnNE9FenZ2MytmZHV4WTVyVXRseXRUTDc3NG8xY0U3TisvVHJHeGJTUkpCdzl1OXZ6NlVnSUNBdlhjYzk4cUl1SW1yL3RmZjcxRGptQlp2MzZXaWhZdHFSMDdscWwrL2ZaeU9BTDB5U2NQNnYvKzd3TVZLUklwS1h2UHo5dHZkMU5XVnBiMjdmdFZzYkZ0VktaTUZkbHN2eThGdkphb0FuRGppQllBMTYxeTVVWWFObXl1WW1QYmVQWSt6Si9meUhNbzVZK0hjSUtEdzNUaXhBRTFiOTVYL2Z1LzZiV3Q5UFJrdVZ5Wlh2ZFZxM2FyL3ZyWEh5UmQrdkRRSDQwYTFkdXpwK1dDVTZkKzg3cDk5dXdKbFM1ZFNVMmFkTk9HRFhOMDlPaHUvZmpqZStyYjkrK3FWS21oMTZ6RGh5L1N0bTJMTldwVWIvM3BUNk5Wdm53dHZmMzIzYm44M1FHUTE0Z1dBSGtxTG02akp5amk0amJtZVB6MDZjUGFzR0dPZHUxYTZYVi9jdkpwM1hubllNOEMyclMwYzlxMWEyV3U5N1NrcGlacCtQQ2ZQWXVCTC9qKyt6ZThiaGN2WGtiRmk1ZVJKS1drSkdydDJ1bDY0SUYvZXZiUXhNZHZWMVJVWGMvek4yMmFwK3JWbStuZ3djMWF1UEJ6dWQxdXoyTVgveHBBL2lOYUFOd1FseXRUTGxlbWR1MWFlY2t6ZlZ3dXA5ZmFsZHExVyttZGR6WjRicDgrZlZnQkFVSGFzbVdCMStzVEV1TFV0dTFER2pqd2JVbFgzdE9TbGVWU1ZwWXpSN0JJVXUvZXczTGNkL2p3RG4zenpkKzFkZXZQcWxTcGdUNzQ0SDZ2OS8zNDQvMnkyZXphc21XQmJydXRqdzRlM0t3V0xlN1Z6VGZYMTlpeEwzaWUrOGRUdlFIa0w2SUZ3SFZidE9oTFRaMzZtZ1lNZUZ1bFNsWFV1Ky9lNDltTElVbGx5bFRSbTI5MjF2UFBUMVZXbGxOdnZ0blY2NVRpQ3hvMjdDUzczYUVhTlpwNzd0dXpaN1dhTk9ucXVYMmxRTmkyYlpFYU5lcHkxWGxkTHFkMjcxNnA1T1RUZXV5eHovVHh4NE05aDdJdWlJMXRJNXZOcnNURW83TFo3S3BXN1ZiUGUxZW9VRWN1bDlNVFRDa3BpVmQ5VHdCNWgyZ0JjTjF1dTYyUG1qWHI3Vm5vK3ZiYmF6Vjc5b2VxVXFXSlNwVzZXZXZYejlMdHQvZnpQUDdXVzJzdXU2MVBQbmxRcFV0WDh0dytlZktRMnJkL3hITTdLOHNsbDh1cCtQanRPbnYydU5mZW04V0x4K2loaHo2KzZyd09SNERxMUdudHViMXYzOW9jaDV3dUJFcElTTGpxMTIvbmVlOExRa0tLYU1pUTdGT2taODE2LzZydkNTRHZFQzJBbjNqbGxWZFVzV0pGM1h2dnZZcU1qTXlUYlY1OHZSV1hLMU5yMXZ5Z3FsV2pWYnQySzBsU28wYWQ5T0dIL2ZYS0t6OWRkaHNiTjg3Vi9QbWpWYXhZS2MrWk9TZFBIbExyMWpGZXordmMrV25aN1haRlJkWFJxbFZUZE5kZFQwcVMxcXlacGw2OWh1WTRReWczdW5WN1ZyMTZ2ZVIxMzZKRlgwcVNRa09MZWU2N2VDL1BDeTk4ZDlIcm43dm05d1J3L1d4dVZwSUJmcUZseTVaYXVYS2xBZ01EMWJ4NWMvWHMyVk1EQmd4UXVYTGx2SjczMkdPUHFVT0gwZGU4L1hQblRxbElrY2djcHdHbnBDUXFQTHpFRlY5NzZsUzhJaVBMZTUxT25GdHBhZWNVR2xyMG1sOTNMYzZmVDFGd2NIaWViR3ZCZ3NjMGV2UzEvLzRDNEx1SEFMK1RtWm1wWmN1V2FjaVFJYXBZc2FLYU4yK3VOOTk4VXdjUEhyeWg3Ull0V3ZLUzF5MjVXckJJVXNtU1VkY1ZMSkx5UFZnazVWbXdBTGd4SEI0Q2ZOaHJyNzJteE1TOFdld1pGeGVYNHo2WHk2WFZxMWRyOWVyVkdqWnNtSjU3N2prNW5jNDhlYis4bEo2ZXJNREFFSzkxTEpmeng3T1ZYSzVNT1J5QitUa2VnQUpDdEFBK2JQanc0ZnJnZ3cveVpGdkJ3Y0U1N2dzSUNGQ0hEaDNVc1dOSDNYenp6ZXJidDY4ZWUreXhQSG0vRzVXZW51dzVoZGxtcyt2dHQ3dHAyTEI1bnNjdjlXV0ZHemZPMVlrVEIvVExMNU05MTFBNWUvYUVIbjc0WTgraVdnRG1JbG9BSC9lWHYvd2xUN1l6ZWZKa0hUaHdRRUZCUWVyU3BZdnV1KzgrZGVyVVNTVkxsc3lUN2VlMUdUUGU5WHgva0pUOXJjNFhuK2x6OHVRaHZmYmFNdjN5eXhTdFh2MmRUcDM2VGFWTFYxYWRPcTNWdWZQVGF0YXN0MncybTZaUEgrbDFHallBY3hFdGdKL28ycldybm5ycUtYWHQybFVSRWRkK3BrMUJTazlQVm1MaVVjWEdMbFpxNmxudDI3ZFdwVXRYVXZIaVpiUjQ4UmpkY2NjZ2JkZ3dSK0hoSmRTdDI3TnEzcnlQRGgzYXFzYU5zNi9Wc216WmVPM2Z2MWJWcWpWVll1SlJWYWhReCtKUEJDQXZFQzJBbnhnMkxPZVZZWDJWM2U3UWdBRnZhY3VXQmZyeHgvYzBlUEI3V3J4NGpESXkwdFN1M2NQYXRtMnhicjIxaCtkQ2RTdFdmS1AxNjJmcCsrL2YwS3V2THRTcFUvRzY5ZGFlWHRzRFlEN09IZ0xnYzRLQ1FyVm16VFFkT2JKYmRydEQyN1l0VWxSVVhjWEVqTktubno2aWloWHI2Y3N2bjVFa1pXYWUxODgvZjZIWTJNVnlPQUlVR0JpczlQUmt6MWxGZHJ0RHAwN0ZXL2x4QU9RUjlyUUE4RWxWcXpiUjl1MUxsWloyVGl0WFRsWlFVS2dXTHZ4Y0RrZWd5cGV2cFppWWR5Vko4ZkhiVkxac05hL1hwcWFlOVZyLzh1cXJkK2psbDJkem1BZ3dITkVDd09lY1BuMVl4WXVYVmZ2Mmo2aGJ0MmNsU1JNbXZLZ0JBOTZXeldiVHVYT25WS3hZYVVsU2xTcE5QSzl6dTkyYVB2MGRIVHEwUlZMMjZjLzE2clZSelpvdENCYWdFQ0JhQVBpY0M5LzJQR0pFV3cwZnZraVNkT0RBQnMvRjYxNS92WVBlZm51dFo2MksyNTJsMk5nMk9uUG1tTzYrKzNuMTZQRlhyd3ZkalJzM3BJQS9BWUQ4d0pvV0FEN0o3WFo3WFlmbDRpdm1ob1lXODFwY20vM055NHZWdW5XTUhJNEFUN0FrSmg2VjIrMVdSa1phd1EwT0lOK3dwd1dBVDBwTFM5TFpzOGU5MXFaYytIVktpdmRWZ252MHlONlQwcWZQSzE3M0p5ZWYxcWhSOTZoSGo3L2w2NndBQ2diUkFzQW5oWVVWMThpUjZ5LzUyTEZqZTcxdU4yelk2WkxQcTFpeG52N3hqMTh1K1oxSUFNekQ0U0VBeHJucHB1cTVmaTdCQWhRZVJBc0FBREFDMFFJQUFJeEF0QUFBQUNNUUxRQUF3QWhFQ3dBQU1BTFJBZ0FBakVDMEFBQUFJeEF0QUFEQUNFUUxBQUF3QXRFQ0FBQ01RTFFBQUFBakVDMEFBTUFJUkFzQUFEQUMwUUlBQUl3UVlQVUFBSHhMU0VpSUZpeDR6T294Y2kwdUxrNlZLMWUyZW94Y0N3b0tzbm9Fd0ZnMnQ5dnR0bm9JQUpkbXM5bkVIOUVyQ3d3TVZHWm1wdFZqQUNnQUhCNENZRFM3M2E2c3JDeXJ4d0JRQUlnV0FFWnpPQnh5dVZ4V2p3R2dBQkF0QUl4R3RBRCtnMmdCWURTNzNVNjBBSDZDYUFGZ05QYTBBUDZEYUFGZ05LSUY4QjlFQ3dDakVTMkEveUJhQUJqTjRYQnd5alBnSjRnV0FFWmpJUzdnUDRnV0FFYmo4QkRnUDRnV0FFWWpXZ0QvUWJRQU1CcHJXZ0QvUWJRQU1KckQ0WkRUNmJSNkRBQUZnR2dCWURRVzRnTCtnMmdCWURRT0R3SCtnMmdCWURRVzRnTCtnMmdCWURTaUJmQWZSQXNBbzdHbUJmQWZSQXNBbzdHbkJmQWZSQXNBbzdFUUYvQWZSQXNBbzdHbkJmQWZSQXNBb3hFdGdQOGdXZ0FZallXNGdQOGdXZ0FZalQwdGdQOGdXZ0FZaldnQi9BZlJBc0JvUkF2Z1A0Z1dBRWJqbEdmQWZ4QXRBSXpHUWx6QWZ4QXRBSXpHNFNIQWZ4QXRBSXhHdEFEK2cyZ0JZRFNpQmZBZlJBc0FvN0VRRi9BZlJBc0FvN0VRRi9BZlJBc0FvM0Y0Q1BBZlJBc0FveEV0Z1A4Z1dnQVlqV2dCL0FmUkFzQm9SQXZnUDRnV0FFWmpJUzdnUDRnV0FFYmpsR2ZBZjlqY2JyZmI2aUVBWEpyTlpoTi9SSFBhdEdtVHVuZnZycXlzTEowOWUxWjJ1MTJob2FHeTIrM2F1M2V2d3NMQ3JCNFJRRDRJc0hvQUFMaFc5ZXZYVjBaR2hvNGZQKzY1THlrcFNTMWJ0aVJZZ0VLTXcwTUFqT053T0RSdzRNQWM5OTk5OTkwV1RBT2dvQkF0QUl6VXUzZnZIUGNOR0REQWdra0FGQlRXdEFBK2pEVXRsK2R5dVZTeFlrVWRQWHBVa3RTd1lVTnQzTGpSNHFrQTVDZjJ0QUF3a3NQaDBQMzMzKys1ZmRkZGQxazREWUNDUUxRQU1OYkZoNGo2OSs5djRTUUFDZ0tIaHdBZnh1R2hLM081WENwZnZyekN3c0owNE1BQnE4Y0JrTTg0NVJtQXNSd09od1lNR0tDa3BDU3JSd0ZRQUlnV0FFYnIzYnUzenA4L2IvVVlBQW9BMFFMQVNBa0pDZnI2NjYrVmxwYW1CeDk4ME9weEFCUUExclFBUG93MUxUazVuVTR0WExoUTgyWk5WOGVLeVFxeVMzTU9ocXZOWGQzVXFWTW5CUVlHV2owaWdIeEN0QUErakdqeHRuLy9mbzBmUDE0UjZYRWFXRHRWSlVPemYyL09ucmRwNHM1UUhiRkZLU1ltUmpWcjFyUjRVZ0Q1Z1dnQmZCalJraTAxTlZVelpzelErcFUvcTIrTlZEVzdLZk9Tejl1VUVLaHZkNGVxZHBNNzFMdDNieFVwVXFTQUp3V1FuNGdXd0ljUkxkS0dEUnYwemFSSnFsL2toUHJXU0ZQb1ZWYmluWGRKMC9hR2FtMWlwTzdyZDcrYU5XdFdNSU1DeUhkRUMrREQvRGxhVHA4K3JVbVRKaWxoM3dZTnFwT3E2aEd1YTNyOW9TU0h4dTBJVlZpRitobzRjS0RLbENtVFQ1TUNLQ2hFQytERC9ERmFYQzZYbGl4Wm9sblR2MWZiOHVmVXBVcTZITGJyMjFhV1c1cC9NRmcveFJkVnh5N2QxYUZEQndVRWNOSWtZQ3FpQmZCaC9oWXRodzRkMHJoeDR4UjZicDhHMVVsVG1iQ3NQTm51NlhTN0p1d0kxYW1nbXpWNDhHQlZyVm8xVDdZTG9HQVJMWUFQODVkb1NVOVAxOHlaTTdWcXlYejFycDZxRnVVeVpMdk92U3VYNDNaTDYwOEVhdkx1VURWcTBVNDllL1pVV0ZoWTNyNEpnSHhGdEFBK3pCK2laY3VXTFpvNFlZSnFCQjlYdjFxcENzL255NnlrT2FYdjlvUnE4N2xTdXIvL0FEVnAwaVIvM3hCQW5pRmFBQjlXbUtQbHpKa3ptakpsaWc1dFg2MkJ0ZE5VTzlKWm9PKy8vNHhENDNhRXFXVFZSdXJmdjc5S2xpeFpvTzhQNE5vUkxZQVBLNHpSa3BXVnBlWExsMnY2dEtscVZlYXN1bGROVjREZG1sbGNXZExjZzhGYWVMaVl1bmJ2cGJadDI4cmhjRmd6RElDcklsb0FIMWJZb3VYdzRjT2FNR0dDZEhLWEJ0VkpWZmtpZWJQUTlrYWRUTE5yM0k0d0pZZFZWa3hNakNwWHJtejFTQUF1Z1dnQmZGaGhpWmFNakF6Tm1UTkhTeGZNVm8rcXFXcGRJZThYMnQ0b3QxdGFmU3hRMys4TlY5TTdPcWg3OSs0S0NRbXhlaXdBRnlGYUFCOVdHS0pseDQ0ZG1qQit2RzYySDFILzJta3FHdVRibnljbDA2WXB1ME8xTTYyTUJnd2NxQVlOR2xnOUVvRC9JVm9BSDJaeXRKdzdkMDVUcGt6UjNrMi9hRUR0Vk5VdlZiQUxiVy9VN2tTSHh1OElVNFhhVFhYZmZmZXBSSWtTVm84RStEMmlCZkJoSmtaTFZsYVdWcTllcmUrbWZLdmJTcDVScjJwcENqUjBiYXN6UzVwMUlFUkxqeGRYOTU2OWRlZWRkOHJtYThlMUFEOUN0QUErekxSb09YYnNtQ1pPbktqMEk5c1VVemRWRll2NnhrTGJHM1VzSlh1aHJqT2l1bUppWWhRVkZXWDFTSUJmSWxvQUgyWkt0R1JtWnVxbm4zN1N6L05tcW11bFpMV3I2SHNMYlcrVTJ5MHRQeEtrR2Z2RGRYdmJUdXJXclp1Q2dvS3NIZ3Z3SzBRTDRNTk1pSlk5ZS9aby9QanhLdXY4VFFOcXB5b2l4TGZudlZIbk1tejZabGVvRGpqTGFkQ2dRYXBidDY3Vkl3RitnMmdCZkpndlIwdHljckttVFp1bXJiOHUxZjIxMHRTNFRLYlZJeFdvYmFjQ05HbG5xS3JjMGtKOSsvWlY4ZUxGclI0SktQU0lGc0NIK1dLMHVOMXVyVjI3VnBPL25hUW14VStyZDQwMEJSdTYwUFpHWmJxazZmdEN0T3BVQ2ZYdWU1OWF0R2pCUWwwZ0h4RXRnQS96dFdoSlNFalF4SWtUbFhSb3N3YlZTVk9WNGk2clIvSUpoNVB0R3JjOVRJNHl0VFZvMENDVksxZk82cEdBUW9sb0FYeVlyMFNMMCtuVXdvVUxOVy9XZE4xVk1WbDNWVG92T3pzVXZMamQwcUw0WU0yT0MxZWJ1N3FwVTZkT0Nnek01NitzQnZ3TTBRTDRNRitJbHYzNzkydjgrUEdLU0kvVHdOcXBLaG5LajR3ck9YdmVwb2s3UTNYRUZxV1ltQmpWckZuVDZwR0FRb05vQVh5WWxkR1NtcHFxR1RObWFQM0tuOVczUnFxYTNlUmZDMjF2MUthRVFIMjdPMVMxbTl5aDNyMTdxMGlSSWxhUEJCaVBhQUY4bUZYUnNtSERCbjB6YVpMcUZ6bWh2alhTRkJwUTRDTVVDdWRkMHJTOW9WcWJHS243K3QydlpzMmFXVDBTWURTaUJmQmhCUjB0cDArZjFxUkprNVN3YjRNRzFVbFY5UWpyRnRxZXo4eFNjS0E5MTgvUGNydGwvOE9aTzJrWkxvVUdYZnJVcHVSMHAwSUNIUXB3WEgxeGp0UGw5bnBlcGl0TGdZN2N6M1lveWFGeE8wSVZWcUcrQmc0Y3FESmx5dVQ2dFFCK1I3UUFQcXlnb3NYbGNtbkpraVdhTmYxN3RTMS9UbDJxcENzWGY1ZDc3RDU2VGpYTEZaVWtiVHA0Umd1M25ORHpkM3V2NWRoN0xGazNsd3BUVU1DbC83SmZ0TzJFYnJtNXVFb1ZEWllrOVJpNVhGOCsyVlNsaWdZclBkT2w3bTh2MTd4WFdzdHVzeW4rVkpxaVNvWjZ2YjdXWCthb1hJa1FyL3QrTzVXcTNSOTJsZU4vcTRhVDA1MHFFcEs5MnlqMXZFdjNqRnFoZWNOYWU1NmZudWxTeUIrK0tHbnV4bU02Y0NKRmszLzV6ZlBmNHNUWjgvcjQ0U1pxVnovMzhaSGxsdVlmRE5aUDhVWFZzVXQzZGVqUVFRRUI3TUlDcmdWL1lnQS9kK2pRSVkwYk4wNmg1L2JweFNacEtoT1d1KzhMT253NlRiMUhyVkJva0VOeENTbGE4WHA3VllnTTFUY3JEcWx1VlBFY2V5Y2l3Z1AxcDlGck5lYXBaaHIwMFdyRm4wcVZKRzJNTzZOR2xTTWtTUVB2cUtSSDIxZFZYRUtLc3R4dWxTb2FyQTBIRXRXZ1VvUXlYVm15MjJ4S1NzdlVZNSt0MWVUbld5ZzgrUGNmWWRWdktxSlpRKy93bXZITzRZczh3U0pKNzg3WXFTWGJFenkzOXg5UFVadllSYi8vWHB4TTFiTFgybW5LTDcvcHU5WHgrdTFVcWlxWERsZnJPcVgxZE9mcTZ0MHNTamFiTkhMNlRwVXBIbndOdjh1UzNTWjFxbnhlVFcvSzFJU2xrN1ZxMVNvTkhqeFlWYXRXdmFidEFQNk1hQUg4VkhwNnVtYk9uS2xWUythcmQvVlV0YWh4YmQ4WFZDRXlWRTkxcXE2T0RXN1Nlek4zcVVKa3FBNmRURlg1RXFIcTB2Z214VTdacW4vY2Y0dm4rYVdLQm10WTcreEwzbzkvNWpiUC9XMWlGMmx4YkZ1dmJkLzI4Z0k1WFc2MWlWMmtuWWZQS2U2VGJwN0hQcHk5UjE4ODBkUXJXQ1RwYXZ1amt0T2RPcHFZcnNXeGJYVTJOVk5yOTUxV3BkTGhLbE04V0dNV3gyblFIWlUwWjhOUmxRZ1AwclBkYXFwUDh5aHRQWFJXWFJwblgzTmwvTEtEV3J2L3RKcFdpOVRSeERUVnFWQXM5NzlaRjRrTXlkTFRqVkswL3NSZWpmN2dMVFZxMFU0OWUvWlVXRmpZZFcwUDhDZEVDK0NIdG16Wm9va1RKcWhHOEhHTmFKR3E4T3U4bk1qR3VETWFmR2RseiswWmE0L295VTdWNWJEYmRPcGNodTU1ZDRYZUdkUlFOY29Wa2RzdG5YZit2a1ptOGJZVGFsUHYwb2RYYnEwYUtadE5tdm5TSFdvVHUwakJBZG1IYkdadk9LcDdtMWZVVFJFaE9WNno1K2c1cjcwbWtuUlRSSWd1SEYxejJHMTZhMEFETGRoeVhPLzl1RXZ2RFc2a01Zc1BLQzNEcFlmYlZkWGliU2ZVNDlZS0N2dmY1WDIvV2ZHYlpxMC9vamUrMzZHRnI3WlIvS2swOWJ5MWdtZmJqaHU0VUkzTkprV1h6VlRka3BuNmJzODh4UTVmcC92N0QxQ1RKazJ1ZTV1QVA4ajlTaklBeGp0ejVveisrOS8vYXZLWEgrcUJLci9wb2ZyWEh5eVNQSHRtM0c2MzF1MVAxT0hUcVdvM1lySGF4QzdTNGROcGFsR3pwS3FVQ2RleUhRbnErSThsNmpGeXVUSmQyWWVmSHZsMHJkenU3UEJwRTd0SS81eTVXOG5wVHEvdFh2dytwNU16VkMrcXVHcFhLS3I5eDFOMDRFU0tKS24vaDZ2VUpuYVJLa1NHNm1oaXV0ZnJqcDlOVi9OaEMvVDV6L3NWR3VUUXREWHgybjNrbkJ4Mm14WnRPNkc2VWNVMUtxYVJIdm4wVjlXcldGelBmTGxlVXZZaTRDOSszcS9Gc1cwVjRMQXBPTkN1NVBSTUZmM2ZhVlFPZS9hNm1oc1ZHaUFOcXBPbXgyc2UwWS9qUDlISEgzK3NVNmRPM2ZCMmdjS0tQUzJBRHl0U3BFaWVmcGROMDZaTjFhMVZBNzF5MjdrYi9yNGdwOHV0Tlh0UHEwM3NJcVdjZDZsczhSQzkzdThXVFZzVHIzdGJWTlRHdURQYUhwK2tBSWROZDlRcHJRVi92MU50WWhkNXpycUpLaGtxbTAxcVZEa2l4K0VodC92M2NNbHdacW5URzB0MTZHU3E3aG0xUXNYK0Z3NTMxaTJ0RWZmVjE2Uy9OSmNrN1RpY3BQZCszS1hQSDIvcTJjN2VZOG1xZnRQdjEwZHBVcldFbG01UDBMazBweWF2L0UyaFFRNTl2bkMvQWgxMjFTcGZWTy9HTkpRa2JZcy9xMnBsdmErcmNqWTEwMnRQemgydi9xelpMOTl4M1llSkxsWTF3cVdYbTUzVGUrczI2SzIzNGpScTFLZ2IzaVpRR0JFdGdBODdkKzVjbm03djVNbVRHajkrdk43NWRZdGk2cVNwOGcxOGQxQ0F3NlpscjdWVGVxWkxjemNlazkxbTA3Y3JENmwwc1dCOXR6cmVzNzdsVXM2a1hQbENkVzVKRjFJdEtNQ3VlY05hcTAzc0lyM1IveGJWTEZkVXBZdmxYQVM3WXVkSmJUNTQxaXNzTmgwOG81OWZiYVBHVlVybzhPazBsUzBlb2tmYVY5V3ozYkxQYkhweHdtYTlQYUNCYkRicDFMa016M2FiVkNueCt5eHU2WjNwTzdYbDBGbEoyYkhXcGw1cHRhanB6cE5na2JLL3UyajhqakRaUzlmU0N6RXhlYkpOb0RBaVdnQS9VcXBVS1QzNzdMTmF0V3FWUHZsdXFwcEdKT2p1cXVuWGRmRzRwVHNTdERIdWpKcFZqOVN4TStscVdpMVNZeFlmMDUrNzFOVG9CZnNVRkdEWGM5MjhUM3ZPY2t0dlR0dWh2M1N0Y2NWdFh3aVdMMzQrb0hvVmkzdnV2NjE2U2YxejVpNzlyV2Z0SEs5NXVGMVZQZExlKzB5Y3UvNnhSSTMvRnlBVklyTURxdTJJeFZvMHZJMGthY09CUk04ZW5RNnZMOWJhdHp0NjFxcGt1Yk1YQWg4N2s2N243NjZsdi9hbzdYWFlhc2k0VFZmOERMbHgzaVhOalF2UjBoT1I2dG5ySHJWdTNmcnFMd0w4R0d0YUFEL1V2SGx6eFk1NFRTa1YyaXIybCtMYWxCQ2dhNzBjVE9zNnBkV2xVVG1kVERxdjcxZkhxMGE1SW1wUnM1UktGUXZTQzNmWFVydjZaYlJtNzJuUDg4K21abXJGenBPNnJYcGtqak4vcE93OUhhdjNaSy9ubVB4OEMwblNRMjJyNk44UC83NDROZE9WcFJKRmd2VCtyTjA1WHYvSG8yanhwOUp5TE5oMXU2V1FpeTVZZC9IRjZJcUZCbm90cm5XNjNGb2MyMVl4clNzcHdHSHpiUDlvWXJyYzd1d0wxMTB2dDF2YWNTcEFyNjh1cHVPUkxSVTc0aldDQmNnRkxpNEgrTG5kdTNkcndvUUpLdWM2cEg2MTBsUWk1TnArSkR6MXhYcUZCTnJWc0ZLRVJpL1lyOENMcnMzaXluTHI0NGVicUdHbDdPdXdURngrU09mU01qVisyY0ZMbm4xenk4M0Y5ZEZEMlpIUzVjMmxtdm5TSFhMWWJVbzU3MVN0djh6Um0vMXYwZUE3Syt2VmI3ZnF0MU9wK3VTUjZCeFh2TjBZZDBiLytXbXZ0c2NuYWVUQUJycTlWaW5QWTJkVE05VjJ4R0xQdXBpTG5VN08wT1pSblR5MzUyMDZwazROYjhyeHZHMi9uZFhEbjY3VjMzclVVdS9ib3E3cDkwcVNrakpzbXJvN1ZQdWM1ZFcvZjMvVnIxLy9tcmNCK0N1aUJZQ2NUcWRtejU2dEpRdm5xWHVsSkxXT3lsQnV6K2k5ZU5Gc1hocTM5S0FHdExwWkRydE5XVzYzcHY5NlJQYzArLzJVNHl0ZDVuLzMwWE1xSGhhb3NzVnpuaHA5T1g5Y3RIc2wxL09aczl6U3FxTkIrbjVmRVRWdjNWNjlldlhpaXJqQU5TSmFBSGdjUDM1Y1k4ZU9sZlBFVHNYVVNWTlVVZXUrZTZnd09aWmkxNFFkb2NxSXFLRkJnd2FwWXNXS1ZvOEVHSWxvQVpERHNtWExOR1A2RDdxOTVFbDFyWkordzZkSCs2dE1sL1RUb1dBdFBGcEMzZTd1b2ZidDIxczlFbUEwb2dYQUpTVW5KMnZTcEVrNnNHMk5CdFZPVmQyU1RxdEhNc3FlUklmRzd3eFgyZXFOTldEQUFFVkVSRmc5RW1BOG9nWEFGVzNmdmwwVEowNVVaZnRoM1ZzelRjV0QrWkZ4SmNrWk5rM2JGNnB0cVdYVnIxOC9OVzdjMk9xUmdFS0RhQUZ3VlptWm1ab3hZNForV2JKQTkxUkwxdTNscnUzTEZmMkIyeTJ0UFI2b0tYdUxxbkh6MXVyVHA0K0Nnb0tzSGdzb1ZJZ1dBTGwyNU1nUmpSMDdWbzdFUFJwWU8xWGxpMlJaUFpKUFNFaTFhZUt1TUNXRlZsRk1USXdxVjY1czlVaEFvVVMwQUxnbWJyZGJpeGN2MXN3ZnA2dE4yVVIxcnBTdVFEOWRxSnVaSmYxOEtGZy9IWTVReDg1ZGRkZGRkOGx1NTVxZFFINGhXZ0JjbDdObnoycml4SWs2dkd1ZFl1cW1xbFlKL3pvOWV2OVpoOFp0RDFOa2xZWWFPSENnSWlNanJSNEpLUFNJRmdBM1pQUG16Wm8wYVpKcWh4eFQ3K3BwS2hwVXVIK2twR1pLTS9hSGFuMVNHZDE3NzcxcTJyVHAxVjhFSUU4UUxRQnVXRVpHaHFaTm02WmZWeXpTdlRXUzFheHNacUZicU90MlN4c1RBdlhON25EVnY3V1Y3cjMzWG9XRTVQNkt1d0J1SE5FQ0lNOGNPblJJNDhhTlU5aTVmUnBRSjAxbHd3ckhRdDNUYVRaTjJoV21rMEdWTkhEZ1FGV3ZYcHh0bUdrQUFDQUFTVVJCVk4zcWtRQy9STFFBeUZOdXQxdno1OC9YdkRrejFiSDhHWFc0K2J3Q0RGMmI2c3lTbHNZSGFlYWg0bXJYc2JPNmR1M0tRbHZBUWtRTGdIeVJtSmlvQ1JNbUtHSGZSZzJ1bTZwcUVXWXQxRDEwenFGeDIwTVZXcjZlWW1KaVZMcDBhYXRIQXZ3ZTBRSWdYNjFidDA2VEowOVd3eUxIMWJOYW1zSURyWjdveXRLZDBzd0RJVnAxdXBSNjkrNmoyMisvM2VxUkFQd1AwUUlnMzZXbnAydnExS25hdkdhWit0Vk1VWk15dnJkUTErMld0cDRLME1SZDRhclJvTG42OWV1bjhQQndxOGNDY0JHaUJVQ0IyYjkvdjhhUEg2OFM1K1BVdjFhYVNvWDZ4a0xkTStkdG1ydzdWUEdxcUFFREJxaDI3ZHBXandUZ0VvZ1dBQVhLNVhKcDNyeDVXakJ2dHJyZWZGWnRvekxrc0dodHE4c3RyVGdjcE9seFJYVkgyN3ZVdlh0M09SeCtlbmxmd0FCRUN3QkxuRHg1VXVQSGo5ZTUzN1lvcGs2YUtoY3YySVc2aDVQdEdyOGpUTFpTdFJRVEU2Tnk1Y29WNlBzRHVIWkVDd0JMclZxMVN0OS9OMVZOSXhKMGQ5VjBoUWJrNy91ZGQwbHo0MEswOUVTa2V2YTZSNjFidDg3Zk53U1FaNGdXQUpaTFRVM1Y1TW1UdFdQOVNnMm9uYUlHcFp4NXZsRFg3Wloybmc3UWhGMWh1cmxPVS9YdjMxOUZpeGJOMnpjQmtLK0lGZ0ErWS9mdTNab3dZWUxLdVE2cFg2MDBsUWpKbXg5UFNSazJUZDBkcW4zTzh1cmZ2Ny9xMTYrZko5c0ZVTENJRmdBK3hlbDBhdmJzMlZxeWNKNjZWMHBTNjZnTTJhOXpyMHVXVzFwMU5FamY3eXVpNXEzYnExZXZYZ29JeU9malR3RHlEZEVDd0NjZFAzNWNZOGVPbGZQRVRzWFVTVk5VMFd0YnFIc3N4YTRKTzBLVkVWRkRnd1lOVXNXS0ZmTnBVZ0FGaFdnQjROT1dMVnVtR2ROLzBPMGxUNnBybFhRRlgrV001RXlYOU5PaFlDMDhXa0xkN3U2aDl1M2JGOHlnQVBJZDBRTEE1eVVuSjJ2U3BFazZzRzJOQnRWT1ZkMlN6a3MrYjAraVErTjNocXRzOWNZYU1HQ0FJaUlpQ25oU0FQbUphQUZnak8zYnQydml4SW1xYkQrc2UydW1xWGh3OW8rdjVBeWJwdTBMMWJiVXN1clhyNThhTjI1czhhUUE4Z1BSQXNBb21abVptakZqaG41WnNrQzlxaVlyeU9IVzFMMUYxYmg1YS9YcDAwZEJRVUZXandnZ254QXRBSXgwNU1nUmpSMDdWbE9tVExGNkZKOFdHQmlvTjk1NGc3VTlLQlNJRmlBUE9KMU9EUm8wU0h2MjdMRjZsRUxydWVlZTA2QkJnM0xjSHgwZGJjRTBaaGt3WUlCZWVPRUZxOGNBYmhnWExBRHlRRkpTRXNGaWtmWHIxNHQvZTEzYXhJa1Q5ZDU3NzFrOUJwQm5pQllnRDBWR1JtcisvUGxXandFQWhaSkZYd2dQQUFCd2J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mlCWUFBR0FFb2dVQUFCaUJhQUVBQUVZZ1dnQUFnQkdJRmdBQVlBU2lCUUFBR0lGb0FRQUFSaUJhQUFDQUVZZ1dBQUJnQktJRkFBQVlnV2dCQUFCR0lGb0FBSUFSaUJZQUFHQ0VBS3NIQUlCcjllNjc3MnI1OHVXZTJ6MTc5cFFrTld6WVVLKzk5cHBWWXdISVowUUxBT05FUmtacXhvd1pudHNYZmgwZEhXM1ZTQUFLQU5FQ3dEZzlldlNRdytHUXkrWHkzT2R3T1BUd3d3OWJPQlZNTjNqd1lHM2J0czNxTVh4YXRXclZOSG55Wk12ZW56VXRBSXhUdW5ScHRXdlh6dXUrNk9ob1ZhaFF3YUtKVUJnUUxGZTNiOTgrUzkrZlBTMEFqRFJ3NEVETm56L2ZjN3RYcjE0V1RvUENaTjI2ZFZhUDRKTjg0ZkFyZTFvQUdLbFRwMDV5T0J5U0pMdmRyb0VEQjFvOEVYekp0OTkrcS9qNGVLdkhRQjVqVHdzQUk5MTAwMDFxM2JxMUZpMWFwTWFORyt2bW0yKzJlaVQ0a0hmZWVVZVNWS3RXTFhYcDBrV3RXclZTbFNwVkxKNEtONG85TFFDTTFiOS9mMGxTOSs3ZExaNEV2bXJYcmwzNjRJTVAxTGR2WC9YdDIxZGZmdm1sOXV6WlkvVll1RTVFQ3dCamRlblNSWkk0TklSY09YRGdnUDc5NzMvci92dnZWOCtlUFRWNjlHanQyTEZEYnJmYjZ0R1FTeHdlQW1Dc3FLZ29QZjMwMDZwZXZiclZvL2kwaVJNbmF1TEVpVmFQNFZQaTQrUDEyV2VmNmJQUFBsUFpzbVhWdFd0WHEwZENMaGdkTGYzNzk5ZnUzYnV0SHNNb2xTdFgxbmZmZldmMUdQQmh6ei8vdkZKU1Vxd2U0NW84OXRoalZvK1FheUVoSWZyd3d3OEw1TDBxVmFxa3dNQkFaV1ptRnNqN21Tb3pNMU1KQ1FsV2o0RmNNRHBhQ0packZ4Y1haL1VJOEhFcEtTbnEwR0cwMVdNVVdnc1dGRnhndFd6WlVxdFdyU3F3OS9NbFZ6czl0MHlaTW1yWnNxVTZkZXFrVzIrOVZUYWJUVE5ueml5ZzZYQzlqSTZXQ3ppblBuZDg0Ung3QUxCSytmTGwxYXBWSzNYdTNGa05HemEwZWh4Y2gwSVJMUUFBWEVxbFNwWFVxbFVyZGVuU1JYWHExTEY2SE53Z29nVUFVT2c4K09DRDZ0S2xpNnBWcTJiMUtNaERuUEtNcXpwMjdCaUxkd0VZNWVtbm55WllDaUgydE9DUzR1UGp0V3paTXMyZE8xZGJ0MjZWSlBYcDA4ZmlxUUFBL294b2djZUJBd2UwZE9sU3paMDdsek96QUFBK2gyanhjM3YyN05IU3BVczFaODRjSFRod3dPcHhBQUM0TEtMRkQrM1lzVU5MbGl6Um5EbHpydWxiVURsbEdnQmdKUmJpK3FIazVHUWxKQ1RvL1BuelZvOVM2TER3RHdEeUQzdGEvRkRUcGszVnRHbFR1ZDF1YmRxMFNYUG56dFh5NWN0MTlPalJLNzZPaS9nQkFLeEV0UGd4bTgybVJvMGFxVkdqUnBLazdkdTNhODZjT1ZxK2ZMa09IVHBrOFhRQUFIZ2pXdUJSdDI1ZDFhMWJWeSs4OElMMjd0MnIyYk5uYTlteVpkcS9mNy9Wb3dFQVFMVGcwcXBYcjY0Ly8vblArdk9mLzZ5REJ3OXF6cHc1Vm84RUFQQnpMTVRGVlZXcVZFbVBQLzY0MVdNQWdERisvdm5uYTM3TndZTUg5Y0lMTDBpU1RwdzRvZjc5KytmMVdNWmpUd3NBQUhsc3hJZ1JhdGV1blNTcGJkdTJxbENoZ3RmanUzZnYxcG8xYTd6dVc3QmdnU0lqSXlWSjgrZlB6OVVYUExwY0xqVnIxa3hseXBTNTVPTW5UcHpRbWpWcjVIQTRydWRqK0J5aUJRQ0FmQlFRRUtEeDQ4ZDczZGV4WTBldjIyNjNXei8rK0tOaVkyT1ZsWldscVZPbktqRXhVYi84OGt1TzdYWHMyRkhQUC8rODEzMlhPNFJmMks2dlJiUUFBSkJITHB6SWtKcWFxcDQ5ZTJyNjlPbHlPcDE2NktHSHZKNlhsSlRrZGZ1WFgzN1I0Y09IMWFoUkk4MmFOVXNsUzViVXRHblQxTFJwVS8zNjY2OVhmZDh1WGJyazZlZndWVVRMTlZpMWFwV0Nnb0xVcEVtVEFudlA5UFIwUGYvODgzcmxsVmRVdm56NUFudGZBTUMxZSsrOTl5UkpkOTU1cDZaUG42NWh3NFlwSkNSRUFRRUJxbGl4b2pJek0zWHc0RUdGaDRmcmdRY2UwTmRmZnkxSit1eXp6eVJKNTg2ZDAwY2ZmYVNSSTBmbTZ2MXNOcHVLRkNseTJUMHRkOTU1cDJ3Mld4NThNdDlBdEZ5RHVYUG5xbmZ2M3A3YlRxZFR6WnMzVituU3BTVkpaODZjOGRxVmw1R1JvUll0V3FoSWtTSmUyMGxPVHZhNkx6azUrYkxISEVOQ1FsUzdkbTE5L1BISGV2UE5OL1A2SXdFQThrRldWcGJtejUrdmRldldhY2FNR1pLa0J4NTRRSkkwYWRJa1NmSXN0SjAzYjU3UzB0SWtaYTlSR1RSb2tCbzJiT2paMWgvM29vd1pNMFpseTVaVlZsYVd1blhycHJDd3NNdnVhUWtMQzFPM2J0MEt6Um1nUkVzdXRXL2ZYcUdob1ZxN2RxMk9Ieit1WDMvOVZSa1pHWXFJaVBEOHo5Q2lSWXNjcjdQYjdWcXlaSW5uOW9WRlV4ZmY5OGRqanBjS0hiZmI3WFVNTkRrNVdTdFdySkRkemdsZ01GOXk4bWtGQjRjck1EQllrcFNXbHFTZ29GQTVISUY1L2w0dVYyYStiQmVRcElVTEYycnAwcVZLUzB2VHZIbno1SFE2OWVpamozbzk1MEs4WExpSTUvVHAwL1hvbzQ5cTZOQ2hpb2lJMEtCQmc3eWVmN25nY0x2ZE9uSGloTmZWeWtlT0hLbW5ubnJLODNmSWhiOXpDZ3VpSlplQ2dvSTBaTWdRMWFsVFIvLzNmLzhuS2Z1TEIvKzRZdnY4K2ZNS0RnNitvZmZLeU1qUTNMbHpyN2phT3pvNldtNjMrNGJlQi9BVk0yZitVelZydGxDalJwMlZrcEtvWmNzbXFHelphb3FPdmxzcEtZbVNwUER3RWpsZWQvVG9IcFVyVitPaTI3dFZybHhOcitjOCsyeHRSVVRjNVBXY0lVT21xVWFOMi9McDA4Q2ZUWmt5UmRIUjBRb1BEOWVvVWFPMGFORWl0VzdkV2xMMkVvUGs1R1IxNnRSSmtyUm8wU0pKMHAvKzlDYzFhdFJJUTRjT3ZlSDNuekZqUnFHK1JBWFJjZzNDd3NJMGR1eFlTZEtHRFJ2MDhzc3ZleTJ1dXV1dXU5U2hRd2ZWclZ0WG8wZVBscFM5aS9EQ2FXOFh1OVI5Z0Q4NmMrYVlWcS8rWGhzMnpOWVBQN3l0SmsyNmFkT21lVXBLU3RDUFA0NlMwNW1oMXExalZLRkNiWDM3N2F1U3BOVFVzN3JubnBmMTVaZlBxR0xGZW9xTDI2aktsUnNwT2ZtMDNuMTNrOWN4L05LbEsydllzTG1lMjdHeGJRZ1c1SnRQUC8xVWtqeG5DMzMyMldlZTlTcVNGQmNYcHpGanhuaHVqeDgvWGw5ODhVV2V2UGZwMDZmbGREcFZ0R2pSUE5tZUwvSzdhRWxLU3ZJY084eXRzbVhMU3NyK29zRXFWYXJvNTU5L1Z1blNwVFZ3NEVEMTY5ZlA4N3dSSTBab3hJZ1JYcSsxMisxZUZ4bTZzS3Z1NHZzSzJ5bHB3TFhZdE9rbnZmSEdMOXF5WllGS2xxeW9uVHVYYStqUTJVcEpPYU1sUzc1V3IxNHZ5ZVhLbE0xbTEvRGhpL1Q2NngwMGF0Um1TZExTcFdNMWRPaHN4Y2EyVVd6c1lzWEd0c214NlBEQWdmV0tqVzNqdVIwWHQxRXVsMU1PaDkvOStJTUZMcXhmT1hEZ2dQN3lsNzhvS2lwS28wYU55bkhkbGl2NTQzcVZmL3pqSDRxT2pwYk5abFBObXIvdldmejIyMjhWRWhLaTNyMTdxMmZQbnVyUm80ZEtsQ2pCNFNHVHZmZmVlNW81YytZMXZhWmx5NVk2ZWZLa2V2WHFKVWs2ZWZLa29xS2lOR25TSk0vL2tCYzBidHpZczJEVzVYSXBNUERhanAxblptWkt5bmtPUDFCWUZTdFdTdSs4MDFPWm1lbHl1OTFLUzB2UzJyWFpDeGVUa2hMMDY2OC9LQ3FxbnA1NDR2ZC9qYnJkYnRsc05oMDh1Rm14c1cwVUY3ZlJLMHd1T0hVcVhvODg4b21hTisvcnVXL3IxcCsxZCs4YTFhcDFlNzUvTmtDU2xpOWZycmZlZWt1dnZmYWFSbzRjcVlVTEY2cElrU0xxMmJObnJpNzZkcmsxTFhhN1haTW1UZEtSSTBjMFpzd1lMVjY4V0Y5Ly9iVmNMcGVtVHAycXZuMzdxbG16Wm5ya2tVZnkraU5aeHUraTVWSjdRM0tqUzVjdUdqNTh1T3JYcjYrZVBYdEtrdDU4ODAxOTlkVlhHalZxbE9mMmhiMHlVdmI2bG95TWpFc0d5T1dpSkNVbFJXRmhZVmU5QlBUUW9VTUwxV2xzOEY4TEZueW0yTmpGZXVXVjJ4VVlHS1Nnb0ZCSjJZZUErdmQvVTZHaFJWV3ExTTA2ZUhDelB2LzhTZjMyMjFhOS9QSnR1dWVlb2FwVXFVR09QUzBYKytTVEIrVnlaV3J1M0krOTdvK0wyNmgzM3RtZ01tV3FGTlRIaEo5SVRVMVZWbGFXQWdJQ0ZCOGZyMy8vKzkvYXQyK2Yvdld2ZjZsYXRXcVNwTUdEQit1TEw3NVEzNzU5MWIxN2Q4WEV4Rnp6UDNCVFUxUDFyMy85UzVzM2I5Ymh3NGZWdFd0WGZmUE5ONTRyNnI3NDRvdDY1cGxuTkczYU5BMGZQbHpoNGVINjczLy9xMkxGaXVYNVp5NUlmaGN0MTh2cGRHci8vdjA2Y09DQTU3N0dqUnZyd3c4LzFPN2R1NVdTa3FMMTY5ZnJtMisrOFR5ZWxKU2tXclZxYWNLRUNaNzdMaHdlbWo5L3Z1ZStpdzhQSFQ1OFdEZmQ5UHVpd2N0NTY2MjNidlFqQVQ3aDZhZXoxNG1GaDBkbzZORFpudnRqWTl2bzFsdTd5MmI3L1F5NTExOWY3Z2tVU1JvOStsR3ZQUzEvWEp3ZUhCeW12LzF0dWlScHdvUVhOWERnU00rMkNSYmtoMEdEQnVuVXFWUHEzYnUzWEM2WGF0V3FwUkVqUmlnb0tNanJlUTgvL0xDYU4yK3VYYnQyZVlMbDRZY2Z6ckc5UzkwblphK3hyRisvdnRxMWE2ZEdqUnJsMlA2RjV3d2NPRkQzMzMrLzFxMWJaM3l3U0VSTHJwdzhlVkxCd2NIcTJyV3IxcTVkNi9YWUs2KzhvaGRlZUVFdWwwdnZ2Lysrd3NMQ1BJOGRQbno0bW81YlN0TFdyVnRWdDI3ZFBKa2JNRUZvYVBZUDBndUhlaTVJU0Rnb2w4dXBnSUNjUDR5bDdOT2svL25QN1NwZXZJeGlZOXZvNzM5Zm9JU0VPSy9uWElnWXB6TkRtWm5uODJWKzRHTGZmLys5MSswTFo1dGVNSG55Wk0rdjY5V3JwM3IxNm5sdVgrcXNueXVkQ1hUMzNYZm5haWFIdzFGbzFyVndrWTljV0xod29lcldyYXV3c0RDMWJ0MWFMcGRMVXZZWFhvMFpNMGJCd2NHeTIrMmFOV3VXRGg0ODZIbmR4bzBidmY2SHpJMTU4K2FwWmN1V2VUby9ZSUkvN2lVcFZlcG1qUnpaUTI1M2x1Yytwek5EUllwRTZ2VHB3enAvUGxYdnYzK2ZaMC9MNjY5MzBKUXBJK1J5T1QzUHo4cksvdlh1M2Ird2hnVW9CTmpUa2dzelpzelFrMDgrcVNsVHBtajA2TkdxWHIyNlB2cm9JODJjT1ZQOSsvZFhiR3lzVWxOVE5YNzhlRDM2NktOcTM3NjlYbmpoQmMyYU5Vc2ZmL3p4SmJmcGRydmxjcm1VbUpnb3U5MHVtODJtSlV1VzZNaVJJMnJidG0wQmYwTEFlcFVyTi9RNlBDVHBmMmNEWmYvYjZ1REJUZnJ0dDIxNjdybkpuak4vTGh3bXVuREk2TlNwMzVTZWZzNXpUWmVISHZwWWJuZVdWcS8rVHIxNnZhUWxTNzVXY25LaTE2SmVBT1lnV25KaDlPalJucXNMOXVuVFIzYTdYZW5wNlhyaWlTY1VFSkQ5VzFpc1dERTkrZVNUZXVLSko1U1ptYW50MjdjcktpcEtsU3RYOXRxV3pXWlRhR2lvc3JLeTFLcFZLem1kVHJWcTFVcDJ1MTJsU3BYUzBLRkRyM2xCRmxBWTdOMzdhNDZGdEJmdlphbFVxYUVxVmNxK3RQbUdEWE0wZGVvSUJRYUdlQjYvOE5vV0xlNVZwMDVQU1pMUzA1UDEvZmR2cUZ1MzUxU2lSSG5kZWVjRDJyVnJoZDU0bzdPR0RwMlY0MEowQUh3YjBaSUxGMTlTLzhKbDgwTkNRaTc1WEp2TnBxQ2dJRFZvME1CelZ0SEY3SGE3bGk5ZkxpbjdXejJkVHFjblVxNzFVQkpRbUR6NTVGZUtqdlkrUm4vNDhJNUxQcmR4NHk1cTNQankzMnFibVptdTNidC9VWkVpa2VyVDUrOWVqOVdxMVZLdnZiWk1kdnZWVHpVRjRGdUlsbnoweCs4UCtpT2J6Y1plRmVCLy9oZ3NrbFNoUXAzcjJsWmdZSWpxMWJ2OFlkYUxMK3NQd0J3c3hBVUFBRVlnV2dBQWdCR0lGZ0FBWUFTaUJRQUFHSUZvQVFBQVJpQmFBQUNBRVlnV0FBQmdCS0lGQUFBWWdXZ0JBQUJHSUZvQUFJQVJpQllBQUdBRW9nVUFBQmlCYUFFQUFFWWdXZ0FBZ0JHSUZnQUFZSVFBcXdmSUM5SFIwVmFQQUFBb0pQZzd4WGNadmFlbFNwVXFWbzlnbktpb0tLdEhBQUNmVkxObVRhdEg4SG1WSzFlMjlQMk4zdE15ZGVwVXEwZTRwQXVWdm03ZE9vc25BUURrMXFSSms2d2V3Y3ZMTDcrc2VmUG1hZGl3WWVyZHU3ZlY0L2dFby9lMEFBQUEvMEcwQUFBQUl4QXRBQURBQ0VhdmFRR1E5MEpDUXJSZ3dXTldqMUZvQlFVRldUMENZQ3lpQllDWER6LzgwT29SQU9DU09Ed0V3R2pSMGRGY1Z3UHdFMFFMQUFBd0F0RUNBQUNNUUxRQUFBQWpFQzBBQU1BSVJBc0FBREFDMFFJQUFJeEF0QUFBQUNNUUxRQUF3QWhFQ3dBQU1BTFJBZ0FBakVDMEFBQUFJeEF0QUFEQUNFUUxBQUF3QXRFQ0FBQ01RTFFBQUFBakVDMEFBTUFJUkFzQUFEQUMwUUlBQUl4QXRBQUFBQ01RTFFBQXdBaEVDd0FBTUFMUkFnQUFqRUMwQUFBQUl4QXRBQURBQ0VRTEFBQXdBdEVDQUFDTVFMUUFBQUFqRUMwQUFNQUlSQXNBQURBQzBRSUFBSXhBdEFBQUFDTVFMUUFBd0FoRUN3QUFNQUxSQWdBQWpFQzBBQUFBSXhBdEFBREFDRVFMQUFBd0F0RUNBQUNNUUxRQUFBQWpFQzBBQU1BSVJBc0FBREFDMFFJQUFJeEF0QUFBQUNNUUxRQUF3QWhFQ3dBQU1BTFJBZ0FBakVDMEFBQUFJeEF0QUFEQUNFUUxBQUF3QXRFQ0FBQ01RTFFBQUFBakVDMEFBTUFJUkFzQUFEQUMwUUlBQUl4QXRBQUFBQ01FV0QwQUFGeUxiNy85VnUrODgwNk8rNk9qb3oyL2Z2REJCL1gwMDA4WDVGZ0FDZ0I3V2dBWXBXWExsbGQ5VHBjdVhRcGdFZ0FGaldnQllKU29xQ2pWcWxYcnNvOVhxbFJKMWFwVks4Q0pBQlFVb2dXQWNhNjBKNlZWcTFZRk9BbUFna1MwQURET2xjS0VRME5BNFVXMEFEQk9sU3BWVktWS2xSejNseTlmWG5YcTFMRmdJZ0FGZ1dnQllLU3VYYnZtdUk5RFEwRGhSclFBTU5JZGQ5eVI0NzdPblR0Yk1BbUFna0swQURCU2pSbzFGQlVWNWJsZHBrd1pOV3pZME1LSkFPUTNvZ1dBc1M0K1JKU2I2N2NBTUJ2UkFzQllyVnUzOXZ5NlU2ZE9GazRDb0NCd0dYOEF4cXBkdTdiS2xpMnJ6TXhNM1hycnJWYVBBeUNmRVMwQWpHV3oyZFMxYTFlZFBIbFNOcHZONm5FQTVET2lCWURSV3JkdXJaU1VGS3ZIQUZBQWlCWUFScXRmdjc3Y2JyZlZZd0FvQUVRTEFLUFo3WnhQQVBnTC9yUURBQUFqRUMwQUFNQUlSQXNBQURBQzBRSUFBSXpBUWx6QUR6MysrT1A2OWRkZnJSNERGNmxYcjU3R2poMXI5UmlBVDJOUEMrQ0hDQmJmczIzYk5xdEhBSHdlZTFvQVA3WnUzVHFyUjRDazZPaG9xMGNBak1DZUZnQUFZQVNpQlFBQUdJRm9BUUFBUmlCYUFBQ0FFWWdXQUFCZ0JLSUZBQUFZZ1dnQkFBQkdJRm9BQUlBUmlCWUFBR0FFb2dVQUFCaUJhQUVBQUVZZ1dnQUFnQkdJRmdBQVlBU2lCUUFBR0lGb0FRQUFSaUJhQUFDQUVZZ1dBQUJnQktJRkFBQVlnV2dCQUFCR0lGb0FBSUFSaUJZQUFHQUVvZ1VBQUJpQmFBRUFBRVlnV2dBQWdCR0lGZ0FBWUFTaUJRQUFHSUZvQVFBQVJnaXdlZ0FBdUpLc3JDeWxwcWJxN05tek9udjJyTTZjT2FQVHAwK3JkT25TdXUyMjJ6elBHejkrdkxwMjdhckl5RWpQZlhQbnp0V0JBd2YweEJOUFdERTZnRHhHdEFBR1c3SmtpU0lpSWxTL2ZuMDVIQTZyeDdsaGlZbUpldXFwcDVTV2xxYTB0RFNscEtRb1BUMWRSWXNXVldSa3BJb1hMNjRTSlVxb1pNbVNhdHk0c2VkMWNYRnhtakJoZ3U2Nzd6NnY3ZFdwVTBmdnZQT09talZycHVqbzZJTCtPUGtxSVNGQksxZXVWTStlUGEwZUJTZ3dSQXRnc0huejVtbmV2SGtxVWFLRU9uZnVyRFp0MnFoUm8wWUtDRER6ajNhSkVpVTBZc1FJaFlhR0tqdzhYQXNYTHRUWXNXUDE5Ny8vWFUyYk5wVWtuVGh4UWs2blUrWExsL2U4YnR5NGNYcmdnUWNVRkJTa2poMDdTcEtjVHFleXNySVVGQlNrbDE1NnlmUGNWMTk5VlhmY2NVZkJmckE4Y3Zqd1lhMVlzVUp6NXN6UjVzMmJKWWxvZ1Y4eDh5Y2JBQytKaVltYU5HbVNKazJhcEdMRmlxbGp4NDVxMjdhdG9xT2pGUlFVWlBWNDE2UkdqUnJhdjMrLzNuNzdiWlVyVjA3anhvMVQ4ZUxGSlVrelo4N1VSeDk5cEVjZmZWUjkrL2FWbFAwWCticDE2L1RpaXkvcXE2KyswcFFwVXhRUkVhSFhYbnROTzNiczBQang0K1Z3T09SeXVZemNHM1h3NEVFdFc3Wk1jK2JNMGM2ZE82MGVCN0FVMFFJVU1rbEpTZnJ1dSsvMDNYZmZLVHc4WEczYXRGSDc5dTNWdEdsVGhZV0ZXVDNlVlkwY09WSlRwMDVWNDhhTmxaNmVybGRmZlZYbnpwM1R5Wk1uVmJGaVJYMzIyV2VxVkttUzUvbnZ2LysrL3ZTblAyblBuajJhUFh1MlltSml0RzdkT3MyZlAxOWZmdm1sSEE2SHpwdzVvMmVlZVVaZmZmV1ZFWHVoOXU3ZDZ3bVZmZnYyV1QwTzRETjgvMCt2d1FyYk1YU1lKeVVsUmJObXpkS3NXYk1VSEJ5c08rKzhVeDA2ZExCNnJDdTY2NjY3MUt4Wk01VW9VVUl1bDB1VEowL1c4ZVBITldUSUVCVXRXbFFuVDU3MFJFdFdWcGEyYjkrdWZmdjJLVDQrWHA5Ly9ybVNrcElVR3h1ck45NTRRelZxMUpEYjdWWm9hS2hLbGl5cGlSTW5hdkRnd1JaL3dzdjc5Tk5QTlhmdVhQMzIyMis1ZmcwL1orQlBpSlo4VUs5ZVBXM2J0czNxTVFBdldWbFpPblBtakU2ZE9pVzMyeTJieldiMVNKZlV1SEZqblRoeFFtUEhqdFhHalJzMVlNQUFkZTdjV1hhN1hYdjM3dFdRSVVNVUV4T2pQbjM2eUc2M2EvYnMyZnIyMjI5MTlPaFJOV3pZVUsrKytxcUtGaTJxRVNOR0tDTWpRd0VCQVVwS1NsTDE2dFUxWnN3WTllalJReEVSRVZaL3pCemNicmNTRWhLVW1abHA5U2p3SWNIQndhcFNwWXJWWS9nTW05dnRkbHM5QklEcjgvTExMMnZldkhtWGZUdzBORlJObWpSUjI3WnQxYUZEQnhVdFdsVFM3Lzg2WDdkdVhZSE1lUzFlZXVrbExWeTRVR0ZoWVdyUW9JSFMwOU9WbHBhbTFOUlVwYWVuNi96NTgwcFBUMWUvZnYzMHpEUFBhT1hLbFJvMWFwUmVldWtsblRoeFF1M2J0MWRZV0ppYU4yK3VsU3RYeW02M3EyblRwdnIxMTErMVpjc1cxYXRYVDNhN2IxMmk2dUwvSG02M1cxdTNidFhzMmJPMWN1Vkt4Y2ZIWC9HMXZ2amZFTWd2N0drQkNwbnc4SEExYTlaTUhUcDBVSnMyYlJRU0VtTDFTTmVrYTlldWF0ZXVuWW9WSzZaaXhZb3BQRHhjZmZ2MjFaSWxTeFFVRktTQWdBQWxKQ1RvYjMvN214SVRFN1YwNlZKVnJGaFJTNWN1VmJseTVSUVVGS1JqeDQ0cElpSWlSNXpjY3NzdEZuMnEzTFBaYkxybGxsczhzKzdjdVZOejVzelI4dVhMRlJjWForMXdnTVdJRnFBUUtGYXNtSm8zYjY2T0hUdXFWYXRXeHAweGRMSFdyVnRyeVpJbCt2VFRUL1hsbDE5NndpTXNMRXlmZlBLSmpoOC9ybUhEaHVtcnI3NlNKQTBkT2xTcHFhbmFzMmVQZHUzYXBZU0VCTTJmUDE4TkdqVElzZTJsUzVjcUtTbEpkOTk5ZDRGK3BodFJ1M1p0MWE1ZFc4ODk5NXoyNzkrdk9YUG1hTm15WmRxelo0L1Zvd0VGam1nQkROYThlWE4xNmRKRkxWcTBNT0tzbU54WXVuU3BZbU5qTlhMa3lCeDdTbUppWWpSa3lCQTkvdmpqK3VjLy82bGl4WXBwNE1DQkNnZ0lVTDE2OVZTdlhqMXQzTGhSbjMvK3VmN3puLzk0WG1lejJlUnl1UlFYRjJmMDcxUFZxbFgxMUZOUDZhbW5udEtSSTBjMFo4NGNxMGNDQ2hScldnQS81S3RyV243NDRRZDkvUEhIR2pWcWxPclVxU09YeTZYVTFGVDE2TkZESzFldWxKUjkwYmhYWDMxVk8zYnMwSC8rOHgrVktsWEtFeUxEaHcvWG1qVnJGQnNiNjNXSi8yZWZmVlpidDI2VnpXYlQ2TkdqVmJWcVZVcyszK1g0Nm44UHdOZVkrMDhPQUlYTzRjT0g5ZGxubjZscTFhcmF0bTJiSG4vOGNRVUVCS2hmdjM2ZTV3UUVCT2dmLy9pSEpreVlvR0xGaW5udE9YbjAwVWMxYk5pd0hJZkhQdmpnZ3dMN0RBRHlEM3RhQUQvRXYreDlDLzg5Z056eHJmUCtBQUFBTG9Ob0FRQUFSaUJhQUFDQUVZZ1dBQUJnQktJRkFBQVlnV2dCQUFCR0lGb0FBSUFSaUJZQUFHQUVvZ1VBQUJpQmFBRUFBRVlnV2dBQWdCR0lGZ0FBWUFTaUJRQUFHSUZvQVFBQVJpQmFBQUNBRVlnV0FBQmdCS0lGQUFBWWdXZ0JBQUJHSUZvQUFJQVJpQllBQUdBRW9nVUFBQmlCYUFFQUFFWWdXZ0FBZ0JHSUZnQUFZQVNpQlFBQUdJRm9BUUFBUmdpd2VnQUExb21PanJaNkJBRElOZmEwQUg2b1hyMTZWbytBUDZoV3JaclZJd0EreitaMnU5MVdEd0VBMStQQ25xSjE2OVpaUEFtQWdzQ2VGZ0FBWUFTaUJRQUFHSUZvQVFBQVJpQmFBQUNBRVlnV0FBQmdCS0lGQUFBWWdXZ0JBQUJHSUZvQUFJQVJpQllBQUdBRW9nVUFBQmlCYUFFQUFFWWdXZ0FBZ0JHSUZnQUFZQVNpQlFBQUdJRm9BUUFBUmlCYUFBQ0FFWWdXQUFCZ0JLSUZBQUFZZ1dnQkFBQkdJRm9BQUlBUmlCWUFBR0FFb2dVQUFCaUJhQUVBQUVZZ1dnQUFnQkdJRnVELzI3dTNFQ25yUG9EalAzUDIxTVlRU1YwVndTNTBzNVRJaGhVUlpMcExCVzY1MkJZUmxIWFJRaGtHS1ozcExsQnNLWWdnSkVyQ0RsdExHaFpFSWwxRXBDeFN0bDExMFpRZDFDeTNJZ0FBQ1J4SlJFRlVpTnpTa3NURHpuc1JPN2p1MGZkOVoyWi8rdmxjelR6UC85bjVMWUo4ZVE2ekFLUWdXZ0NBRkVRTEFKQ0NhQUVBVWhBdEFFQUtvZ1VBU0VHMEFBQXBpQllBSUFYUkFnQ2tJRm9BZ0JSRUN3Q1FnbWdCQUZJUUxRQkFDcUlGQUVoQnRBQUFLWWdXQUNBRjBRSUFwQ0JhQUlBVVJBc0FrSUpvQVFCU0VDMEFRQXFpQlFCSVFiUUFBQ21JRmdBZ0JkRUNBS1FnV2dDQUZFUUxBSkNDYUFFQVVoQXRBRUFLb2dVQVNFRzBBQUFwaUJZQUlBWFJBZ0NrSUZvQWdCUkVDd0NRZ21nQkFGSVFMUUJBQ3FJRkFFaEJ0QUFBS1lnV0FDQUYwUUlBcENCYUFJQVVSQXNBa0lKb0FRQlNFQzBBUUFxaUJRQklRYlFBQUNtSUZnQWdCZEVDQUtRZ1dnQ0FGRVFMQUpDQ2FBRUFVaEF0QUVBS29nVUFTRUcwQUFBcGlCWUFJQVhSQWdDa0lGb0FnQlJFQ3dDUWdtZ0JBRklRTFFCQUNxSUZBRWhCdEFBQUtZZ1dBQ0FGMFFJQXBDQmFBSUFVQ3ZVZUFHQ3U5dXpaRTU5Ly92bWs3UU1EQTVYWFYxMTFWU3hmdnJ5V1l3RTFJbHFBTkJZdVhCaHZ2dm5tcE8ybmJ0dTBhVk10UndKcXlPVWhJSTNGaXhkSHNWaWNkbjlyYTJ2Y2NNTU5OWndJcUNYUkFxUlJLQlNpdTd0NzJ2M1hYSE5OTkRRMDFIQWlvSlpFQzVES1RUZmROTzIrRlN0VzFIQVNvTlpFQzVES2tpVkxvclcxZGRMMjV1Ym11UEhHRzJzL0VGQXpvZ1ZJcGJHeGNjcW5nNVl1WFJwTlRVMTFtQWlvRmRFQ3BETlZ0TXgwMlFnNE80Z1dJSjNPenM1b2FXbXB2RzlxYXZMZExIQU9FQzFBT2kwdExSUHVYK25zN0l6enp6Ky9mZ01CTlNGYWdKUk9QYlBpQmx3NE4vaEdYQ0NscFV1WFJtTmpZNHlOalVWWFYxZTl4d0ZxUUxRQUtZMS8rKzNodzRkbi9KWmM0T3doV29DMHVycTY0dURCZy9VZUE2aVJCZVZ5dVZ6dklZRGE2dS92ajcxNzk5WjdERTdSMGRFUlc3ZHVyZmNZTUsrNUVSZk9RWUpsL2hrWkdhbjNDRER2dVR3RTU3RGg0ZUY2ajBEOCs4ZzJNRHRuV2dDQUZFUUxBSkNDYUFFQVVoQXRBRUFLb2dVQVNFRzBBQUFwaUJZQUlBWFJBZ0NrSUZvQWdCUkVDd0NRZ21nQkFGSVFMUUJBQ3FJRkFFaEJ0QUFBS1lnV0FDQUYwUUlBcENCYUFJQVVSQXNBa0lKb0FRQlNFQzBBUUFxaUJRQklRYlFBQUNtSUZnQWdCZEVDQUtRZ1dnQ0FGRVFMQUpDQ2FBR0lpTC8vL3J2ZUl3Q3pFQzFBVlczWnNpVzJiOTgrWVZ1NVhJN0hIbnNzdnZ6eXkxbVAvK3V2djJMRGhnMnpyaHNiRzR1Tkd6Zkc4ZVBISzl2Mjc5OGZIMy84OGF6SG5qeDVNbGF0V2hXLy92cnJyR3VCK2luVWV3RGc3UGIxMTEvSEF3ODhNR0hid01CQUxGcTBLTjU3Nzcxb2EydUxpeSsrdUxMdjJMRmowZGpZT09IOXJsMjdKaHgvK3BxSWlLKysraXIyNzk4ZkRRME5sVzJYWEhKSlBQUE1NOUhWMVJXRnd1VC83bTY3N2JhSWlEaHg0a1FjT25Rb0huend3VWxyVGc4dW9INUVDMUFWYjcvOWRnd05EY1dQUC80WUJ3NGNpRUtoRUcrOTlWWnMzTGd4VHB3NEVVODk5VlQ4OHNzdjhjUVRUOFNUVHo0WmJXMXRFUkZ4M1hYWHhhNWR1K0xDQ3krYzltZFB0V2I3OXUyeGN1WEt1T1dXV3lhdFg3bHlaZVgxQlJkY0VJT0RneEVSOGR0dnY4VVhYM3d4NCtjQTg0ZG9BYXJpcnJ2dWlpdXZ2REplZmZYVmVQSEZGK1BBZ1FPeFpzMmFPSHIwYUdWL1JNVG82R2c4L2ZUVHNYcjE2dWp0N2YydlBtdDBkRFIyNzk0ZDY5ZXZqNzYrdmprZmQvejQ4Um5YbjNxcENhZy8wUUpVeldlZmZSYkxsaTJMM3Q3ZUdCZ1lpSnR2dmpudXZ2dnVTZXRLcGRML0ZBaXZ2LzU2UkVTMHRyYkd2bjM3NHJubm5wdDI3UXN2dkJEdDdlMFJFZEhRMEJEdnZ2dnV0R3VkYVlINVJiUUFWYk43OSs3WXNtVkxiTjI2TlM2Ly9QTFl2SGx6ZlBqaGh4RVJjZGxsbDBWYlcxdjA5L2ZINXMyYjQ2V1hYcW9jTjlVbG51a0NvbFFxeFNlZmZGSjV2MlRKa2puZmgrSk1DK1FpV29DcUdCMGRqUjkrK0NIV3JGa1RQLy84Yy9UMjlrYWhVS2ljMmVqcjY0dnZ2LzgrK3Z2N28xUXFWWTRiSGg2ZThITU9IandZM2QzZEUrNDk2ZXpzckx6ZXVYTm5QUHp3dzdGcDA2YUlDR2RhNEN3bVdvQ3F1T2lpaXlxUE5QZjI5c2JRMEZEMDlQVEV2ZmZlTytOeFV6MFpkTHJoNGVFNGR1eFlSRVRjYzg4OVVTd1dLOUZ5cG1kYXhwOGdtbTQvTUgrSUZxQW1qaHc1RXMzTnpmSEdHMjlFUkV4N1dXWXVUdy85K2VlZnNYejU4aGdlSG81aXNUaHBmM2QzZDdTMHRFemEvczgvLzFRdUpRME5EY1cyYmR2aW80OCtpblhyMXNXT0hUdmltMisraVEwYk5sUWVqLzcwMDA5ang0NGQwZFBUYzhhL0wvRC9KMXFBcXRpelowOE1EUTNGNzcvL0hqLzk5RlBjZDk5OWNlalFvYmovL3Z1ci90bC8vUEhIaFB0Y3hvMWY3amx5NUVpODhzb3I4Y0VISDhRNzc3d1Q2OWF0aTU2ZW5oZ1pHWW4zMzM4Lzdyenp6dWp2NzQ5SEgzMDAxcTlmSDRzV0xZcnJyNysrNm5NRE14TXRRRlVzWHJ3NHJyamlpaWdXaTdGNjllb1lIQnlNdnI2K2VPMjExeUxpM3pNdE05MVBVazJEZzRPeGJObXlhRzF0allhR2hqaDgrSEFVaThWNC9QSEhZOEdDQlZFcWxXSmtaQ1RhMjl2aitlZWZqNTA3ZDRvV21BZEVDMUFWVFUxTjBkVFVOR243eVpNbjQralJvOUhjM0J5bFVpbk9PKys4eW5lM2pEdVRwNGVtTWpZMk51VzlLdVAzcUt4WXNhSnkzOHdkZDl3UnQ5OStleXhjdUxDeXJsd3V4ME1QUFJTRlFpRTZPanFpbzZOanpwOE5WSTlvQWFydTFsdHZqWWlJbnA2ZStPNjc3Mkxmdm4zeDdMUFB4clp0MitMYmI3K05WYXRXVmRhZS92VFFWTWJ2YVRuVjFWZGZYWGw5N2JYWHhzc3Z2enpwdUVjZWVTUWlJaTY5OU5MS3RyVnIxOGJhdFd2UDdCY0M2bUpCdVZ3dTEzc0lvTGJHSHhtZVN5QlFmZjQ5WUc3OGxXY0FJQVhSQWdDa0lGb0FnQlJFQ3dDUWdtZ0JBRklRTFFCQUNxSUZBRWhCdEFBQUtZZ1dBQ0FGMFFJQXBDQmFBSUFVUkFzQWtJSm9BUUJTRUMwQVFBcWlCUUJJUWJRQUFDbUlGZ0FnQmRFQ0FLUWdXZ0NBRkVRTEFKQ0NhQUVBVWhBdEFFQUtvZ1VBU0VHMEFBQXBpQllBSUFYUkFnQ2tVS2ozQUVEOWRIWjIxbnNFZ0RsenBnWE9RUjBkSGZVZWdkTzB0N2ZYZXdTWTl4YVV5K1Z5dlljQUFKaU5NeTBBUUFxaUJRQklRYlFBQUNtSUZnQWdCZEVDQUtRZ1dnQ0FGRVFMQUpDQ2FBRUFVaEF0QUVBS29nVUFTRUcwQUFBcGlCWUFJQVhSQWdDa0lGb0FnQlJFQ3dDUWdtZ0JBRklRTFFCQUNxSUZBRWhCdEFBQUtZZ1dBQ0FGMFFJQXBDQmFBSUFVUkFzQWtJSm9BUUJTRUMwQVFBcWlCUUJJUWJRQUFDbUlGZ0FnQmRFQ0FLUWdXZ0NBRlA0RHlZZ3IvaUFrbGdVQUFBQUFTVVZPUks1Q1lJST0iLAoJIlRoZW1lIiA6ICIiLAoJIlR5cGUiIDogImZsb3ciLAoJIlZlcnNpb24iIDogIiIKfQo="/>
    </extobj>
    <extobj name="ECB019B1-382A-4266-B25C-5B523AA43C14-8">
      <extobjdata type="ECB019B1-382A-4266-B25C-5B523AA43C14" data="ewoJIkZpbGVJZCIgOiAiMTg2NjA3MjY0NzE3IiwKCSJHcm91cElkIiA6ICI0MDI4MDQwNDYiLAoJIkltYWdlIiA6ICJpVkJPUncwS0dnb0FBQUFOU1VoRVVnQUFBaTBBQUFLeENBWUFBQUNmVFp4S0FBQUFDWEJJV1hNQUFBc1RBQUFMRXdFQW1wd1lBQUFnQUVsRVFWUjRuT3pkWjJCVVpkcUg4Zi9NcEljU1FoTUkwanZTSWdpQ1NKVW1SVUNSRW54dGE5KzFzS3VJSzBIWGd1S3FxK3VLYTBHcUFvb2dWVUE2QXRKN0oyQ29BUUloaldRbTgzN0lNaktHRWlESm1TZHovVDR4N2N3OUtPSGluT2Vjc2JuZGJyY0FBQUI4bk4zcUFRQUFBSEtEYUFFQUFFWWdXZ0FBZ0JHSUZnQUFZQVNpQlFBQUdJRm9BUUFBUmlCYUFBQ0FFWWdXQUFCZ0JLSUZBQUFZZ1dnQkFBQkdJRm9BQUlBUmlCWUFBR0FFb2dVQUFCaUJhQUVBQUVZZ1dnQUFnQkdJRmdBQVlBU2lCUUFBR0lGb0FRQUFSaUJhQUFDQUV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kFxd2VBSUJ2ZWY3NTU1V1NrbUwxR0lWV1NFaUlQdnp3UTZ2SEFJeEV0QUR3a3BLU29nNGRSbHM5UnFHMVlNRmpWbzhBR0l2RFF3QUF3QWhFQ3dBQU1BTFJBZ0FBakVDMEFBQUFJeEF0QUFEQUNFUUxBQUF3QXRFQ0FBQ01RTFFBQUFBakVDMEFBTUFJUkFzQUFEQUMwUUlBQUl4QXRBQUFBQ01RTFFBQXdBaEVDNEFiNW5abmVkM095RWhUVnBicmhyZnJkR1pjOXJIMDlPUWIzbjVhMmprbEpoN0oxWE96c2x4WG5BZEEvZ3V3ZWdBQTVudnp6YTU2NFlXcENna3BJa25hdTNlTlVsUFBLanI2YmlVa0hGU1pNbFVrU1ltSlIzVCtmS3B1dXFsNmptMWtaYm0wWk1sWXRXMzdvT2UrNTUrdnA4aklDcGQ4eitQSDkrdmYvejRndTkzeGgvdjNhYzJhYWVyZWZjaFY1MTZ4WXBJeU05UFZwY3VmSlVubno2Y3FPRGpNODNoNmVyTGk0alpxMjdiRk9ueDRoMXEydkY4Tkd0eWx3TUJnU1ZKbVpyb0NBME91K2o0QThnYlJBdUNHWldhbUt5U2tpQ1pOR3FaZHUxWW9PZm0wQWdPRDljTVBiNnRZc2RMNjYxOS9rTTFtMDRFREcvVE5ONjhvTEt4NGptMmNQNStxcEtRRXRXeDV2NEtDUWlWSkZTclUwWXN2enBBa3ZmRkdadzBiTnRmei9OallObDdCY3ZEZ0psV3ExRkJseTFaVFd0bzVPWjBaQ2dnSVVsemNSbFd1M09nU001L1hqeitPVW9rUzViVjY5ZmVTcEZPbjR0V3g0MlBxMGVPdm50dFJVWFgxd3c5djY2V1haa3FTUm8zcXJlVGswNUtra3ljUDZaLy8zT2FaRjBEK0lsb0E1SW5ObStlclI0Ky82cTIzRnNubGNpbzRPRnh1ZDVZZWV1Z2oyV3cyU2RLU0pWL3J5U2UvMHVyVjM2bHYzK0Z5T0g3L0ViUjkreEpWcjk3TUt3QXV2QzQzdnZ6eXozSzVNaFVRRU9UWm5pUWRPclJGSDMyMFQrSGhFVjdQbnpyMU5RMGE5STZhTnUwbFNVcEpPYU5Sbys1UnUzWVBlNTVUb1VKdHI5Y2tKNTlXUmthYVltTVhTNUtHRDcrVFlBRUtFTkVDNExyRnhXM1VoQWt2S1M1dW83Ny8vZzExN3o1RUowOGU4aHoraVl2YjZIVjQ1OGtueHlnNE9FenZ2MytmZHV4WTVyVXRseXRUTDc3NG8xY0U3TisvVHJHeGJTUkpCdzl1OXZ6NlVnSUNBdlhjYzk4cUl1SW1yL3RmZjcxRGptQlp2MzZXaWhZdHFSMDdscWwrL2ZaeU9BTDB5U2NQNnYvKzd3TVZLUklwS1h2UHo5dHZkMU5XVnBiMjdmdFZzYkZ0VktaTUZkbHN2eThGdkphb0FuRGppQllBMTYxeTVVWWFObXl1WW1QYmVQWSt6Si9meUhNbzVZK0hjSUtEdzNUaXhBRTFiOTVYL2Z1LzZiV3Q5UFJrdVZ5Wlh2ZFZxM2FyL3ZyWEh5UmQrdkRRSDQwYTFkdXpwK1dDVTZkKzg3cDk5dXdKbFM1ZFNVMmFkTk9HRFhOMDlPaHUvZmpqZStyYjkrK3FWS21oMTZ6RGh5L1N0bTJMTldwVWIvM3BUNk5Wdm53dHZmMzIzYm44M1FHUTE0Z1dBSGtxTG02akp5amk0amJtZVB6MDZjUGFzR0dPZHUxYTZYVi9jdkpwM1hubllNOEMyclMwYzlxMWEyV3U5N1NrcGlacCtQQ2ZQWXVCTC9qKyt6ZThiaGN2WGtiRmk1ZVJKS1drSkdydDJ1bDY0SUYvZXZiUXhNZHZWMVJVWGMvek4yMmFwK3JWbStuZ3djMWF1UEJ6dWQxdXoyTVgveHBBL2lOYUFOd1FseXRUTGxlbWR1MWFlY2t6ZlZ3dXA5ZmFsZHExVyttZGR6WjRicDgrZlZnQkFVSGFzbVdCMStzVEV1TFV0dTFER2pqd2JVbFgzdE9TbGVWU1ZwWXpSN0JJVXUvZXczTGNkL2p3RG4zenpkKzFkZXZQcWxTcGdUNzQ0SDZ2OS8zNDQvMnkyZXphc21XQmJydXRqdzRlM0t3V0xlN1Z6VGZYMTlpeEwzaWUrOGRUdlFIa0w2SUZ3SFZidE9oTFRaMzZtZ1lNZUZ1bFNsWFV1Ky9lNDltTElVbGx5bFRSbTI5MjF2UFBUMVZXbGxOdnZ0blY2NVRpQ3hvMjdDUzczYUVhTlpwNzd0dXpaN1dhTk9ucXVYMmxRTmkyYlpFYU5lcHkxWGxkTHFkMjcxNnA1T1RUZXV5eHovVHh4NE05aDdJdWlJMXRJNXZOcnNURW83TFo3S3BXN1ZiUGUxZW9VRWN1bDlNVFRDa3BpVmQ5VHdCNWgyZ0JjTjF1dTYyUG1qWHI3Vm5vK3ZiYmF6Vjc5b2VxVXFXSlNwVzZXZXZYejlMdHQvZnpQUDdXVzJzdXU2MVBQbmxRcFV0WDh0dytlZktRMnJkL3hITTdLOHNsbDh1cCtQanRPbnYydU5mZW04V0x4K2loaHo2KzZyd09SNERxMUdudHViMXYzOW9jaDV3dUJFcElTTGpxMTIvbmVlOExRa0tLYU1pUTdGT2taODE2LzZydkNTRHZFQzJBbjNqbGxWZFVzV0pGM1h2dnZZcU1qTXlUYlY1OHZSV1hLMU5yMXZ5Z3FsV2pWYnQySzBsU28wYWQ5T0dIL2ZYS0t6OWRkaHNiTjg3Vi9QbWpWYXhZS2MrWk9TZFBIbExyMWpGZXordmMrV25aN1haRlJkWFJxbFZUZE5kZFQwcVMxcXlacGw2OWh1WTRReWczdW5WN1ZyMTZ2ZVIxMzZKRlgwcVNRa09MZWU2N2VDL1BDeTk4ZDlIcm43dm05d1J3L1d4dVZwSUJmcUZseTVaYXVYS2xBZ01EMWJ4NWMvWHMyVk1EQmd4UXVYTGx2SjczMkdPUHFVT0gwZGU4L1hQblRxbElrY2djcHdHbnBDUXFQTHpFRlY5NzZsUzhJaVBMZTUxT25GdHBhZWNVR2xyMG1sOTNMYzZmVDFGd2NIaWViR3ZCZ3NjMGV2UzEvLzRDNEx1SEFMK1RtWm1wWmN1V2FjaVFJYXBZc2FLYU4yK3VOOTk4VXdjUEhyeWg3Ull0V3ZLUzF5MjVXckJJVXNtU1VkY1ZMSkx5UFZnazVWbXdBTGd4SEI0Q2ZOaHJyNzJteE1TOFdld1pGeGVYNHo2WHk2WFZxMWRyOWVyVkdqWnNtSjU3N2prNW5jNDhlYis4bEo2ZXJNREFFSzkxTEpmeng3T1ZYSzVNT1J5QitUa2VnQUpDdEFBK2JQanc0ZnJnZ3cveVpGdkJ3Y0U1N2dzSUNGQ0hEaDNVc1dOSDNYenp6ZXJidDY4ZWUreXhQSG0vRzVXZW51dzVoZGxtcyt2dHQ3dHAyTEI1bnNjdjlXV0ZHemZPMVlrVEIvVExMNU05MTFBNWUvYUVIbjc0WTgraVdnRG1JbG9BSC9lWHYvd2xUN1l6ZWZKa0hUaHdRRUZCUWVyU3BZdnV1KzgrZGVyVVNTVkxsc3lUN2VlMUdUUGU5WHgva0pUOXJjNFhuK2x6OHVRaHZmYmFNdjN5eXhTdFh2MmRUcDM2VGFWTFYxYWRPcTNWdWZQVGF0YXN0MncybTZaUEgrbDFHallBY3hFdGdKL28ycldybm5ycUtYWHQybFVSRWRkK3BrMUJTazlQVm1MaVVjWEdMbFpxNmxudDI3ZFdwVXRYVXZIaVpiUjQ4UmpkY2NjZ2JkZ3dSK0hoSmRTdDI3TnEzcnlQRGgzYXFzYU5zNi9Wc216WmVPM2Z2MWJWcWpWVll1SlJWYWhReCtKUEJDQXZFQzJBbnhnMkxPZVZZWDJWM2U3UWdBRnZhY3VXQmZyeHgvYzBlUEI3V3J4NGpESXkwdFN1M2NQYXRtMnhicjIxaCtkQ2RTdFdmS1AxNjJmcCsrL2YwS3V2THRTcFUvRzY5ZGFlWHRzRFlEN09IZ0xnYzRLQ1FyVm16VFFkT2JKYmRydEQyN1l0VWxSVVhjWEVqTktubno2aWloWHI2Y3N2bjVFa1pXYWUxODgvZjZIWTJNVnlPQUlVR0JpczlQUmt6MWxGZHJ0RHAwN0ZXL2x4QU9RUjlyUUE4RWxWcXpiUjl1MUxsWloyVGl0WFRsWlFVS2dXTHZ4Y0RrZWd5cGV2cFppWWR5Vko4ZkhiVkxac05hL1hwcWFlOVZyLzh1cXJkK2psbDJkem1BZ3dITkVDd09lY1BuMVl4WXVYVmZ2Mmo2aGJ0MmNsU1JNbXZLZ0JBOTZXeldiVHVYT25WS3hZYVVsU2xTcE5QSzl6dTkyYVB2MGRIVHEwUlZMMjZjLzE2clZSelpvdENCYWdFQ0JhQVBpY0M5LzJQR0pFV3cwZnZraVNkT0RBQnMvRjYxNS92WVBlZm51dFo2MksyNTJsMk5nMk9uUG1tTzYrKzNuMTZQRlhyd3ZkalJzM3BJQS9BWUQ4d0pvV0FEN0o3WFo3WFlmbDRpdm1ob1lXODFwY20vM055NHZWdW5XTUhJNEFUN0FrSmg2VjIrMVdSa1phd1EwT0lOK3dwd1dBVDBwTFM5TFpzOGU5MXFaYytIVktpdmRWZ252MHlONlQwcWZQSzE3M0p5ZWYxcWhSOTZoSGo3L2w2NndBQ2diUkFzQW5oWVVWMThpUjZ5LzUyTEZqZTcxdU4yelk2WkxQcTFpeG52N3hqMTh1K1oxSUFNekQ0U0VBeHJucHB1cTVmaTdCQWhRZVJBc0FBREFDMFFJQUFJeEF0QUFBQUNNUUxRQUF3QWhFQ3dBQU1BTFJBZ0FBakVDMEFBQUFJeEF0QUFEQUNFUUxBQUF3QXRFQ0FBQ01RTFFBQUFBakVDMEFBTUFJUkFzQUFEQUMwUUlBQUl3UVlQVUFBSHhMU0VpSUZpeDR6T294Y2kwdUxrNlZLMWUyZW94Y0N3b0tzbm9Fd0ZnMnQ5dnR0bm9JQUpkbXM5bkVIOUVyQ3d3TVZHWm1wdFZqQUNnQUhCNENZRFM3M2E2c3JDeXJ4d0JRQUlnV0FFWnpPQnh5dVZ4V2p3R2dBQkF0QUl4R3RBRCtnMmdCWURTNzNVNjBBSDZDYUFGZ05QYTBBUDZEYUFGZ05LSUY4QjlFQ3dDakVTMkEveUJhQUJqTjRYQnd5alBnSjRnV0FFWmpJUzdnUDRnV0FFYmo4QkRnUDRnV0FFWWpXZ0QvUWJRQU1CcHJXZ0QvUWJRQU1KckQ0WkRUNmJSNkRBQUZnR2dCWURRVzRnTCtnMmdCWURRT0R3SCtnMmdCWURRVzRnTCtnMmdCWURTaUJmQWZSQXNBbzdHbUJmQWZSQXNBbzdHbkJmQWZSQXNBbzdFUUYvQWZSQXNBbzdHbkJmQWZSQXNBb3hFdGdQOGdXZ0FZallXNGdQOGdXZ0FZalQwdGdQOGdXZ0FZaldnQi9BZlJBc0JvUkF2Z1A0Z1dBRWJqbEdmQWZ4QXRBSXpHUWx6QWZ4QXRBSXpHNFNIQWZ4QXRBSXhHdEFEK2cyZ0JZRFNpQmZBZlJBc0FvN0VRRi9BZlJBc0FvN0VRRi9BZlJBc0FvM0Y0Q1BBZlJBc0FveEV0Z1A4Z1dnQVlqV2dCL0FmUkFzQm9SQXZnUDRnV0FFWmpJUzdnUDRnV0FFYmpsR2ZBZjlqY2JyZmI2aUVBWEpyTlpoTi9SSFBhdEdtVHVuZnZycXlzTEowOWUxWjJ1MTJob2FHeTIrM2F1M2V2d3NMQ3JCNFJRRDRJc0hvQUFMaFc5ZXZYVjBaR2hvNGZQKzY1THlrcFNTMWJ0aVJZZ0VLTXcwTUFqT053T0RSdzRNQWM5OTk5OTkwV1RBT2dvQkF0QUl6VXUzZnZIUGNOR0REQWdra0FGQlRXdEFBK2pEVXRsK2R5dVZTeFlrVWRQWHBVa3RTd1lVTnQzTGpSNHFrQTVDZjJ0QUF3a3NQaDBQMzMzKys1ZmRkZGQxazREWUNDUUxRQU1OYkZoNGo2OSs5djRTUUFDZ0tIaHdBZnh1R2hLM081WENwZnZyekN3c0owNE1BQnE4Y0JrTTg0NVJtQXNSd09od1lNR0tDa3BDU3JSd0ZRQUlnV0FFYnIzYnUzenA4L2IvVVlBQW9BMFFMQVNBa0pDZnI2NjYrVmxwYW1CeDk4ME9weEFCUUExclFBUG93MUxUazVuVTR0WExoUTgyWk5WOGVLeVFxeVMzTU9ocXZOWGQzVXFWTW5CUVlHV2owaWdIeEN0QUErakdqeHRuLy9mbzBmUDE0UjZYRWFXRHRWSlVPemYyL09ucmRwNHM1UUhiRkZLU1ltUmpWcjFyUjRVZ0Q1Z1dnQmZCalJraTAxTlZVelpzelErcFUvcTIrTlZEVzdLZk9Tejl1VUVLaHZkNGVxZHBNNzFMdDNieFVwVXFTQUp3V1FuNGdXd0ljUkxkS0dEUnYwemFSSnFsL2toUHJXU0ZQb1ZWYmluWGRKMC9hR2FtMWlwTzdyZDcrYU5XdFdNSU1DeUhkRUMrREQvRGxhVHA4K3JVbVRKaWxoM3dZTnFwT3E2aEd1YTNyOW9TU0h4dTBJVlZpRitobzRjS0RLbENtVFQ1TUNLQ2hFQytERC9ERmFYQzZYbGl4Wm9sblR2MWZiOHVmVXBVcTZITGJyMjFhV1c1cC9NRmcveFJkVnh5N2QxYUZEQndVRWNOSWtZQ3FpQmZCaC9oWXRodzRkMHJoeDR4UjZicDhHMVVsVG1iQ3NQTm51NlhTN0p1d0kxYW1nbXpWNDhHQlZyVm8xVDdZTG9HQVJMWUFQODVkb1NVOVAxOHlaTTdWcXlYejFycDZxRnVVeVpMdk92U3VYNDNaTDYwOEVhdkx1VURWcTBVNDllL1pVV0ZoWTNyNEpnSHhGdEFBK3pCK2laY3VXTFpvNFlZSnFCQjlYdjFxcENzL255NnlrT2FYdjlvUnE4N2xTdXIvL0FEVnAwaVIvM3hCQW5pRmFBQjlXbUtQbHpKa3ptakpsaWc1dFg2MkJ0ZE5VTzlKWm9PKy8vNHhENDNhRXFXVFZSdXJmdjc5S2xpeFpvTzhQNE5vUkxZQVBLNHpSa3BXVnBlWExsMnY2dEtscVZlYXN1bGROVjREZG1sbGNXZExjZzhGYWVMaVl1bmJ2cGJadDI4cmhjRmd6RElDcklsb0FIMWJZb3VYdzRjT2FNR0dDZEhLWEJ0VkpWZmtpZWJQUTlrYWRUTE5yM0k0d0pZZFZWa3hNakNwWHJtejFTQUF1Z1dnQmZGaGhpWmFNakF6Tm1UTkhTeGZNVm8rcXFXcGRJZThYMnQ0b3QxdGFmU3hRMys4TlY5TTdPcWg3OSs0S0NRbXhlaXdBRnlGYUFCOVdHS0pseDQ0ZG1qQit2RzYySDFILzJta3FHdVRibnljbDA2WXB1ME8xTTYyTUJnd2NxQVlOR2xnOUVvRC9JVm9BSDJaeXRKdzdkMDVUcGt6UjNrMi9hRUR0Vk5VdlZiQUxiVy9VN2tTSHh1OElVNFhhVFhYZmZmZXBSSWtTVm84RStEMmlCZkJoSmtaTFZsYVdWcTllcmUrbWZLdmJTcDVScjJwcENqUjBiYXN6UzVwMUlFUkxqeGRYOTU2OWRlZWRkOHJtYThlMUFEOUN0QUErekxSb09YYnNtQ1pPbktqMEk5c1VVemRWRll2NnhrTGJHM1VzSlh1aHJqT2l1bUppWWhRVkZXWDFTSUJmSWxvQUgyWkt0R1JtWnVxbm4zN1N6L05tcW11bFpMV3I2SHNMYlcrVTJ5MHRQeEtrR2Z2RGRYdmJUdXJXclp1Q2dvS3NIZ3Z3SzBRTDRNTk1pSlk5ZS9aby9QanhLdXY4VFFOcXB5b2l4TGZudlZIbk1tejZabGVvRGpqTGFkQ2dRYXBidDY3Vkl3RitnMmdCZkpndlIwdHljckttVFp1bXJiOHUxZjIxMHRTNFRLYlZJeFdvYmFjQ05HbG5xS3JjMGtKOSsvWlY4ZUxGclI0SktQU0lGc0NIK1dLMHVOMXVyVjI3VnBPL25hUW14VStyZDQwMEJSdTYwUFpHWmJxazZmdEN0T3BVQ2ZYdWU1OWF0R2pCUWwwZ0h4RXRnQS96dFdoSlNFalF4SWtUbFhSb3N3YlZTVk9WNGk2clIvSUpoNVB0R3JjOVRJNHl0VFZvMENDVksxZk82cEdBUW9sb0FYeVlyMFNMMCtuVXdvVUxOVy9XZE4xVk1WbDNWVG92T3pzVXZMamQwcUw0WU0yT0MxZWJ1N3FwVTZkT0Nnek01NitzQnZ3TTBRTDRNRitJbHYzNzkydjgrUEdLU0kvVHdOcXBLaG5LajR3ck9YdmVwb2s3UTNYRUZxV1ltQmpWckZuVDZwR0FRb05vQVh5WWxkR1NtcHFxR1RObWFQM0tuOVczUnFxYTNlUmZDMjF2MUthRVFIMjdPMVMxbTl5aDNyMTdxMGlSSWxhUEJCaVBhQUY4bUZYUnNtSERCbjB6YVpMcUZ6bWh2alhTRkJwUTRDTVVDdWRkMHJTOW9WcWJHS243K3QydlpzMmFXVDBTWURTaUJmQmhCUjB0cDArZjFxUkprNVN3YjRNRzFVbFY5UWpyRnRxZXo4eFNjS0E5MTgvUGNydGwvOE9aTzJrWkxvVUdYZnJVcHVSMHAwSUNIUXB3WEgxeGp0UGw5bnBlcGl0TGdZN2N6M1lveWFGeE8wSVZWcUcrQmc0Y3FESmx5dVQ2dFFCK1I3UUFQcXlnb3NYbGNtbkpraVdhTmYxN3RTMS9UbDJxcENzWGY1ZDc3RDU2VGpYTEZaVWtiVHA0Umd1M25ORHpkM3V2NWRoN0xGazNsd3BUVU1DbC83SmZ0TzJFYnJtNXVFb1ZEWllrOVJpNVhGOCsyVlNsaWdZclBkT2w3bTh2MTd4WFdzdHVzeW4rVkpxaVNvWjZ2YjdXWCthb1hJa1FyL3QrTzVXcTNSOTJsZU4vcTRhVDA1MHFFcEs5MnlqMXZFdjNqRnFoZWNOYWU1NmZudWxTeUIrK0tHbnV4bU02Y0NKRmszLzV6ZlBmNHNUWjgvcjQ0U1pxVnovMzhaSGxsdVlmRE5aUDhVWFZzVXQzZGVqUVFRRUI3TUlDcmdWL1lnQS9kK2pRSVkwYk4wNmg1L2JweFNacEtoT1d1KzhMT253NlRiMUhyVkJva0VOeENTbGE4WHA3VllnTTFUY3JEcWx1VlBFY2V5Y2l3Z1AxcDlGck5lYXBaaHIwMFdyRm4wcVZKRzJNTzZOR2xTTWtTUVB2cUtSSDIxZFZYRUtLc3R4dWxTb2FyQTBIRXRXZ1VvUXlYVm15MjJ4S1NzdlVZNSt0MWVUbld5ZzgrUGNmWWRWdktxSlpRKy93bXZITzRZczh3U0pKNzg3WXFTWGJFenkzOXg5UFVadllSYi8vWHB4TTFiTFgybW5LTDcvcHU5WHgrdTFVcWlxWERsZnJPcVgxZE9mcTZ0MHNTamFiTkhMNlRwVXBIbndOdjh1UzNTWjFxbnhlVFcvSzFJU2xrN1ZxMVNvTkhqeFlWYXRXdmFidEFQNk1hQUg4VkhwNnVtYk9uS2xWUythcmQvVlV0YWh4YmQ4WFZDRXlWRTkxcXE2T0RXN1Nlek4zcVVKa3FBNmRURlg1RXFIcTB2Z214VTdacW4vY2Y0dm4rYVdLQm10WTcreEwzbzkvNWpiUC9XMWlGMmx4YkZ1dmJkLzI4Z0k1WFc2MWlWMmtuWWZQS2U2VGJwN0hQcHk5UjE4ODBkUXJXQ1RwYXZ1amt0T2RPcHFZcnNXeGJYVTJOVk5yOTUxV3BkTGhLbE04V0dNV3gyblFIWlUwWjhOUmxRZ1AwclBkYXFwUDh5aHRQWFJXWFJwblgzTmwvTEtEV3J2L3RKcFdpOVRSeERUVnFWQXM5NzlaRjRrTXlkTFRqVkswL3NSZWpmN2dMVFZxMFU0OWUvWlVXRmpZZFcwUDhDZEVDK0NIdG16Wm9va1RKcWhHOEhHTmFKR3E4T3U4bk1qR3VETWFmR2RseiswWmE0L295VTdWNWJEYmRPcGNodTU1ZDRYZUdkUlFOY29Wa2RzdG5YZit2a1ptOGJZVGFsUHYwb2RYYnEwYUtadE5tdm5TSFdvVHUwakJBZG1IYkdadk9LcDdtMWZVVFJFaE9WNno1K2c1cjcwbWtuUlRSSWd1SEYxejJHMTZhMEFETGRoeVhPLzl1RXZ2RFc2a01Zc1BLQzNEcFlmYlZkWGliU2ZVNDlZS0N2dmY1WDIvV2ZHYlpxMC9vamUrMzZHRnI3WlIvS2swOWJ5MWdtZmJqaHU0VUkzTkprV1h6VlRka3BuNmJzODh4UTVmcC92N0QxQ1RKazJ1ZTV1QVA4ajlTaklBeGp0ejVveisrOS8vYXZLWEgrcUJLci9wb2ZyWEh5eVNQSHRtM0c2MzF1MVAxT0hUcVdvM1lySGF4QzdTNGROcGFsR3pwS3FVQ2RleUhRbnErSThsNmpGeXVUSmQyWWVmSHZsMHJkenU3UEJwRTd0SS81eTVXOG5wVHEvdFh2dytwNU16VkMrcXVHcFhLS3I5eDFOMDRFU0tKS24vaDZ2VUpuYVJLa1NHNm1oaXV0ZnJqcDlOVi9OaEMvVDV6L3NWR3VUUXREWHgybjNrbkJ4Mm14WnRPNkc2VWNVMUtxYVJIdm4wVjlXcldGelBmTGxlVXZZaTRDOSszcS9Gc1cwVjRMQXBPTkN1NVBSTUZmM2ZhVlFPZS9hNm1oc1ZHaUFOcXBPbXgyc2UwWS9qUDlISEgzK3NVNmRPM2ZCMmdjS0tQUzJBRHl0U3BFaWVmcGROMDZaTjFhMVZBNzF5MjdrYi9yNGdwOHV0Tlh0UHEwM3NJcVdjZDZsczhSQzkzdThXVFZzVHIzdGJWTlRHdURQYUhwK2tBSWROZDlRcHJRVi92MU50WWhkNXpycUpLaGtxbTAxcVZEa2l4K0VodC92M2NNbHdacW5URzB0MTZHU3E3aG0xUXNYK0Z3NTMxaTJ0RWZmVjE2Uy9OSmNrN1RpY3BQZCszS1hQSDIvcTJjN2VZOG1xZnRQdjEwZHBVcldFbG01UDBMazBweWF2L0UyaFFRNTl2bkMvQWgxMjFTcGZWTy9HTkpRa2JZcy9xMnBsdmErcmNqWTEwMnRQemgydi9xelpMOTl4M1llSkxsWTF3cVdYbTUzVGUrczI2SzIzNGpScTFLZ2IzaVpRR0JFdGdBODdkKzVjbm03djVNbVRHajkrdk43NWRZdGk2cVNwOGcxOGQxQ0F3NlpscjdWVGVxWkxjemNlazkxbTA3Y3JENmwwc1dCOXR6cmVzNzdsVXM2a1hQbENkVzVKRjFJdEtNQ3VlY05hcTAzc0lyM1IveGJWTEZkVXBZdmxYQVM3WXVkSmJUNTQxaXNzTmgwOG81OWZiYVBHVlVybzhPazBsUzBlb2tmYVY5V3ozYkxQYkhweHdtYTlQYUNCYkRicDFMa016M2FiVkNueCt5eHU2WjNwTzdYbDBGbEoyYkhXcGw1cHRhanB6cE5na2JLL3UyajhqakRaUzlmU0N6RXhlYkpOb0RBaVdnQS9VcXBVS1QzNzdMTmF0V3FWUHZsdXFwcEdKT2p1cXVuWGRmRzRwVHNTdERIdWpKcFZqOVN4TStscVdpMVNZeFlmMDUrNzFOVG9CZnNVRkdEWGM5MjhUM3ZPY2t0dlR0dWh2M1N0Y2NWdFh3aVdMMzQrb0hvVmkzdnV2NjE2U2YxejVpNzlyV2Z0SEs5NXVGMVZQZExlKzB5Y3UvNnhSSTMvRnlBVklyTURxdTJJeFZvMHZJMGthY09CUk04ZW5RNnZMOWJhdHp0NjFxcGt1Yk1YQWg4N2s2N243NjZsdi9hbzdYWFlhc2k0VFZmOERMbHgzaVhOalF2UjBoT1I2dG5ySHJWdTNmcnFMd0w4R0d0YUFEL1V2SGx6eFk1NFRTa1YyaXIybCtMYWxCQ2dhNzBjVE9zNnBkV2xVVG1kVERxdjcxZkhxMGE1SW1wUnM1UktGUXZTQzNmWFVydjZaYlJtNzJuUDg4K21abXJGenBPNnJYcGtqak4vcE93OUhhdjNaSy9ubVB4OEMwblNRMjJyNk44UC83NDROZE9WcFJKRmd2VCtyTjA1WHYvSG8yanhwOUp5TE5oMXU2V1FpeTVZZC9IRjZJcUZCbm90cm5XNjNGb2MyMVl4clNzcHdHSHpiUDlvWXJyYzd1d0wxMTB2dDF2YWNTcEFyNjh1cHVPUkxSVTc0aldDQmNnRkxpNEgrTG5kdTNkcndvUUpLdWM2cEg2MTBsUWk1TnArSkR6MXhYcUZCTnJWc0ZLRVJpL1lyOENMcnMzaXluTHI0NGVicUdHbDdPdXdURngrU09mU01qVisyY0ZMbm4xenk4M0Y5ZEZEMlpIUzVjMmxtdm5TSFhMWWJVbzU3MVN0djh6Um0vMXYwZUE3Syt2VmI3ZnF0MU9wK3VTUjZCeFh2TjBZZDBiLytXbXZ0c2NuYWVUQUJycTlWaW5QWTJkVE05VjJ4R0xQdXBpTG5VN08wT1pSblR5MzUyMDZwazROYjhyeHZHMi9uZFhEbjY3VjMzclVVdS9ib3E3cDkwcVNrakpzbXJvN1ZQdWM1ZFcvZjMvVnIxLy9tcmNCK0N1aUJZQ2NUcWRtejU2dEpRdm5xWHVsSkxXT3lsQnV6K2k5ZU5Gc1hocTM5S0FHdExwWkRydE5XVzYzcHY5NlJQYzArLzJVNHl0ZDVuLzMwWE1xSGhhb3NzVnpuaHA5T1g5Y3RIc2wxL09aczl6U3FxTkIrbjVmRVRWdjNWNjlldlhpaXJqQU5TSmFBSGdjUDM1Y1k4ZU9sZlBFVHNYVVNWTlVVZXUrZTZnd09aWmkxNFFkb2NxSXFLRkJnd2FwWXNXS1ZvOEVHSWxvQVpERHNtWExOR1A2RDdxOTVFbDFyWkordzZkSCs2dE1sL1RUb1dBdFBGcEMzZTd1b2ZidDIxczlFbUEwb2dYQUpTVW5KMnZTcEVrNnNHMk5CdFZPVmQyU1RxdEhNc3FlUklmRzd3eFgyZXFOTldEQUFFVkVSRmc5RW1BOG9nWEFGVzNmdmwwVEowNVVaZnRoM1ZzelRjV0QrWkZ4SmNrWk5rM2JGNnB0cVdYVnIxOC9OVzdjMk9xUmdFS0RhQUZ3VlptWm1ab3hZNForV2JKQTkxUkwxdTNscnUzTEZmMkIyeTJ0UFI2b0tYdUxxbkh6MXVyVHA0K0Nnb0tzSGdzb1ZJZ1dBTGwyNU1nUmpSMDdWbzdFUFJwWU8xWGxpMlJaUFpKUFNFaTFhZUt1TUNXRlZsRk1USXdxVjY1czlVaEFvVVMwQUxnbWJyZGJpeGN2MXN3ZnA2dE4yVVIxcnBTdVFEOWRxSnVaSmYxOEtGZy9IWTVReDg1ZGRkZGRkOGx1NTVxZFFINGhXZ0JjbDdObnoycml4SWs2dkd1ZFl1cW1xbFlKL3pvOWV2OVpoOFp0RDFOa2xZWWFPSENnSWlNanJSNEpLUFNJRmdBM1pQUG16Wm8wYVpKcWh4eFQ3K3BwS2hwVXVIK2twR1pLTS9hSGFuMVNHZDE3NzcxcTJyVHAxVjhFSUU4UUxRQnVXRVpHaHFaTm02WmZWeXpTdlRXUzFheHNacUZicU90MlN4c1RBdlhON25EVnY3V1Y3cjMzWG9XRTVQNkt1d0J1SE5FQ0lNOGNPblJJNDhhTlU5aTVmUnBRSjAxbHd3ckhRdDNUYVRaTjJoV21rMEdWTkhEZ1FGV3ZYcHh0bUdrQUFDQUFTVVJCVk4zcWtRQy9STFFBeUZOdXQxdno1OC9YdkRrejFiSDhHWFc0K2J3Q0RGMmI2c3lTbHNZSGFlYWg0bXJYc2JPNmR1M0tRbHZBUWtRTGdIeVJtSmlvQ1JNbUtHSGZSZzJ1bTZwcUVXWXQxRDEwenFGeDIwTVZXcjZlWW1KaVZMcDBhYXRIQXZ3ZTBRSWdYNjFidDA2VEowOVd3eUxIMWJOYW1zSURyWjdveXRLZDBzd0RJVnAxdXBSNjkrNmoyMisvM2VxUkFQd1AwUUlnMzZXbnAydnExS25hdkdhWit0Vk1VWk15dnJkUTErMld0cDRLME1SZDRhclJvTG42OWV1bjhQQndxOGNDY0JHaUJVQ0IyYjkvdjhhUEg2OFM1K1BVdjFhYVNvWDZ4a0xkTStkdG1ydzdWUEdxcUFFREJxaDI3ZHBXandUZ0VvZ1dBQVhLNVhKcDNyeDVXakJ2dHJyZWZGWnRvekxrc0dodHE4c3RyVGdjcE9seFJYVkgyN3ZVdlh0M09SeCtlbmxmd0FCRUN3QkxuRHg1VXVQSGo5ZTUzN1lvcGs2YUtoY3YySVc2aDVQdEdyOGpUTFpTdFJRVEU2Tnk1Y29WNlBzRHVIWkVDd0JMclZxMVN0OS9OMVZOSXhKMGQ5VjBoUWJrNy91ZGQwbHo0MEswOUVTa2V2YTZSNjFidDg3Zk53U1FaNGdXQUpaTFRVM1Y1TW1UdFdQOVNnMm9uYUlHcFp4NXZsRFg3Wloybmc3UWhGMWh1cmxPVS9YdjMxOUZpeGJOMnpjQmtLK0lGZ0ErWS9mdTNab3dZWUxLdVE2cFg2MDBsUWpKbXg5UFNSazJUZDBkcW4zTzh1cmZ2Ny9xMTYrZko5c0ZVTENJRmdBK3hlbDBhdmJzMlZxeWNKNjZWMHBTNjZnTTJhOXpyMHVXVzFwMU5FamY3eXVpNXEzYnExZXZYZ29JeU9malR3RHlEZEVDd0NjZFAzNWNZOGVPbGZQRVRzWFVTVk5VMFd0YnFIc3N4YTRKTzBLVkVWRkRnd1lOVXNXS0ZmTnBVZ0FGaFdnQjROT1dMVnVtR2ROLzBPMGxUNnBybFhRRlgrV001RXlYOU5PaFlDMDhXa0xkN3U2aDl1M2JGOHlnQVBJZDBRTEE1eVVuSjJ2U3BFazZzRzJOQnRWT1ZkMlN6a3MrYjAraVErTjNocXRzOWNZYU1HQ0FJaUlpQ25oU0FQbUphQUZnak8zYnQydml4SW1xYkQrc2UydW1xWGh3OW8rdjVBeWJwdTBMMWJiVXN1clhyNThhTjI1czhhUUE4Z1BSQXNBb21abVptakZqaG41WnNrQzlxaVlyeU9IVzFMMUYxYmg1YS9YcDAwZEJRVUZXandnZ254QXRBSXgwNU1nUmpSMDdWbE9tVExGNkZKOFdHQmlvTjk1NGc3VTlLQlNJRmlBUE9KMU9EUm8wU0h2MjdMRjZsRUxydWVlZTA2QkJnM0xjSHgwZGJjRTBaaGt3WUlCZWVPRUZxOGNBYmhnWExBRHlRRkpTRXNGaWtmWHIxNHQvZTEzYXhJa1Q5ZDU3NzFrOUJwQm5pQllnRDBWR1JtcisvUGxXandFQWhaSkZYd2dQQUFCd2JZZ1dBQUJnQktJRkFBQVlnV2dCQUFCR0lGb0FBSUFSaUJZQUFHQUVvZ1VBQUJpQmFBRUFBRVlnV2dBQWdCR0lGZ0FBWUFTaUJRQUFHSUZvQVFBQVJpQmFBQUNBRVlnV0FBQmdCS0lGQUFBWWdXZ0JBQUJHSUZvQUFJQVJpQllBQUdBRW9nVUFBQmlCYUFFQUFFWWdXZ0FBZ0JHSUZnQUFZQVNpQlFBQUdJRm9BUUFBUmlCYUFBQ0FFWWdXQUFCZ0JLSUZBQUFZZ1dnQkFBQkdJRm9BQUlBUmlCWUFBR0FFb2dVQUFCaUJhQUVBQUVZZ1dnQUFnQkdJRmdBQVlBU2lCUUFBR0lGb0FRQUFSaUJhQUFDQUVZZ1dBQUJnQktJRkFBQVlnV2dCQUFCR0lGb0FBSUFSaUJZQUFHQ0VBS3NIQUlCcjllNjc3MnI1OHVXZTJ6MTc5cFFrTld6WVVLKzk5cHBWWXdISVowUUxBT05FUmtacXhvd1pudHNYZmgwZEhXM1ZTQUFLQU5FQ3dEZzlldlNRdytHUXkrWHkzT2R3T1BUd3d3OWJPQlZNTjNqd1lHM2J0czNxTVh4YXRXclZOSG55Wk12ZW56VXRBSXhUdW5ScHRXdlh6dXUrNk9ob1ZhaFF3YUtKVUJnUUxGZTNiOTgrUzkrZlBTMEFqRFJ3NEVETm56L2ZjN3RYcjE0V1RvUENaTjI2ZFZhUDRKTjg0ZkFyZTFvQUdLbFRwMDV5T0J5U0pMdmRyb0VEQjFvOEVYekp0OTkrcS9qNGVLdkhRQjVqVHdzQUk5MTAwMDFxM2JxMUZpMWFwTWFORyt2bW0yKzJlaVQ0a0hmZWVVZVNWS3RXTFhYcDBrV3RXclZTbFNwVkxKNEtONG85TFFDTTFiOS9mMGxTOSs3ZExaNEV2bXJYcmwzNjRJTVAxTGR2WC9YdDIxZGZmdm1sOXV6WlkvVll1RTVFQ3dCamRlblNSWkk0TklSY09YRGdnUDc5NzMvci92dnZWOCtlUFRWNjlHanQyTEZEYnJmYjZ0R1FTeHdlQW1Dc3FLZ29QZjMwMDZwZXZiclZvL2kwaVJNbmF1TEVpVmFQNFZQaTQrUDEyV2VmNmJQUFBsUFpzbVhWdFd0WHEwZENMaGdkTGYzNzk5ZnUzYnV0SHNNb2xTdFgxbmZmZldmMUdQQmh6ei8vdkZKU1Vxd2U0NW84OXRoalZvK1FheUVoSWZyd3d3OEw1TDBxVmFxa3dNQkFaV1ptRnNqN21Tb3pNMU1KQ1FsV2o0RmNNRHBhQ0packZ4Y1haL1VJOEhFcEtTbnEwR0cwMVdNVVdnc1dGRnhndFd6WlVxdFdyU3F3OS9NbFZ6czl0MHlaTW1yWnNxVTZkZXFrVzIrOVZUYWJUVE5ueml5ZzZYQzlqSTZXQ3ppblBuZDg0Ung3QUxCSytmTGwxYXBWSzNYdTNGa05HemEwZWh4Y2gwSVJMUUFBWEVxbFNwWFVxbFVyZGVuU1JYWHExTEY2SE53Z29nVUFVT2c4K09DRDZ0S2xpNnBWcTJiMUtNaERuUEtNcXpwMjdCaUxkd0VZNWVtbm55WllDaUgydE9DUzR1UGp0V3paTXMyZE8xZGJ0MjZWSlBYcDA4ZmlxUUFBL294b2djZUJBd2UwZE9sU3paMDdsek96QUFBK2gyanhjM3YyN05IU3BVczFaODRjSFRod3dPcHhBQUM0TEtMRkQrM1lzVU5MbGl6Um5EbHpydWxiVURsbEdnQmdKUmJpK3FIazVHUWxKQ1RvL1BuelZvOVM2TER3RHdEeUQzdGEvRkRUcGszVnRHbFR1ZDF1YmRxMFNYUG56dFh5NWN0MTlPalJLNzZPaS9nQkFLeEV0UGd4bTgybVJvMGFxVkdqUnBLazdkdTNhODZjT1ZxK2ZMa09IVHBrOFhRQUFIZ2pXdUJSdDI1ZDFhMWJWeSs4OElMMjd0MnIyYk5uYTlteVpkcS9mNy9Wb3dFQVFMVGcwcXBYcjY0Ly8vblArdk9mLzZ5REJ3OXF6cHc1Vm84RUFQQnpMTVRGVlZXcVZFbVBQLzY0MVdNQWdERisvdm5uYTM3TndZTUg5Y0lMTDBpU1RwdzRvZjc5KytmMVdNWmpUd3NBQUhsc3hJZ1JhdGV1blNTcGJkdTJxbENoZ3RmanUzZnYxcG8xYTd6dVc3QmdnU0lqSXlWSjgrZlB6OVVYUExwY0xqVnIxa3hseXBTNTVPTW5UcHpRbWpWcjVIQTRydWRqK0J5aUJRQ0FmQlFRRUtEeDQ4ZDczZGV4WTBldjIyNjNXei8rK0tOaVkyT1ZsWldscVZPbktqRXhVYi84OGt1TzdYWHMyRkhQUC8rODEzMlhPNFJmMks2dlJiUUFBSkJITHB6SWtKcWFxcDQ5ZTJyNjlPbHlPcDE2NktHSHZKNlhsSlRrZGZ1WFgzN1I0Y09IMWFoUkk4MmFOVXNsUzViVXRHblQxTFJwVS8zNjY2OVhmZDh1WGJyazZlZndWVVRMTlZpMWFwV0Nnb0xVcEVtVEFudlA5UFIwUGYvODgzcmxsVmRVdm56NUFudGZBTUMxZSsrOTl5UkpkOTU1cDZaUG42NWh3NFlwSkNSRUFRRUJxbGl4b2pJek0zWHc0RUdGaDRmcmdRY2UwTmRmZnkxSit1eXp6eVJKNTg2ZDAwY2ZmYVNSSTBmbTZ2MXNOcHVLRkNseTJUMHRkOTU1cDJ3Mld4NThNdDlBdEZ5RHVYUG5xbmZ2M3A3YlRxZFR6WnMzVituU3BTVkpaODZjOGRxVmw1R1JvUll0V3FoSWtTSmUyMGxPVHZhNkx6azUrYkxISEVOQ1FsUzdkbTE5L1BISGV2UE5OL1A2SXdFQThrRldWcGJtejUrdmRldldhY2FNR1pLa0J4NTRRSkkwYWRJa1NmSXN0SjAzYjU3UzB0SWtaYTlSR1RSb2tCbzJiT2paMWgvM29vd1pNMFpseTVaVlZsYVd1blhycHJDd3NNdnVhUWtMQzFPM2J0MEt6Um1nUkVzdXRXL2ZYcUdob1ZxN2RxMk9Ieit1WDMvOVZSa1pHWXFJaVBEOHo5Q2lSWXNjcjdQYjdWcXlaSW5uOW9WRlV4ZmY5OGRqanBjS0hiZmI3WFVNTkRrNVdTdFdySkRkemdsZ01GOXk4bWtGQjRjck1EQllrcFNXbHFTZ29GQTVISUY1L2w0dVYyYStiQmVRcElVTEYycnAwcVZLUzB2VHZIbno1SFE2OWVpamozbzk1MEs4WExpSTUvVHAwL1hvbzQ5cTZOQ2hpb2lJMEtCQmc3eWVmN25nY0x2ZE9uSGloTmZWeWtlT0hLbW5ubnJLODNmSWhiOXpDZ3VpSlplQ2dvSTBaTWdRMWFsVFIvLzNmLzhuS2Z1TEIvKzRZdnY4K2ZNS0RnNitvZmZLeU1qUTNMbHpyN2phT3pvNldtNjMrNGJlQi9BVk0yZitVelZydGxDalJwMlZrcEtvWmNzbXFHelphb3FPdmxzcEtZbVNwUER3RWpsZWQvVG9IcFVyVitPaTI3dFZybHhOcitjOCsyeHRSVVRjNVBXY0lVT21xVWFOMi9McDA4Q2ZUWmt5UmRIUjBRb1BEOWVvVWFPMGFORWl0VzdkV2xMMkVvUGs1R1IxNnRSSmtyUm8wU0pKMHAvKzlDYzFhdFJJUTRjT3ZlSDNuekZqUnFHK1JBWFJjZzNDd3NJMGR1eFlTZEtHRFJ2MDhzc3ZleTJ1dXV1dXU5U2hRd2ZWclZ0WG8wZVBscFM5aS9EQ2FXOFh1OVI5Z0Q4NmMrYVlWcS8rWGhzMnpOWVBQN3l0SmsyNmFkT21lVXBLU3RDUFA0NlMwNW1oMXExalZLRkNiWDM3N2F1U3BOVFVzN3JubnBmMTVaZlBxR0xGZW9xTDI2aktsUnNwT2ZtMDNuMTNrOWN4L05LbEsydllzTG1lMjdHeGJRZ1c1SnRQUC8xVWtqeG5DMzMyMldlZTlTcVNGQmNYcHpGanhuaHVqeDgvWGw5ODhVV2V2UGZwMDZmbGREcFZ0R2pSUE5tZUwvSzdhRWxLU3ZJY084eXRzbVhMU3NyK29zRXFWYXJvNTU5L1Z1blNwVFZ3NEVEMTY5ZlA4N3dSSTBab3hJZ1JYcSsxMisxZUZ4bTZzS3Z1NHZzSzJ5bHB3TFhZdE9rbnZmSEdMOXF5WllGS2xxeW9uVHVYYStqUTJVcEpPYU1sUzc1V3IxNHZ5ZVhLbE0xbTEvRGhpL1Q2NngwMGF0Um1TZExTcFdNMWRPaHN4Y2EyVVd6c1lzWEd0c214NlBEQWdmV0tqVzNqdVIwWHQxRXVsMU1PaDkvOStJTUZMcXhmT1hEZ2dQN3lsNzhvS2lwS28wYU55bkhkbGl2NTQzcVZmL3pqSDRxT2pwYk5abFBObXIvdldmejIyMjhWRWhLaTNyMTdxMmZQbnVyUm80ZEtsQ2pCNFNHVHZmZmVlNW81YytZMXZhWmx5NVk2ZWZLa2V2WHFKVWs2ZWZLa29xS2lOR25TSk0vL2tCYzBidHpZczJEVzVYSXBNUERhanAxblptWkt5bmtPUDFCWUZTdFdTdSs4MDFPWm1lbHl1OTFLUzB2UzJyWFpDeGVUa2hMMDY2OC9LQ3FxbnA1NDR2ZC9qYnJkYnRsc05oMDh1Rm14c1cwVUY3ZlJLMHd1T0hVcVhvODg4b21hTisvcnVXL3IxcCsxZCs4YTFhcDFlNzUvTmtDU2xpOWZycmZlZWt1dnZmYWFSbzRjcVlVTEY2cElrU0xxMmJObnJpNzZkcmsxTFhhN1haTW1UZEtSSTBjMFpzd1lMVjY4V0Y5Ly9iVmNMcGVtVHAycXZuMzdxbG16Wm5ya2tVZnkraU5aeHUraTVWSjdRM0tqUzVjdUdqNTh1T3JYcjYrZVBYdEtrdDU4ODAxOTlkVlhHalZxbE9mMmhiMHlVdmI2bG95TWpFc0d5T1dpSkNVbFJXRmhZVmU5QlBUUW9VTUwxV2xzOEY4TEZueW0yTmpGZXVXVjJ4VVlHS1Nnb0ZCSjJZZUErdmQvVTZHaFJWV3ExTTA2ZUhDelB2LzhTZjMyMjFhOS9QSnR1dWVlb2FwVXFVR09QUzBYKytTVEIrVnlaV3J1M0krOTdvK0wyNmgzM3RtZ01tV3FGTlRIaEo5SVRVMVZWbGFXQWdJQ0ZCOGZyMy8vKzkvYXQyK2Yvdld2ZjZsYXRXcVNwTUdEQit1TEw3NVEzNzU5MWIxN2Q4WEV4Rnp6UDNCVFUxUDFyMy85UzVzM2I5Ymh3NGZWdFd0WGZmUE5ONTRyNnI3NDRvdDY1cGxuTkczYU5BMGZQbHpoNGVINjczLy9xMkxGaXVYNVp5NUlmaGN0MTh2cGRHci8vdjA2Y09DQTU3N0dqUnZyd3c4LzFPN2R1NVdTa3FMMTY5ZnJtMisrOFR5ZWxKU2tXclZxYWNLRUNaNzdMaHdlbWo5L3Z1ZStpdzhQSFQ1OFdEZmQ5UHVpd2N0NTY2MjNidlFqQVQ3aDZhZXoxNG1GaDBkbzZORFpudnRqWTl2bzFsdTd5MmI3L1F5NTExOWY3Z2tVU1JvOStsR3ZQUzEvWEp3ZUhCeW12LzF0dWlScHdvUVhOWERnU00rMkNSYmtoMEdEQnVuVXFWUHEzYnUzWEM2WGF0V3FwUkVqUmlnb0tNanJlUTgvL0xDYU4yK3VYYnQyZVlMbDRZY2Z6ckc5UzkwblphK3hyRisvdnRxMWE2ZEdqUnJsMlA2RjV3d2NPRkQzMzMrLzFxMWJaM3l3U0VSTHJwdzhlVkxCd2NIcTJyV3IxcTVkNi9YWUs2KzhvaGRlZUVFdWwwdnZ2Lysrd3NMQ1BJOGRQbno0bW81YlN0TFdyVnRWdDI3ZFBKa2JNRUZvYVBZUDBndUhlaTVJU0Rnb2w4dXBnSUNjUDR5bDdOT2svL25QN1NwZXZJeGlZOXZvNzM5Zm9JU0VPSy9uWElnWXB6TkRtWm5uODJWKzRHTGZmLys5MSswTFo1dGVNSG55Wk0rdjY5V3JwM3IxNm5sdVgrcXNueXVkQ1hUMzNYZm5haWFIdzFGbzFyVndrWTljV0xod29lcldyYXV3c0RDMWJ0MWFMcGRMVXZZWFhvMFpNMGJCd2NHeTIrMmFOV3VXRGg0ODZIbmR4bzBidmY2SHpJMTU4K2FwWmN1V2VUby9ZSUkvN2lVcFZlcG1qUnpaUTI1M2x1Yytwek5EUllwRTZ2VHB3enAvUGxYdnYzK2ZaMC9MNjY5MzBKUXBJK1J5T1QzUHo4cksvdlh1M2Ird2hnVW9CTmpUa2dzelpzelFrMDgrcVNsVHBtajA2TkdxWHIyNlB2cm9JODJjT1ZQOSsvZFhiR3lzVWxOVE5YNzhlRDM2NktOcTM3NjlYbmpoQmMyYU5Vc2ZmL3p4SmJmcGRydmxjcm1VbUpnb3U5MHVtODJtSlV1VzZNaVJJMnJidG0wQmYwTEFlcFVyTi9RNlBDVHBmMmNEWmYvYjZ1REJUZnJ0dDIxNjdybkpuak4vTGh3bXVuREk2TlNwMzVTZWZzNXpUWmVISHZwWWJuZVdWcS8rVHIxNnZhUWxTNzVXY25LaTE2SmVBT1lnV25KaDlPalJucXNMOXVuVFIzYTdYZW5wNlhyaWlTY1VFSkQ5VzFpc1dERTkrZVNUZXVLSko1U1ptYW50MjdjcktpcEtsU3RYOXRxV3pXWlRhR2lvc3JLeTFLcFZLem1kVHJWcTFVcDJ1MTJsU3BYUzBLRkRyM2xCRmxBWTdOMzdhNDZGdEJmdlphbFVxYUVxVmNxK3RQbUdEWE0wZGVvSUJRYUdlQjYvOE5vV0xlNVZwMDVQU1pMUzA1UDEvZmR2cUZ1MzUxU2lSSG5kZWVjRDJyVnJoZDU0bzdPR0RwMlY0MEowQUh3YjBaSUxGMTlTLzhKbDgwTkNRaTc1WEp2TnBxQ2dJRFZvME1CelZ0SEY3SGE3bGk5ZkxpbjdXejJkVHFjblVxNzFVQkpRbUR6NTVGZUtqdlkrUm4vNDhJNUxQcmR4NHk1cTNQankzMnFibVptdTNidC9VWkVpa2VyVDUrOWVqOVdxMVZLdnZiWk1kdnZWVHpVRjRGdUlsbnoweCs4UCtpT2J6Y1plRmVCLy9oZ3NrbFNoUXAzcjJsWmdZSWpxMWJ2OFlkYUxMK3NQd0J3c3hBVUFBRVlnV2dBQWdCR0lGZ0FBWUFTaUJRQUFHSUZvQVFBQVJpQmFBQUNBRVlnV0FBQmdCS0lGQUFBWWdXZ0JBQUJHSUZvQUFJQVJpQllBQUdBRW9nVUFBQmlCYUFFQUFFWWdXZ0FBZ0JHSUZnQUFZSVFBcXdmSUM5SFIwVmFQQUFBb0pQZzd4WGNadmFlbFNwVXFWbzlnbktpb0tLdEhBQUNmVkxObVRhdEg4SG1WSzFlMjlQMk4zdE15ZGVwVXEwZTRwQXVWdm03ZE9vc25BUURrMXFSSms2d2V3Y3ZMTDcrc2VmUG1hZGl3WWVyZHU3ZlY0L2dFby9lMEFBQUEvMEcwQUFBQUl4QXRBQURBQ0VhdmFRR1E5MEpDUXJSZ3dXTldqMUZvQlFVRldUMENZQ3lpQllDWER6LzgwT29SQU9DU09Ed0V3R2pSMGRGY1Z3UHdFMFFMQUFBd0F0RUNBQUNNUUxRQUFBQWpFQzBBQU1BSVJBc0FBREFDMFFJQUFJeEF0QUFBQUNNUUxRQUF3QWhFQ3dBQU1BTFJBZ0FBakVDMEFBQUFJeEF0QUFEQUNFUUxBQUF3QXRFQ0FBQ01RTFFBQUFBakVDMEFBTUFJUkFzQUFEQUMwUUlBQUl4QXRBQUFBQ01RTFFBQXdBaEVDd0FBTUFMUkFnQUFqRUMwQUFBQUl4QXRBQURBQ0VRTEFBQXdBdEVDQUFDTVFMUUFBQUFqRUMwQUFNQUlSQXNBQURBQzBRSUFBSXhBdEFBQUFDTVFMUUFBd0FoRUN3QUFNQUxSQWdBQWpFQzBBQUFBSXhBdEFBREFDRVFMQUFBd0F0RUNBQUNNUUxRQUFBQWpFQzBBQU1BSVJBc0FBREFDMFFJQUFJeEF0QUFBQUNNUUxRQUF3QWhFQ3dBQU1BTFJBZ0FBakVDMEFBQUFJeEF0QUFEQUNFUUxBQUF3QXRFQ0FBQ01RTFFBQUFBakVDMEFBTUFJUkFzQUFEQUMwUUlBQUl4QXRBQUFBQ01FV0QwQUFGeUxiNy85VnUrODgwNk8rNk9qb3oyL2Z2REJCL1gwMDA4WDVGZ0FDZ0I3V2dBWXBXWExsbGQ5VHBjdVhRcGdFZ0FGaldnQllKU29xQ2pWcWxYcnNvOVhxbFJKMWFwVks4Q0pBQlFVb2dXQWNhNjBKNlZWcTFZRk9BbUFna1MwQURET2xjS0VRME5BNFVXMEFEQk9sU3BWVktWS2xSejNseTlmWG5YcTFMRmdJZ0FGZ1dnQllLU3VYYnZtdUk5RFEwRGhSclFBTU5JZGQ5eVI0NzdPblR0Yk1BbUFna0swQURCU2pSbzFGQlVWNWJsZHBrd1pOV3pZME1LSkFPUTNvZ1dBc1M0K1JKU2I2N2NBTUJ2UkFzQllyVnUzOXZ5NlU2ZE9GazRDb0NCd0dYOEF4cXBkdTdiS2xpMnJ6TXhNM1hycnJWYVBBeUNmRVMwQWpHV3oyZFMxYTFlZFBIbFNOcHZONm5FQTVET2lCWURSV3JkdXJaU1VGS3ZIQUZBQWlCWUFScXRmdjc3Y2JyZlZZd0FvQUVRTEFLUFo3WnhQQVBnTC9yUURBQUFqRUMwQUFNQUlSQXNBQURBQzBRSUFBSXpBUWx6QUR6MysrT1A2OWRkZnJSNERGNmxYcjU3R2poMXI5UmlBVDJOUEMrQ0hDQmJmczIzYk5xdEhBSHdlZTFvQVA3WnUzVHFyUjRDazZPaG9xMGNBak1DZUZnQUFZQVNpQlFBQUdJRm9BUUFBUmlCYUFBQ0FFWWdXQUFCZ0JLSUZBQUFZZ1dnQkFBQkdJRm9BQUlBUmlCWUFBR0FFb2dVQUFCaUJhQUVBQUVZZ1dnQUFnQkdJRmdBQVlBU2lCUUFBR0lGb0FRQUFSaUJhQUFDQUVZZ1dBQUJnQktJRkFBQVlnV2dCQUFCR0lGb0FBSUFSaUJZQUFHQUVvZ1VBQUJpQmFBRUFBRVlnV2dBQWdCR0lGZ0FBWUFTaUJRQUFHSUZvQVFBQVJnaXdlZ0FBdUpLc3JDeWxwcWJxN05tek9udjJyTTZjT2FQVHAwK3JkT25TdXUyMjJ6elBHejkrdkxwMjdhckl5RWpQZlhQbnp0V0JBd2YweEJOUFdERTZnRHhHdEFBR1c3SmtpU0lpSWxTL2ZuMDVIQTZyeDdsaGlZbUpldXFwcDVTV2xxYTB0RFNscEtRb1BUMWRSWXNXVldSa3BJb1hMNjRTSlVxb1pNbVNhdHk0c2VkMWNYRnhtakJoZ3U2Nzd6NnY3ZFdwVTBmdnZQT09talZycHVqbzZJTCtPUGtxSVNGQksxZXVWTStlUGEwZUJTZ3dSQXRnc0huejVtbmV2SGtxVWFLRU9uZnVyRFp0MnFoUm8wWUtDRER6ajNhSkVpVTBZc1FJaFlhR0tqdzhYQXNYTHRUWXNXUDE5Ny8vWFUyYk5wVWtuVGh4UWs2blUrWExsL2U4YnR5NGNYcmdnUWNVRkJTa2poMDdTcEtjVHFleXNySVVGQlNrbDE1NnlmUGNWMTk5VlhmY2NVZkJmckE4Y3Zqd1lhMVlzVUp6NXN6UjVzMmJKWWxvZ1Y4eDh5Y2JBQytKaVltYU5HbVNKazJhcEdMRmlxbGp4NDVxMjdhdG9xT2pGUlFVWlBWNDE2UkdqUnJhdjMrLzNuNzdiWlVyVjA3anhvMVQ4ZUxGSlVrelo4N1VSeDk5cEVjZmZWUjkrL2FWbFAwWCticDE2L1RpaXkvcXE2KyswcFFwVXhRUkVhSFhYbnROTzNiczBQang0K1Z3T09SeXVZemNHM1h3NEVFdFc3Wk1jK2JNMGM2ZE82MGVCN0FVMFFJVU1rbEpTZnJ1dSsvMDNYZmZLVHc4WEczYXRGSDc5dTNWdEdsVGhZV0ZXVDNlVlkwY09WSlRwMDVWNDhhTmxaNmVybGRmZlZYbnpwM1R5Wk1uVmJGaVJYMzIyV2VxVkttUzUvbnZ2LysrL3ZTblAyblBuajJhUFh1MlltSml0RzdkT3MyZlAxOWZmdm1sSEE2SHpwdzVvMmVlZVVaZmZmV1ZFWHVoOXU3ZDZ3bVZmZnYyV1QwTzRETjgvMCt2d1FyYk1YU1lKeVVsUmJObXpkS3NXYk1VSEJ5c08rKzhVeDA2ZExCNnJDdTY2NjY3MUt4Wk01VW9VVUl1bDB1VEowL1c4ZVBITldUSUVCVXRXbFFuVDU3MFJFdFdWcGEyYjkrdWZmdjJLVDQrWHA5Ly9ybVNrcElVR3h1ck45NTRRelZxMUpEYjdWWm9hS2hLbGl5cGlSTW5hdkRnd1JaL3dzdjc5Tk5QTlhmdVhQMzIyMis1ZmcwL1orQlBpSlo4VUs5ZVBXM2J0czNxTVFBdldWbFpPblBtakU2ZE9pVzMyeTJieldiMVNKZlV1SEZqblRoeFFtUEhqdFhHalJzMVlNQUFkZTdjV1hhN1hYdjM3dFdRSVVNVUV4T2pQbjM2eUc2M2EvYnMyZnIyMjI5MTlPaFJOV3pZVUsrKytxcUtGaTJxRVNOR0tDTWpRd0VCQVVwS1NsTDE2dFUxWnN3WTllalJReEVSRVZaL3pCemNicmNTRWhLVW1abHA5U2p3SWNIQndhcFNwWXJWWS9nTW05dnRkbHM5QklEcjgvTExMMnZldkhtWGZUdzBORlJObWpSUjI3WnQxYUZEQnhVdFdsVFM3Lzg2WDdkdVhZSE1lUzFlZXVrbExWeTRVR0ZoWVdyUW9JSFMwOU9WbHBhbTFOUlVwYWVuNi96NTgwcFBUMWUvZnYzMHpEUFBhT1hLbFJvMWFwUmVldWtsblRoeFF1M2J0MWRZV0ppYU4yK3VsU3RYeW02M3EyblRwdnIxMTErMVpjc1cxYXRYVDNhN2IxMmk2dUwvSG02M1cxdTNidFhzMmJPMWN1Vkt4Y2ZIWC9HMXZ2amZFTWd2N0drQkNwbnc4SEExYTlaTUhUcDBVSnMyYlJRU0VtTDFTTmVrYTlldWF0ZXVuWW9WSzZaaXhZb3BQRHhjZmZ2MjFaSWxTeFFVRktTQWdBQWxKQ1RvYjMvN214SVRFN1YwNlZKVnJGaFJTNWN1VmJseTVSUVVGS1JqeDQ0cElpSWlSNXpjY3NzdEZuMnEzTFBaYkxybGxsczhzKzdjdVZOejVzelI4dVhMRlJjWForMXdnTVdJRnFBUUtGYXNtSm8zYjY2T0hUdXFWYXRXeHAweGRMSFdyVnRyeVpJbCt2VFRUL1hsbDE5NndpTXNMRXlmZlBLSmpoOC9ybUhEaHVtcnI3NlNKQTBkT2xTcHFhbmFzMmVQZHUzYXBZU0VCTTJmUDE4TkdqVElzZTJsUzVjcUtTbEpkOTk5ZDRGK3BodFJ1M1p0MWE1ZFc4ODk5NXoyNzkrdk9YUG1hTm15WmRxelo0L1Zvd0VGam1nQkROYThlWE4xNmRKRkxWcTBNT0tzbU54WXVuU3BZbU5qTlhMa3lCeDdTbUppWWpSa3lCQTkvdmpqK3VjLy82bGl4WXBwNE1DQkNnZ0lVTDE2OVZTdlhqMXQzTGhSbjMvK3VmN3puLzk0WG1lejJlUnl1UlFYRjJmMDcxUFZxbFgxMUZOUDZhbW5udEtSSTBjMFo4NGNxMGNDQ2hScldnQS81S3RyV243NDRRZDkvUEhIR2pWcWxPclVxU09YeTZYVTFGVDE2TkZESzFldWxKUjkwYmhYWDMxVk8zYnMwSC8rOHgrVktsWEtFeUxEaHcvWG1qVnJGQnNiNjNXSi8yZWZmVlpidDI2VnpXYlQ2TkdqVmJWcVZVcyszK1g0Nm44UHdOZVkrMDhPQUlYTzRjT0g5ZGxubjZscTFhcmF0bTJiSG4vOGNRVUVCS2hmdjM2ZTV3UUVCT2dmLy9pSEpreVlvR0xGaW5udE9YbjAwVWMxYk5pd0hJZkhQdmpnZ3dMN0RBRHlEM3RhQUQvRXYreDlDLzg5Z056eHJmUCtBQUFBTG9Ob0FRQUFSaUJhQUFDQUVZZ1dBQUJnQktJRkFBQVlnV2dCQUFCR0lGb0FBSUFSaUJZQUFHQUVvZ1VBQUJpQmFBRUFBRVlnV2dBQWdCR0lGZ0FBWUFTaUJRQUFHSUZvQVFBQVJpQmFBQUNBRVlnV0FBQmdCS0lGQUFBWWdXZ0JBQUJHSUZvQUFJQVJpQllBQUdBRW9nVUFBQmlCYUFFQUFFWWdXZ0FBZ0JHSUZnQUFZQVNpQlFBQUdJRm9BUUFBUmdpd2VnQUExb21PanJaNkJBRElOZmEwQUg2b1hyMTZWbytBUDZoV3JaclZJd0EreitaMnU5MVdEd0VBMStQQ25xSjE2OVpaUEFtQWdzQ2VGZ0FBWUFTaUJRQUFHSUZvQVFBQVJpQmFBQUNBRVlnV0FBQmdCS0lGQUFBWWdXZ0JBQUJHSUZvQUFJQVJpQllBQUdBRW9nVUFBQmlCYUFFQUFFWWdXZ0FBZ0JHSUZnQUFZQVNpQlFBQUdJRm9BUUFBUmlCYUFBQ0FFWWdXQUFCZ0JLSUZBQUFZZ1dnQkFBQkdJRm9BQUlBUmlCWUFBR0FFb2dVQUFCaUJhQUVBQUVZZ1dnQUFnQkdJRnVELzI3dTNFQ25yUG9EalAzUDIxTVlRU1YwVndTNTBzNVRJaGhVUlpMcExCVzY1MkJZUmxIWFJRaGtHS1ozcExsQnNLWWdnSkVyQ0RsdExHaFpFSWwxRXBDeFN0bDExMFpRZDFDeTNJZ0FBQ1J4SlJFRlVpTnpTa3NURHpuc1JPN2p1MGZkOVoyWi8rdmxjelR6UC85bjVMWUo4ZVE2ekFLUWdXZ0NBRkVRTEFKQ0NhQUVBVWhBdEFFQUtvZ1VBU0VHMEFBQXBpQllBSUFYUkFnQ2tJRm9BZ0JSRUN3Q1FnbWdCQUZJUUxRQkFDcUlGQUVoQnRBQUFLWWdXQUNBRjBRSUFwQ0JhQUlBVVJBc0FrSUpvQVFCU0VDMEFRQXFpQlFCSVFiUUFBQ21JRmdBZ0JkRUNBS1FnV2dDQUZFUUxBSkNDYUFFQVVoQXRBRUFLb2dVQVNFRzBBQUFwaUJZQUlBWFJBZ0NrSUZvQWdCUkVDd0NRZ21nQkFGSVFMUUJBQ3FJRkFFaEJ0QUFBS1lnV0FDQUYwUUlBcENCYUFJQVVSQXNBa0lKb0FRQlNFQzBBUUFxaUJRQklRYlFBQUNtSUZnQWdCZEVDQUtRZ1dnQ0FGRVFMQUpDQ2FBRUFVaEF0QUVBS29nVUFTRUcwQUFBcGlCWUFJQVhSQWdDa0lGb0FnQlJFQ3dDUWdtZ0JBRklRTFFCQUNxSUZBRWhCdEFBQUtZZ1dBQ0FGMFFJQXBDQmFBSUFVQ3ZVZUFHQ3U5dXpaRTU5Ly92bWs3UU1EQTVYWFYxMTFWU3hmdnJ5V1l3RTFJbHFBTkJZdVhCaHZ2dm5tcE8ybmJ0dTBhVk10UndKcXlPVWhJSTNGaXhkSHNWaWNkbjlyYTJ2Y2NNTU5OWndJcUNYUkFxUlJLQlNpdTd0NzJ2M1hYSE5OTkRRMDFIQWlvSlpFQzVES1RUZmROTzIrRlN0VzFIQVNvTlpFQzVES2tpVkxvclcxZGRMMjV1Ym11UEhHRzJzL0VGQXpvZ1ZJcGJHeGNjcW5nNVl1WFJwTlRVMTFtQWlvRmRFQ3BETlZ0TXgwMlFnNE80Z1dJSjNPenM1b2FXbXB2RzlxYXZMZExIQU9FQzFBT2kwdExSUHVYK25zN0l6enp6Ky9mZ01CTlNGYWdKUk9QYlBpQmx3NE4vaEdYQ0NscFV1WFJtTmpZNHlOalVWWFYxZTl4d0ZxUUxRQUtZMS8rKzNodzRkbi9KWmM0T3doV29DMHVycTY0dURCZy9VZUE2aVJCZVZ5dVZ6dklZRGE2dS92ajcxNzk5WjdERTdSMGRFUlc3ZHVyZmNZTUsrNUVSZk9RWUpsL2hrWkdhbjNDRER2dVR3RTU3RGg0ZUY2ajBEOCs4ZzJNRHRuV2dDQUZFUUxBSkNDYUFFQVVoQXRBRUFLb2dVQVNFRzBBQUFwaUJZQUlBWFJBZ0NrSUZvQWdCUkVDd0NRZ21nQkFGSVFMUUJBQ3FJRkFFaEJ0QUFBS1lnV0FDQUYwUUlBcENCYUFJQVVSQXNBa0lKb0FRQlNFQzBBUUFxaUJRQklRYlFBQUNtSUZnQWdCZEVDQUtRZ1dnQ0FGRVFMQUpDQ2FBR0lpTC8vL3J2ZUl3Q3pFQzFBVlczWnNpVzJiOTgrWVZ1NVhJN0hIbnNzdnZ6eXkxbVAvK3V2djJMRGhnMnpyaHNiRzR1Tkd6Zkc4ZVBISzl2Mjc5OGZIMy84OGF6SG5qeDVNbGF0V2hXLy92cnJyR3VCK2luVWV3RGc3UGIxMTEvSEF3ODhNR0hid01CQUxGcTBLTjU3Nzcxb2EydUxpeSsrdUxMdjJMRmowZGpZT09IOXJsMjdKaHgvK3BxSWlLKysraXIyNzk4ZkRRME5sVzJYWEhKSlBQUE1NOUhWMVJXRnd1VC83bTY3N2JhSWlEaHg0a1FjT25Rb0huend3VWxyVGc4dW9INUVDMUFWYjcvOWRnd05EY1dQUC80WUJ3NGNpRUtoRUcrOTlWWnMzTGd4VHB3NEVVODk5VlQ4OHNzdjhjUVRUOFNUVHo0WmJXMXRFUkZ4M1hYWHhhNWR1K0xDQ3krYzltZFB0V2I3OXUyeGN1WEt1T1dXV3lhdFg3bHlaZVgxQlJkY0VJT0RneEVSOGR0dnY4VVhYM3d4NCtjQTg0ZG9BYXJpcnJ2dWlpdXZ2REplZmZYVmVQSEZGK1BBZ1FPeFpzMmFPSHIwYUdWL1JNVG82R2c4L2ZUVHNYcjE2dWp0N2YydlBtdDBkRFIyNzk0ZDY5ZXZqNzYrdmprZmQvejQ4Um5YbjNxcENhZy8wUUpVeldlZmZSYkxsaTJMM3Q3ZUdCZ1lpSnR2dmpudXZ2dnVTZXRLcGRML0ZBaXZ2LzU2UkVTMHRyYkd2bjM3NHJubm5wdDI3UXN2dkJEdDdlMFJFZEhRMEJEdnZ2dnV0R3VkYVlINVJiUUFWYk43OSs3WXNtVkxiTjI2TlM2Ly9QTFl2SGx6ZlBqaGh4RVJjZGxsbDBWYlcxdjA5L2ZINXMyYjQ2V1hYcW9jTjlVbG51a0NvbFFxeFNlZmZGSjV2MlRKa2puZmgrSk1DK1FpV29DcUdCMGRqUjkrK0NIV3JGa1RQLy84Yy9UMjlrYWhVS2ljMmVqcjY0dnZ2LzgrK3Z2N28xUXFWWTRiSGg2ZThITU9IandZM2QzZEUrNDk2ZXpzckx6ZXVYTm5QUHp3dzdGcDA2YUlDR2RhNEN3bVdvQ3F1T2lpaXlxUE5QZjI5c2JRMEZEMDlQVEV2ZmZlTytOeFV6MFpkTHJoNGVFNGR1eFlSRVRjYzg4OVVTd1dLOUZ5cG1kYXhwOGdtbTQvTUgrSUZxQW1qaHc1RXMzTnpmSEdHMjlFUkV4N1dXWXVUdy85K2VlZnNYejU4aGdlSG81aXNUaHBmM2QzZDdTMHRFemEvczgvLzFRdUpRME5EY1cyYmR2aW80OCtpblhyMXNXT0hUdmltMisraVEwYk5sUWVqLzcwMDA5ang0NGQwZFBUYzhhL0wvRC9KMXFBcXRpelowOE1EUTNGNzcvL0hqLzk5RlBjZDk5OWNlalFvYmovL3Z1ci90bC8vUEhIaFB0Y3hvMWY3amx5NUVpODhzb3I4Y0VISDhRNzc3d1Q2OWF0aTU2ZW5oZ1pHWW4zMzM4Lzdyenp6dWp2NzQ5SEgzMDAxcTlmSDRzV0xZcnJyNysrNm5NRE14TXRRRlVzWHJ3NHJyamlpaWdXaTdGNjllb1lIQnlNdnI2K2VPMjExeUxpM3pNdE05MVBVazJEZzRPeGJObXlhRzF0allhR2hqaDgrSEFVaThWNC9QSEhZOEdDQlZFcWxXSmtaQ1RhMjl2aitlZWZqNTA3ZDRvV21BZEVDMUFWVFUxTjBkVFVOR243eVpNbjQralJvOUhjM0J5bFVpbk9PKys4eW5lM2pEdVRwNGVtTWpZMk51VzlLdVAzcUt4WXNhSnkzOHdkZDl3UnQ5OStleXhjdUxDeXJsd3V4ME1QUFJTRlFpRTZPanFpbzZOanpwOE5WSTlvQWFydTFsdHZqWWlJbnA2ZStPNjc3Mkxmdm4zeDdMUFB4clp0MitMYmI3K05WYXRXVmRhZS92VFFWTWJ2YVRuVjFWZGZYWGw5N2JYWHhzc3Z2enpwdUVjZWVTUWlJaTY5OU5MS3RyVnIxOGJhdFd2UDdCY0M2bUpCdVZ3dTEzc0lvTGJHSHhtZVN5QlFmZjQ5WUc3OGxXY0FJQVhSQWdDa0lGb0FnQlJFQ3dDUWdtZ0JBRklRTFFCQUNxSUZBRWhCdEFBQUtZZ1dBQ0FGMFFJQXBDQmFBSUFVUkFzQWtJSm9BUUJTRUMwQVFBcWlCUUJJUWJRQUFDbUlGZ0FnQmRFQ0FLUWdXZ0NBRkVRTEFKQ0NhQUVBVWhBdEFFQUtvZ1VBU0VHMEFBQXBpQllBSUFYUkFnQ2tVS2ozQUVEOWRIWjIxbnNFZ0RsenBnWE9RUjBkSGZVZWdkTzB0N2ZYZXdTWTl4YVV5K1Z5dlljQUFKaU5NeTBBUUFxaUJRQklRYlFBQUNtSUZnQWdCZEVDQUtRZ1dnQ0FGRVFMQUpDQ2FBRUFVaEF0QUVBS29nVUFTRUcwQUFBcGlCWUFJQVhSQWdDa0lGb0FnQlJFQ3dDUWdtZ0JBRklRTFFCQUNxSUZBRWhCdEFBQUtZZ1dBQ0FGMFFJQXBDQmFBSUFVUkFzQWtJSm9BUUJTRUMwQVFBcWlCUUJJUWJRQUFDbUlGZ0FnQmRFQ0FLUWdXZ0NBRlA0RHlZZ3IvaUFrbGdVQUFBQUFTVVZPUks1Q1lJST0iLAoJIlRoZW1lIiA6ICIiLAoJIlR5cGUiIDogImZsb3ciLAoJIlZlcnNpb24iIDogIiIKfQo="/>
    </extobj>
  </extobjs>
</s:customData>
</file>

<file path=customXml/itemProps1.xml><?xml version="1.0" encoding="utf-8"?>
<ds:datastoreItem xmlns:ds="http://schemas.openxmlformats.org/officeDocument/2006/customXml" ds:itemID="{26DB8515-F131-4E29-8755-64E1926EBEC6}">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emplate>Origin</Template>
  <TotalTime>0</TotalTime>
  <Words>1989</Words>
  <Application>Microsoft Office PowerPoint</Application>
  <PresentationFormat>全屏显示(4:3)</PresentationFormat>
  <Paragraphs>295</Paragraphs>
  <Slides>28</Slides>
  <Notes>3</Notes>
  <HiddenSlides>8</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 Unicode MS</vt:lpstr>
      <vt:lpstr>华文新魏</vt:lpstr>
      <vt:lpstr>华文行楷</vt:lpstr>
      <vt:lpstr>宋体</vt:lpstr>
      <vt:lpstr>Arial</vt:lpstr>
      <vt:lpstr>Arial Black</vt:lpstr>
      <vt:lpstr>Calibri</vt:lpstr>
      <vt:lpstr>Gill Sans MT</vt:lpstr>
      <vt:lpstr>Vladimir Script</vt:lpstr>
      <vt:lpstr>Wingdings</vt:lpstr>
      <vt:lpstr>Wingdings 3</vt:lpstr>
      <vt:lpstr>Origin</vt:lpstr>
      <vt:lpstr>WiFi 802.11基础知识介绍 </vt:lpstr>
      <vt:lpstr>大纲  </vt:lpstr>
      <vt:lpstr>WiFi 概述</vt:lpstr>
      <vt:lpstr>WiFi 概述</vt:lpstr>
      <vt:lpstr>管理帧</vt:lpstr>
      <vt:lpstr>控制帧</vt:lpstr>
      <vt:lpstr>数据帧</vt:lpstr>
      <vt:lpstr>Frame - Addresses</vt:lpstr>
      <vt:lpstr>2、WiFi连接过程</vt:lpstr>
      <vt:lpstr>Scan</vt:lpstr>
      <vt:lpstr>authentication   </vt:lpstr>
      <vt:lpstr>authentication </vt:lpstr>
      <vt:lpstr>authentication SAE</vt:lpstr>
      <vt:lpstr>authentication  SAE</vt:lpstr>
      <vt:lpstr>association </vt:lpstr>
      <vt:lpstr>4-way handshake</vt:lpstr>
      <vt:lpstr>4-way handshake</vt:lpstr>
      <vt:lpstr>dhcp</vt:lpstr>
      <vt:lpstr>dhcp</vt:lpstr>
      <vt:lpstr>fast connect</vt:lpstr>
      <vt:lpstr>SDK 代码</vt:lpstr>
      <vt:lpstr>SDK 代码</vt:lpstr>
      <vt:lpstr>SDK 代码 </vt:lpstr>
      <vt:lpstr>SDK 代码</vt:lpstr>
      <vt:lpstr>WiFi 抓包</vt:lpstr>
      <vt:lpstr>WiFi 抓包</vt:lpstr>
      <vt:lpstr>WiFi 抓包</vt:lpstr>
      <vt:lpstr>PowerPoint 演示文稿</vt:lpstr>
    </vt:vector>
  </TitlesOfParts>
  <Company>penghualin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Design Flow</dc:title>
  <dc:creator>Lawrence Der</dc:creator>
  <cp:lastModifiedBy>黄国航</cp:lastModifiedBy>
  <cp:revision>1483</cp:revision>
  <dcterms:created xsi:type="dcterms:W3CDTF">2014-01-02T02:14:00Z</dcterms:created>
  <dcterms:modified xsi:type="dcterms:W3CDTF">2025-09-01T05:29:12Z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EEEC90CF44384CB4A0B9E5F0763F432B</vt:lpwstr>
  </property>
  <property fmtid="{D5CDD505-2E9C-101B-9397-08002B2CF9AE}" pid="3" name="KSOProductBuildVer">
    <vt:lpwstr>2052-11.1.0.12302</vt:lpwstr>
  </property>
</Properties>
</file>